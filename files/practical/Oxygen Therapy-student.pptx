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20"/>
  </p:notesMasterIdLst>
  <p:sldIdLst>
    <p:sldId id="256" r:id="rId2"/>
    <p:sldId id="269" r:id="rId3"/>
    <p:sldId id="260" r:id="rId4"/>
    <p:sldId id="261" r:id="rId5"/>
    <p:sldId id="262" r:id="rId6"/>
    <p:sldId id="278" r:id="rId7"/>
    <p:sldId id="263" r:id="rId8"/>
    <p:sldId id="283" r:id="rId9"/>
    <p:sldId id="264" r:id="rId10"/>
    <p:sldId id="284" r:id="rId11"/>
    <p:sldId id="265" r:id="rId12"/>
    <p:sldId id="279" r:id="rId13"/>
    <p:sldId id="280" r:id="rId14"/>
    <p:sldId id="266" r:id="rId15"/>
    <p:sldId id="281" r:id="rId16"/>
    <p:sldId id="282" r:id="rId17"/>
    <p:sldId id="267" r:id="rId18"/>
    <p:sldId id="268" r:id="rId19"/>
  </p:sldIdLst>
  <p:sldSz cx="12192000" cy="6858000"/>
  <p:notesSz cx="6858000" cy="9144000"/>
  <p:defaultText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005" autoAdjust="0"/>
    <p:restoredTop sz="83355" autoAdjust="0"/>
  </p:normalViewPr>
  <p:slideViewPr>
    <p:cSldViewPr snapToGrid="0">
      <p:cViewPr varScale="1">
        <p:scale>
          <a:sx n="65" d="100"/>
          <a:sy n="65" d="100"/>
        </p:scale>
        <p:origin x="1286" y="53"/>
      </p:cViewPr>
      <p:guideLst/>
    </p:cSldViewPr>
  </p:slideViewPr>
  <p:outlineViewPr>
    <p:cViewPr>
      <p:scale>
        <a:sx n="33" d="100"/>
        <a:sy n="33" d="100"/>
      </p:scale>
      <p:origin x="0" y="-11011"/>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86C2B4-367C-41F2-A733-B8D1D9F379C1}"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D5B85211-487E-4560-BDC0-07DA0EBA974A}">
      <dgm:prSet/>
      <dgm:spPr/>
      <dgm:t>
        <a:bodyPr/>
        <a:lstStyle/>
        <a:p>
          <a:r>
            <a:rPr lang="en-US" dirty="0"/>
            <a:t>Retinopathy of prematurity(ROP).</a:t>
          </a:r>
        </a:p>
      </dgm:t>
    </dgm:pt>
    <dgm:pt modelId="{1043BBE3-32AC-4295-925E-2E9D3071276D}" type="parTrans" cxnId="{3B29BCF3-E3B4-4316-8BB0-CCC914088F4B}">
      <dgm:prSet/>
      <dgm:spPr/>
      <dgm:t>
        <a:bodyPr/>
        <a:lstStyle/>
        <a:p>
          <a:endParaRPr lang="en-US"/>
        </a:p>
      </dgm:t>
    </dgm:pt>
    <dgm:pt modelId="{55A16A3F-50EA-43C0-A2F4-63F63AD6B74C}" type="sibTrans" cxnId="{3B29BCF3-E3B4-4316-8BB0-CCC914088F4B}">
      <dgm:prSet/>
      <dgm:spPr/>
      <dgm:t>
        <a:bodyPr/>
        <a:lstStyle/>
        <a:p>
          <a:endParaRPr lang="en-US"/>
        </a:p>
      </dgm:t>
    </dgm:pt>
    <dgm:pt modelId="{BCC2C5DB-51B2-4CF2-BEE3-FEA061F6D409}">
      <dgm:prSet/>
      <dgm:spPr/>
      <dgm:t>
        <a:bodyPr/>
        <a:lstStyle/>
        <a:p>
          <a:r>
            <a:rPr lang="en-US"/>
            <a:t>Hypoventilation.</a:t>
          </a:r>
        </a:p>
      </dgm:t>
    </dgm:pt>
    <dgm:pt modelId="{EDCD755D-E7B7-401E-B9E4-D9248D283F66}" type="parTrans" cxnId="{AE20CC6F-E4E9-4945-9632-5872BA1E8356}">
      <dgm:prSet/>
      <dgm:spPr/>
      <dgm:t>
        <a:bodyPr/>
        <a:lstStyle/>
        <a:p>
          <a:endParaRPr lang="en-US"/>
        </a:p>
      </dgm:t>
    </dgm:pt>
    <dgm:pt modelId="{27B2474E-B070-4328-ABE7-46E3E3F2FA94}" type="sibTrans" cxnId="{AE20CC6F-E4E9-4945-9632-5872BA1E8356}">
      <dgm:prSet/>
      <dgm:spPr/>
      <dgm:t>
        <a:bodyPr/>
        <a:lstStyle/>
        <a:p>
          <a:endParaRPr lang="en-US"/>
        </a:p>
      </dgm:t>
    </dgm:pt>
    <dgm:pt modelId="{10ABC7C9-6843-4108-A5F1-4AA8B19BDD60}">
      <dgm:prSet/>
      <dgm:spPr/>
      <dgm:t>
        <a:bodyPr/>
        <a:lstStyle/>
        <a:p>
          <a:r>
            <a:rPr lang="en-US"/>
            <a:t>Absorption atelectasis.</a:t>
          </a:r>
        </a:p>
      </dgm:t>
    </dgm:pt>
    <dgm:pt modelId="{9316A05A-8075-460E-A465-B56A16B345C1}" type="parTrans" cxnId="{4FE76159-2655-476C-96BB-B00174A26A9D}">
      <dgm:prSet/>
      <dgm:spPr/>
      <dgm:t>
        <a:bodyPr/>
        <a:lstStyle/>
        <a:p>
          <a:endParaRPr lang="en-US"/>
        </a:p>
      </dgm:t>
    </dgm:pt>
    <dgm:pt modelId="{120BC21A-EFC3-4CEB-A872-6AA46C8EC2E7}" type="sibTrans" cxnId="{4FE76159-2655-476C-96BB-B00174A26A9D}">
      <dgm:prSet/>
      <dgm:spPr/>
      <dgm:t>
        <a:bodyPr/>
        <a:lstStyle/>
        <a:p>
          <a:endParaRPr lang="en-US"/>
        </a:p>
      </dgm:t>
    </dgm:pt>
    <dgm:pt modelId="{71929223-D87C-4055-A87A-FE0B5B1CC859}">
      <dgm:prSet/>
      <dgm:spPr/>
      <dgm:t>
        <a:bodyPr/>
        <a:lstStyle/>
        <a:p>
          <a:r>
            <a:rPr lang="en-US"/>
            <a:t>Bronchopulmonary dysplasia.</a:t>
          </a:r>
        </a:p>
      </dgm:t>
    </dgm:pt>
    <dgm:pt modelId="{6E11BE62-4CBB-4B92-A366-5F8A6FA5A93A}" type="parTrans" cxnId="{B6B44E87-0146-49A3-970F-7E64B00F7DF2}">
      <dgm:prSet/>
      <dgm:spPr/>
      <dgm:t>
        <a:bodyPr/>
        <a:lstStyle/>
        <a:p>
          <a:endParaRPr lang="en-US"/>
        </a:p>
      </dgm:t>
    </dgm:pt>
    <dgm:pt modelId="{284CAC7B-298C-4978-9B43-AD74A0719AA9}" type="sibTrans" cxnId="{B6B44E87-0146-49A3-970F-7E64B00F7DF2}">
      <dgm:prSet/>
      <dgm:spPr/>
      <dgm:t>
        <a:bodyPr/>
        <a:lstStyle/>
        <a:p>
          <a:endParaRPr lang="en-US"/>
        </a:p>
      </dgm:t>
    </dgm:pt>
    <dgm:pt modelId="{FFEA0F42-22DA-4DC5-96A9-F03E1912FD25}" type="pres">
      <dgm:prSet presAssocID="{D586C2B4-367C-41F2-A733-B8D1D9F379C1}" presName="linear" presStyleCnt="0">
        <dgm:presLayoutVars>
          <dgm:animLvl val="lvl"/>
          <dgm:resizeHandles val="exact"/>
        </dgm:presLayoutVars>
      </dgm:prSet>
      <dgm:spPr/>
    </dgm:pt>
    <dgm:pt modelId="{8360C983-162A-4D1C-9C15-E8A312DC0CD6}" type="pres">
      <dgm:prSet presAssocID="{D5B85211-487E-4560-BDC0-07DA0EBA974A}" presName="parentText" presStyleLbl="node1" presStyleIdx="0" presStyleCnt="4">
        <dgm:presLayoutVars>
          <dgm:chMax val="0"/>
          <dgm:bulletEnabled val="1"/>
        </dgm:presLayoutVars>
      </dgm:prSet>
      <dgm:spPr/>
    </dgm:pt>
    <dgm:pt modelId="{0C39B66D-067B-4F50-B2E4-5E52A8F5B745}" type="pres">
      <dgm:prSet presAssocID="{55A16A3F-50EA-43C0-A2F4-63F63AD6B74C}" presName="spacer" presStyleCnt="0"/>
      <dgm:spPr/>
    </dgm:pt>
    <dgm:pt modelId="{A8FD1C32-D709-4FDF-BED5-09F06215AD40}" type="pres">
      <dgm:prSet presAssocID="{BCC2C5DB-51B2-4CF2-BEE3-FEA061F6D409}" presName="parentText" presStyleLbl="node1" presStyleIdx="1" presStyleCnt="4">
        <dgm:presLayoutVars>
          <dgm:chMax val="0"/>
          <dgm:bulletEnabled val="1"/>
        </dgm:presLayoutVars>
      </dgm:prSet>
      <dgm:spPr/>
    </dgm:pt>
    <dgm:pt modelId="{23202582-D907-4BD8-A980-2D31A1DC932E}" type="pres">
      <dgm:prSet presAssocID="{27B2474E-B070-4328-ABE7-46E3E3F2FA94}" presName="spacer" presStyleCnt="0"/>
      <dgm:spPr/>
    </dgm:pt>
    <dgm:pt modelId="{89F804A1-8198-4B6F-B7DC-0A42EC73FFEA}" type="pres">
      <dgm:prSet presAssocID="{10ABC7C9-6843-4108-A5F1-4AA8B19BDD60}" presName="parentText" presStyleLbl="node1" presStyleIdx="2" presStyleCnt="4">
        <dgm:presLayoutVars>
          <dgm:chMax val="0"/>
          <dgm:bulletEnabled val="1"/>
        </dgm:presLayoutVars>
      </dgm:prSet>
      <dgm:spPr/>
    </dgm:pt>
    <dgm:pt modelId="{4D7E1EC4-A4A8-478B-8C13-5E91D971A56D}" type="pres">
      <dgm:prSet presAssocID="{120BC21A-EFC3-4CEB-A872-6AA46C8EC2E7}" presName="spacer" presStyleCnt="0"/>
      <dgm:spPr/>
    </dgm:pt>
    <dgm:pt modelId="{6A6B9135-3DD9-43BB-A922-902CFF5D8669}" type="pres">
      <dgm:prSet presAssocID="{71929223-D87C-4055-A87A-FE0B5B1CC859}" presName="parentText" presStyleLbl="node1" presStyleIdx="3" presStyleCnt="4">
        <dgm:presLayoutVars>
          <dgm:chMax val="0"/>
          <dgm:bulletEnabled val="1"/>
        </dgm:presLayoutVars>
      </dgm:prSet>
      <dgm:spPr/>
    </dgm:pt>
  </dgm:ptLst>
  <dgm:cxnLst>
    <dgm:cxn modelId="{AE20CC6F-E4E9-4945-9632-5872BA1E8356}" srcId="{D586C2B4-367C-41F2-A733-B8D1D9F379C1}" destId="{BCC2C5DB-51B2-4CF2-BEE3-FEA061F6D409}" srcOrd="1" destOrd="0" parTransId="{EDCD755D-E7B7-401E-B9E4-D9248D283F66}" sibTransId="{27B2474E-B070-4328-ABE7-46E3E3F2FA94}"/>
    <dgm:cxn modelId="{4FE76159-2655-476C-96BB-B00174A26A9D}" srcId="{D586C2B4-367C-41F2-A733-B8D1D9F379C1}" destId="{10ABC7C9-6843-4108-A5F1-4AA8B19BDD60}" srcOrd="2" destOrd="0" parTransId="{9316A05A-8075-460E-A465-B56A16B345C1}" sibTransId="{120BC21A-EFC3-4CEB-A872-6AA46C8EC2E7}"/>
    <dgm:cxn modelId="{B6B44E87-0146-49A3-970F-7E64B00F7DF2}" srcId="{D586C2B4-367C-41F2-A733-B8D1D9F379C1}" destId="{71929223-D87C-4055-A87A-FE0B5B1CC859}" srcOrd="3" destOrd="0" parTransId="{6E11BE62-4CBB-4B92-A366-5F8A6FA5A93A}" sibTransId="{284CAC7B-298C-4978-9B43-AD74A0719AA9}"/>
    <dgm:cxn modelId="{69865F93-246B-4CC0-B812-FB7DB4ECE5FD}" type="presOf" srcId="{71929223-D87C-4055-A87A-FE0B5B1CC859}" destId="{6A6B9135-3DD9-43BB-A922-902CFF5D8669}" srcOrd="0" destOrd="0" presId="urn:microsoft.com/office/officeart/2005/8/layout/vList2"/>
    <dgm:cxn modelId="{57454897-439E-4FBE-8FAB-B007F0703E3A}" type="presOf" srcId="{D5B85211-487E-4560-BDC0-07DA0EBA974A}" destId="{8360C983-162A-4D1C-9C15-E8A312DC0CD6}" srcOrd="0" destOrd="0" presId="urn:microsoft.com/office/officeart/2005/8/layout/vList2"/>
    <dgm:cxn modelId="{3520019D-7003-4B1F-99EB-2867B19F29ED}" type="presOf" srcId="{BCC2C5DB-51B2-4CF2-BEE3-FEA061F6D409}" destId="{A8FD1C32-D709-4FDF-BED5-09F06215AD40}" srcOrd="0" destOrd="0" presId="urn:microsoft.com/office/officeart/2005/8/layout/vList2"/>
    <dgm:cxn modelId="{908F90AD-7CB8-4CD8-B9C0-D3DD757815E3}" type="presOf" srcId="{10ABC7C9-6843-4108-A5F1-4AA8B19BDD60}" destId="{89F804A1-8198-4B6F-B7DC-0A42EC73FFEA}" srcOrd="0" destOrd="0" presId="urn:microsoft.com/office/officeart/2005/8/layout/vList2"/>
    <dgm:cxn modelId="{C8A23AD5-DD8E-4F51-82CB-DE8854E6EE70}" type="presOf" srcId="{D586C2B4-367C-41F2-A733-B8D1D9F379C1}" destId="{FFEA0F42-22DA-4DC5-96A9-F03E1912FD25}" srcOrd="0" destOrd="0" presId="urn:microsoft.com/office/officeart/2005/8/layout/vList2"/>
    <dgm:cxn modelId="{3B29BCF3-E3B4-4316-8BB0-CCC914088F4B}" srcId="{D586C2B4-367C-41F2-A733-B8D1D9F379C1}" destId="{D5B85211-487E-4560-BDC0-07DA0EBA974A}" srcOrd="0" destOrd="0" parTransId="{1043BBE3-32AC-4295-925E-2E9D3071276D}" sibTransId="{55A16A3F-50EA-43C0-A2F4-63F63AD6B74C}"/>
    <dgm:cxn modelId="{4C39C890-5571-414D-B86D-78FBE335B609}" type="presParOf" srcId="{FFEA0F42-22DA-4DC5-96A9-F03E1912FD25}" destId="{8360C983-162A-4D1C-9C15-E8A312DC0CD6}" srcOrd="0" destOrd="0" presId="urn:microsoft.com/office/officeart/2005/8/layout/vList2"/>
    <dgm:cxn modelId="{6531FB5C-BDCD-4A8C-AF32-08A6DB5AA96B}" type="presParOf" srcId="{FFEA0F42-22DA-4DC5-96A9-F03E1912FD25}" destId="{0C39B66D-067B-4F50-B2E4-5E52A8F5B745}" srcOrd="1" destOrd="0" presId="urn:microsoft.com/office/officeart/2005/8/layout/vList2"/>
    <dgm:cxn modelId="{44DF399F-0112-4693-892D-9C8A573EAB3C}" type="presParOf" srcId="{FFEA0F42-22DA-4DC5-96A9-F03E1912FD25}" destId="{A8FD1C32-D709-4FDF-BED5-09F06215AD40}" srcOrd="2" destOrd="0" presId="urn:microsoft.com/office/officeart/2005/8/layout/vList2"/>
    <dgm:cxn modelId="{6BE69B1F-A428-4851-82D1-F4B1C88CA001}" type="presParOf" srcId="{FFEA0F42-22DA-4DC5-96A9-F03E1912FD25}" destId="{23202582-D907-4BD8-A980-2D31A1DC932E}" srcOrd="3" destOrd="0" presId="urn:microsoft.com/office/officeart/2005/8/layout/vList2"/>
    <dgm:cxn modelId="{95EBA78D-E426-46A0-B48B-214A7627589C}" type="presParOf" srcId="{FFEA0F42-22DA-4DC5-96A9-F03E1912FD25}" destId="{89F804A1-8198-4B6F-B7DC-0A42EC73FFEA}" srcOrd="4" destOrd="0" presId="urn:microsoft.com/office/officeart/2005/8/layout/vList2"/>
    <dgm:cxn modelId="{7619B164-D920-46C1-841D-D9E410B735FE}" type="presParOf" srcId="{FFEA0F42-22DA-4DC5-96A9-F03E1912FD25}" destId="{4D7E1EC4-A4A8-478B-8C13-5E91D971A56D}" srcOrd="5" destOrd="0" presId="urn:microsoft.com/office/officeart/2005/8/layout/vList2"/>
    <dgm:cxn modelId="{1CAAA89B-DE93-4A2F-A3EE-4008C5667D55}" type="presParOf" srcId="{FFEA0F42-22DA-4DC5-96A9-F03E1912FD25}" destId="{6A6B9135-3DD9-43BB-A922-902CFF5D8669}"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60C983-162A-4D1C-9C15-E8A312DC0CD6}">
      <dsp:nvSpPr>
        <dsp:cNvPr id="0" name=""/>
        <dsp:cNvSpPr/>
      </dsp:nvSpPr>
      <dsp:spPr>
        <a:xfrm>
          <a:off x="0" y="37268"/>
          <a:ext cx="10515600" cy="9828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dirty="0"/>
            <a:t>Retinopathy of prematurity(ROP).</a:t>
          </a:r>
        </a:p>
      </dsp:txBody>
      <dsp:txXfrm>
        <a:off x="47976" y="85244"/>
        <a:ext cx="10419648" cy="886848"/>
      </dsp:txXfrm>
    </dsp:sp>
    <dsp:sp modelId="{A8FD1C32-D709-4FDF-BED5-09F06215AD40}">
      <dsp:nvSpPr>
        <dsp:cNvPr id="0" name=""/>
        <dsp:cNvSpPr/>
      </dsp:nvSpPr>
      <dsp:spPr>
        <a:xfrm>
          <a:off x="0" y="1135269"/>
          <a:ext cx="10515600" cy="98280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a:t>Hypoventilation.</a:t>
          </a:r>
        </a:p>
      </dsp:txBody>
      <dsp:txXfrm>
        <a:off x="47976" y="1183245"/>
        <a:ext cx="10419648" cy="886848"/>
      </dsp:txXfrm>
    </dsp:sp>
    <dsp:sp modelId="{89F804A1-8198-4B6F-B7DC-0A42EC73FFEA}">
      <dsp:nvSpPr>
        <dsp:cNvPr id="0" name=""/>
        <dsp:cNvSpPr/>
      </dsp:nvSpPr>
      <dsp:spPr>
        <a:xfrm>
          <a:off x="0" y="2233269"/>
          <a:ext cx="10515600" cy="98280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a:t>Absorption atelectasis.</a:t>
          </a:r>
        </a:p>
      </dsp:txBody>
      <dsp:txXfrm>
        <a:off x="47976" y="2281245"/>
        <a:ext cx="10419648" cy="886848"/>
      </dsp:txXfrm>
    </dsp:sp>
    <dsp:sp modelId="{6A6B9135-3DD9-43BB-A922-902CFF5D8669}">
      <dsp:nvSpPr>
        <dsp:cNvPr id="0" name=""/>
        <dsp:cNvSpPr/>
      </dsp:nvSpPr>
      <dsp:spPr>
        <a:xfrm>
          <a:off x="0" y="3331269"/>
          <a:ext cx="10515600" cy="98280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a:t>Bronchopulmonary dysplasia.</a:t>
          </a:r>
        </a:p>
      </dsp:txBody>
      <dsp:txXfrm>
        <a:off x="47976" y="3379245"/>
        <a:ext cx="10419648" cy="88684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ar-IQ"/>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E531A0FA-2479-4BD9-A387-0E7CBCAD92BD}" type="datetimeFigureOut">
              <a:rPr lang="ar-IQ" smtClean="0"/>
              <a:t>02/06/1446</a:t>
            </a:fld>
            <a:endParaRPr lang="ar-IQ"/>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ar-IQ"/>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IQ"/>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ar-IQ"/>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BDDAD4F9-5027-41B6-9DFF-C119501995B4}" type="slidenum">
              <a:rPr lang="ar-IQ" smtClean="0"/>
              <a:t>‹#›</a:t>
            </a:fld>
            <a:endParaRPr lang="ar-IQ"/>
          </a:p>
        </p:txBody>
      </p:sp>
    </p:spTree>
    <p:extLst>
      <p:ext uri="{BB962C8B-B14F-4D97-AF65-F5344CB8AC3E}">
        <p14:creationId xmlns:p14="http://schemas.microsoft.com/office/powerpoint/2010/main" val="586099359"/>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IQ" dirty="0"/>
          </a:p>
        </p:txBody>
      </p:sp>
      <p:sp>
        <p:nvSpPr>
          <p:cNvPr id="4" name="عنصر نائب لرقم الشريحة 3"/>
          <p:cNvSpPr>
            <a:spLocks noGrp="1"/>
          </p:cNvSpPr>
          <p:nvPr>
            <p:ph type="sldNum" sz="quarter" idx="5"/>
          </p:nvPr>
        </p:nvSpPr>
        <p:spPr/>
        <p:txBody>
          <a:bodyPr/>
          <a:lstStyle/>
          <a:p>
            <a:fld id="{BDDAD4F9-5027-41B6-9DFF-C119501995B4}" type="slidenum">
              <a:rPr lang="ar-IQ" smtClean="0"/>
              <a:t>1</a:t>
            </a:fld>
            <a:endParaRPr lang="ar-IQ"/>
          </a:p>
        </p:txBody>
      </p:sp>
    </p:spTree>
    <p:extLst>
      <p:ext uri="{BB962C8B-B14F-4D97-AF65-F5344CB8AC3E}">
        <p14:creationId xmlns:p14="http://schemas.microsoft.com/office/powerpoint/2010/main" val="3597686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IQ" dirty="0"/>
          </a:p>
        </p:txBody>
      </p:sp>
      <p:sp>
        <p:nvSpPr>
          <p:cNvPr id="4" name="عنصر نائب لرقم الشريحة 3"/>
          <p:cNvSpPr>
            <a:spLocks noGrp="1"/>
          </p:cNvSpPr>
          <p:nvPr>
            <p:ph type="sldNum" sz="quarter" idx="5"/>
          </p:nvPr>
        </p:nvSpPr>
        <p:spPr/>
        <p:txBody>
          <a:bodyPr/>
          <a:lstStyle/>
          <a:p>
            <a:fld id="{BDDAD4F9-5027-41B6-9DFF-C119501995B4}" type="slidenum">
              <a:rPr lang="ar-IQ" smtClean="0"/>
              <a:t>3</a:t>
            </a:fld>
            <a:endParaRPr lang="ar-IQ"/>
          </a:p>
        </p:txBody>
      </p:sp>
    </p:spTree>
    <p:extLst>
      <p:ext uri="{BB962C8B-B14F-4D97-AF65-F5344CB8AC3E}">
        <p14:creationId xmlns:p14="http://schemas.microsoft.com/office/powerpoint/2010/main" val="2106545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IQ" dirty="0"/>
          </a:p>
        </p:txBody>
      </p:sp>
      <p:sp>
        <p:nvSpPr>
          <p:cNvPr id="4" name="عنصر نائب لرقم الشريحة 3"/>
          <p:cNvSpPr>
            <a:spLocks noGrp="1"/>
          </p:cNvSpPr>
          <p:nvPr>
            <p:ph type="sldNum" sz="quarter" idx="5"/>
          </p:nvPr>
        </p:nvSpPr>
        <p:spPr/>
        <p:txBody>
          <a:bodyPr/>
          <a:lstStyle/>
          <a:p>
            <a:fld id="{BDDAD4F9-5027-41B6-9DFF-C119501995B4}" type="slidenum">
              <a:rPr lang="ar-IQ" smtClean="0"/>
              <a:t>4</a:t>
            </a:fld>
            <a:endParaRPr lang="ar-IQ"/>
          </a:p>
        </p:txBody>
      </p:sp>
    </p:spTree>
    <p:extLst>
      <p:ext uri="{BB962C8B-B14F-4D97-AF65-F5344CB8AC3E}">
        <p14:creationId xmlns:p14="http://schemas.microsoft.com/office/powerpoint/2010/main" val="52339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IQ" dirty="0"/>
          </a:p>
        </p:txBody>
      </p:sp>
      <p:sp>
        <p:nvSpPr>
          <p:cNvPr id="4" name="عنصر نائب لرقم الشريحة 3"/>
          <p:cNvSpPr>
            <a:spLocks noGrp="1"/>
          </p:cNvSpPr>
          <p:nvPr>
            <p:ph type="sldNum" sz="quarter" idx="5"/>
          </p:nvPr>
        </p:nvSpPr>
        <p:spPr/>
        <p:txBody>
          <a:bodyPr/>
          <a:lstStyle/>
          <a:p>
            <a:fld id="{BDDAD4F9-5027-41B6-9DFF-C119501995B4}" type="slidenum">
              <a:rPr lang="ar-IQ" smtClean="0"/>
              <a:t>5</a:t>
            </a:fld>
            <a:endParaRPr lang="ar-IQ"/>
          </a:p>
        </p:txBody>
      </p:sp>
    </p:spTree>
    <p:extLst>
      <p:ext uri="{BB962C8B-B14F-4D97-AF65-F5344CB8AC3E}">
        <p14:creationId xmlns:p14="http://schemas.microsoft.com/office/powerpoint/2010/main" val="76039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IQ" dirty="0"/>
          </a:p>
        </p:txBody>
      </p:sp>
      <p:sp>
        <p:nvSpPr>
          <p:cNvPr id="4" name="عنصر نائب لرقم الشريحة 3"/>
          <p:cNvSpPr>
            <a:spLocks noGrp="1"/>
          </p:cNvSpPr>
          <p:nvPr>
            <p:ph type="sldNum" sz="quarter" idx="5"/>
          </p:nvPr>
        </p:nvSpPr>
        <p:spPr/>
        <p:txBody>
          <a:bodyPr/>
          <a:lstStyle/>
          <a:p>
            <a:fld id="{BDDAD4F9-5027-41B6-9DFF-C119501995B4}" type="slidenum">
              <a:rPr lang="ar-IQ" smtClean="0"/>
              <a:t>9</a:t>
            </a:fld>
            <a:endParaRPr lang="ar-IQ"/>
          </a:p>
        </p:txBody>
      </p:sp>
    </p:spTree>
    <p:extLst>
      <p:ext uri="{BB962C8B-B14F-4D97-AF65-F5344CB8AC3E}">
        <p14:creationId xmlns:p14="http://schemas.microsoft.com/office/powerpoint/2010/main" val="948782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12834-2959-D87B-91C4-E6CDA8BCE356}"/>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CD971D8D-3BD9-CCC9-0572-64F30314FE7A}"/>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14E06D05-C75A-4224-6885-56794543C86A}"/>
              </a:ext>
            </a:extLst>
          </p:cNvPr>
          <p:cNvSpPr>
            <a:spLocks noGrp="1"/>
          </p:cNvSpPr>
          <p:nvPr>
            <p:ph type="body" idx="1"/>
          </p:nvPr>
        </p:nvSpPr>
        <p:spPr/>
        <p:txBody>
          <a:bodyPr/>
          <a:lstStyle/>
          <a:p>
            <a:endParaRPr lang="ar-IQ" dirty="0"/>
          </a:p>
        </p:txBody>
      </p:sp>
      <p:sp>
        <p:nvSpPr>
          <p:cNvPr id="4" name="عنصر نائب لرقم الشريحة 3">
            <a:extLst>
              <a:ext uri="{FF2B5EF4-FFF2-40B4-BE49-F238E27FC236}">
                <a16:creationId xmlns:a16="http://schemas.microsoft.com/office/drawing/2014/main" id="{C6C09BD3-566B-8779-99D1-56E262CDD31D}"/>
              </a:ext>
            </a:extLst>
          </p:cNvPr>
          <p:cNvSpPr>
            <a:spLocks noGrp="1"/>
          </p:cNvSpPr>
          <p:nvPr>
            <p:ph type="sldNum" sz="quarter" idx="5"/>
          </p:nvPr>
        </p:nvSpPr>
        <p:spPr/>
        <p:txBody>
          <a:bodyPr/>
          <a:lstStyle/>
          <a:p>
            <a:fld id="{BDDAD4F9-5027-41B6-9DFF-C119501995B4}" type="slidenum">
              <a:rPr lang="ar-IQ" smtClean="0"/>
              <a:t>10</a:t>
            </a:fld>
            <a:endParaRPr lang="ar-IQ"/>
          </a:p>
        </p:txBody>
      </p:sp>
    </p:spTree>
    <p:extLst>
      <p:ext uri="{BB962C8B-B14F-4D97-AF65-F5344CB8AC3E}">
        <p14:creationId xmlns:p14="http://schemas.microsoft.com/office/powerpoint/2010/main" val="2689859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IQ" dirty="0"/>
          </a:p>
        </p:txBody>
      </p:sp>
      <p:sp>
        <p:nvSpPr>
          <p:cNvPr id="4" name="عنصر نائب لرقم الشريحة 3"/>
          <p:cNvSpPr>
            <a:spLocks noGrp="1"/>
          </p:cNvSpPr>
          <p:nvPr>
            <p:ph type="sldNum" sz="quarter" idx="5"/>
          </p:nvPr>
        </p:nvSpPr>
        <p:spPr/>
        <p:txBody>
          <a:bodyPr/>
          <a:lstStyle/>
          <a:p>
            <a:fld id="{BDDAD4F9-5027-41B6-9DFF-C119501995B4}" type="slidenum">
              <a:rPr lang="ar-IQ" smtClean="0"/>
              <a:t>12</a:t>
            </a:fld>
            <a:endParaRPr lang="ar-IQ"/>
          </a:p>
        </p:txBody>
      </p:sp>
    </p:spTree>
    <p:extLst>
      <p:ext uri="{BB962C8B-B14F-4D97-AF65-F5344CB8AC3E}">
        <p14:creationId xmlns:p14="http://schemas.microsoft.com/office/powerpoint/2010/main" val="19380664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pPr algn="l" rtl="0"/>
            <a:endParaRPr lang="ar-IQ" dirty="0"/>
          </a:p>
        </p:txBody>
      </p:sp>
      <p:sp>
        <p:nvSpPr>
          <p:cNvPr id="4" name="عنصر نائب لرقم الشريحة 3"/>
          <p:cNvSpPr>
            <a:spLocks noGrp="1"/>
          </p:cNvSpPr>
          <p:nvPr>
            <p:ph type="sldNum" sz="quarter" idx="5"/>
          </p:nvPr>
        </p:nvSpPr>
        <p:spPr/>
        <p:txBody>
          <a:bodyPr/>
          <a:lstStyle/>
          <a:p>
            <a:fld id="{BDDAD4F9-5027-41B6-9DFF-C119501995B4}" type="slidenum">
              <a:rPr lang="ar-IQ" smtClean="0"/>
              <a:t>17</a:t>
            </a:fld>
            <a:endParaRPr lang="ar-IQ"/>
          </a:p>
        </p:txBody>
      </p:sp>
    </p:spTree>
    <p:extLst>
      <p:ext uri="{BB962C8B-B14F-4D97-AF65-F5344CB8AC3E}">
        <p14:creationId xmlns:p14="http://schemas.microsoft.com/office/powerpoint/2010/main" val="2890759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5FF090A-FAA0-DBD4-24EC-3B2C843ED4DA}"/>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endParaRPr lang="ar-IQ"/>
          </a:p>
        </p:txBody>
      </p:sp>
      <p:sp>
        <p:nvSpPr>
          <p:cNvPr id="3" name="عنوان فرعي 2">
            <a:extLst>
              <a:ext uri="{FF2B5EF4-FFF2-40B4-BE49-F238E27FC236}">
                <a16:creationId xmlns:a16="http://schemas.microsoft.com/office/drawing/2014/main" id="{3068C4BF-4C58-48AE-1853-965F0AB176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endParaRPr lang="ar-IQ"/>
          </a:p>
        </p:txBody>
      </p:sp>
      <p:sp>
        <p:nvSpPr>
          <p:cNvPr id="4" name="عنصر نائب للتاريخ 3">
            <a:extLst>
              <a:ext uri="{FF2B5EF4-FFF2-40B4-BE49-F238E27FC236}">
                <a16:creationId xmlns:a16="http://schemas.microsoft.com/office/drawing/2014/main" id="{856DA146-DEDB-0085-0B8B-9ED42A55603C}"/>
              </a:ext>
            </a:extLst>
          </p:cNvPr>
          <p:cNvSpPr>
            <a:spLocks noGrp="1"/>
          </p:cNvSpPr>
          <p:nvPr>
            <p:ph type="dt" sz="half" idx="10"/>
          </p:nvPr>
        </p:nvSpPr>
        <p:spPr/>
        <p:txBody>
          <a:bodyPr/>
          <a:lstStyle/>
          <a:p>
            <a:fld id="{9DBFE057-024A-4812-A2B7-BE802624B48A}" type="datetimeFigureOut">
              <a:rPr lang="ar-IQ" smtClean="0"/>
              <a:t>02/06/1446</a:t>
            </a:fld>
            <a:endParaRPr lang="ar-IQ"/>
          </a:p>
        </p:txBody>
      </p:sp>
      <p:sp>
        <p:nvSpPr>
          <p:cNvPr id="5" name="عنصر نائب للتذييل 4">
            <a:extLst>
              <a:ext uri="{FF2B5EF4-FFF2-40B4-BE49-F238E27FC236}">
                <a16:creationId xmlns:a16="http://schemas.microsoft.com/office/drawing/2014/main" id="{1D30965B-1870-328E-7BE2-5B111B828ECC}"/>
              </a:ext>
            </a:extLst>
          </p:cNvPr>
          <p:cNvSpPr>
            <a:spLocks noGrp="1"/>
          </p:cNvSpPr>
          <p:nvPr>
            <p:ph type="ftr" sz="quarter" idx="11"/>
          </p:nvPr>
        </p:nvSpPr>
        <p:spPr/>
        <p:txBody>
          <a:bodyPr/>
          <a:lstStyle/>
          <a:p>
            <a:endParaRPr lang="ar-IQ"/>
          </a:p>
        </p:txBody>
      </p:sp>
      <p:sp>
        <p:nvSpPr>
          <p:cNvPr id="6" name="عنصر نائب لرقم الشريحة 5">
            <a:extLst>
              <a:ext uri="{FF2B5EF4-FFF2-40B4-BE49-F238E27FC236}">
                <a16:creationId xmlns:a16="http://schemas.microsoft.com/office/drawing/2014/main" id="{50D5B380-0EF3-B017-D141-9001FFEDC545}"/>
              </a:ext>
            </a:extLst>
          </p:cNvPr>
          <p:cNvSpPr>
            <a:spLocks noGrp="1"/>
          </p:cNvSpPr>
          <p:nvPr>
            <p:ph type="sldNum" sz="quarter" idx="12"/>
          </p:nvPr>
        </p:nvSpPr>
        <p:spPr/>
        <p:txBody>
          <a:bodyPr/>
          <a:lstStyle/>
          <a:p>
            <a:fld id="{2F66A902-C168-4790-981C-DE29AEA51C8D}" type="slidenum">
              <a:rPr lang="ar-IQ" smtClean="0"/>
              <a:t>‹#›</a:t>
            </a:fld>
            <a:endParaRPr lang="ar-IQ"/>
          </a:p>
        </p:txBody>
      </p:sp>
    </p:spTree>
    <p:extLst>
      <p:ext uri="{BB962C8B-B14F-4D97-AF65-F5344CB8AC3E}">
        <p14:creationId xmlns:p14="http://schemas.microsoft.com/office/powerpoint/2010/main" val="2506441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2BD3B45-04D9-89E9-F171-F6AAFA81C3E6}"/>
              </a:ext>
            </a:extLst>
          </p:cNvPr>
          <p:cNvSpPr>
            <a:spLocks noGrp="1"/>
          </p:cNvSpPr>
          <p:nvPr>
            <p:ph type="title"/>
          </p:nvPr>
        </p:nvSpPr>
        <p:spPr/>
        <p:txBody>
          <a:bodyPr/>
          <a:lstStyle/>
          <a:p>
            <a:r>
              <a:rPr lang="ar-SA"/>
              <a:t>انقر لتحرير نمط عنوان الشكل الرئيسي</a:t>
            </a:r>
            <a:endParaRPr lang="ar-IQ"/>
          </a:p>
        </p:txBody>
      </p:sp>
      <p:sp>
        <p:nvSpPr>
          <p:cNvPr id="3" name="عنصر نائب للمحتوى 2">
            <a:extLst>
              <a:ext uri="{FF2B5EF4-FFF2-40B4-BE49-F238E27FC236}">
                <a16:creationId xmlns:a16="http://schemas.microsoft.com/office/drawing/2014/main" id="{8AD34B04-3B0B-CCCB-2A09-9A034AA9DAD4}"/>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IQ"/>
          </a:p>
        </p:txBody>
      </p:sp>
      <p:sp>
        <p:nvSpPr>
          <p:cNvPr id="4" name="عنصر نائب للتاريخ 3">
            <a:extLst>
              <a:ext uri="{FF2B5EF4-FFF2-40B4-BE49-F238E27FC236}">
                <a16:creationId xmlns:a16="http://schemas.microsoft.com/office/drawing/2014/main" id="{5F721C7F-07F2-A991-9BD1-3582599E8A85}"/>
              </a:ext>
            </a:extLst>
          </p:cNvPr>
          <p:cNvSpPr>
            <a:spLocks noGrp="1"/>
          </p:cNvSpPr>
          <p:nvPr>
            <p:ph type="dt" sz="half" idx="10"/>
          </p:nvPr>
        </p:nvSpPr>
        <p:spPr/>
        <p:txBody>
          <a:bodyPr/>
          <a:lstStyle/>
          <a:p>
            <a:fld id="{9DBFE057-024A-4812-A2B7-BE802624B48A}" type="datetimeFigureOut">
              <a:rPr lang="ar-IQ" smtClean="0"/>
              <a:t>02/06/1446</a:t>
            </a:fld>
            <a:endParaRPr lang="ar-IQ"/>
          </a:p>
        </p:txBody>
      </p:sp>
      <p:sp>
        <p:nvSpPr>
          <p:cNvPr id="5" name="عنصر نائب للتذييل 4">
            <a:extLst>
              <a:ext uri="{FF2B5EF4-FFF2-40B4-BE49-F238E27FC236}">
                <a16:creationId xmlns:a16="http://schemas.microsoft.com/office/drawing/2014/main" id="{E9EA0E8A-C955-C08A-AE6F-E7225DD858BF}"/>
              </a:ext>
            </a:extLst>
          </p:cNvPr>
          <p:cNvSpPr>
            <a:spLocks noGrp="1"/>
          </p:cNvSpPr>
          <p:nvPr>
            <p:ph type="ftr" sz="quarter" idx="11"/>
          </p:nvPr>
        </p:nvSpPr>
        <p:spPr/>
        <p:txBody>
          <a:bodyPr/>
          <a:lstStyle/>
          <a:p>
            <a:endParaRPr lang="ar-IQ"/>
          </a:p>
        </p:txBody>
      </p:sp>
      <p:sp>
        <p:nvSpPr>
          <p:cNvPr id="6" name="عنصر نائب لرقم الشريحة 5">
            <a:extLst>
              <a:ext uri="{FF2B5EF4-FFF2-40B4-BE49-F238E27FC236}">
                <a16:creationId xmlns:a16="http://schemas.microsoft.com/office/drawing/2014/main" id="{DF4067FA-3719-DD81-CFC1-5DE115BEAAD1}"/>
              </a:ext>
            </a:extLst>
          </p:cNvPr>
          <p:cNvSpPr>
            <a:spLocks noGrp="1"/>
          </p:cNvSpPr>
          <p:nvPr>
            <p:ph type="sldNum" sz="quarter" idx="12"/>
          </p:nvPr>
        </p:nvSpPr>
        <p:spPr/>
        <p:txBody>
          <a:bodyPr/>
          <a:lstStyle/>
          <a:p>
            <a:fld id="{2F66A902-C168-4790-981C-DE29AEA51C8D}" type="slidenum">
              <a:rPr lang="ar-IQ" smtClean="0"/>
              <a:t>‹#›</a:t>
            </a:fld>
            <a:endParaRPr lang="ar-IQ"/>
          </a:p>
        </p:txBody>
      </p:sp>
    </p:spTree>
    <p:extLst>
      <p:ext uri="{BB962C8B-B14F-4D97-AF65-F5344CB8AC3E}">
        <p14:creationId xmlns:p14="http://schemas.microsoft.com/office/powerpoint/2010/main" val="3687700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B98F438-1542-57C9-4D12-B5DC787058C2}"/>
              </a:ext>
            </a:extLst>
          </p:cNvPr>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endParaRPr lang="ar-IQ"/>
          </a:p>
        </p:txBody>
      </p:sp>
      <p:sp>
        <p:nvSpPr>
          <p:cNvPr id="3" name="عنصر نائب للنص 2">
            <a:extLst>
              <a:ext uri="{FF2B5EF4-FFF2-40B4-BE49-F238E27FC236}">
                <a16:creationId xmlns:a16="http://schemas.microsoft.com/office/drawing/2014/main" id="{671BC5DC-F651-9850-DF2E-753255A96D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FD446783-C2A1-E3FF-AA0A-D696B7935374}"/>
              </a:ext>
            </a:extLst>
          </p:cNvPr>
          <p:cNvSpPr>
            <a:spLocks noGrp="1"/>
          </p:cNvSpPr>
          <p:nvPr>
            <p:ph type="dt" sz="half" idx="10"/>
          </p:nvPr>
        </p:nvSpPr>
        <p:spPr/>
        <p:txBody>
          <a:bodyPr/>
          <a:lstStyle/>
          <a:p>
            <a:fld id="{9DBFE057-024A-4812-A2B7-BE802624B48A}" type="datetimeFigureOut">
              <a:rPr lang="ar-IQ" smtClean="0"/>
              <a:t>02/06/1446</a:t>
            </a:fld>
            <a:endParaRPr lang="ar-IQ"/>
          </a:p>
        </p:txBody>
      </p:sp>
      <p:sp>
        <p:nvSpPr>
          <p:cNvPr id="5" name="عنصر نائب للتذييل 4">
            <a:extLst>
              <a:ext uri="{FF2B5EF4-FFF2-40B4-BE49-F238E27FC236}">
                <a16:creationId xmlns:a16="http://schemas.microsoft.com/office/drawing/2014/main" id="{2B8E2033-CD60-D478-018B-326F67489D6A}"/>
              </a:ext>
            </a:extLst>
          </p:cNvPr>
          <p:cNvSpPr>
            <a:spLocks noGrp="1"/>
          </p:cNvSpPr>
          <p:nvPr>
            <p:ph type="ftr" sz="quarter" idx="11"/>
          </p:nvPr>
        </p:nvSpPr>
        <p:spPr/>
        <p:txBody>
          <a:bodyPr/>
          <a:lstStyle/>
          <a:p>
            <a:endParaRPr lang="ar-IQ"/>
          </a:p>
        </p:txBody>
      </p:sp>
      <p:sp>
        <p:nvSpPr>
          <p:cNvPr id="6" name="عنصر نائب لرقم الشريحة 5">
            <a:extLst>
              <a:ext uri="{FF2B5EF4-FFF2-40B4-BE49-F238E27FC236}">
                <a16:creationId xmlns:a16="http://schemas.microsoft.com/office/drawing/2014/main" id="{C379F9D7-D186-1C60-527A-AD52FC856D28}"/>
              </a:ext>
            </a:extLst>
          </p:cNvPr>
          <p:cNvSpPr>
            <a:spLocks noGrp="1"/>
          </p:cNvSpPr>
          <p:nvPr>
            <p:ph type="sldNum" sz="quarter" idx="12"/>
          </p:nvPr>
        </p:nvSpPr>
        <p:spPr/>
        <p:txBody>
          <a:bodyPr/>
          <a:lstStyle/>
          <a:p>
            <a:fld id="{2F66A902-C168-4790-981C-DE29AEA51C8D}" type="slidenum">
              <a:rPr lang="ar-IQ" smtClean="0"/>
              <a:t>‹#›</a:t>
            </a:fld>
            <a:endParaRPr lang="ar-IQ"/>
          </a:p>
        </p:txBody>
      </p:sp>
    </p:spTree>
    <p:extLst>
      <p:ext uri="{BB962C8B-B14F-4D97-AF65-F5344CB8AC3E}">
        <p14:creationId xmlns:p14="http://schemas.microsoft.com/office/powerpoint/2010/main" val="2020512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1919B85-24F9-69C5-284E-F0E8FB2C1A0C}"/>
              </a:ext>
            </a:extLst>
          </p:cNvPr>
          <p:cNvSpPr>
            <a:spLocks noGrp="1"/>
          </p:cNvSpPr>
          <p:nvPr>
            <p:ph type="title"/>
          </p:nvPr>
        </p:nvSpPr>
        <p:spPr/>
        <p:txBody>
          <a:bodyPr/>
          <a:lstStyle/>
          <a:p>
            <a:r>
              <a:rPr lang="ar-SA"/>
              <a:t>انقر لتحرير نمط عنوان الشكل الرئيسي</a:t>
            </a:r>
            <a:endParaRPr lang="ar-IQ"/>
          </a:p>
        </p:txBody>
      </p:sp>
      <p:sp>
        <p:nvSpPr>
          <p:cNvPr id="3" name="عنصر نائب للمحتوى 2">
            <a:extLst>
              <a:ext uri="{FF2B5EF4-FFF2-40B4-BE49-F238E27FC236}">
                <a16:creationId xmlns:a16="http://schemas.microsoft.com/office/drawing/2014/main" id="{BDF681A7-C173-4E56-1F3D-CA9E255E85E2}"/>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IQ"/>
          </a:p>
        </p:txBody>
      </p:sp>
      <p:sp>
        <p:nvSpPr>
          <p:cNvPr id="4" name="عنصر نائب للمحتوى 3">
            <a:extLst>
              <a:ext uri="{FF2B5EF4-FFF2-40B4-BE49-F238E27FC236}">
                <a16:creationId xmlns:a16="http://schemas.microsoft.com/office/drawing/2014/main" id="{BDFF6CD8-1DAA-9350-53AE-2B59CFCF28CF}"/>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IQ"/>
          </a:p>
        </p:txBody>
      </p:sp>
      <p:sp>
        <p:nvSpPr>
          <p:cNvPr id="5" name="عنصر نائب للتاريخ 4">
            <a:extLst>
              <a:ext uri="{FF2B5EF4-FFF2-40B4-BE49-F238E27FC236}">
                <a16:creationId xmlns:a16="http://schemas.microsoft.com/office/drawing/2014/main" id="{8BB79CFE-F625-7F28-5CB4-53A4CE953506}"/>
              </a:ext>
            </a:extLst>
          </p:cNvPr>
          <p:cNvSpPr>
            <a:spLocks noGrp="1"/>
          </p:cNvSpPr>
          <p:nvPr>
            <p:ph type="dt" sz="half" idx="10"/>
          </p:nvPr>
        </p:nvSpPr>
        <p:spPr/>
        <p:txBody>
          <a:bodyPr/>
          <a:lstStyle/>
          <a:p>
            <a:fld id="{9DBFE057-024A-4812-A2B7-BE802624B48A}" type="datetimeFigureOut">
              <a:rPr lang="ar-IQ" smtClean="0"/>
              <a:t>02/06/1446</a:t>
            </a:fld>
            <a:endParaRPr lang="ar-IQ"/>
          </a:p>
        </p:txBody>
      </p:sp>
      <p:sp>
        <p:nvSpPr>
          <p:cNvPr id="6" name="عنصر نائب للتذييل 5">
            <a:extLst>
              <a:ext uri="{FF2B5EF4-FFF2-40B4-BE49-F238E27FC236}">
                <a16:creationId xmlns:a16="http://schemas.microsoft.com/office/drawing/2014/main" id="{9EE7300B-2404-8DA0-1806-53524093102B}"/>
              </a:ext>
            </a:extLst>
          </p:cNvPr>
          <p:cNvSpPr>
            <a:spLocks noGrp="1"/>
          </p:cNvSpPr>
          <p:nvPr>
            <p:ph type="ftr" sz="quarter" idx="11"/>
          </p:nvPr>
        </p:nvSpPr>
        <p:spPr/>
        <p:txBody>
          <a:bodyPr/>
          <a:lstStyle/>
          <a:p>
            <a:endParaRPr lang="ar-IQ"/>
          </a:p>
        </p:txBody>
      </p:sp>
      <p:sp>
        <p:nvSpPr>
          <p:cNvPr id="7" name="عنصر نائب لرقم الشريحة 6">
            <a:extLst>
              <a:ext uri="{FF2B5EF4-FFF2-40B4-BE49-F238E27FC236}">
                <a16:creationId xmlns:a16="http://schemas.microsoft.com/office/drawing/2014/main" id="{9DFA6CC9-ABEA-0B60-387B-6D264465EB50}"/>
              </a:ext>
            </a:extLst>
          </p:cNvPr>
          <p:cNvSpPr>
            <a:spLocks noGrp="1"/>
          </p:cNvSpPr>
          <p:nvPr>
            <p:ph type="sldNum" sz="quarter" idx="12"/>
          </p:nvPr>
        </p:nvSpPr>
        <p:spPr/>
        <p:txBody>
          <a:bodyPr/>
          <a:lstStyle/>
          <a:p>
            <a:fld id="{2F66A902-C168-4790-981C-DE29AEA51C8D}" type="slidenum">
              <a:rPr lang="ar-IQ" smtClean="0"/>
              <a:t>‹#›</a:t>
            </a:fld>
            <a:endParaRPr lang="ar-IQ"/>
          </a:p>
        </p:txBody>
      </p:sp>
    </p:spTree>
    <p:extLst>
      <p:ext uri="{BB962C8B-B14F-4D97-AF65-F5344CB8AC3E}">
        <p14:creationId xmlns:p14="http://schemas.microsoft.com/office/powerpoint/2010/main" val="643535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7071025-29C9-A45F-9916-6489E42CA9DD}"/>
              </a:ext>
            </a:extLst>
          </p:cNvPr>
          <p:cNvSpPr>
            <a:spLocks noGrp="1"/>
          </p:cNvSpPr>
          <p:nvPr>
            <p:ph type="title"/>
          </p:nvPr>
        </p:nvSpPr>
        <p:spPr>
          <a:xfrm>
            <a:off x="839788" y="365125"/>
            <a:ext cx="10515600" cy="1325563"/>
          </a:xfrm>
        </p:spPr>
        <p:txBody>
          <a:bodyPr/>
          <a:lstStyle/>
          <a:p>
            <a:r>
              <a:rPr lang="ar-SA"/>
              <a:t>انقر لتحرير نمط عنوان الشكل الرئيسي</a:t>
            </a:r>
            <a:endParaRPr lang="ar-IQ"/>
          </a:p>
        </p:txBody>
      </p:sp>
      <p:sp>
        <p:nvSpPr>
          <p:cNvPr id="3" name="عنصر نائب للنص 2">
            <a:extLst>
              <a:ext uri="{FF2B5EF4-FFF2-40B4-BE49-F238E27FC236}">
                <a16:creationId xmlns:a16="http://schemas.microsoft.com/office/drawing/2014/main" id="{CBE287D7-18B9-7E9C-0AD2-81D3AE9CC5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3A728850-E32D-736F-C8D3-BF15D1EC3990}"/>
              </a:ext>
            </a:extLst>
          </p:cNvPr>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IQ"/>
          </a:p>
        </p:txBody>
      </p:sp>
      <p:sp>
        <p:nvSpPr>
          <p:cNvPr id="5" name="عنصر نائب للنص 4">
            <a:extLst>
              <a:ext uri="{FF2B5EF4-FFF2-40B4-BE49-F238E27FC236}">
                <a16:creationId xmlns:a16="http://schemas.microsoft.com/office/drawing/2014/main" id="{00F24261-1790-FC52-D65B-9EDF35962A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1109FBA6-C363-6D5A-D954-58DDDAD000E0}"/>
              </a:ext>
            </a:extLst>
          </p:cNvPr>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IQ"/>
          </a:p>
        </p:txBody>
      </p:sp>
      <p:sp>
        <p:nvSpPr>
          <p:cNvPr id="7" name="عنصر نائب للتاريخ 6">
            <a:extLst>
              <a:ext uri="{FF2B5EF4-FFF2-40B4-BE49-F238E27FC236}">
                <a16:creationId xmlns:a16="http://schemas.microsoft.com/office/drawing/2014/main" id="{675E25BF-C97D-2D37-71C1-F6A615D66E15}"/>
              </a:ext>
            </a:extLst>
          </p:cNvPr>
          <p:cNvSpPr>
            <a:spLocks noGrp="1"/>
          </p:cNvSpPr>
          <p:nvPr>
            <p:ph type="dt" sz="half" idx="10"/>
          </p:nvPr>
        </p:nvSpPr>
        <p:spPr/>
        <p:txBody>
          <a:bodyPr/>
          <a:lstStyle/>
          <a:p>
            <a:fld id="{9DBFE057-024A-4812-A2B7-BE802624B48A}" type="datetimeFigureOut">
              <a:rPr lang="ar-IQ" smtClean="0"/>
              <a:t>02/06/1446</a:t>
            </a:fld>
            <a:endParaRPr lang="ar-IQ"/>
          </a:p>
        </p:txBody>
      </p:sp>
      <p:sp>
        <p:nvSpPr>
          <p:cNvPr id="8" name="عنصر نائب للتذييل 7">
            <a:extLst>
              <a:ext uri="{FF2B5EF4-FFF2-40B4-BE49-F238E27FC236}">
                <a16:creationId xmlns:a16="http://schemas.microsoft.com/office/drawing/2014/main" id="{719F3169-EC72-D83E-B6C0-3290BEE82396}"/>
              </a:ext>
            </a:extLst>
          </p:cNvPr>
          <p:cNvSpPr>
            <a:spLocks noGrp="1"/>
          </p:cNvSpPr>
          <p:nvPr>
            <p:ph type="ftr" sz="quarter" idx="11"/>
          </p:nvPr>
        </p:nvSpPr>
        <p:spPr/>
        <p:txBody>
          <a:bodyPr/>
          <a:lstStyle/>
          <a:p>
            <a:endParaRPr lang="ar-IQ"/>
          </a:p>
        </p:txBody>
      </p:sp>
      <p:sp>
        <p:nvSpPr>
          <p:cNvPr id="9" name="عنصر نائب لرقم الشريحة 8">
            <a:extLst>
              <a:ext uri="{FF2B5EF4-FFF2-40B4-BE49-F238E27FC236}">
                <a16:creationId xmlns:a16="http://schemas.microsoft.com/office/drawing/2014/main" id="{BB7A1CB9-D9DE-91C8-485B-FE7BB3F0433E}"/>
              </a:ext>
            </a:extLst>
          </p:cNvPr>
          <p:cNvSpPr>
            <a:spLocks noGrp="1"/>
          </p:cNvSpPr>
          <p:nvPr>
            <p:ph type="sldNum" sz="quarter" idx="12"/>
          </p:nvPr>
        </p:nvSpPr>
        <p:spPr/>
        <p:txBody>
          <a:bodyPr/>
          <a:lstStyle/>
          <a:p>
            <a:fld id="{2F66A902-C168-4790-981C-DE29AEA51C8D}" type="slidenum">
              <a:rPr lang="ar-IQ" smtClean="0"/>
              <a:t>‹#›</a:t>
            </a:fld>
            <a:endParaRPr lang="ar-IQ"/>
          </a:p>
        </p:txBody>
      </p:sp>
    </p:spTree>
    <p:extLst>
      <p:ext uri="{BB962C8B-B14F-4D97-AF65-F5344CB8AC3E}">
        <p14:creationId xmlns:p14="http://schemas.microsoft.com/office/powerpoint/2010/main" val="2937764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D9B1FA2-3E4A-6A1A-0BDF-FF4487CF3EA5}"/>
              </a:ext>
            </a:extLst>
          </p:cNvPr>
          <p:cNvSpPr>
            <a:spLocks noGrp="1"/>
          </p:cNvSpPr>
          <p:nvPr>
            <p:ph type="title"/>
          </p:nvPr>
        </p:nvSpPr>
        <p:spPr/>
        <p:txBody>
          <a:bodyPr/>
          <a:lstStyle/>
          <a:p>
            <a:r>
              <a:rPr lang="ar-SA"/>
              <a:t>انقر لتحرير نمط عنوان الشكل الرئيسي</a:t>
            </a:r>
            <a:endParaRPr lang="ar-IQ"/>
          </a:p>
        </p:txBody>
      </p:sp>
      <p:sp>
        <p:nvSpPr>
          <p:cNvPr id="3" name="عنصر نائب للتاريخ 2">
            <a:extLst>
              <a:ext uri="{FF2B5EF4-FFF2-40B4-BE49-F238E27FC236}">
                <a16:creationId xmlns:a16="http://schemas.microsoft.com/office/drawing/2014/main" id="{A4EE703C-D73A-A747-2AD9-09131A990272}"/>
              </a:ext>
            </a:extLst>
          </p:cNvPr>
          <p:cNvSpPr>
            <a:spLocks noGrp="1"/>
          </p:cNvSpPr>
          <p:nvPr>
            <p:ph type="dt" sz="half" idx="10"/>
          </p:nvPr>
        </p:nvSpPr>
        <p:spPr/>
        <p:txBody>
          <a:bodyPr/>
          <a:lstStyle/>
          <a:p>
            <a:fld id="{9DBFE057-024A-4812-A2B7-BE802624B48A}" type="datetimeFigureOut">
              <a:rPr lang="ar-IQ" smtClean="0"/>
              <a:t>02/06/1446</a:t>
            </a:fld>
            <a:endParaRPr lang="ar-IQ"/>
          </a:p>
        </p:txBody>
      </p:sp>
      <p:sp>
        <p:nvSpPr>
          <p:cNvPr id="4" name="عنصر نائب للتذييل 3">
            <a:extLst>
              <a:ext uri="{FF2B5EF4-FFF2-40B4-BE49-F238E27FC236}">
                <a16:creationId xmlns:a16="http://schemas.microsoft.com/office/drawing/2014/main" id="{510A9EA4-001B-F33A-E8B2-A92FE3F8DA86}"/>
              </a:ext>
            </a:extLst>
          </p:cNvPr>
          <p:cNvSpPr>
            <a:spLocks noGrp="1"/>
          </p:cNvSpPr>
          <p:nvPr>
            <p:ph type="ftr" sz="quarter" idx="11"/>
          </p:nvPr>
        </p:nvSpPr>
        <p:spPr/>
        <p:txBody>
          <a:bodyPr/>
          <a:lstStyle/>
          <a:p>
            <a:endParaRPr lang="ar-IQ"/>
          </a:p>
        </p:txBody>
      </p:sp>
      <p:sp>
        <p:nvSpPr>
          <p:cNvPr id="5" name="عنصر نائب لرقم الشريحة 4">
            <a:extLst>
              <a:ext uri="{FF2B5EF4-FFF2-40B4-BE49-F238E27FC236}">
                <a16:creationId xmlns:a16="http://schemas.microsoft.com/office/drawing/2014/main" id="{F5535FD4-605C-06ED-CC98-8537971FA96B}"/>
              </a:ext>
            </a:extLst>
          </p:cNvPr>
          <p:cNvSpPr>
            <a:spLocks noGrp="1"/>
          </p:cNvSpPr>
          <p:nvPr>
            <p:ph type="sldNum" sz="quarter" idx="12"/>
          </p:nvPr>
        </p:nvSpPr>
        <p:spPr/>
        <p:txBody>
          <a:bodyPr/>
          <a:lstStyle/>
          <a:p>
            <a:fld id="{2F66A902-C168-4790-981C-DE29AEA51C8D}" type="slidenum">
              <a:rPr lang="ar-IQ" smtClean="0"/>
              <a:t>‹#›</a:t>
            </a:fld>
            <a:endParaRPr lang="ar-IQ"/>
          </a:p>
        </p:txBody>
      </p:sp>
    </p:spTree>
    <p:extLst>
      <p:ext uri="{BB962C8B-B14F-4D97-AF65-F5344CB8AC3E}">
        <p14:creationId xmlns:p14="http://schemas.microsoft.com/office/powerpoint/2010/main" val="4211633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290D4EA1-3C99-C828-8851-4D58DEEA4930}"/>
              </a:ext>
            </a:extLst>
          </p:cNvPr>
          <p:cNvSpPr>
            <a:spLocks noGrp="1"/>
          </p:cNvSpPr>
          <p:nvPr>
            <p:ph type="dt" sz="half" idx="10"/>
          </p:nvPr>
        </p:nvSpPr>
        <p:spPr/>
        <p:txBody>
          <a:bodyPr/>
          <a:lstStyle/>
          <a:p>
            <a:fld id="{9DBFE057-024A-4812-A2B7-BE802624B48A}" type="datetimeFigureOut">
              <a:rPr lang="ar-IQ" smtClean="0"/>
              <a:t>02/06/1446</a:t>
            </a:fld>
            <a:endParaRPr lang="ar-IQ"/>
          </a:p>
        </p:txBody>
      </p:sp>
      <p:sp>
        <p:nvSpPr>
          <p:cNvPr id="3" name="عنصر نائب للتذييل 2">
            <a:extLst>
              <a:ext uri="{FF2B5EF4-FFF2-40B4-BE49-F238E27FC236}">
                <a16:creationId xmlns:a16="http://schemas.microsoft.com/office/drawing/2014/main" id="{5DD89E86-A872-546E-D22A-ACC942E791BA}"/>
              </a:ext>
            </a:extLst>
          </p:cNvPr>
          <p:cNvSpPr>
            <a:spLocks noGrp="1"/>
          </p:cNvSpPr>
          <p:nvPr>
            <p:ph type="ftr" sz="quarter" idx="11"/>
          </p:nvPr>
        </p:nvSpPr>
        <p:spPr/>
        <p:txBody>
          <a:bodyPr/>
          <a:lstStyle/>
          <a:p>
            <a:endParaRPr lang="ar-IQ"/>
          </a:p>
        </p:txBody>
      </p:sp>
      <p:sp>
        <p:nvSpPr>
          <p:cNvPr id="4" name="عنصر نائب لرقم الشريحة 3">
            <a:extLst>
              <a:ext uri="{FF2B5EF4-FFF2-40B4-BE49-F238E27FC236}">
                <a16:creationId xmlns:a16="http://schemas.microsoft.com/office/drawing/2014/main" id="{310D6156-F05A-B89C-8D0F-73B841EC7313}"/>
              </a:ext>
            </a:extLst>
          </p:cNvPr>
          <p:cNvSpPr>
            <a:spLocks noGrp="1"/>
          </p:cNvSpPr>
          <p:nvPr>
            <p:ph type="sldNum" sz="quarter" idx="12"/>
          </p:nvPr>
        </p:nvSpPr>
        <p:spPr/>
        <p:txBody>
          <a:bodyPr/>
          <a:lstStyle/>
          <a:p>
            <a:fld id="{2F66A902-C168-4790-981C-DE29AEA51C8D}" type="slidenum">
              <a:rPr lang="ar-IQ" smtClean="0"/>
              <a:t>‹#›</a:t>
            </a:fld>
            <a:endParaRPr lang="ar-IQ"/>
          </a:p>
        </p:txBody>
      </p:sp>
    </p:spTree>
    <p:extLst>
      <p:ext uri="{BB962C8B-B14F-4D97-AF65-F5344CB8AC3E}">
        <p14:creationId xmlns:p14="http://schemas.microsoft.com/office/powerpoint/2010/main" val="2388483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2AC3CBF-FADF-A2DA-DE13-C3BC8EEE0618}"/>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endParaRPr lang="ar-IQ"/>
          </a:p>
        </p:txBody>
      </p:sp>
      <p:sp>
        <p:nvSpPr>
          <p:cNvPr id="3" name="عنصر نائب للمحتوى 2">
            <a:extLst>
              <a:ext uri="{FF2B5EF4-FFF2-40B4-BE49-F238E27FC236}">
                <a16:creationId xmlns:a16="http://schemas.microsoft.com/office/drawing/2014/main" id="{B303ADF6-1CEB-1D08-E027-4BEC49F8C4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IQ"/>
          </a:p>
        </p:txBody>
      </p:sp>
      <p:sp>
        <p:nvSpPr>
          <p:cNvPr id="4" name="عنصر نائب للنص 3">
            <a:extLst>
              <a:ext uri="{FF2B5EF4-FFF2-40B4-BE49-F238E27FC236}">
                <a16:creationId xmlns:a16="http://schemas.microsoft.com/office/drawing/2014/main" id="{6C4FD90C-A3B8-28F5-927C-4458DA69EB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4DCCE52C-D16E-4833-1082-9A1D95063415}"/>
              </a:ext>
            </a:extLst>
          </p:cNvPr>
          <p:cNvSpPr>
            <a:spLocks noGrp="1"/>
          </p:cNvSpPr>
          <p:nvPr>
            <p:ph type="dt" sz="half" idx="10"/>
          </p:nvPr>
        </p:nvSpPr>
        <p:spPr/>
        <p:txBody>
          <a:bodyPr/>
          <a:lstStyle/>
          <a:p>
            <a:fld id="{9DBFE057-024A-4812-A2B7-BE802624B48A}" type="datetimeFigureOut">
              <a:rPr lang="ar-IQ" smtClean="0"/>
              <a:t>02/06/1446</a:t>
            </a:fld>
            <a:endParaRPr lang="ar-IQ"/>
          </a:p>
        </p:txBody>
      </p:sp>
      <p:sp>
        <p:nvSpPr>
          <p:cNvPr id="6" name="عنصر نائب للتذييل 5">
            <a:extLst>
              <a:ext uri="{FF2B5EF4-FFF2-40B4-BE49-F238E27FC236}">
                <a16:creationId xmlns:a16="http://schemas.microsoft.com/office/drawing/2014/main" id="{6646379D-DF95-21CA-A5C6-1DB079E92AF9}"/>
              </a:ext>
            </a:extLst>
          </p:cNvPr>
          <p:cNvSpPr>
            <a:spLocks noGrp="1"/>
          </p:cNvSpPr>
          <p:nvPr>
            <p:ph type="ftr" sz="quarter" idx="11"/>
          </p:nvPr>
        </p:nvSpPr>
        <p:spPr/>
        <p:txBody>
          <a:bodyPr/>
          <a:lstStyle/>
          <a:p>
            <a:endParaRPr lang="ar-IQ"/>
          </a:p>
        </p:txBody>
      </p:sp>
      <p:sp>
        <p:nvSpPr>
          <p:cNvPr id="7" name="عنصر نائب لرقم الشريحة 6">
            <a:extLst>
              <a:ext uri="{FF2B5EF4-FFF2-40B4-BE49-F238E27FC236}">
                <a16:creationId xmlns:a16="http://schemas.microsoft.com/office/drawing/2014/main" id="{E5E2958B-B4A1-CD81-CC0E-049EAD9BD603}"/>
              </a:ext>
            </a:extLst>
          </p:cNvPr>
          <p:cNvSpPr>
            <a:spLocks noGrp="1"/>
          </p:cNvSpPr>
          <p:nvPr>
            <p:ph type="sldNum" sz="quarter" idx="12"/>
          </p:nvPr>
        </p:nvSpPr>
        <p:spPr/>
        <p:txBody>
          <a:bodyPr/>
          <a:lstStyle/>
          <a:p>
            <a:fld id="{2F66A902-C168-4790-981C-DE29AEA51C8D}" type="slidenum">
              <a:rPr lang="ar-IQ" smtClean="0"/>
              <a:t>‹#›</a:t>
            </a:fld>
            <a:endParaRPr lang="ar-IQ"/>
          </a:p>
        </p:txBody>
      </p:sp>
    </p:spTree>
    <p:extLst>
      <p:ext uri="{BB962C8B-B14F-4D97-AF65-F5344CB8AC3E}">
        <p14:creationId xmlns:p14="http://schemas.microsoft.com/office/powerpoint/2010/main" val="847526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3B6D23D-06C4-BE0F-83C7-20AA2E01E73F}"/>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endParaRPr lang="ar-IQ"/>
          </a:p>
        </p:txBody>
      </p:sp>
      <p:sp>
        <p:nvSpPr>
          <p:cNvPr id="3" name="عنصر نائب للصورة 2">
            <a:extLst>
              <a:ext uri="{FF2B5EF4-FFF2-40B4-BE49-F238E27FC236}">
                <a16:creationId xmlns:a16="http://schemas.microsoft.com/office/drawing/2014/main" id="{37709F63-7375-184A-4F70-EF0E96B056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IQ"/>
          </a:p>
        </p:txBody>
      </p:sp>
      <p:sp>
        <p:nvSpPr>
          <p:cNvPr id="4" name="عنصر نائب للنص 3">
            <a:extLst>
              <a:ext uri="{FF2B5EF4-FFF2-40B4-BE49-F238E27FC236}">
                <a16:creationId xmlns:a16="http://schemas.microsoft.com/office/drawing/2014/main" id="{35E674C3-5648-92F7-BA6E-D7D74D9A16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C3DE4186-9587-D707-5091-E60651DDA9EE}"/>
              </a:ext>
            </a:extLst>
          </p:cNvPr>
          <p:cNvSpPr>
            <a:spLocks noGrp="1"/>
          </p:cNvSpPr>
          <p:nvPr>
            <p:ph type="dt" sz="half" idx="10"/>
          </p:nvPr>
        </p:nvSpPr>
        <p:spPr/>
        <p:txBody>
          <a:bodyPr/>
          <a:lstStyle/>
          <a:p>
            <a:fld id="{9DBFE057-024A-4812-A2B7-BE802624B48A}" type="datetimeFigureOut">
              <a:rPr lang="ar-IQ" smtClean="0"/>
              <a:t>02/06/1446</a:t>
            </a:fld>
            <a:endParaRPr lang="ar-IQ"/>
          </a:p>
        </p:txBody>
      </p:sp>
      <p:sp>
        <p:nvSpPr>
          <p:cNvPr id="6" name="عنصر نائب للتذييل 5">
            <a:extLst>
              <a:ext uri="{FF2B5EF4-FFF2-40B4-BE49-F238E27FC236}">
                <a16:creationId xmlns:a16="http://schemas.microsoft.com/office/drawing/2014/main" id="{2287759D-31B7-8A16-B664-505BF4095429}"/>
              </a:ext>
            </a:extLst>
          </p:cNvPr>
          <p:cNvSpPr>
            <a:spLocks noGrp="1"/>
          </p:cNvSpPr>
          <p:nvPr>
            <p:ph type="ftr" sz="quarter" idx="11"/>
          </p:nvPr>
        </p:nvSpPr>
        <p:spPr/>
        <p:txBody>
          <a:bodyPr/>
          <a:lstStyle/>
          <a:p>
            <a:endParaRPr lang="ar-IQ"/>
          </a:p>
        </p:txBody>
      </p:sp>
      <p:sp>
        <p:nvSpPr>
          <p:cNvPr id="7" name="عنصر نائب لرقم الشريحة 6">
            <a:extLst>
              <a:ext uri="{FF2B5EF4-FFF2-40B4-BE49-F238E27FC236}">
                <a16:creationId xmlns:a16="http://schemas.microsoft.com/office/drawing/2014/main" id="{C6F6B60F-E8EA-A874-4FCF-07CAC16C736A}"/>
              </a:ext>
            </a:extLst>
          </p:cNvPr>
          <p:cNvSpPr>
            <a:spLocks noGrp="1"/>
          </p:cNvSpPr>
          <p:nvPr>
            <p:ph type="sldNum" sz="quarter" idx="12"/>
          </p:nvPr>
        </p:nvSpPr>
        <p:spPr/>
        <p:txBody>
          <a:bodyPr/>
          <a:lstStyle/>
          <a:p>
            <a:fld id="{2F66A902-C168-4790-981C-DE29AEA51C8D}" type="slidenum">
              <a:rPr lang="ar-IQ" smtClean="0"/>
              <a:t>‹#›</a:t>
            </a:fld>
            <a:endParaRPr lang="ar-IQ"/>
          </a:p>
        </p:txBody>
      </p:sp>
    </p:spTree>
    <p:extLst>
      <p:ext uri="{BB962C8B-B14F-4D97-AF65-F5344CB8AC3E}">
        <p14:creationId xmlns:p14="http://schemas.microsoft.com/office/powerpoint/2010/main" val="1966410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B72AEFD-CA45-F241-5A96-253106F5DF1E}"/>
              </a:ext>
            </a:extLst>
          </p:cNvPr>
          <p:cNvSpPr>
            <a:spLocks noGrp="1"/>
          </p:cNvSpPr>
          <p:nvPr>
            <p:ph type="title"/>
          </p:nvPr>
        </p:nvSpPr>
        <p:spPr/>
        <p:txBody>
          <a:bodyPr/>
          <a:lstStyle/>
          <a:p>
            <a:r>
              <a:rPr lang="ar-SA"/>
              <a:t>انقر لتحرير نمط عنوان الشكل الرئيسي</a:t>
            </a:r>
            <a:endParaRPr lang="ar-IQ"/>
          </a:p>
        </p:txBody>
      </p:sp>
      <p:sp>
        <p:nvSpPr>
          <p:cNvPr id="3" name="عنصر نائب للعنوان العمودي 2">
            <a:extLst>
              <a:ext uri="{FF2B5EF4-FFF2-40B4-BE49-F238E27FC236}">
                <a16:creationId xmlns:a16="http://schemas.microsoft.com/office/drawing/2014/main" id="{F4709901-4FA0-ACA2-E017-F984B315BAD7}"/>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IQ"/>
          </a:p>
        </p:txBody>
      </p:sp>
      <p:sp>
        <p:nvSpPr>
          <p:cNvPr id="4" name="عنصر نائب للتاريخ 3">
            <a:extLst>
              <a:ext uri="{FF2B5EF4-FFF2-40B4-BE49-F238E27FC236}">
                <a16:creationId xmlns:a16="http://schemas.microsoft.com/office/drawing/2014/main" id="{BD18F6C9-E627-C5C8-EC15-33B2AFF890BD}"/>
              </a:ext>
            </a:extLst>
          </p:cNvPr>
          <p:cNvSpPr>
            <a:spLocks noGrp="1"/>
          </p:cNvSpPr>
          <p:nvPr>
            <p:ph type="dt" sz="half" idx="10"/>
          </p:nvPr>
        </p:nvSpPr>
        <p:spPr/>
        <p:txBody>
          <a:bodyPr/>
          <a:lstStyle/>
          <a:p>
            <a:fld id="{9DBFE057-024A-4812-A2B7-BE802624B48A}" type="datetimeFigureOut">
              <a:rPr lang="ar-IQ" smtClean="0"/>
              <a:t>02/06/1446</a:t>
            </a:fld>
            <a:endParaRPr lang="ar-IQ"/>
          </a:p>
        </p:txBody>
      </p:sp>
      <p:sp>
        <p:nvSpPr>
          <p:cNvPr id="5" name="عنصر نائب للتذييل 4">
            <a:extLst>
              <a:ext uri="{FF2B5EF4-FFF2-40B4-BE49-F238E27FC236}">
                <a16:creationId xmlns:a16="http://schemas.microsoft.com/office/drawing/2014/main" id="{EF38B9EB-2B0C-8880-1310-85C489A7057B}"/>
              </a:ext>
            </a:extLst>
          </p:cNvPr>
          <p:cNvSpPr>
            <a:spLocks noGrp="1"/>
          </p:cNvSpPr>
          <p:nvPr>
            <p:ph type="ftr" sz="quarter" idx="11"/>
          </p:nvPr>
        </p:nvSpPr>
        <p:spPr/>
        <p:txBody>
          <a:bodyPr/>
          <a:lstStyle/>
          <a:p>
            <a:endParaRPr lang="ar-IQ"/>
          </a:p>
        </p:txBody>
      </p:sp>
      <p:sp>
        <p:nvSpPr>
          <p:cNvPr id="6" name="عنصر نائب لرقم الشريحة 5">
            <a:extLst>
              <a:ext uri="{FF2B5EF4-FFF2-40B4-BE49-F238E27FC236}">
                <a16:creationId xmlns:a16="http://schemas.microsoft.com/office/drawing/2014/main" id="{62EA3845-5309-CA7A-E384-630599720543}"/>
              </a:ext>
            </a:extLst>
          </p:cNvPr>
          <p:cNvSpPr>
            <a:spLocks noGrp="1"/>
          </p:cNvSpPr>
          <p:nvPr>
            <p:ph type="sldNum" sz="quarter" idx="12"/>
          </p:nvPr>
        </p:nvSpPr>
        <p:spPr/>
        <p:txBody>
          <a:bodyPr/>
          <a:lstStyle/>
          <a:p>
            <a:fld id="{2F66A902-C168-4790-981C-DE29AEA51C8D}" type="slidenum">
              <a:rPr lang="ar-IQ" smtClean="0"/>
              <a:t>‹#›</a:t>
            </a:fld>
            <a:endParaRPr lang="ar-IQ"/>
          </a:p>
        </p:txBody>
      </p:sp>
    </p:spTree>
    <p:extLst>
      <p:ext uri="{BB962C8B-B14F-4D97-AF65-F5344CB8AC3E}">
        <p14:creationId xmlns:p14="http://schemas.microsoft.com/office/powerpoint/2010/main" val="3860849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4816C65B-39E9-2B12-10F9-F79C83FC0BEA}"/>
              </a:ext>
            </a:extLst>
          </p:cNvPr>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endParaRPr lang="ar-IQ"/>
          </a:p>
        </p:txBody>
      </p:sp>
      <p:sp>
        <p:nvSpPr>
          <p:cNvPr id="3" name="عنصر نائب للعنوان العمودي 2">
            <a:extLst>
              <a:ext uri="{FF2B5EF4-FFF2-40B4-BE49-F238E27FC236}">
                <a16:creationId xmlns:a16="http://schemas.microsoft.com/office/drawing/2014/main" id="{78EE0140-A7E9-DC61-39B5-09960DD865EF}"/>
              </a:ext>
            </a:extLst>
          </p:cNvPr>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IQ"/>
          </a:p>
        </p:txBody>
      </p:sp>
      <p:sp>
        <p:nvSpPr>
          <p:cNvPr id="4" name="عنصر نائب للتاريخ 3">
            <a:extLst>
              <a:ext uri="{FF2B5EF4-FFF2-40B4-BE49-F238E27FC236}">
                <a16:creationId xmlns:a16="http://schemas.microsoft.com/office/drawing/2014/main" id="{3318314A-2AE0-1725-39F0-ED43F5D7D6FE}"/>
              </a:ext>
            </a:extLst>
          </p:cNvPr>
          <p:cNvSpPr>
            <a:spLocks noGrp="1"/>
          </p:cNvSpPr>
          <p:nvPr>
            <p:ph type="dt" sz="half" idx="10"/>
          </p:nvPr>
        </p:nvSpPr>
        <p:spPr/>
        <p:txBody>
          <a:bodyPr/>
          <a:lstStyle/>
          <a:p>
            <a:fld id="{9DBFE057-024A-4812-A2B7-BE802624B48A}" type="datetimeFigureOut">
              <a:rPr lang="ar-IQ" smtClean="0"/>
              <a:t>02/06/1446</a:t>
            </a:fld>
            <a:endParaRPr lang="ar-IQ"/>
          </a:p>
        </p:txBody>
      </p:sp>
      <p:sp>
        <p:nvSpPr>
          <p:cNvPr id="5" name="عنصر نائب للتذييل 4">
            <a:extLst>
              <a:ext uri="{FF2B5EF4-FFF2-40B4-BE49-F238E27FC236}">
                <a16:creationId xmlns:a16="http://schemas.microsoft.com/office/drawing/2014/main" id="{97CA45EA-A57D-F989-6695-00E9E7E830E3}"/>
              </a:ext>
            </a:extLst>
          </p:cNvPr>
          <p:cNvSpPr>
            <a:spLocks noGrp="1"/>
          </p:cNvSpPr>
          <p:nvPr>
            <p:ph type="ftr" sz="quarter" idx="11"/>
          </p:nvPr>
        </p:nvSpPr>
        <p:spPr/>
        <p:txBody>
          <a:bodyPr/>
          <a:lstStyle/>
          <a:p>
            <a:endParaRPr lang="ar-IQ"/>
          </a:p>
        </p:txBody>
      </p:sp>
      <p:sp>
        <p:nvSpPr>
          <p:cNvPr id="6" name="عنصر نائب لرقم الشريحة 5">
            <a:extLst>
              <a:ext uri="{FF2B5EF4-FFF2-40B4-BE49-F238E27FC236}">
                <a16:creationId xmlns:a16="http://schemas.microsoft.com/office/drawing/2014/main" id="{3D67E72A-0C9C-CF8A-6F98-8BF90A32403E}"/>
              </a:ext>
            </a:extLst>
          </p:cNvPr>
          <p:cNvSpPr>
            <a:spLocks noGrp="1"/>
          </p:cNvSpPr>
          <p:nvPr>
            <p:ph type="sldNum" sz="quarter" idx="12"/>
          </p:nvPr>
        </p:nvSpPr>
        <p:spPr/>
        <p:txBody>
          <a:bodyPr/>
          <a:lstStyle/>
          <a:p>
            <a:fld id="{2F66A902-C168-4790-981C-DE29AEA51C8D}" type="slidenum">
              <a:rPr lang="ar-IQ" smtClean="0"/>
              <a:t>‹#›</a:t>
            </a:fld>
            <a:endParaRPr lang="ar-IQ"/>
          </a:p>
        </p:txBody>
      </p:sp>
    </p:spTree>
    <p:extLst>
      <p:ext uri="{BB962C8B-B14F-4D97-AF65-F5344CB8AC3E}">
        <p14:creationId xmlns:p14="http://schemas.microsoft.com/office/powerpoint/2010/main" val="2665717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FF4CB57C-CD20-F0E7-17DC-D3C332122A2C}"/>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endParaRPr lang="ar-IQ"/>
          </a:p>
        </p:txBody>
      </p:sp>
      <p:sp>
        <p:nvSpPr>
          <p:cNvPr id="3" name="عنصر نائب للنص 2">
            <a:extLst>
              <a:ext uri="{FF2B5EF4-FFF2-40B4-BE49-F238E27FC236}">
                <a16:creationId xmlns:a16="http://schemas.microsoft.com/office/drawing/2014/main" id="{2111FAE4-CEA0-F8AF-1111-DF59D0E42895}"/>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IQ"/>
          </a:p>
        </p:txBody>
      </p:sp>
      <p:sp>
        <p:nvSpPr>
          <p:cNvPr id="4" name="عنصر نائب للتاريخ 3">
            <a:extLst>
              <a:ext uri="{FF2B5EF4-FFF2-40B4-BE49-F238E27FC236}">
                <a16:creationId xmlns:a16="http://schemas.microsoft.com/office/drawing/2014/main" id="{BEF02D52-AF2B-06A5-FF7B-F7B6205B6C92}"/>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9DBFE057-024A-4812-A2B7-BE802624B48A}" type="datetimeFigureOut">
              <a:rPr lang="ar-IQ" smtClean="0"/>
              <a:t>02/06/1446</a:t>
            </a:fld>
            <a:endParaRPr lang="ar-IQ"/>
          </a:p>
        </p:txBody>
      </p:sp>
      <p:sp>
        <p:nvSpPr>
          <p:cNvPr id="5" name="عنصر نائب للتذييل 4">
            <a:extLst>
              <a:ext uri="{FF2B5EF4-FFF2-40B4-BE49-F238E27FC236}">
                <a16:creationId xmlns:a16="http://schemas.microsoft.com/office/drawing/2014/main" id="{C4E6F200-BCE5-B167-7442-AAEC9A9917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ar-IQ"/>
          </a:p>
        </p:txBody>
      </p:sp>
      <p:sp>
        <p:nvSpPr>
          <p:cNvPr id="6" name="عنصر نائب لرقم الشريحة 5">
            <a:extLst>
              <a:ext uri="{FF2B5EF4-FFF2-40B4-BE49-F238E27FC236}">
                <a16:creationId xmlns:a16="http://schemas.microsoft.com/office/drawing/2014/main" id="{CC737B07-A0CC-9AD6-84F7-2A13D24D039A}"/>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2F66A902-C168-4790-981C-DE29AEA51C8D}" type="slidenum">
              <a:rPr lang="ar-IQ" smtClean="0"/>
              <a:t>‹#›</a:t>
            </a:fld>
            <a:endParaRPr lang="ar-IQ"/>
          </a:p>
        </p:txBody>
      </p:sp>
    </p:spTree>
    <p:extLst>
      <p:ext uri="{BB962C8B-B14F-4D97-AF65-F5344CB8AC3E}">
        <p14:creationId xmlns:p14="http://schemas.microsoft.com/office/powerpoint/2010/main" val="24167697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0.jpeg"/><Relationship Id="rId7" Type="http://schemas.openxmlformats.org/officeDocument/2006/relationships/diagramColors" Target="../diagrams/colors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FA9B6C6-A247-48A8-9A1C-1E36FA945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عنوان 1">
            <a:extLst>
              <a:ext uri="{FF2B5EF4-FFF2-40B4-BE49-F238E27FC236}">
                <a16:creationId xmlns:a16="http://schemas.microsoft.com/office/drawing/2014/main" id="{90AD306E-700D-3B14-5CC2-9639FF23A461}"/>
              </a:ext>
            </a:extLst>
          </p:cNvPr>
          <p:cNvSpPr>
            <a:spLocks noGrp="1"/>
          </p:cNvSpPr>
          <p:nvPr>
            <p:ph type="ctrTitle"/>
          </p:nvPr>
        </p:nvSpPr>
        <p:spPr>
          <a:xfrm>
            <a:off x="1301261" y="590062"/>
            <a:ext cx="5409655" cy="2838938"/>
          </a:xfrm>
        </p:spPr>
        <p:txBody>
          <a:bodyPr>
            <a:normAutofit/>
          </a:bodyPr>
          <a:lstStyle/>
          <a:p>
            <a:pPr algn="l" rtl="0"/>
            <a:r>
              <a:rPr lang="en-US" sz="5600">
                <a:solidFill>
                  <a:srgbClr val="FFFFFF"/>
                </a:solidFill>
                <a:latin typeface="+mj-lt"/>
                <a:cs typeface="+mn-cs"/>
              </a:rPr>
              <a:t>Oxygen Therapy</a:t>
            </a:r>
            <a:endParaRPr lang="ar-IQ" sz="5600">
              <a:solidFill>
                <a:srgbClr val="FFFFFF"/>
              </a:solidFill>
              <a:latin typeface="+mj-lt"/>
              <a:cs typeface="+mn-cs"/>
            </a:endParaRPr>
          </a:p>
        </p:txBody>
      </p:sp>
      <p:sp>
        <p:nvSpPr>
          <p:cNvPr id="3" name="عنوان فرعي 2">
            <a:extLst>
              <a:ext uri="{FF2B5EF4-FFF2-40B4-BE49-F238E27FC236}">
                <a16:creationId xmlns:a16="http://schemas.microsoft.com/office/drawing/2014/main" id="{819010EA-79BE-7903-3124-DB7A532D9380}"/>
              </a:ext>
            </a:extLst>
          </p:cNvPr>
          <p:cNvSpPr>
            <a:spLocks noGrp="1"/>
          </p:cNvSpPr>
          <p:nvPr>
            <p:ph type="subTitle" idx="1"/>
          </p:nvPr>
        </p:nvSpPr>
        <p:spPr>
          <a:xfrm>
            <a:off x="5642044" y="4698614"/>
            <a:ext cx="5088650" cy="1198120"/>
          </a:xfrm>
        </p:spPr>
        <p:txBody>
          <a:bodyPr>
            <a:normAutofit/>
          </a:bodyPr>
          <a:lstStyle/>
          <a:p>
            <a:pPr algn="r" rtl="0"/>
            <a:r>
              <a:rPr lang="it-IT" sz="2000">
                <a:solidFill>
                  <a:srgbClr val="FFFFFF"/>
                </a:solidFill>
                <a:latin typeface="+mj-lt"/>
                <a:cs typeface="+mn-cs"/>
              </a:rPr>
              <a:t>Dr. Moustafa Al-Shammari</a:t>
            </a:r>
            <a:endParaRPr lang="ar-IQ" sz="2000">
              <a:solidFill>
                <a:srgbClr val="FFFFFF"/>
              </a:solidFill>
              <a:latin typeface="+mj-lt"/>
              <a:cs typeface="+mn-cs"/>
            </a:endParaRP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176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763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20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1262" y="3496322"/>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8156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E6A97BD6-6501-9431-5DC6-AA50FF41CB7F}"/>
              </a:ext>
            </a:extLst>
          </p:cNvPr>
          <p:cNvSpPr>
            <a:spLocks noGrp="1"/>
          </p:cNvSpPr>
          <p:nvPr>
            <p:ph type="title"/>
          </p:nvPr>
        </p:nvSpPr>
        <p:spPr>
          <a:xfrm>
            <a:off x="1371599" y="294538"/>
            <a:ext cx="9895951" cy="1033669"/>
          </a:xfrm>
        </p:spPr>
        <p:txBody>
          <a:bodyPr>
            <a:normAutofit/>
          </a:bodyPr>
          <a:lstStyle/>
          <a:p>
            <a:pPr algn="l" rtl="0"/>
            <a:r>
              <a:rPr lang="en-US" sz="4000" dirty="0">
                <a:solidFill>
                  <a:srgbClr val="FFFFFF"/>
                </a:solidFill>
                <a:latin typeface="+mj-lt"/>
                <a:cs typeface="+mn-cs"/>
              </a:rPr>
              <a:t>Learning Objectives</a:t>
            </a:r>
            <a:endParaRPr lang="ar-IQ" sz="4000" dirty="0">
              <a:solidFill>
                <a:srgbClr val="FFFFFF"/>
              </a:solidFill>
              <a:latin typeface="+mj-lt"/>
              <a:cs typeface="+mn-cs"/>
            </a:endParaRPr>
          </a:p>
        </p:txBody>
      </p:sp>
      <p:sp>
        <p:nvSpPr>
          <p:cNvPr id="24" name="عنصر نائب للمحتوى 2">
            <a:extLst>
              <a:ext uri="{FF2B5EF4-FFF2-40B4-BE49-F238E27FC236}">
                <a16:creationId xmlns:a16="http://schemas.microsoft.com/office/drawing/2014/main" id="{0E89F587-02D3-1D7E-29A4-EF38AF28D855}"/>
              </a:ext>
            </a:extLst>
          </p:cNvPr>
          <p:cNvSpPr>
            <a:spLocks noGrp="1"/>
          </p:cNvSpPr>
          <p:nvPr>
            <p:ph idx="1"/>
          </p:nvPr>
        </p:nvSpPr>
        <p:spPr>
          <a:xfrm>
            <a:off x="1371599" y="2318197"/>
            <a:ext cx="9724031" cy="3683358"/>
          </a:xfrm>
        </p:spPr>
        <p:txBody>
          <a:bodyPr anchor="ctr">
            <a:normAutofit/>
          </a:bodyPr>
          <a:lstStyle/>
          <a:p>
            <a:pPr algn="l" rtl="0"/>
            <a:r>
              <a:rPr lang="en-US" sz="2000" b="1" dirty="0">
                <a:latin typeface="+mj-lt"/>
                <a:cs typeface="+mn-cs"/>
              </a:rPr>
              <a:t>By the end of this chapter, the student nurse will be able to:</a:t>
            </a:r>
            <a:endParaRPr lang="en-US" sz="2000" dirty="0">
              <a:latin typeface="+mj-lt"/>
              <a:cs typeface="+mn-cs"/>
            </a:endParaRPr>
          </a:p>
          <a:p>
            <a:pPr algn="l" rtl="0">
              <a:buFont typeface="Arial" panose="020B0604020202020204" pitchFamily="34" charset="0"/>
              <a:buChar char="•"/>
            </a:pPr>
            <a:r>
              <a:rPr lang="en-US" sz="2000" dirty="0">
                <a:latin typeface="+mj-lt"/>
                <a:cs typeface="+mn-cs"/>
              </a:rPr>
              <a:t>Define oxygen therapy.</a:t>
            </a:r>
          </a:p>
          <a:p>
            <a:pPr algn="l" rtl="0">
              <a:buFont typeface="Arial" panose="020B0604020202020204" pitchFamily="34" charset="0"/>
              <a:buChar char="•"/>
            </a:pPr>
            <a:r>
              <a:rPr lang="en-US" sz="2000" dirty="0">
                <a:latin typeface="+mj-lt"/>
                <a:cs typeface="+mn-cs"/>
              </a:rPr>
              <a:t>List the purposes of oxygen therapy.</a:t>
            </a:r>
          </a:p>
          <a:p>
            <a:pPr algn="l" rtl="0">
              <a:buFont typeface="Arial" panose="020B0604020202020204" pitchFamily="34" charset="0"/>
              <a:buChar char="•"/>
            </a:pPr>
            <a:r>
              <a:rPr lang="en-US" sz="2000" dirty="0">
                <a:latin typeface="+mj-lt"/>
                <a:cs typeface="+mn-cs"/>
              </a:rPr>
              <a:t>Identify indications of oxygen therapy.</a:t>
            </a:r>
          </a:p>
          <a:p>
            <a:pPr algn="l" rtl="0">
              <a:buFont typeface="Arial" panose="020B0604020202020204" pitchFamily="34" charset="0"/>
              <a:buChar char="•"/>
            </a:pPr>
            <a:r>
              <a:rPr lang="en-US" sz="2000" dirty="0">
                <a:latin typeface="+mj-lt"/>
                <a:cs typeface="+mn-cs"/>
              </a:rPr>
              <a:t>List methods of oxygen therapy.</a:t>
            </a:r>
          </a:p>
          <a:p>
            <a:pPr algn="l" rtl="0">
              <a:buFont typeface="Arial" panose="020B0604020202020204" pitchFamily="34" charset="0"/>
              <a:buChar char="•"/>
            </a:pPr>
            <a:r>
              <a:rPr lang="en-US" sz="2000" dirty="0">
                <a:latin typeface="+mj-lt"/>
                <a:cs typeface="+mn-cs"/>
              </a:rPr>
              <a:t>Describe the equipment required.</a:t>
            </a:r>
          </a:p>
          <a:p>
            <a:pPr algn="l" rtl="0">
              <a:buFont typeface="Arial" panose="020B0604020202020204" pitchFamily="34" charset="0"/>
              <a:buChar char="•"/>
            </a:pPr>
            <a:r>
              <a:rPr lang="en-US" sz="2000" dirty="0">
                <a:latin typeface="+mj-lt"/>
                <a:cs typeface="+mn-cs"/>
              </a:rPr>
              <a:t>Perform appropriate techniques for each method.</a:t>
            </a:r>
          </a:p>
        </p:txBody>
      </p:sp>
    </p:spTree>
    <p:extLst>
      <p:ext uri="{BB962C8B-B14F-4D97-AF65-F5344CB8AC3E}">
        <p14:creationId xmlns:p14="http://schemas.microsoft.com/office/powerpoint/2010/main" val="3226478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6F805DE-CE4B-1B88-77CB-5E85640EEE8E}"/>
              </a:ext>
            </a:extLst>
          </p:cNvPr>
          <p:cNvSpPr>
            <a:spLocks noGrp="1"/>
          </p:cNvSpPr>
          <p:nvPr>
            <p:ph type="title"/>
          </p:nvPr>
        </p:nvSpPr>
        <p:spPr/>
        <p:txBody>
          <a:bodyPr/>
          <a:lstStyle/>
          <a:p>
            <a:pPr algn="l" rtl="0"/>
            <a:r>
              <a:rPr lang="en-US" sz="4800" dirty="0">
                <a:latin typeface="+mj-lt"/>
                <a:cs typeface="+mn-cs"/>
              </a:rPr>
              <a:t>Introduction</a:t>
            </a:r>
            <a:endParaRPr lang="ar-IQ" sz="4800" dirty="0">
              <a:latin typeface="+mj-lt"/>
              <a:cs typeface="+mn-cs"/>
            </a:endParaRPr>
          </a:p>
        </p:txBody>
      </p:sp>
      <p:sp>
        <p:nvSpPr>
          <p:cNvPr id="3" name="عنصر نائب للمحتوى 2">
            <a:extLst>
              <a:ext uri="{FF2B5EF4-FFF2-40B4-BE49-F238E27FC236}">
                <a16:creationId xmlns:a16="http://schemas.microsoft.com/office/drawing/2014/main" id="{73B2DF89-3678-6498-CE20-7AF6C62FA084}"/>
              </a:ext>
            </a:extLst>
          </p:cNvPr>
          <p:cNvSpPr>
            <a:spLocks noGrp="1"/>
          </p:cNvSpPr>
          <p:nvPr>
            <p:ph idx="1"/>
          </p:nvPr>
        </p:nvSpPr>
        <p:spPr/>
        <p:txBody>
          <a:bodyPr>
            <a:normAutofit/>
          </a:bodyPr>
          <a:lstStyle/>
          <a:p>
            <a:pPr algn="l" rtl="0"/>
            <a:r>
              <a:rPr lang="en-US" sz="3200" dirty="0">
                <a:latin typeface="+mj-lt"/>
                <a:cs typeface="+mn-cs"/>
              </a:rPr>
              <a:t>Oxygen is an essential body requirement for any energy consumption, activity or function. Hypoxemia resulting from apnea or inadequate ventilation and it occurs more rapidly in children than in adults because of children's higher metabolic rate and increase oxygen consumption.</a:t>
            </a:r>
          </a:p>
          <a:p>
            <a:pPr algn="l" rtl="0"/>
            <a:r>
              <a:rPr lang="en-US" sz="3200" b="1" dirty="0">
                <a:latin typeface="+mj-lt"/>
                <a:cs typeface="+mn-cs"/>
              </a:rPr>
              <a:t>Oxygen therapy </a:t>
            </a:r>
            <a:r>
              <a:rPr lang="en-US" sz="3200" dirty="0">
                <a:latin typeface="+mj-lt"/>
                <a:cs typeface="+mn-cs"/>
              </a:rPr>
              <a:t>is a treatment for acute or chronic respiratory conditions or ventilation failure, often lifesaving.</a:t>
            </a:r>
            <a:endParaRPr lang="ar-IQ" sz="3200" dirty="0">
              <a:latin typeface="+mj-lt"/>
              <a:cs typeface="+mn-cs"/>
            </a:endParaRPr>
          </a:p>
        </p:txBody>
      </p:sp>
    </p:spTree>
    <p:extLst>
      <p:ext uri="{BB962C8B-B14F-4D97-AF65-F5344CB8AC3E}">
        <p14:creationId xmlns:p14="http://schemas.microsoft.com/office/powerpoint/2010/main" val="3060472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9019042-5C82-54BC-2D98-DD762F5632C5}"/>
              </a:ext>
            </a:extLst>
          </p:cNvPr>
          <p:cNvSpPr>
            <a:spLocks noGrp="1"/>
          </p:cNvSpPr>
          <p:nvPr>
            <p:ph type="title"/>
          </p:nvPr>
        </p:nvSpPr>
        <p:spPr/>
        <p:txBody>
          <a:bodyPr/>
          <a:lstStyle/>
          <a:p>
            <a:pPr algn="l" rtl="0"/>
            <a:r>
              <a:rPr lang="en-US" sz="4800" dirty="0">
                <a:latin typeface="+mj-lt"/>
                <a:cs typeface="+mn-cs"/>
              </a:rPr>
              <a:t>Purposes</a:t>
            </a:r>
            <a:endParaRPr lang="ar-IQ" sz="4800" dirty="0">
              <a:latin typeface="+mj-lt"/>
              <a:cs typeface="+mn-cs"/>
            </a:endParaRPr>
          </a:p>
        </p:txBody>
      </p:sp>
      <p:sp>
        <p:nvSpPr>
          <p:cNvPr id="7" name="Rectangle 4">
            <a:extLst>
              <a:ext uri="{FF2B5EF4-FFF2-40B4-BE49-F238E27FC236}">
                <a16:creationId xmlns:a16="http://schemas.microsoft.com/office/drawing/2014/main" id="{53793FCA-0661-1EB2-1E6E-95E552D2EF07}"/>
              </a:ext>
            </a:extLst>
          </p:cNvPr>
          <p:cNvSpPr>
            <a:spLocks noGrp="1" noChangeArrowheads="1"/>
          </p:cNvSpPr>
          <p:nvPr>
            <p:ph idx="1"/>
          </p:nvPr>
        </p:nvSpPr>
        <p:spPr bwMode="auto">
          <a:xfrm>
            <a:off x="465512" y="1801828"/>
            <a:ext cx="11223905" cy="4232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rtl="0">
              <a:lnSpc>
                <a:spcPct val="107000"/>
              </a:lnSpc>
              <a:spcAft>
                <a:spcPts val="800"/>
              </a:spcAft>
              <a:buFont typeface="+mj-lt"/>
              <a:buAutoNum type="arabicPeriod"/>
              <a:tabLst>
                <a:tab pos="457200" algn="l"/>
              </a:tabLst>
            </a:pPr>
            <a:r>
              <a:rPr lang="en-US" sz="3600" kern="0" dirty="0">
                <a:effectLst/>
                <a:latin typeface="+mj-lt"/>
                <a:ea typeface="Times New Roman" panose="02020603050405020304" pitchFamily="18" charset="0"/>
                <a:cs typeface="+mn-cs"/>
              </a:rPr>
              <a:t>Prevent hypoxemia.</a:t>
            </a:r>
            <a:endParaRPr lang="en-US" sz="3200" kern="100" dirty="0">
              <a:effectLst/>
              <a:latin typeface="+mj-lt"/>
              <a:ea typeface="Aptos" panose="020B0004020202020204" pitchFamily="34" charset="0"/>
              <a:cs typeface="+mn-cs"/>
            </a:endParaRPr>
          </a:p>
          <a:p>
            <a:pPr marL="342900" marR="0" lvl="0" indent="-342900" algn="l" rtl="0">
              <a:lnSpc>
                <a:spcPct val="107000"/>
              </a:lnSpc>
              <a:spcAft>
                <a:spcPts val="800"/>
              </a:spcAft>
              <a:buFont typeface="+mj-lt"/>
              <a:buAutoNum type="arabicPeriod"/>
              <a:tabLst>
                <a:tab pos="457200" algn="l"/>
              </a:tabLst>
            </a:pPr>
            <a:r>
              <a:rPr lang="en-US" sz="3600" kern="0" dirty="0">
                <a:effectLst/>
                <a:latin typeface="+mj-lt"/>
                <a:ea typeface="Times New Roman" panose="02020603050405020304" pitchFamily="18" charset="0"/>
                <a:cs typeface="+mn-cs"/>
              </a:rPr>
              <a:t>Ensure tissue oxygenation in conditions such as: </a:t>
            </a:r>
            <a:endParaRPr lang="en-US" sz="3200" kern="100" dirty="0">
              <a:effectLst/>
              <a:latin typeface="+mj-lt"/>
              <a:ea typeface="Aptos" panose="020B0004020202020204" pitchFamily="34" charset="0"/>
              <a:cs typeface="+mn-cs"/>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3600" kern="0" dirty="0">
                <a:effectLst/>
                <a:latin typeface="+mj-lt"/>
                <a:ea typeface="Times New Roman" panose="02020603050405020304" pitchFamily="18" charset="0"/>
                <a:cs typeface="+mn-cs"/>
              </a:rPr>
              <a:t>Reduced oxygen-carrying capacity (e.g., anemia).</a:t>
            </a:r>
            <a:endParaRPr lang="en-US" sz="3200" kern="100" dirty="0">
              <a:effectLst/>
              <a:latin typeface="+mj-lt"/>
              <a:ea typeface="Aptos" panose="020B0004020202020204" pitchFamily="34" charset="0"/>
              <a:cs typeface="+mn-cs"/>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3600" kern="0" dirty="0">
                <a:effectLst/>
                <a:latin typeface="+mj-lt"/>
                <a:ea typeface="Times New Roman" panose="02020603050405020304" pitchFamily="18" charset="0"/>
                <a:cs typeface="+mn-cs"/>
              </a:rPr>
              <a:t>Decreased cardiac output.</a:t>
            </a:r>
            <a:endParaRPr lang="en-US" sz="3200" kern="100" dirty="0">
              <a:effectLst/>
              <a:latin typeface="+mj-lt"/>
              <a:ea typeface="Aptos" panose="020B0004020202020204" pitchFamily="34" charset="0"/>
              <a:cs typeface="+mn-cs"/>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3600" kern="0" dirty="0">
                <a:effectLst/>
                <a:latin typeface="+mj-lt"/>
                <a:ea typeface="Times New Roman" panose="02020603050405020304" pitchFamily="18" charset="0"/>
                <a:cs typeface="+mn-cs"/>
              </a:rPr>
              <a:t>Increased metabolism.</a:t>
            </a:r>
            <a:endParaRPr lang="en-US" sz="3200" kern="100" dirty="0">
              <a:effectLst/>
              <a:latin typeface="+mj-lt"/>
              <a:ea typeface="Aptos" panose="020B0004020202020204" pitchFamily="34" charset="0"/>
              <a:cs typeface="+mn-c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ar-IQ" altLang="ar-IQ" sz="1600" b="0" i="0" u="none" strike="noStrike" cap="none" normalizeH="0" baseline="0" dirty="0">
              <a:ln>
                <a:noFill/>
              </a:ln>
              <a:solidFill>
                <a:schemeClr val="tx1"/>
              </a:solidFill>
              <a:effectLst/>
              <a:latin typeface="+mj-lt"/>
              <a:cs typeface="+mn-cs"/>
            </a:endParaRPr>
          </a:p>
        </p:txBody>
      </p:sp>
    </p:spTree>
    <p:extLst>
      <p:ext uri="{BB962C8B-B14F-4D97-AF65-F5344CB8AC3E}">
        <p14:creationId xmlns:p14="http://schemas.microsoft.com/office/powerpoint/2010/main" val="241461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FEBC045-6A29-1A34-57F6-9DB603C7ACF3}"/>
              </a:ext>
            </a:extLst>
          </p:cNvPr>
          <p:cNvSpPr>
            <a:spLocks noGrp="1"/>
          </p:cNvSpPr>
          <p:nvPr>
            <p:ph type="title"/>
          </p:nvPr>
        </p:nvSpPr>
        <p:spPr/>
        <p:txBody>
          <a:bodyPr/>
          <a:lstStyle/>
          <a:p>
            <a:pPr algn="l" rtl="0"/>
            <a:r>
              <a:rPr lang="en-US" sz="4800" dirty="0">
                <a:latin typeface="+mj-lt"/>
                <a:cs typeface="+mn-cs"/>
              </a:rPr>
              <a:t>Indications</a:t>
            </a:r>
            <a:endParaRPr lang="ar-IQ" sz="4800" dirty="0">
              <a:latin typeface="+mj-lt"/>
              <a:cs typeface="+mn-cs"/>
            </a:endParaRPr>
          </a:p>
        </p:txBody>
      </p:sp>
      <p:sp>
        <p:nvSpPr>
          <p:cNvPr id="3" name="عنصر نائب للمحتوى 2">
            <a:extLst>
              <a:ext uri="{FF2B5EF4-FFF2-40B4-BE49-F238E27FC236}">
                <a16:creationId xmlns:a16="http://schemas.microsoft.com/office/drawing/2014/main" id="{3ADDC556-7664-74EF-8774-62D21B18BA9B}"/>
              </a:ext>
            </a:extLst>
          </p:cNvPr>
          <p:cNvSpPr>
            <a:spLocks noGrp="1"/>
          </p:cNvSpPr>
          <p:nvPr>
            <p:ph idx="1"/>
          </p:nvPr>
        </p:nvSpPr>
        <p:spPr/>
        <p:txBody>
          <a:bodyPr>
            <a:normAutofit fontScale="85000" lnSpcReduction="20000"/>
          </a:bodyPr>
          <a:lstStyle/>
          <a:p>
            <a:pPr marL="0" marR="0" algn="l" rtl="0">
              <a:lnSpc>
                <a:spcPct val="107000"/>
              </a:lnSpc>
              <a:spcAft>
                <a:spcPts val="800"/>
              </a:spcAft>
            </a:pPr>
            <a:r>
              <a:rPr lang="en-US" sz="2600" b="1" kern="0" dirty="0">
                <a:effectLst/>
                <a:latin typeface="+mj-lt"/>
                <a:ea typeface="Times New Roman" panose="02020603050405020304" pitchFamily="18" charset="0"/>
                <a:cs typeface="+mn-cs"/>
              </a:rPr>
              <a:t>Oxygen therapy is indicated in:</a:t>
            </a:r>
            <a:endParaRPr lang="en-US" sz="2600" b="1" kern="100" dirty="0">
              <a:effectLst/>
              <a:latin typeface="+mj-lt"/>
              <a:ea typeface="Aptos" panose="020B0004020202020204" pitchFamily="34" charset="0"/>
              <a:cs typeface="+mn-cs"/>
            </a:endParaRPr>
          </a:p>
          <a:p>
            <a:pPr algn="l" rtl="0">
              <a:lnSpc>
                <a:spcPct val="107000"/>
              </a:lnSpc>
              <a:spcAft>
                <a:spcPts val="800"/>
              </a:spcAft>
              <a:buSzPts val="1000"/>
              <a:tabLst>
                <a:tab pos="457200" algn="l"/>
              </a:tabLst>
            </a:pPr>
            <a:r>
              <a:rPr lang="en-US" kern="0" dirty="0">
                <a:effectLst/>
                <a:latin typeface="+mj-lt"/>
                <a:ea typeface="Times New Roman" panose="02020603050405020304" pitchFamily="18" charset="0"/>
                <a:cs typeface="+mn-cs"/>
              </a:rPr>
              <a:t>Decreased environmental oxygen (e.g., inhalation of non-physical gas mixtures).</a:t>
            </a:r>
            <a:endParaRPr lang="en-US" kern="100" dirty="0">
              <a:effectLst/>
              <a:latin typeface="+mj-lt"/>
              <a:ea typeface="Aptos" panose="020B0004020202020204" pitchFamily="34" charset="0"/>
              <a:cs typeface="+mn-cs"/>
            </a:endParaRPr>
          </a:p>
          <a:p>
            <a:pPr algn="l" rtl="0">
              <a:lnSpc>
                <a:spcPct val="107000"/>
              </a:lnSpc>
              <a:spcAft>
                <a:spcPts val="800"/>
              </a:spcAft>
              <a:buSzPts val="1000"/>
              <a:tabLst>
                <a:tab pos="457200" algn="l"/>
              </a:tabLst>
            </a:pPr>
            <a:r>
              <a:rPr lang="en-US" kern="0" dirty="0">
                <a:effectLst/>
                <a:latin typeface="+mj-lt"/>
                <a:ea typeface="Times New Roman" panose="02020603050405020304" pitchFamily="18" charset="0"/>
                <a:cs typeface="+mn-cs"/>
              </a:rPr>
              <a:t>Impaired alveolar ventilation (e.g., severe airway obstruction or lung pathology).</a:t>
            </a:r>
            <a:endParaRPr lang="en-US" kern="100" dirty="0">
              <a:effectLst/>
              <a:latin typeface="+mj-lt"/>
              <a:ea typeface="Aptos" panose="020B0004020202020204" pitchFamily="34" charset="0"/>
              <a:cs typeface="+mn-cs"/>
            </a:endParaRPr>
          </a:p>
          <a:p>
            <a:pPr algn="l" rtl="0">
              <a:lnSpc>
                <a:spcPct val="107000"/>
              </a:lnSpc>
              <a:spcAft>
                <a:spcPts val="800"/>
              </a:spcAft>
              <a:buSzPts val="1000"/>
              <a:tabLst>
                <a:tab pos="457200" algn="l"/>
              </a:tabLst>
            </a:pPr>
            <a:r>
              <a:rPr lang="en-US" kern="0" dirty="0">
                <a:effectLst/>
                <a:latin typeface="+mj-lt"/>
                <a:ea typeface="Times New Roman" panose="02020603050405020304" pitchFamily="18" charset="0"/>
                <a:cs typeface="+mn-cs"/>
              </a:rPr>
              <a:t>Decreased oxygen-carrying capacity (e.g., acute anemia).</a:t>
            </a:r>
          </a:p>
          <a:p>
            <a:pPr algn="l" rtl="0">
              <a:lnSpc>
                <a:spcPct val="107000"/>
              </a:lnSpc>
              <a:spcAft>
                <a:spcPts val="800"/>
              </a:spcAft>
              <a:buSzPts val="1000"/>
              <a:tabLst>
                <a:tab pos="457200" algn="l"/>
              </a:tabLst>
            </a:pPr>
            <a:r>
              <a:rPr lang="en-US" kern="100" dirty="0">
                <a:effectLst/>
                <a:latin typeface="+mj-lt"/>
                <a:ea typeface="Aptos" panose="020B0004020202020204" pitchFamily="34" charset="0"/>
                <a:cs typeface="+mn-cs"/>
              </a:rPr>
              <a:t>Abnormal pulmonary blood flow: (Persistent fetal circulation, Acute pulmonary hypertension)</a:t>
            </a:r>
          </a:p>
          <a:p>
            <a:pPr algn="l" rtl="0">
              <a:lnSpc>
                <a:spcPct val="107000"/>
              </a:lnSpc>
              <a:spcAft>
                <a:spcPts val="800"/>
              </a:spcAft>
              <a:buSzPts val="1000"/>
              <a:tabLst>
                <a:tab pos="457200" algn="l"/>
              </a:tabLst>
            </a:pPr>
            <a:r>
              <a:rPr lang="en-US" kern="0" dirty="0">
                <a:effectLst/>
                <a:latin typeface="+mj-lt"/>
                <a:ea typeface="Times New Roman" panose="02020603050405020304" pitchFamily="18" charset="0"/>
                <a:cs typeface="+mn-cs"/>
              </a:rPr>
              <a:t>Poor tissue perfusion (e.g., shock states).</a:t>
            </a:r>
            <a:endParaRPr lang="en-US" kern="100" dirty="0">
              <a:effectLst/>
              <a:latin typeface="+mj-lt"/>
              <a:ea typeface="Aptos" panose="020B0004020202020204" pitchFamily="34" charset="0"/>
              <a:cs typeface="+mn-cs"/>
            </a:endParaRPr>
          </a:p>
          <a:p>
            <a:pPr algn="l" rtl="0">
              <a:lnSpc>
                <a:spcPct val="107000"/>
              </a:lnSpc>
              <a:spcAft>
                <a:spcPts val="800"/>
              </a:spcAft>
              <a:buSzPts val="1000"/>
              <a:tabLst>
                <a:tab pos="457200" algn="l"/>
              </a:tabLst>
            </a:pPr>
            <a:r>
              <a:rPr lang="en-US" kern="0" dirty="0">
                <a:effectLst/>
                <a:latin typeface="+mj-lt"/>
                <a:ea typeface="Times New Roman" panose="02020603050405020304" pitchFamily="18" charset="0"/>
                <a:cs typeface="+mn-cs"/>
              </a:rPr>
              <a:t>Acute brain insults (e.g., increased intracranial pressure).</a:t>
            </a:r>
            <a:endParaRPr lang="en-US" kern="100" dirty="0">
              <a:effectLst/>
              <a:latin typeface="+mj-lt"/>
              <a:ea typeface="Aptos" panose="020B0004020202020204" pitchFamily="34" charset="0"/>
              <a:cs typeface="+mn-cs"/>
            </a:endParaRPr>
          </a:p>
          <a:p>
            <a:pPr algn="l" rtl="0"/>
            <a:endParaRPr lang="ar-IQ" sz="2000" dirty="0">
              <a:latin typeface="+mj-lt"/>
              <a:cs typeface="+mn-cs"/>
            </a:endParaRPr>
          </a:p>
        </p:txBody>
      </p:sp>
    </p:spTree>
    <p:extLst>
      <p:ext uri="{BB962C8B-B14F-4D97-AF65-F5344CB8AC3E}">
        <p14:creationId xmlns:p14="http://schemas.microsoft.com/office/powerpoint/2010/main" val="2561657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4A9E3F6-592E-7934-2F91-F255BF4E79AC}"/>
              </a:ext>
            </a:extLst>
          </p:cNvPr>
          <p:cNvSpPr>
            <a:spLocks noGrp="1"/>
          </p:cNvSpPr>
          <p:nvPr>
            <p:ph type="title"/>
          </p:nvPr>
        </p:nvSpPr>
        <p:spPr/>
        <p:txBody>
          <a:bodyPr/>
          <a:lstStyle/>
          <a:p>
            <a:pPr algn="l" rtl="0"/>
            <a:r>
              <a:rPr lang="en-US" sz="4800" dirty="0">
                <a:latin typeface="+mj-lt"/>
                <a:cs typeface="+mn-cs"/>
              </a:rPr>
              <a:t>Types of Oxygen Therapy</a:t>
            </a:r>
            <a:endParaRPr lang="ar-IQ" sz="4800" dirty="0">
              <a:latin typeface="+mj-lt"/>
              <a:cs typeface="+mn-cs"/>
            </a:endParaRPr>
          </a:p>
        </p:txBody>
      </p:sp>
      <p:sp>
        <p:nvSpPr>
          <p:cNvPr id="3" name="عنصر نائب للمحتوى 2">
            <a:extLst>
              <a:ext uri="{FF2B5EF4-FFF2-40B4-BE49-F238E27FC236}">
                <a16:creationId xmlns:a16="http://schemas.microsoft.com/office/drawing/2014/main" id="{17281185-2ECF-7A93-0B26-A775A48425B7}"/>
              </a:ext>
            </a:extLst>
          </p:cNvPr>
          <p:cNvSpPr>
            <a:spLocks noGrp="1"/>
          </p:cNvSpPr>
          <p:nvPr>
            <p:ph idx="1"/>
          </p:nvPr>
        </p:nvSpPr>
        <p:spPr/>
        <p:txBody>
          <a:bodyPr>
            <a:normAutofit lnSpcReduction="10000"/>
          </a:bodyPr>
          <a:lstStyle/>
          <a:p>
            <a:pPr marL="0" marR="0" algn="l" rtl="0">
              <a:lnSpc>
                <a:spcPct val="107000"/>
              </a:lnSpc>
              <a:spcAft>
                <a:spcPts val="800"/>
              </a:spcAft>
            </a:pPr>
            <a:r>
              <a:rPr lang="en-US" sz="3200" b="1" kern="0" dirty="0">
                <a:effectLst/>
                <a:latin typeface="+mj-lt"/>
                <a:ea typeface="Times New Roman" panose="02020603050405020304" pitchFamily="18" charset="0"/>
                <a:cs typeface="+mn-cs"/>
              </a:rPr>
              <a:t>High Flow Rate:</a:t>
            </a:r>
            <a:endParaRPr lang="en-US" sz="2800" kern="100" dirty="0">
              <a:effectLst/>
              <a:latin typeface="+mj-lt"/>
              <a:ea typeface="Aptos" panose="020B0004020202020204" pitchFamily="34" charset="0"/>
              <a:cs typeface="+mn-cs"/>
            </a:endParaRPr>
          </a:p>
          <a:p>
            <a:pPr marL="342900" marR="0" lvl="0" indent="-342900" algn="l" rtl="0">
              <a:lnSpc>
                <a:spcPct val="107000"/>
              </a:lnSpc>
              <a:spcAft>
                <a:spcPts val="800"/>
              </a:spcAft>
              <a:buSzPts val="1000"/>
              <a:buFont typeface="Symbol" panose="05050102010706020507" pitchFamily="18" charset="2"/>
              <a:buChar char=""/>
              <a:tabLst>
                <a:tab pos="457200" algn="l"/>
              </a:tabLst>
            </a:pPr>
            <a:r>
              <a:rPr lang="en-US" sz="3200" kern="0" dirty="0">
                <a:effectLst/>
                <a:latin typeface="+mj-lt"/>
                <a:ea typeface="Times New Roman" panose="02020603050405020304" pitchFamily="18" charset="0"/>
                <a:cs typeface="+mn-cs"/>
              </a:rPr>
              <a:t>13-15L/min, 60-80%.</a:t>
            </a:r>
            <a:endParaRPr lang="en-US" sz="2800" kern="100" dirty="0">
              <a:effectLst/>
              <a:latin typeface="+mj-lt"/>
              <a:ea typeface="Aptos" panose="020B0004020202020204" pitchFamily="34" charset="0"/>
              <a:cs typeface="+mn-cs"/>
            </a:endParaRPr>
          </a:p>
          <a:p>
            <a:pPr marL="342900" marR="0" lvl="0" indent="-342900" algn="l" rtl="0">
              <a:lnSpc>
                <a:spcPct val="107000"/>
              </a:lnSpc>
              <a:spcAft>
                <a:spcPts val="800"/>
              </a:spcAft>
              <a:buSzPts val="1000"/>
              <a:buFont typeface="Symbol" panose="05050102010706020507" pitchFamily="18" charset="2"/>
              <a:buChar char=""/>
              <a:tabLst>
                <a:tab pos="457200" algn="l"/>
              </a:tabLst>
            </a:pPr>
            <a:r>
              <a:rPr lang="en-US" sz="3200" kern="0" dirty="0">
                <a:effectLst/>
                <a:latin typeface="+mj-lt"/>
                <a:ea typeface="Times New Roman" panose="02020603050405020304" pitchFamily="18" charset="0"/>
                <a:cs typeface="+mn-cs"/>
              </a:rPr>
              <a:t>Methods: Tent, Ambo bag.</a:t>
            </a:r>
            <a:endParaRPr lang="en-US" sz="2800" kern="100" dirty="0">
              <a:effectLst/>
              <a:latin typeface="+mj-lt"/>
              <a:ea typeface="Aptos" panose="020B0004020202020204" pitchFamily="34" charset="0"/>
              <a:cs typeface="+mn-cs"/>
            </a:endParaRPr>
          </a:p>
          <a:p>
            <a:pPr marL="0" marR="0" algn="l" rtl="0">
              <a:lnSpc>
                <a:spcPct val="107000"/>
              </a:lnSpc>
              <a:spcAft>
                <a:spcPts val="800"/>
              </a:spcAft>
            </a:pPr>
            <a:r>
              <a:rPr lang="en-US" sz="3200" b="1" kern="0" dirty="0">
                <a:effectLst/>
                <a:latin typeface="+mj-lt"/>
                <a:ea typeface="Times New Roman" panose="02020603050405020304" pitchFamily="18" charset="0"/>
                <a:cs typeface="+mn-cs"/>
              </a:rPr>
              <a:t>Low Flow Rate:</a:t>
            </a:r>
            <a:endParaRPr lang="en-US" sz="2800" kern="100" dirty="0">
              <a:effectLst/>
              <a:latin typeface="+mj-lt"/>
              <a:ea typeface="Aptos" panose="020B0004020202020204" pitchFamily="34" charset="0"/>
              <a:cs typeface="+mn-cs"/>
            </a:endParaRPr>
          </a:p>
          <a:p>
            <a:pPr marL="342900" marR="0" lvl="0" indent="-342900" algn="l" rtl="0">
              <a:lnSpc>
                <a:spcPct val="107000"/>
              </a:lnSpc>
              <a:spcAft>
                <a:spcPts val="800"/>
              </a:spcAft>
              <a:buSzPts val="1000"/>
              <a:buFont typeface="Symbol" panose="05050102010706020507" pitchFamily="18" charset="2"/>
              <a:buChar char=""/>
              <a:tabLst>
                <a:tab pos="457200" algn="l"/>
              </a:tabLst>
            </a:pPr>
            <a:r>
              <a:rPr lang="en-US" sz="3200" kern="0" dirty="0">
                <a:effectLst/>
                <a:latin typeface="+mj-lt"/>
                <a:ea typeface="Times New Roman" panose="02020603050405020304" pitchFamily="18" charset="0"/>
                <a:cs typeface="+mn-cs"/>
              </a:rPr>
              <a:t>1-13L/min, 40-60%.</a:t>
            </a:r>
            <a:endParaRPr lang="en-US" sz="2800" kern="100" dirty="0">
              <a:effectLst/>
              <a:latin typeface="+mj-lt"/>
              <a:ea typeface="Aptos" panose="020B0004020202020204" pitchFamily="34" charset="0"/>
              <a:cs typeface="+mn-cs"/>
            </a:endParaRPr>
          </a:p>
          <a:p>
            <a:pPr marL="342900" marR="0" lvl="0" indent="-342900" algn="l" rtl="0">
              <a:lnSpc>
                <a:spcPct val="107000"/>
              </a:lnSpc>
              <a:spcAft>
                <a:spcPts val="800"/>
              </a:spcAft>
              <a:buSzPts val="1000"/>
              <a:buFont typeface="Symbol" panose="05050102010706020507" pitchFamily="18" charset="2"/>
              <a:buChar char=""/>
              <a:tabLst>
                <a:tab pos="457200" algn="l"/>
              </a:tabLst>
            </a:pPr>
            <a:r>
              <a:rPr lang="en-US" sz="3200" kern="0" dirty="0">
                <a:effectLst/>
                <a:latin typeface="+mj-lt"/>
                <a:ea typeface="Times New Roman" panose="02020603050405020304" pitchFamily="18" charset="0"/>
                <a:cs typeface="+mn-cs"/>
              </a:rPr>
              <a:t>Methods: Nasal cannula, face mask, etc.</a:t>
            </a:r>
            <a:endParaRPr lang="en-US" sz="2800" kern="100" dirty="0">
              <a:effectLst/>
              <a:latin typeface="+mj-lt"/>
              <a:ea typeface="Aptos" panose="020B0004020202020204" pitchFamily="34" charset="0"/>
              <a:cs typeface="+mn-cs"/>
            </a:endParaRPr>
          </a:p>
          <a:p>
            <a:pPr algn="l" rtl="0"/>
            <a:endParaRPr lang="ar-IQ" sz="3200" dirty="0">
              <a:latin typeface="+mj-lt"/>
              <a:cs typeface="+mn-cs"/>
            </a:endParaRPr>
          </a:p>
        </p:txBody>
      </p:sp>
    </p:spTree>
    <p:extLst>
      <p:ext uri="{BB962C8B-B14F-4D97-AF65-F5344CB8AC3E}">
        <p14:creationId xmlns:p14="http://schemas.microsoft.com/office/powerpoint/2010/main" val="1347120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34BB80F-7721-A14B-05F9-FC948BCA08D3}"/>
              </a:ext>
            </a:extLst>
          </p:cNvPr>
          <p:cNvSpPr>
            <a:spLocks noGrp="1"/>
          </p:cNvSpPr>
          <p:nvPr>
            <p:ph type="title"/>
          </p:nvPr>
        </p:nvSpPr>
        <p:spPr/>
        <p:txBody>
          <a:bodyPr/>
          <a:lstStyle/>
          <a:p>
            <a:pPr algn="l" rtl="0"/>
            <a:r>
              <a:rPr lang="en-US" sz="4800" dirty="0">
                <a:latin typeface="+mj-lt"/>
                <a:cs typeface="+mn-cs"/>
              </a:rPr>
              <a:t>Methods</a:t>
            </a:r>
            <a:endParaRPr lang="ar-IQ" sz="4800" dirty="0">
              <a:latin typeface="+mj-lt"/>
              <a:cs typeface="+mn-cs"/>
            </a:endParaRPr>
          </a:p>
        </p:txBody>
      </p:sp>
      <p:sp>
        <p:nvSpPr>
          <p:cNvPr id="3" name="عنصر نائب للمحتوى 2">
            <a:extLst>
              <a:ext uri="{FF2B5EF4-FFF2-40B4-BE49-F238E27FC236}">
                <a16:creationId xmlns:a16="http://schemas.microsoft.com/office/drawing/2014/main" id="{36CBDE11-D594-D303-1BC1-240A48924729}"/>
              </a:ext>
            </a:extLst>
          </p:cNvPr>
          <p:cNvSpPr>
            <a:spLocks noGrp="1"/>
          </p:cNvSpPr>
          <p:nvPr>
            <p:ph idx="1"/>
          </p:nvPr>
        </p:nvSpPr>
        <p:spPr>
          <a:xfrm>
            <a:off x="838200" y="1383957"/>
            <a:ext cx="10515600" cy="5108918"/>
          </a:xfrm>
        </p:spPr>
        <p:txBody>
          <a:bodyPr>
            <a:normAutofit fontScale="77500" lnSpcReduction="20000"/>
          </a:bodyPr>
          <a:lstStyle/>
          <a:p>
            <a:pPr marL="0" marR="0" algn="l" rtl="0">
              <a:lnSpc>
                <a:spcPct val="107000"/>
              </a:lnSpc>
              <a:spcAft>
                <a:spcPts val="800"/>
              </a:spcAft>
            </a:pPr>
            <a:r>
              <a:rPr lang="en-US" sz="2300" b="1" kern="0" dirty="0">
                <a:effectLst/>
                <a:latin typeface="Times New Roman" panose="02020603050405020304" pitchFamily="18" charset="0"/>
                <a:ea typeface="Times New Roman" panose="02020603050405020304" pitchFamily="18" charset="0"/>
                <a:cs typeface="Arial" panose="020B0604020202020204" pitchFamily="34" charset="0"/>
              </a:rPr>
              <a:t>1. Simple Face Mask</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l" rtl="0">
              <a:lnSpc>
                <a:spcPct val="107000"/>
              </a:lnSpc>
              <a:spcAft>
                <a:spcPts val="800"/>
              </a:spcAft>
              <a:buSzPts val="1000"/>
              <a:buFont typeface="Symbol" panose="05050102010706020507" pitchFamily="18" charset="2"/>
              <a:buChar char=""/>
              <a:tabLst>
                <a:tab pos="457200" algn="l"/>
              </a:tabLst>
            </a:pPr>
            <a:r>
              <a:rPr lang="en-US" sz="2300" b="1" kern="0" dirty="0">
                <a:effectLst/>
                <a:latin typeface="Times New Roman" panose="02020603050405020304" pitchFamily="18" charset="0"/>
                <a:ea typeface="Times New Roman" panose="02020603050405020304" pitchFamily="18" charset="0"/>
                <a:cs typeface="Arial" panose="020B0604020202020204" pitchFamily="34" charset="0"/>
              </a:rPr>
              <a:t>Advantages:</a:t>
            </a:r>
            <a:r>
              <a:rPr lang="en-US" sz="2300" kern="0"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2300" b="1" kern="0" dirty="0">
                <a:effectLst/>
                <a:latin typeface="Times New Roman" panose="02020603050405020304" pitchFamily="18" charset="0"/>
                <a:ea typeface="Times New Roman" panose="02020603050405020304" pitchFamily="18" charset="0"/>
                <a:cs typeface="Times New Roman" panose="02020603050405020304" pitchFamily="18" charset="0"/>
              </a:rPr>
              <a:t>Variety of Sizes:</a:t>
            </a:r>
            <a:r>
              <a:rPr lang="en-US" sz="2300" kern="0" dirty="0">
                <a:effectLst/>
                <a:latin typeface="Times New Roman" panose="02020603050405020304" pitchFamily="18" charset="0"/>
                <a:ea typeface="Times New Roman" panose="02020603050405020304" pitchFamily="18" charset="0"/>
                <a:cs typeface="Times New Roman" panose="02020603050405020304" pitchFamily="18" charset="0"/>
              </a:rPr>
              <a:t> Available in various sizes to fit different ages and facial structures.</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2300" b="1" kern="0" dirty="0">
                <a:effectLst/>
                <a:latin typeface="Times New Roman" panose="02020603050405020304" pitchFamily="18" charset="0"/>
                <a:ea typeface="Times New Roman" panose="02020603050405020304" pitchFamily="18" charset="0"/>
                <a:cs typeface="Times New Roman" panose="02020603050405020304" pitchFamily="18" charset="0"/>
              </a:rPr>
              <a:t>Universal Fit:</a:t>
            </a:r>
            <a:r>
              <a:rPr lang="en-US" sz="2300" kern="0" dirty="0">
                <a:effectLst/>
                <a:latin typeface="Times New Roman" panose="02020603050405020304" pitchFamily="18" charset="0"/>
                <a:ea typeface="Times New Roman" panose="02020603050405020304" pitchFamily="18" charset="0"/>
                <a:cs typeface="Times New Roman" panose="02020603050405020304" pitchFamily="18" charset="0"/>
              </a:rPr>
              <a:t> Suitable for all age groups.</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2300" b="1" kern="0" dirty="0">
                <a:effectLst/>
                <a:latin typeface="Times New Roman" panose="02020603050405020304" pitchFamily="18" charset="0"/>
                <a:ea typeface="Times New Roman" panose="02020603050405020304" pitchFamily="18" charset="0"/>
                <a:cs typeface="Times New Roman" panose="02020603050405020304" pitchFamily="18" charset="0"/>
              </a:rPr>
              <a:t>Oxygen Flow Rate:</a:t>
            </a:r>
            <a:r>
              <a:rPr lang="en-US" sz="2300" kern="0" dirty="0">
                <a:effectLst/>
                <a:latin typeface="Times New Roman" panose="02020603050405020304" pitchFamily="18" charset="0"/>
                <a:ea typeface="Times New Roman" panose="02020603050405020304" pitchFamily="18" charset="0"/>
                <a:cs typeface="Times New Roman" panose="02020603050405020304" pitchFamily="18" charset="0"/>
              </a:rPr>
              <a:t> Can deliver an oxygen flow rate of 5-10 L/min.</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2300" b="1" kern="0" dirty="0">
                <a:effectLst/>
                <a:latin typeface="Times New Roman" panose="02020603050405020304" pitchFamily="18" charset="0"/>
                <a:ea typeface="Times New Roman" panose="02020603050405020304" pitchFamily="18" charset="0"/>
                <a:cs typeface="Times New Roman" panose="02020603050405020304" pitchFamily="18" charset="0"/>
              </a:rPr>
              <a:t>Predictable Concentration:</a:t>
            </a:r>
            <a:r>
              <a:rPr lang="en-US" sz="2300" kern="0" dirty="0">
                <a:effectLst/>
                <a:latin typeface="Times New Roman" panose="02020603050405020304" pitchFamily="18" charset="0"/>
                <a:ea typeface="Times New Roman" panose="02020603050405020304" pitchFamily="18" charset="0"/>
                <a:cs typeface="Times New Roman" panose="02020603050405020304" pitchFamily="18" charset="0"/>
              </a:rPr>
              <a:t> Delivers a consistent oxygen concentration even if the child breathes through the nose or mouth.</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l" rtl="0">
              <a:lnSpc>
                <a:spcPct val="107000"/>
              </a:lnSpc>
              <a:spcAft>
                <a:spcPts val="800"/>
              </a:spcAft>
              <a:buSzPts val="1000"/>
              <a:buFont typeface="Symbol" panose="05050102010706020507" pitchFamily="18" charset="2"/>
              <a:buChar char=""/>
              <a:tabLst>
                <a:tab pos="457200" algn="l"/>
              </a:tabLst>
            </a:pPr>
            <a:r>
              <a:rPr lang="en-US" sz="2300" b="1" kern="0" dirty="0">
                <a:effectLst/>
                <a:latin typeface="Times New Roman" panose="02020603050405020304" pitchFamily="18" charset="0"/>
                <a:ea typeface="Times New Roman" panose="02020603050405020304" pitchFamily="18" charset="0"/>
                <a:cs typeface="Arial" panose="020B0604020202020204" pitchFamily="34" charset="0"/>
              </a:rPr>
              <a:t>Disadvantages:</a:t>
            </a:r>
            <a:r>
              <a:rPr lang="en-US" sz="2300" kern="0"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2300" b="1" kern="0" dirty="0">
                <a:effectLst/>
                <a:latin typeface="Times New Roman" panose="02020603050405020304" pitchFamily="18" charset="0"/>
                <a:ea typeface="Times New Roman" panose="02020603050405020304" pitchFamily="18" charset="0"/>
                <a:cs typeface="Times New Roman" panose="02020603050405020304" pitchFamily="18" charset="0"/>
              </a:rPr>
              <a:t>Tolerability:</a:t>
            </a:r>
            <a:r>
              <a:rPr lang="en-US" sz="2300" kern="0" dirty="0">
                <a:effectLst/>
                <a:latin typeface="Times New Roman" panose="02020603050405020304" pitchFamily="18" charset="0"/>
                <a:ea typeface="Times New Roman" panose="02020603050405020304" pitchFamily="18" charset="0"/>
                <a:cs typeface="Times New Roman" panose="02020603050405020304" pitchFamily="18" charset="0"/>
              </a:rPr>
              <a:t> Some children may not tolerate wearing the mask.</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2300" b="1" kern="0" dirty="0">
                <a:effectLst/>
                <a:latin typeface="Times New Roman" panose="02020603050405020304" pitchFamily="18" charset="0"/>
                <a:ea typeface="Times New Roman" panose="02020603050405020304" pitchFamily="18" charset="0"/>
                <a:cs typeface="Times New Roman" panose="02020603050405020304" pitchFamily="18" charset="0"/>
              </a:rPr>
              <a:t>Short-Term Use:</a:t>
            </a:r>
            <a:r>
              <a:rPr lang="en-US" sz="2300" kern="0" dirty="0">
                <a:effectLst/>
                <a:latin typeface="Times New Roman" panose="02020603050405020304" pitchFamily="18" charset="0"/>
                <a:ea typeface="Times New Roman" panose="02020603050405020304" pitchFamily="18" charset="0"/>
                <a:cs typeface="Times New Roman" panose="02020603050405020304" pitchFamily="18" charset="0"/>
              </a:rPr>
              <a:t> Not ideal for long-term oxygen therapy.</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2300" b="1" kern="0" dirty="0">
                <a:effectLst/>
                <a:latin typeface="Times New Roman" panose="02020603050405020304" pitchFamily="18" charset="0"/>
                <a:ea typeface="Times New Roman" panose="02020603050405020304" pitchFamily="18" charset="0"/>
                <a:cs typeface="Times New Roman" panose="02020603050405020304" pitchFamily="18" charset="0"/>
              </a:rPr>
              <a:t>Concentration Dependence:</a:t>
            </a:r>
            <a:r>
              <a:rPr lang="en-US" sz="2300" kern="0" dirty="0">
                <a:effectLst/>
                <a:latin typeface="Times New Roman" panose="02020603050405020304" pitchFamily="18" charset="0"/>
                <a:ea typeface="Times New Roman" panose="02020603050405020304" pitchFamily="18" charset="0"/>
                <a:cs typeface="Times New Roman" panose="02020603050405020304" pitchFamily="18" charset="0"/>
              </a:rPr>
              <a:t> The effectiveness of oxygen delivery depends on how securely the mask fits.</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2300" b="1" kern="0" dirty="0">
                <a:effectLst/>
                <a:latin typeface="Times New Roman" panose="02020603050405020304" pitchFamily="18" charset="0"/>
                <a:ea typeface="Times New Roman" panose="02020603050405020304" pitchFamily="18" charset="0"/>
                <a:cs typeface="Times New Roman" panose="02020603050405020304" pitchFamily="18" charset="0"/>
              </a:rPr>
              <a:t>Disruptions:</a:t>
            </a:r>
            <a:r>
              <a:rPr lang="en-US" sz="2300" kern="0" dirty="0">
                <a:effectLst/>
                <a:latin typeface="Times New Roman" panose="02020603050405020304" pitchFamily="18" charset="0"/>
                <a:ea typeface="Times New Roman" panose="02020603050405020304" pitchFamily="18" charset="0"/>
                <a:cs typeface="Times New Roman" panose="02020603050405020304" pitchFamily="18" charset="0"/>
              </a:rPr>
              <a:t> Activities such as eating or talking can disrupt the oxygen supply.</a:t>
            </a:r>
            <a:endParaRPr lang="en-US" sz="4600" kern="100" dirty="0">
              <a:effectLst/>
              <a:latin typeface="+mj-lt"/>
              <a:ea typeface="Aptos" panose="020B0004020202020204" pitchFamily="34" charset="0"/>
              <a:cs typeface="+mn-cs"/>
            </a:endParaRPr>
          </a:p>
          <a:p>
            <a:pPr algn="l" rtl="0"/>
            <a:endParaRPr lang="ar-IQ" dirty="0">
              <a:latin typeface="+mj-lt"/>
              <a:cs typeface="+mn-cs"/>
            </a:endParaRPr>
          </a:p>
        </p:txBody>
      </p:sp>
      <p:pic>
        <p:nvPicPr>
          <p:cNvPr id="1026" name="Picture 2">
            <a:extLst>
              <a:ext uri="{FF2B5EF4-FFF2-40B4-BE49-F238E27FC236}">
                <a16:creationId xmlns:a16="http://schemas.microsoft.com/office/drawing/2014/main" id="{72EBDC82-6FF4-B8C3-AA85-A4BB67D31C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0" y="9525"/>
            <a:ext cx="3048000" cy="2313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2463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A5B3E-C82A-7D8A-26D4-BB490685CF88}"/>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039CCBD4-21A5-5140-0A39-052E7255EC73}"/>
              </a:ext>
            </a:extLst>
          </p:cNvPr>
          <p:cNvSpPr>
            <a:spLocks noGrp="1"/>
          </p:cNvSpPr>
          <p:nvPr>
            <p:ph type="title"/>
          </p:nvPr>
        </p:nvSpPr>
        <p:spPr/>
        <p:txBody>
          <a:bodyPr/>
          <a:lstStyle/>
          <a:p>
            <a:pPr algn="l" rtl="0"/>
            <a:r>
              <a:rPr lang="en-US" sz="4800" dirty="0">
                <a:latin typeface="+mj-lt"/>
                <a:cs typeface="+mn-cs"/>
              </a:rPr>
              <a:t>Methods</a:t>
            </a:r>
            <a:endParaRPr lang="ar-IQ" sz="4800" dirty="0">
              <a:latin typeface="+mj-lt"/>
              <a:cs typeface="+mn-cs"/>
            </a:endParaRPr>
          </a:p>
        </p:txBody>
      </p:sp>
      <p:sp>
        <p:nvSpPr>
          <p:cNvPr id="3" name="عنصر نائب للمحتوى 2">
            <a:extLst>
              <a:ext uri="{FF2B5EF4-FFF2-40B4-BE49-F238E27FC236}">
                <a16:creationId xmlns:a16="http://schemas.microsoft.com/office/drawing/2014/main" id="{F491CC9E-6466-C9B5-26B5-1E152C4E2FDA}"/>
              </a:ext>
            </a:extLst>
          </p:cNvPr>
          <p:cNvSpPr>
            <a:spLocks noGrp="1"/>
          </p:cNvSpPr>
          <p:nvPr>
            <p:ph idx="1"/>
          </p:nvPr>
        </p:nvSpPr>
        <p:spPr>
          <a:xfrm>
            <a:off x="838200" y="1309816"/>
            <a:ext cx="10814222" cy="5183059"/>
          </a:xfrm>
        </p:spPr>
        <p:txBody>
          <a:bodyPr>
            <a:normAutofit fontScale="92500" lnSpcReduction="10000"/>
          </a:bodyPr>
          <a:lstStyle/>
          <a:p>
            <a:pPr marL="0" marR="0" algn="l" rtl="0">
              <a:lnSpc>
                <a:spcPct val="107000"/>
              </a:lnSpc>
              <a:spcAft>
                <a:spcPts val="800"/>
              </a:spcAft>
            </a:pPr>
            <a:r>
              <a:rPr lang="en-US" sz="1800" b="1" kern="0" dirty="0">
                <a:effectLst/>
                <a:latin typeface="Times New Roman" panose="02020603050405020304" pitchFamily="18" charset="0"/>
                <a:ea typeface="Times New Roman" panose="02020603050405020304" pitchFamily="18" charset="0"/>
                <a:cs typeface="Arial" panose="020B0604020202020204" pitchFamily="34" charset="0"/>
              </a:rPr>
              <a:t>2. Nasal Cannula</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l" rtl="0">
              <a:lnSpc>
                <a:spcPct val="107000"/>
              </a:lnSpc>
              <a:spcAft>
                <a:spcPts val="800"/>
              </a:spcAft>
              <a:buSzPts val="1000"/>
              <a:buFont typeface="Symbol" panose="05050102010706020507" pitchFamily="18" charset="2"/>
              <a:buChar char=""/>
              <a:tabLst>
                <a:tab pos="457200" algn="l"/>
              </a:tabLst>
            </a:pPr>
            <a:r>
              <a:rPr lang="en-US" sz="1800" b="1" kern="0" dirty="0">
                <a:effectLst/>
                <a:latin typeface="Times New Roman" panose="02020603050405020304" pitchFamily="18" charset="0"/>
                <a:ea typeface="Times New Roman" panose="02020603050405020304" pitchFamily="18" charset="0"/>
                <a:cs typeface="Arial" panose="020B0604020202020204" pitchFamily="34" charset="0"/>
              </a:rPr>
              <a:t>Advantages:</a:t>
            </a:r>
            <a:r>
              <a:rPr lang="en-US" sz="1800" kern="0"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Age Versatility:</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Suitable for all age groups.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Mobility:</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Allows the child considerable freedom of movement.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Visual Field Uninterrupted:</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Does not obstruct the child's view.</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Constant O2 Flow:</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Provides continuous oxygen even when the child eats or talks.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Flow Rate: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Can deliver oxygen at a rate of 1-5 L/min.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l" rtl="0">
              <a:lnSpc>
                <a:spcPct val="107000"/>
              </a:lnSpc>
              <a:spcAft>
                <a:spcPts val="800"/>
              </a:spcAft>
              <a:buSzPts val="1000"/>
              <a:buFont typeface="Symbol" panose="05050102010706020507" pitchFamily="18" charset="2"/>
              <a:buChar char=""/>
              <a:tabLst>
                <a:tab pos="457200" algn="l"/>
              </a:tabLst>
            </a:pPr>
            <a:r>
              <a:rPr lang="en-US" sz="1800" b="1" kern="0" dirty="0">
                <a:effectLst/>
                <a:latin typeface="Times New Roman" panose="02020603050405020304" pitchFamily="18" charset="0"/>
                <a:ea typeface="Times New Roman" panose="02020603050405020304" pitchFamily="18" charset="0"/>
                <a:cs typeface="Arial" panose="020B0604020202020204" pitchFamily="34" charset="0"/>
              </a:rPr>
              <a:t>Disadvantages:</a:t>
            </a:r>
            <a:r>
              <a:rPr lang="en-US" sz="1800" kern="0"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Resistance:</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Young children may resist wearing the cannula.</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Irritation:</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Can irritate the nasal mucosa.</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Restraint Need:</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May require restraining the child to keep it in place.</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1800" b="1" kern="0" dirty="0">
                <a:effectLst/>
                <a:latin typeface="Times New Roman" panose="02020603050405020304" pitchFamily="18" charset="0"/>
                <a:ea typeface="Times New Roman" panose="02020603050405020304" pitchFamily="18" charset="0"/>
                <a:cs typeface="Times New Roman" panose="02020603050405020304" pitchFamily="18" charset="0"/>
              </a:rPr>
              <a:t>Concentration Control:</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Difficult to control the oxygen concentration if the child breathes through the mouth.</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2050" name="Picture 2" descr="‪NASAL OXYGEN CANNULA, 2 prongs + tube, adult | Unicat‬‏">
            <a:extLst>
              <a:ext uri="{FF2B5EF4-FFF2-40B4-BE49-F238E27FC236}">
                <a16:creationId xmlns:a16="http://schemas.microsoft.com/office/drawing/2014/main" id="{8BE36EB4-57C9-FA07-993E-306FE96EFE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01225" y="0"/>
            <a:ext cx="2390775" cy="1914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2470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C3F43-1E10-0136-E780-96B1B0137A53}"/>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FCFC3EFF-4E16-2C7F-BFF6-F29848DEAD1B}"/>
              </a:ext>
            </a:extLst>
          </p:cNvPr>
          <p:cNvSpPr>
            <a:spLocks noGrp="1"/>
          </p:cNvSpPr>
          <p:nvPr>
            <p:ph type="title"/>
          </p:nvPr>
        </p:nvSpPr>
        <p:spPr/>
        <p:txBody>
          <a:bodyPr/>
          <a:lstStyle/>
          <a:p>
            <a:pPr algn="l" rtl="0"/>
            <a:r>
              <a:rPr lang="en-US" sz="4800" dirty="0">
                <a:latin typeface="+mj-lt"/>
                <a:cs typeface="+mn-cs"/>
              </a:rPr>
              <a:t>Methods</a:t>
            </a:r>
            <a:endParaRPr lang="ar-IQ" sz="4800" dirty="0">
              <a:latin typeface="+mj-lt"/>
              <a:cs typeface="+mn-cs"/>
            </a:endParaRPr>
          </a:p>
        </p:txBody>
      </p:sp>
      <p:sp>
        <p:nvSpPr>
          <p:cNvPr id="3" name="عنصر نائب للمحتوى 2">
            <a:extLst>
              <a:ext uri="{FF2B5EF4-FFF2-40B4-BE49-F238E27FC236}">
                <a16:creationId xmlns:a16="http://schemas.microsoft.com/office/drawing/2014/main" id="{05DC71DF-E51E-914C-32D9-E19642D7C43F}"/>
              </a:ext>
            </a:extLst>
          </p:cNvPr>
          <p:cNvSpPr>
            <a:spLocks noGrp="1"/>
          </p:cNvSpPr>
          <p:nvPr>
            <p:ph idx="1"/>
          </p:nvPr>
        </p:nvSpPr>
        <p:spPr>
          <a:xfrm>
            <a:off x="838200" y="1825624"/>
            <a:ext cx="10515600" cy="4871737"/>
          </a:xfrm>
        </p:spPr>
        <p:txBody>
          <a:bodyPr>
            <a:normAutofit fontScale="92500" lnSpcReduction="20000"/>
          </a:bodyPr>
          <a:lstStyle/>
          <a:p>
            <a:pPr marL="0" marR="0" algn="l" rtl="0">
              <a:lnSpc>
                <a:spcPct val="107000"/>
              </a:lnSpc>
              <a:spcAft>
                <a:spcPts val="800"/>
              </a:spcAft>
            </a:pPr>
            <a:r>
              <a:rPr lang="en-US" sz="2400" b="1" kern="0" dirty="0">
                <a:effectLst/>
                <a:latin typeface="Times New Roman" panose="02020603050405020304" pitchFamily="18" charset="0"/>
                <a:ea typeface="Times New Roman" panose="02020603050405020304" pitchFamily="18" charset="0"/>
                <a:cs typeface="Arial" panose="020B0604020202020204" pitchFamily="34" charset="0"/>
              </a:rPr>
              <a:t>Head Box (Hood)</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l" rtl="0">
              <a:lnSpc>
                <a:spcPct val="107000"/>
              </a:lnSpc>
              <a:spcAft>
                <a:spcPts val="800"/>
              </a:spcAft>
              <a:buSzPts val="1000"/>
              <a:buFont typeface="Symbol" panose="05050102010706020507" pitchFamily="18" charset="2"/>
              <a:buChar char=""/>
              <a:tabLst>
                <a:tab pos="457200" algn="l"/>
              </a:tabLst>
            </a:pPr>
            <a:r>
              <a:rPr lang="en-US" sz="2400" b="1" kern="0" dirty="0">
                <a:effectLst/>
                <a:latin typeface="Times New Roman" panose="02020603050405020304" pitchFamily="18" charset="0"/>
                <a:ea typeface="Times New Roman" panose="02020603050405020304" pitchFamily="18" charset="0"/>
                <a:cs typeface="Arial" panose="020B0604020202020204" pitchFamily="34" charset="0"/>
              </a:rPr>
              <a:t>Advantages:</a:t>
            </a:r>
            <a:r>
              <a:rPr lang="en-US" sz="2400" kern="0"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b="1" kern="0" dirty="0">
                <a:effectLst/>
                <a:latin typeface="Times New Roman" panose="02020603050405020304" pitchFamily="18" charset="0"/>
                <a:ea typeface="Times New Roman" panose="02020603050405020304" pitchFamily="18" charset="0"/>
                <a:cs typeface="Times New Roman" panose="02020603050405020304" pitchFamily="18" charset="0"/>
              </a:rPr>
              <a:t>Size Variety:</a:t>
            </a:r>
            <a:r>
              <a:rPr lang="en-US" kern="0" dirty="0">
                <a:effectLst/>
                <a:latin typeface="Times New Roman" panose="02020603050405020304" pitchFamily="18" charset="0"/>
                <a:ea typeface="Times New Roman" panose="02020603050405020304" pitchFamily="18" charset="0"/>
                <a:cs typeface="Times New Roman" panose="02020603050405020304" pitchFamily="18" charset="0"/>
              </a:rPr>
              <a:t> Available in different sizes for different patient needs.</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b="1" kern="0" dirty="0">
                <a:effectLst/>
                <a:latin typeface="Times New Roman" panose="02020603050405020304" pitchFamily="18" charset="0"/>
                <a:ea typeface="Times New Roman" panose="02020603050405020304" pitchFamily="18" charset="0"/>
                <a:cs typeface="Times New Roman" panose="02020603050405020304" pitchFamily="18" charset="0"/>
              </a:rPr>
              <a:t>Flow Rate:</a:t>
            </a:r>
            <a:r>
              <a:rPr lang="en-US" kern="0" dirty="0">
                <a:effectLst/>
                <a:latin typeface="Times New Roman" panose="02020603050405020304" pitchFamily="18" charset="0"/>
                <a:ea typeface="Times New Roman" panose="02020603050405020304" pitchFamily="18" charset="0"/>
                <a:cs typeface="Times New Roman" panose="02020603050405020304" pitchFamily="18" charset="0"/>
              </a:rPr>
              <a:t> Maximum flow rate of up to 10 L/min.</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b="1" kern="0" dirty="0">
                <a:effectLst/>
                <a:latin typeface="Times New Roman" panose="02020603050405020304" pitchFamily="18" charset="0"/>
                <a:ea typeface="Times New Roman" panose="02020603050405020304" pitchFamily="18" charset="0"/>
                <a:cs typeface="Times New Roman" panose="02020603050405020304" pitchFamily="18" charset="0"/>
              </a:rPr>
              <a:t>Unrestricted Movement:</a:t>
            </a:r>
            <a:r>
              <a:rPr lang="en-US" kern="0" dirty="0">
                <a:effectLst/>
                <a:latin typeface="Times New Roman" panose="02020603050405020304" pitchFamily="18" charset="0"/>
                <a:ea typeface="Times New Roman" panose="02020603050405020304" pitchFamily="18" charset="0"/>
                <a:cs typeface="Times New Roman" panose="02020603050405020304" pitchFamily="18" charset="0"/>
              </a:rPr>
              <a:t> Does not limit facial or head movement.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l" rtl="0">
              <a:lnSpc>
                <a:spcPct val="107000"/>
              </a:lnSpc>
              <a:spcAft>
                <a:spcPts val="800"/>
              </a:spcAft>
              <a:buSzPts val="1000"/>
              <a:buFont typeface="Symbol" panose="05050102010706020507" pitchFamily="18" charset="2"/>
              <a:buChar char=""/>
              <a:tabLst>
                <a:tab pos="457200" algn="l"/>
              </a:tabLst>
            </a:pPr>
            <a:r>
              <a:rPr lang="en-US" sz="2400" b="1" kern="0" dirty="0">
                <a:effectLst/>
                <a:latin typeface="Times New Roman" panose="02020603050405020304" pitchFamily="18" charset="0"/>
                <a:ea typeface="Times New Roman" panose="02020603050405020304" pitchFamily="18" charset="0"/>
                <a:cs typeface="Arial" panose="020B0604020202020204" pitchFamily="34" charset="0"/>
              </a:rPr>
              <a:t>Disadvantages:</a:t>
            </a:r>
            <a:r>
              <a:rPr lang="en-US" sz="2400" kern="0"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20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b="1" kern="0" dirty="0">
                <a:effectLst/>
                <a:latin typeface="Times New Roman" panose="02020603050405020304" pitchFamily="18" charset="0"/>
                <a:ea typeface="Times New Roman" panose="02020603050405020304" pitchFamily="18" charset="0"/>
                <a:cs typeface="Times New Roman" panose="02020603050405020304" pitchFamily="18" charset="0"/>
              </a:rPr>
              <a:t>Limited Access:</a:t>
            </a:r>
            <a:r>
              <a:rPr lang="en-US" kern="0" dirty="0">
                <a:effectLst/>
                <a:latin typeface="Times New Roman" panose="02020603050405020304" pitchFamily="18" charset="0"/>
                <a:ea typeface="Times New Roman" panose="02020603050405020304" pitchFamily="18" charset="0"/>
                <a:cs typeface="Times New Roman" panose="02020603050405020304" pitchFamily="18" charset="0"/>
              </a:rPr>
              <a:t> Makes it challenging to access the patient's head for examination or treatment.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b="1" kern="0" dirty="0">
                <a:effectLst/>
                <a:latin typeface="Times New Roman" panose="02020603050405020304" pitchFamily="18" charset="0"/>
                <a:ea typeface="Times New Roman" panose="02020603050405020304" pitchFamily="18" charset="0"/>
                <a:cs typeface="Times New Roman" panose="02020603050405020304" pitchFamily="18" charset="0"/>
              </a:rPr>
              <a:t>Humidity:</a:t>
            </a:r>
            <a:r>
              <a:rPr lang="en-US" kern="0" dirty="0">
                <a:effectLst/>
                <a:latin typeface="Times New Roman" panose="02020603050405020304" pitchFamily="18" charset="0"/>
                <a:ea typeface="Times New Roman" panose="02020603050405020304" pitchFamily="18" charset="0"/>
                <a:cs typeface="Times New Roman" panose="02020603050405020304" pitchFamily="18" charset="0"/>
              </a:rPr>
              <a:t> Creates a high-humidity environment that can be uncomfortable.</a:t>
            </a:r>
            <a:endParaRPr lang="en-US" sz="2000" kern="100" dirty="0">
              <a:latin typeface="Aptos" panose="020B0004020202020204" pitchFamily="34" charset="0"/>
              <a:ea typeface="Times New Roman" panose="02020603050405020304" pitchFamily="18" charset="0"/>
              <a:cs typeface="Times New Roman" panose="02020603050405020304" pitchFamily="18"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2400" b="1" kern="0" dirty="0">
                <a:effectLst/>
                <a:latin typeface="Times New Roman" panose="02020603050405020304" pitchFamily="18" charset="0"/>
                <a:ea typeface="Times New Roman" panose="02020603050405020304" pitchFamily="18" charset="0"/>
              </a:rPr>
              <a:t>Interruption During Care:</a:t>
            </a:r>
            <a:r>
              <a:rPr lang="en-US" sz="2400" kern="0" dirty="0">
                <a:effectLst/>
                <a:latin typeface="Times New Roman" panose="02020603050405020304" pitchFamily="18" charset="0"/>
                <a:ea typeface="Times New Roman" panose="02020603050405020304" pitchFamily="18" charset="0"/>
              </a:rPr>
              <a:t> Must be removed during feeding and while providing patient care</a:t>
            </a:r>
            <a:endParaRPr lang="en-US" sz="4000" kern="100" dirty="0">
              <a:effectLst/>
              <a:latin typeface="+mj-lt"/>
              <a:ea typeface="Aptos" panose="020B0004020202020204" pitchFamily="34" charset="0"/>
              <a:cs typeface="+mn-cs"/>
            </a:endParaRPr>
          </a:p>
          <a:p>
            <a:pPr algn="l" rtl="0"/>
            <a:endParaRPr lang="ar-IQ" sz="2400" dirty="0">
              <a:latin typeface="+mj-lt"/>
              <a:cs typeface="+mn-cs"/>
            </a:endParaRPr>
          </a:p>
        </p:txBody>
      </p:sp>
      <p:pic>
        <p:nvPicPr>
          <p:cNvPr id="3074" name="Picture 2" descr="‪Rilekh Oxygen Hood for Newborn baby, Pediatric : Amazon.in: Baby Products‬‏">
            <a:extLst>
              <a:ext uri="{FF2B5EF4-FFF2-40B4-BE49-F238E27FC236}">
                <a16:creationId xmlns:a16="http://schemas.microsoft.com/office/drawing/2014/main" id="{05E772A4-AEBB-55AB-9215-2382ABC7F3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3055" y="-34203"/>
            <a:ext cx="3338945" cy="26738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2473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96371-360D-DEDD-1961-E47CA80EE760}"/>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F8453AA9-C6AE-5607-9103-336191749321}"/>
              </a:ext>
            </a:extLst>
          </p:cNvPr>
          <p:cNvSpPr>
            <a:spLocks noGrp="1"/>
          </p:cNvSpPr>
          <p:nvPr>
            <p:ph type="title"/>
          </p:nvPr>
        </p:nvSpPr>
        <p:spPr/>
        <p:txBody>
          <a:bodyPr/>
          <a:lstStyle/>
          <a:p>
            <a:pPr algn="l" rtl="0"/>
            <a:r>
              <a:rPr lang="en-US" sz="4800" dirty="0">
                <a:latin typeface="+mj-lt"/>
                <a:cs typeface="+mn-cs"/>
              </a:rPr>
              <a:t>Methods</a:t>
            </a:r>
            <a:endParaRPr lang="ar-IQ" sz="4800" dirty="0">
              <a:latin typeface="+mj-lt"/>
              <a:cs typeface="+mn-cs"/>
            </a:endParaRPr>
          </a:p>
        </p:txBody>
      </p:sp>
      <p:sp>
        <p:nvSpPr>
          <p:cNvPr id="3" name="عنصر نائب للمحتوى 2">
            <a:extLst>
              <a:ext uri="{FF2B5EF4-FFF2-40B4-BE49-F238E27FC236}">
                <a16:creationId xmlns:a16="http://schemas.microsoft.com/office/drawing/2014/main" id="{97DC35B8-70F4-5A2C-8314-576E73690F89}"/>
              </a:ext>
            </a:extLst>
          </p:cNvPr>
          <p:cNvSpPr>
            <a:spLocks noGrp="1"/>
          </p:cNvSpPr>
          <p:nvPr>
            <p:ph idx="1"/>
          </p:nvPr>
        </p:nvSpPr>
        <p:spPr/>
        <p:txBody>
          <a:bodyPr>
            <a:normAutofit lnSpcReduction="10000"/>
          </a:bodyPr>
          <a:lstStyle/>
          <a:p>
            <a:pPr algn="l" rtl="0">
              <a:lnSpc>
                <a:spcPct val="107000"/>
              </a:lnSpc>
              <a:spcAft>
                <a:spcPts val="800"/>
              </a:spcAft>
            </a:pPr>
            <a:r>
              <a:rPr lang="en-US" sz="2800" b="1" i="0" dirty="0">
                <a:effectLst/>
                <a:latin typeface="TimesNewRomanPS-BoldMT"/>
              </a:rPr>
              <a:t>Mist tent</a:t>
            </a:r>
          </a:p>
          <a:p>
            <a:pPr algn="l" rtl="0">
              <a:lnSpc>
                <a:spcPct val="107000"/>
              </a:lnSpc>
              <a:spcAft>
                <a:spcPts val="800"/>
              </a:spcAft>
            </a:pPr>
            <a:r>
              <a:rPr lang="en-US" sz="2400" b="1" i="0" dirty="0">
                <a:solidFill>
                  <a:srgbClr val="000000"/>
                </a:solidFill>
                <a:effectLst/>
                <a:latin typeface="TimesNewRomanPS-BoldMT"/>
              </a:rPr>
              <a:t>Advantages:</a:t>
            </a:r>
            <a:br>
              <a:rPr lang="en-US" sz="2400" b="1" i="0" dirty="0">
                <a:solidFill>
                  <a:srgbClr val="000000"/>
                </a:solidFill>
                <a:effectLst/>
                <a:latin typeface="TimesNewRomanPS-BoldMT"/>
              </a:rPr>
            </a:br>
            <a:r>
              <a:rPr lang="en-US" sz="2400" b="0" i="0" dirty="0">
                <a:solidFill>
                  <a:srgbClr val="000000"/>
                </a:solidFill>
                <a:effectLst/>
                <a:latin typeface="TimesNewRomanPSMT"/>
              </a:rPr>
              <a:t>Tent allows older children considerable mobility.</a:t>
            </a:r>
            <a:br>
              <a:rPr lang="en-US" sz="2400" b="0" i="0" dirty="0">
                <a:solidFill>
                  <a:srgbClr val="000000"/>
                </a:solidFill>
                <a:effectLst/>
                <a:latin typeface="TimesNewRomanPSMT"/>
              </a:rPr>
            </a:br>
            <a:r>
              <a:rPr lang="en-US" sz="2400" b="0" i="0" dirty="0">
                <a:solidFill>
                  <a:srgbClr val="000000"/>
                </a:solidFill>
                <a:effectLst/>
                <a:latin typeface="TimesNewRomanPSMT"/>
              </a:rPr>
              <a:t>Maximum flow rate (10L/m).</a:t>
            </a:r>
          </a:p>
          <a:p>
            <a:pPr algn="l" rtl="0">
              <a:lnSpc>
                <a:spcPct val="107000"/>
              </a:lnSpc>
              <a:spcAft>
                <a:spcPts val="800"/>
              </a:spcAft>
            </a:pPr>
            <a:r>
              <a:rPr lang="en-US" sz="2400" b="1" i="0" dirty="0">
                <a:solidFill>
                  <a:srgbClr val="000000"/>
                </a:solidFill>
                <a:effectLst/>
                <a:latin typeface="TimesNewRomanPS-BoldMT"/>
              </a:rPr>
              <a:t>Disadvantages:</a:t>
            </a:r>
            <a:br>
              <a:rPr lang="en-US" sz="2400" b="1" i="0" dirty="0">
                <a:solidFill>
                  <a:srgbClr val="000000"/>
                </a:solidFill>
                <a:effectLst/>
                <a:latin typeface="TimesNewRomanPS-BoldMT"/>
              </a:rPr>
            </a:br>
            <a:r>
              <a:rPr lang="en-US" sz="2400" b="0" i="0" dirty="0">
                <a:solidFill>
                  <a:srgbClr val="000000"/>
                </a:solidFill>
                <a:effectLst/>
                <a:latin typeface="TimesNewRomanPSMT"/>
              </a:rPr>
              <a:t>Steady O</a:t>
            </a:r>
            <a:r>
              <a:rPr lang="en-US" sz="1200" b="0" i="0" dirty="0">
                <a:solidFill>
                  <a:srgbClr val="000000"/>
                </a:solidFill>
                <a:effectLst/>
                <a:latin typeface="TimesNewRomanPSMT"/>
              </a:rPr>
              <a:t>2 </a:t>
            </a:r>
            <a:r>
              <a:rPr lang="en-US" sz="2400" b="0" i="0" dirty="0">
                <a:solidFill>
                  <a:srgbClr val="000000"/>
                </a:solidFill>
                <a:effectLst/>
                <a:latin typeface="TimesNewRomanPSMT"/>
              </a:rPr>
              <a:t>concentration difficult to maintain.</a:t>
            </a:r>
            <a:br>
              <a:rPr lang="en-US" sz="2400" b="0" i="0" dirty="0">
                <a:solidFill>
                  <a:srgbClr val="000000"/>
                </a:solidFill>
                <a:effectLst/>
                <a:latin typeface="TimesNewRomanPSMT"/>
              </a:rPr>
            </a:br>
            <a:r>
              <a:rPr lang="en-US" sz="2400" b="0" i="0" dirty="0">
                <a:solidFill>
                  <a:srgbClr val="000000"/>
                </a:solidFill>
                <a:effectLst/>
                <a:latin typeface="TimesNewRomanPSMT"/>
              </a:rPr>
              <a:t>Child feel isolated.</a:t>
            </a:r>
            <a:br>
              <a:rPr lang="en-US" sz="2400" b="0" i="0" dirty="0">
                <a:solidFill>
                  <a:srgbClr val="000000"/>
                </a:solidFill>
                <a:effectLst/>
                <a:latin typeface="TimesNewRomanPSMT"/>
              </a:rPr>
            </a:br>
            <a:r>
              <a:rPr lang="en-US" sz="2400" b="0" i="0" dirty="0">
                <a:solidFill>
                  <a:srgbClr val="000000"/>
                </a:solidFill>
                <a:effectLst/>
                <a:latin typeface="TimesNewRomanPSMT"/>
              </a:rPr>
              <a:t>Cool and wet tent environment.</a:t>
            </a:r>
            <a:br>
              <a:rPr lang="en-US" sz="2400" b="0" i="0" dirty="0">
                <a:solidFill>
                  <a:srgbClr val="000000"/>
                </a:solidFill>
                <a:effectLst/>
                <a:latin typeface="TimesNewRomanPSMT"/>
              </a:rPr>
            </a:br>
            <a:r>
              <a:rPr lang="en-US" sz="2400" b="0" i="0" dirty="0">
                <a:solidFill>
                  <a:srgbClr val="000000"/>
                </a:solidFill>
                <a:effectLst/>
                <a:latin typeface="TimesNewRomanPSMT"/>
              </a:rPr>
              <a:t>Poor access to patient.</a:t>
            </a:r>
            <a:r>
              <a:rPr lang="en-US" sz="1600" dirty="0"/>
              <a:t> </a:t>
            </a:r>
            <a:br>
              <a:rPr lang="en-US" sz="1600" dirty="0"/>
            </a:br>
            <a:endParaRPr lang="ar-IQ" sz="2400" dirty="0">
              <a:latin typeface="+mj-lt"/>
              <a:cs typeface="+mn-cs"/>
            </a:endParaRPr>
          </a:p>
        </p:txBody>
      </p:sp>
      <p:pic>
        <p:nvPicPr>
          <p:cNvPr id="9" name="صورة 8">
            <a:extLst>
              <a:ext uri="{FF2B5EF4-FFF2-40B4-BE49-F238E27FC236}">
                <a16:creationId xmlns:a16="http://schemas.microsoft.com/office/drawing/2014/main" id="{778F24ED-CCCE-17BA-E9B3-11B3BC84EFCF}"/>
              </a:ext>
            </a:extLst>
          </p:cNvPr>
          <p:cNvPicPr>
            <a:picLocks noChangeAspect="1"/>
          </p:cNvPicPr>
          <p:nvPr/>
        </p:nvPicPr>
        <p:blipFill>
          <a:blip r:embed="rId3"/>
          <a:stretch>
            <a:fillRect/>
          </a:stretch>
        </p:blipFill>
        <p:spPr>
          <a:xfrm>
            <a:off x="836612" y="2057400"/>
            <a:ext cx="3935413" cy="3855323"/>
          </a:xfrm>
          <a:prstGeom prst="rect">
            <a:avLst/>
          </a:prstGeom>
        </p:spPr>
      </p:pic>
      <p:sp>
        <p:nvSpPr>
          <p:cNvPr id="4" name="عنصر نائب للنص 3">
            <a:extLst>
              <a:ext uri="{FF2B5EF4-FFF2-40B4-BE49-F238E27FC236}">
                <a16:creationId xmlns:a16="http://schemas.microsoft.com/office/drawing/2014/main" id="{2883898A-F6AF-098D-922B-E4837C3BA6BA}"/>
              </a:ext>
            </a:extLst>
          </p:cNvPr>
          <p:cNvSpPr>
            <a:spLocks noGrp="1"/>
          </p:cNvSpPr>
          <p:nvPr>
            <p:ph type="body" sz="half" idx="2"/>
          </p:nvPr>
        </p:nvSpPr>
        <p:spPr/>
        <p:txBody>
          <a:bodyPr/>
          <a:lstStyle/>
          <a:p>
            <a:endParaRPr lang="ar-IQ" dirty="0"/>
          </a:p>
        </p:txBody>
      </p:sp>
      <p:pic>
        <p:nvPicPr>
          <p:cNvPr id="4102" name="Picture 6" descr="Croup Tent: A Comprehensive Overview (2024)">
            <a:extLst>
              <a:ext uri="{FF2B5EF4-FFF2-40B4-BE49-F238E27FC236}">
                <a16:creationId xmlns:a16="http://schemas.microsoft.com/office/drawing/2014/main" id="{FDAA6EA8-74A2-6923-3D6B-616179EB4D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53992" y="0"/>
            <a:ext cx="3038008" cy="1703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2336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2560A-FB98-D80F-ECA7-FECFB1FE5DEE}"/>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8E8EDE25-0EA1-0FFE-C0BA-B09165E1CF74}"/>
              </a:ext>
            </a:extLst>
          </p:cNvPr>
          <p:cNvSpPr>
            <a:spLocks noGrp="1"/>
          </p:cNvSpPr>
          <p:nvPr>
            <p:ph type="title"/>
          </p:nvPr>
        </p:nvSpPr>
        <p:spPr/>
        <p:txBody>
          <a:bodyPr/>
          <a:lstStyle/>
          <a:p>
            <a:pPr algn="l" rtl="0"/>
            <a:r>
              <a:rPr lang="en-US" sz="4800" dirty="0">
                <a:latin typeface="+mj-lt"/>
                <a:cs typeface="+mn-cs"/>
              </a:rPr>
              <a:t>Methods</a:t>
            </a:r>
            <a:endParaRPr lang="ar-IQ" sz="4800" dirty="0">
              <a:latin typeface="+mj-lt"/>
              <a:cs typeface="+mn-cs"/>
            </a:endParaRPr>
          </a:p>
        </p:txBody>
      </p:sp>
      <p:sp>
        <p:nvSpPr>
          <p:cNvPr id="3" name="عنصر نائب للمحتوى 2">
            <a:extLst>
              <a:ext uri="{FF2B5EF4-FFF2-40B4-BE49-F238E27FC236}">
                <a16:creationId xmlns:a16="http://schemas.microsoft.com/office/drawing/2014/main" id="{799BF8F2-A148-0B2B-721F-61720B08DFBF}"/>
              </a:ext>
            </a:extLst>
          </p:cNvPr>
          <p:cNvSpPr>
            <a:spLocks noGrp="1"/>
          </p:cNvSpPr>
          <p:nvPr>
            <p:ph idx="1"/>
          </p:nvPr>
        </p:nvSpPr>
        <p:spPr/>
        <p:txBody>
          <a:bodyPr>
            <a:normAutofit/>
          </a:bodyPr>
          <a:lstStyle/>
          <a:p>
            <a:pPr marL="0" marR="0" algn="l" rtl="0">
              <a:lnSpc>
                <a:spcPct val="107000"/>
              </a:lnSpc>
              <a:spcAft>
                <a:spcPts val="800"/>
              </a:spcAft>
            </a:pPr>
            <a:r>
              <a:rPr lang="en-US" sz="2000" b="1" kern="0" dirty="0">
                <a:effectLst/>
                <a:latin typeface="Times New Roman" panose="02020603050405020304" pitchFamily="18" charset="0"/>
                <a:ea typeface="Times New Roman" panose="02020603050405020304" pitchFamily="18" charset="0"/>
                <a:cs typeface="Arial" panose="020B0604020202020204" pitchFamily="34" charset="0"/>
              </a:rPr>
              <a:t>Incubator</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l" rtl="0">
              <a:lnSpc>
                <a:spcPct val="107000"/>
              </a:lnSpc>
              <a:spcAft>
                <a:spcPts val="800"/>
              </a:spcAft>
              <a:buSzPts val="1000"/>
              <a:buFont typeface="Symbol" panose="05050102010706020507" pitchFamily="18" charset="2"/>
              <a:buChar char=""/>
              <a:tabLst>
                <a:tab pos="457200" algn="l"/>
              </a:tabLst>
            </a:pPr>
            <a:r>
              <a:rPr lang="en-US" sz="2000" b="1" kern="0" dirty="0">
                <a:effectLst/>
                <a:latin typeface="Times New Roman" panose="02020603050405020304" pitchFamily="18" charset="0"/>
                <a:ea typeface="Times New Roman" panose="02020603050405020304" pitchFamily="18" charset="0"/>
                <a:cs typeface="Arial" panose="020B0604020202020204" pitchFamily="34" charset="0"/>
              </a:rPr>
              <a:t>Advantages:</a:t>
            </a:r>
            <a:r>
              <a:rPr lang="en-US" sz="2000" kern="0"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Neonatal Use:</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Suitable only for neonates and young infants.</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Mobility:</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Infant mobility is not restricted.</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Observation and Access:</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Allows easy observation and assessment of the infant and makes interventions straightforward.</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l" rtl="0">
              <a:lnSpc>
                <a:spcPct val="107000"/>
              </a:lnSpc>
              <a:spcAft>
                <a:spcPts val="800"/>
              </a:spcAft>
              <a:buSzPts val="1000"/>
              <a:buFont typeface="Symbol" panose="05050102010706020507" pitchFamily="18" charset="2"/>
              <a:buChar char=""/>
              <a:tabLst>
                <a:tab pos="457200" algn="l"/>
              </a:tabLst>
            </a:pPr>
            <a:r>
              <a:rPr lang="en-US" sz="2000" b="1" kern="0" dirty="0">
                <a:effectLst/>
                <a:latin typeface="Times New Roman" panose="02020603050405020304" pitchFamily="18" charset="0"/>
                <a:ea typeface="Times New Roman" panose="02020603050405020304" pitchFamily="18" charset="0"/>
                <a:cs typeface="Arial" panose="020B0604020202020204" pitchFamily="34" charset="0"/>
              </a:rPr>
              <a:t>Disadvantages:</a:t>
            </a:r>
            <a:r>
              <a:rPr lang="en-US" sz="2000" kern="0"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742950" marR="0" lvl="1" indent="-285750" algn="l" rtl="0">
              <a:lnSpc>
                <a:spcPct val="107000"/>
              </a:lnSpc>
              <a:spcAft>
                <a:spcPts val="800"/>
              </a:spcAft>
              <a:buSzPts val="1000"/>
              <a:buFont typeface="Courier New" panose="02070309020205020404" pitchFamily="49" charset="0"/>
              <a:buChar char="o"/>
              <a:tabLst>
                <a:tab pos="914400" algn="l"/>
              </a:tabLst>
            </a:pPr>
            <a:r>
              <a:rPr lang="en-US" sz="2000" b="1" kern="0" dirty="0">
                <a:effectLst/>
                <a:latin typeface="Times New Roman" panose="02020603050405020304" pitchFamily="18" charset="0"/>
                <a:ea typeface="Times New Roman" panose="02020603050405020304" pitchFamily="18" charset="0"/>
                <a:cs typeface="Times New Roman" panose="02020603050405020304" pitchFamily="18" charset="0"/>
              </a:rPr>
              <a:t>Oxygen Concentration Limitation:</a:t>
            </a:r>
            <a:r>
              <a:rPr lang="en-US" sz="2000" kern="0" dirty="0">
                <a:effectLst/>
                <a:latin typeface="Times New Roman" panose="02020603050405020304" pitchFamily="18" charset="0"/>
                <a:ea typeface="Times New Roman" panose="02020603050405020304" pitchFamily="18" charset="0"/>
                <a:cs typeface="Times New Roman" panose="02020603050405020304" pitchFamily="18" charset="0"/>
              </a:rPr>
              <a:t> To achieve oxygen concentrations higher than 85%, an oxygen hood must be placed inside the incubator.</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457200" marR="0" lvl="1" indent="0" algn="l" rtl="0">
              <a:lnSpc>
                <a:spcPct val="107000"/>
              </a:lnSpc>
              <a:spcAft>
                <a:spcPts val="800"/>
              </a:spcAft>
              <a:buSzPts val="1000"/>
              <a:buNone/>
              <a:tabLst>
                <a:tab pos="914400" algn="l"/>
              </a:tabLst>
            </a:pPr>
            <a:endParaRPr lang="en-US" sz="3200" kern="100" dirty="0">
              <a:effectLst/>
              <a:latin typeface="+mj-lt"/>
              <a:ea typeface="Aptos" panose="020B0004020202020204" pitchFamily="34" charset="0"/>
              <a:cs typeface="+mn-cs"/>
            </a:endParaRPr>
          </a:p>
          <a:p>
            <a:pPr algn="l" rtl="0"/>
            <a:endParaRPr lang="ar-IQ" sz="3600" dirty="0">
              <a:latin typeface="+mj-lt"/>
              <a:cs typeface="+mn-cs"/>
            </a:endParaRPr>
          </a:p>
        </p:txBody>
      </p:sp>
      <p:pic>
        <p:nvPicPr>
          <p:cNvPr id="5122" name="Picture 2" descr="‪Why do Babies Need Infant Incubators? - Heal Force Group‬‏">
            <a:extLst>
              <a:ext uri="{FF2B5EF4-FFF2-40B4-BE49-F238E27FC236}">
                <a16:creationId xmlns:a16="http://schemas.microsoft.com/office/drawing/2014/main" id="{0140E83B-E9FB-705F-01B9-280ED421C3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66422" y="0"/>
            <a:ext cx="2693773" cy="3469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5038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2F7D229-D16C-7CC3-535C-F0FD8484C486}"/>
              </a:ext>
            </a:extLst>
          </p:cNvPr>
          <p:cNvSpPr>
            <a:spLocks noGrp="1"/>
          </p:cNvSpPr>
          <p:nvPr>
            <p:ph type="title"/>
          </p:nvPr>
        </p:nvSpPr>
        <p:spPr/>
        <p:txBody>
          <a:bodyPr/>
          <a:lstStyle/>
          <a:p>
            <a:pPr algn="l" rtl="0"/>
            <a:r>
              <a:rPr lang="en-US" sz="4800" dirty="0">
                <a:latin typeface="+mj-lt"/>
                <a:cs typeface="+mn-cs"/>
              </a:rPr>
              <a:t>Equipment</a:t>
            </a:r>
            <a:endParaRPr lang="ar-IQ" sz="4800" dirty="0">
              <a:latin typeface="+mj-lt"/>
              <a:cs typeface="+mn-cs"/>
            </a:endParaRPr>
          </a:p>
        </p:txBody>
      </p:sp>
      <p:sp>
        <p:nvSpPr>
          <p:cNvPr id="3" name="عنصر نائب للمحتوى 2">
            <a:extLst>
              <a:ext uri="{FF2B5EF4-FFF2-40B4-BE49-F238E27FC236}">
                <a16:creationId xmlns:a16="http://schemas.microsoft.com/office/drawing/2014/main" id="{19F49338-31EE-A7FA-59A0-510F08633101}"/>
              </a:ext>
            </a:extLst>
          </p:cNvPr>
          <p:cNvSpPr>
            <a:spLocks noGrp="1"/>
          </p:cNvSpPr>
          <p:nvPr>
            <p:ph idx="1"/>
          </p:nvPr>
        </p:nvSpPr>
        <p:spPr>
          <a:xfrm>
            <a:off x="838200" y="1825625"/>
            <a:ext cx="10515600" cy="4351338"/>
          </a:xfrm>
        </p:spPr>
        <p:txBody>
          <a:bodyPr>
            <a:normAutofit fontScale="77500" lnSpcReduction="20000"/>
          </a:bodyPr>
          <a:lstStyle/>
          <a:p>
            <a:pPr marL="0" indent="0" algn="l" rtl="0">
              <a:lnSpc>
                <a:spcPct val="107000"/>
              </a:lnSpc>
              <a:buSzPts val="1000"/>
              <a:buNone/>
              <a:tabLst>
                <a:tab pos="457200" algn="l"/>
              </a:tabLst>
            </a:pPr>
            <a:r>
              <a:rPr lang="en-US" sz="4500" dirty="0"/>
              <a:t>. O2 source (cylinder or central piping system).</a:t>
            </a:r>
          </a:p>
          <a:p>
            <a:pPr marL="0" indent="0" algn="l" rtl="0">
              <a:lnSpc>
                <a:spcPct val="107000"/>
              </a:lnSpc>
              <a:buSzPts val="1000"/>
              <a:buNone/>
              <a:tabLst>
                <a:tab pos="457200" algn="l"/>
              </a:tabLst>
            </a:pPr>
            <a:r>
              <a:rPr lang="en-US" sz="4500" dirty="0"/>
              <a:t>· Delivery equipment.</a:t>
            </a:r>
          </a:p>
          <a:p>
            <a:pPr marL="0" indent="0" algn="l" rtl="0">
              <a:lnSpc>
                <a:spcPct val="107000"/>
              </a:lnSpc>
              <a:buSzPts val="1000"/>
              <a:buNone/>
              <a:tabLst>
                <a:tab pos="457200" algn="l"/>
              </a:tabLst>
            </a:pPr>
            <a:r>
              <a:rPr lang="en-US" sz="4500" dirty="0"/>
              <a:t>· Oxygen flowmeter.</a:t>
            </a:r>
          </a:p>
          <a:p>
            <a:pPr marL="0" indent="0" algn="l" rtl="0">
              <a:lnSpc>
                <a:spcPct val="107000"/>
              </a:lnSpc>
              <a:buSzPts val="1000"/>
              <a:buNone/>
              <a:tabLst>
                <a:tab pos="457200" algn="l"/>
              </a:tabLst>
            </a:pPr>
            <a:r>
              <a:rPr lang="en-US" sz="4500" dirty="0"/>
              <a:t>· Oxygen tubing.</a:t>
            </a:r>
          </a:p>
          <a:p>
            <a:pPr marL="0" indent="0" algn="l" rtl="0">
              <a:lnSpc>
                <a:spcPct val="107000"/>
              </a:lnSpc>
              <a:buSzPts val="1000"/>
              <a:buNone/>
              <a:tabLst>
                <a:tab pos="457200" algn="l"/>
              </a:tabLst>
            </a:pPr>
            <a:r>
              <a:rPr lang="en-US" sz="4500" dirty="0"/>
              <a:t>· Humidification attachment.</a:t>
            </a:r>
          </a:p>
          <a:p>
            <a:pPr marL="0" indent="0" algn="l" rtl="0">
              <a:lnSpc>
                <a:spcPct val="107000"/>
              </a:lnSpc>
              <a:buSzPts val="1000"/>
              <a:buNone/>
              <a:tabLst>
                <a:tab pos="457200" algn="l"/>
              </a:tabLst>
            </a:pPr>
            <a:r>
              <a:rPr lang="en-US" sz="4500" dirty="0"/>
              <a:t>· Disposable gloves.</a:t>
            </a:r>
          </a:p>
          <a:p>
            <a:pPr marL="0" indent="0" algn="l" rtl="0">
              <a:lnSpc>
                <a:spcPct val="107000"/>
              </a:lnSpc>
              <a:buSzPts val="1000"/>
              <a:buNone/>
              <a:tabLst>
                <a:tab pos="457200" algn="l"/>
              </a:tabLst>
            </a:pPr>
            <a:r>
              <a:rPr lang="en-US" sz="4500" dirty="0"/>
              <a:t>· Water soluble lubricant (for catheter insertion)</a:t>
            </a:r>
          </a:p>
          <a:p>
            <a:pPr marL="0" indent="0" algn="l" rtl="0">
              <a:lnSpc>
                <a:spcPct val="107000"/>
              </a:lnSpc>
              <a:buSzPts val="1000"/>
              <a:buNone/>
              <a:tabLst>
                <a:tab pos="457200" algn="l"/>
              </a:tabLst>
            </a:pPr>
            <a:endParaRPr lang="ar-IQ" sz="3200" dirty="0">
              <a:latin typeface="+mj-lt"/>
              <a:cs typeface="+mn-cs"/>
            </a:endParaRPr>
          </a:p>
        </p:txBody>
      </p:sp>
      <p:sp>
        <p:nvSpPr>
          <p:cNvPr id="4" name="AutoShape 6">
            <a:extLst>
              <a:ext uri="{FF2B5EF4-FFF2-40B4-BE49-F238E27FC236}">
                <a16:creationId xmlns:a16="http://schemas.microsoft.com/office/drawing/2014/main" id="{295FA0E1-17CE-1A81-D58F-67E8ED227817}"/>
              </a:ext>
            </a:extLst>
          </p:cNvPr>
          <p:cNvSpPr>
            <a:spLocks noChangeAspect="1" noChangeArrowheads="1"/>
          </p:cNvSpPr>
          <p:nvPr/>
        </p:nvSpPr>
        <p:spPr bwMode="auto">
          <a:xfrm>
            <a:off x="5943599" y="3276599"/>
            <a:ext cx="1733107" cy="173310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ar-IQ"/>
          </a:p>
        </p:txBody>
      </p:sp>
      <p:sp>
        <p:nvSpPr>
          <p:cNvPr id="5" name="AutoShape 8">
            <a:extLst>
              <a:ext uri="{FF2B5EF4-FFF2-40B4-BE49-F238E27FC236}">
                <a16:creationId xmlns:a16="http://schemas.microsoft.com/office/drawing/2014/main" id="{F3FB8FA6-8198-8A91-A346-F49208EBDEC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ar-IQ"/>
          </a:p>
        </p:txBody>
      </p:sp>
      <p:pic>
        <p:nvPicPr>
          <p:cNvPr id="6158" name="Picture 14">
            <a:extLst>
              <a:ext uri="{FF2B5EF4-FFF2-40B4-BE49-F238E27FC236}">
                <a16:creationId xmlns:a16="http://schemas.microsoft.com/office/drawing/2014/main" id="{CD6711C6-08D0-BD51-350E-9478C94226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73400" y="0"/>
            <a:ext cx="2218599" cy="2471351"/>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a:extLst>
              <a:ext uri="{FF2B5EF4-FFF2-40B4-BE49-F238E27FC236}">
                <a16:creationId xmlns:a16="http://schemas.microsoft.com/office/drawing/2014/main" id="{CA28D8E7-F768-1D5F-334D-5B1913632A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82200" y="2913321"/>
            <a:ext cx="2209800" cy="2209800"/>
          </a:xfrm>
          <a:prstGeom prst="rect">
            <a:avLst/>
          </a:prstGeom>
          <a:noFill/>
          <a:extLst>
            <a:ext uri="{909E8E84-426E-40DD-AFC4-6F175D3DCCD1}">
              <a14:hiddenFill xmlns:a14="http://schemas.microsoft.com/office/drawing/2010/main">
                <a:solidFill>
                  <a:srgbClr val="FFFFFF"/>
                </a:solidFill>
              </a14:hiddenFill>
            </a:ext>
          </a:extLst>
        </p:spPr>
      </p:pic>
      <p:pic>
        <p:nvPicPr>
          <p:cNvPr id="6162" name="Picture 18" descr="‪Flowmeter w/ Humidifier, Cage Mounted, Male DISS Fitting - Vet Supplies‬‏">
            <a:extLst>
              <a:ext uri="{FF2B5EF4-FFF2-40B4-BE49-F238E27FC236}">
                <a16:creationId xmlns:a16="http://schemas.microsoft.com/office/drawing/2014/main" id="{B415D5CB-2755-A460-57A9-FE412799EF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49345" y="5009706"/>
            <a:ext cx="1842655" cy="1842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0290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8BA0DA3-9AD0-BFEE-A981-6E0731117B0B}"/>
              </a:ext>
            </a:extLst>
          </p:cNvPr>
          <p:cNvSpPr>
            <a:spLocks noGrp="1"/>
          </p:cNvSpPr>
          <p:nvPr>
            <p:ph type="title"/>
          </p:nvPr>
        </p:nvSpPr>
        <p:spPr/>
        <p:txBody>
          <a:bodyPr/>
          <a:lstStyle/>
          <a:p>
            <a:pPr algn="l" rtl="0"/>
            <a:r>
              <a:rPr lang="en-US" sz="4800" dirty="0">
                <a:latin typeface="+mj-lt"/>
                <a:cs typeface="+mn-cs"/>
              </a:rPr>
              <a:t>Humidification</a:t>
            </a:r>
            <a:endParaRPr lang="ar-IQ" sz="4800" dirty="0">
              <a:latin typeface="+mj-lt"/>
              <a:cs typeface="+mn-cs"/>
            </a:endParaRPr>
          </a:p>
        </p:txBody>
      </p:sp>
      <p:sp>
        <p:nvSpPr>
          <p:cNvPr id="3" name="عنصر نائب للمحتوى 2">
            <a:extLst>
              <a:ext uri="{FF2B5EF4-FFF2-40B4-BE49-F238E27FC236}">
                <a16:creationId xmlns:a16="http://schemas.microsoft.com/office/drawing/2014/main" id="{7471BB5D-5CB0-4895-EB5D-87941B8D750F}"/>
              </a:ext>
            </a:extLst>
          </p:cNvPr>
          <p:cNvSpPr>
            <a:spLocks noGrp="1"/>
          </p:cNvSpPr>
          <p:nvPr>
            <p:ph idx="1"/>
          </p:nvPr>
        </p:nvSpPr>
        <p:spPr/>
        <p:txBody>
          <a:bodyPr/>
          <a:lstStyle/>
          <a:p>
            <a:pPr algn="l" rtl="0"/>
            <a:r>
              <a:rPr lang="en-US" sz="3200" b="1" dirty="0">
                <a:latin typeface="+mj-lt"/>
                <a:cs typeface="+mn-cs"/>
              </a:rPr>
              <a:t>Purpose of Humidification:</a:t>
            </a:r>
            <a:endParaRPr lang="en-US" sz="3200" dirty="0">
              <a:latin typeface="+mj-lt"/>
              <a:cs typeface="+mn-cs"/>
            </a:endParaRPr>
          </a:p>
          <a:p>
            <a:pPr algn="l" rtl="0">
              <a:buFont typeface="Arial" panose="020B0604020202020204" pitchFamily="34" charset="0"/>
              <a:buChar char="•"/>
            </a:pPr>
            <a:r>
              <a:rPr lang="en-US" sz="3200" dirty="0">
                <a:latin typeface="+mj-lt"/>
                <a:cs typeface="+mn-cs"/>
              </a:rPr>
              <a:t>Prevents drying of respiratory mucosa.</a:t>
            </a:r>
          </a:p>
          <a:p>
            <a:pPr algn="l" rtl="0">
              <a:buFont typeface="Arial" panose="020B0604020202020204" pitchFamily="34" charset="0"/>
              <a:buChar char="•"/>
            </a:pPr>
            <a:r>
              <a:rPr lang="en-US" sz="3200" dirty="0">
                <a:latin typeface="+mj-lt"/>
                <a:cs typeface="+mn-cs"/>
              </a:rPr>
              <a:t>Loosens secretions.</a:t>
            </a:r>
          </a:p>
          <a:p>
            <a:pPr algn="l" rtl="0">
              <a:buFont typeface="Arial" panose="020B0604020202020204" pitchFamily="34" charset="0"/>
              <a:buChar char="•"/>
            </a:pPr>
            <a:r>
              <a:rPr lang="en-US" sz="3200" dirty="0">
                <a:latin typeface="+mj-lt"/>
                <a:cs typeface="+mn-cs"/>
              </a:rPr>
              <a:t>Prevents dehydration of mucous membranes.</a:t>
            </a:r>
          </a:p>
          <a:p>
            <a:pPr algn="l" rtl="0"/>
            <a:endParaRPr lang="ar-IQ" sz="3200" dirty="0">
              <a:latin typeface="+mj-lt"/>
              <a:cs typeface="+mn-cs"/>
            </a:endParaRPr>
          </a:p>
        </p:txBody>
      </p:sp>
    </p:spTree>
    <p:extLst>
      <p:ext uri="{BB962C8B-B14F-4D97-AF65-F5344CB8AC3E}">
        <p14:creationId xmlns:p14="http://schemas.microsoft.com/office/powerpoint/2010/main" val="4020360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D150C69-DAAA-D028-B8F4-62E1C0663620}"/>
              </a:ext>
            </a:extLst>
          </p:cNvPr>
          <p:cNvSpPr>
            <a:spLocks noGrp="1"/>
          </p:cNvSpPr>
          <p:nvPr>
            <p:ph type="title"/>
          </p:nvPr>
        </p:nvSpPr>
        <p:spPr/>
        <p:txBody>
          <a:bodyPr/>
          <a:lstStyle/>
          <a:p>
            <a:pPr algn="l" rtl="0"/>
            <a:r>
              <a:rPr lang="en-US" sz="4800" dirty="0">
                <a:latin typeface="+mj-lt"/>
                <a:cs typeface="+mn-cs"/>
              </a:rPr>
              <a:t>Procedure for Oxygen Therapy</a:t>
            </a:r>
            <a:endParaRPr lang="ar-IQ" sz="4800" dirty="0">
              <a:latin typeface="+mj-lt"/>
              <a:cs typeface="+mn-cs"/>
            </a:endParaRPr>
          </a:p>
        </p:txBody>
      </p:sp>
      <p:sp>
        <p:nvSpPr>
          <p:cNvPr id="3" name="عنصر نائب للمحتوى 2">
            <a:extLst>
              <a:ext uri="{FF2B5EF4-FFF2-40B4-BE49-F238E27FC236}">
                <a16:creationId xmlns:a16="http://schemas.microsoft.com/office/drawing/2014/main" id="{FBD88F3D-5CFA-9532-A90E-481E250702E9}"/>
              </a:ext>
            </a:extLst>
          </p:cNvPr>
          <p:cNvSpPr>
            <a:spLocks noGrp="1"/>
          </p:cNvSpPr>
          <p:nvPr>
            <p:ph idx="1"/>
          </p:nvPr>
        </p:nvSpPr>
        <p:spPr/>
        <p:txBody>
          <a:bodyPr>
            <a:normAutofit fontScale="92500" lnSpcReduction="10000"/>
          </a:bodyPr>
          <a:lstStyle/>
          <a:p>
            <a:pPr marL="342900" marR="0" lvl="0" indent="-342900" algn="l" rtl="0">
              <a:lnSpc>
                <a:spcPct val="107000"/>
              </a:lnSpc>
              <a:spcAft>
                <a:spcPts val="800"/>
              </a:spcAft>
              <a:buFont typeface="+mj-lt"/>
              <a:buAutoNum type="arabicPeriod"/>
              <a:tabLst>
                <a:tab pos="457200" algn="l"/>
              </a:tabLst>
            </a:pPr>
            <a:r>
              <a:rPr lang="en-US" kern="0" dirty="0">
                <a:effectLst/>
                <a:latin typeface="+mj-lt"/>
                <a:ea typeface="Times New Roman" panose="02020603050405020304" pitchFamily="18" charset="0"/>
                <a:cs typeface="+mn-cs"/>
              </a:rPr>
              <a:t>Perform hand hygiene.</a:t>
            </a:r>
            <a:endParaRPr lang="en-US" sz="2400" kern="100" dirty="0">
              <a:effectLst/>
              <a:latin typeface="+mj-lt"/>
              <a:ea typeface="Aptos" panose="020B0004020202020204" pitchFamily="34" charset="0"/>
              <a:cs typeface="+mn-cs"/>
            </a:endParaRPr>
          </a:p>
          <a:p>
            <a:pPr marL="342900" marR="0" lvl="0" indent="-342900" algn="l" rtl="0">
              <a:lnSpc>
                <a:spcPct val="107000"/>
              </a:lnSpc>
              <a:spcAft>
                <a:spcPts val="800"/>
              </a:spcAft>
              <a:buFont typeface="+mj-lt"/>
              <a:buAutoNum type="arabicPeriod"/>
              <a:tabLst>
                <a:tab pos="457200" algn="l"/>
              </a:tabLst>
            </a:pPr>
            <a:r>
              <a:rPr lang="en-US" kern="0" dirty="0">
                <a:effectLst/>
                <a:latin typeface="+mj-lt"/>
                <a:ea typeface="Times New Roman" panose="02020603050405020304" pitchFamily="18" charset="0"/>
                <a:cs typeface="+mn-cs"/>
              </a:rPr>
              <a:t>Select appropriate equipment.</a:t>
            </a:r>
            <a:endParaRPr lang="en-US" sz="2400" kern="100" dirty="0">
              <a:effectLst/>
              <a:latin typeface="+mj-lt"/>
              <a:ea typeface="Aptos" panose="020B0004020202020204" pitchFamily="34" charset="0"/>
              <a:cs typeface="+mn-cs"/>
            </a:endParaRPr>
          </a:p>
          <a:p>
            <a:pPr marL="342900" marR="0" lvl="0" indent="-342900" algn="l" rtl="0">
              <a:lnSpc>
                <a:spcPct val="107000"/>
              </a:lnSpc>
              <a:spcAft>
                <a:spcPts val="800"/>
              </a:spcAft>
              <a:buFont typeface="+mj-lt"/>
              <a:buAutoNum type="arabicPeriod"/>
              <a:tabLst>
                <a:tab pos="457200" algn="l"/>
              </a:tabLst>
            </a:pPr>
            <a:r>
              <a:rPr lang="en-US" kern="0" dirty="0">
                <a:effectLst/>
                <a:latin typeface="+mj-lt"/>
                <a:ea typeface="Times New Roman" panose="02020603050405020304" pitchFamily="18" charset="0"/>
                <a:cs typeface="+mn-cs"/>
              </a:rPr>
              <a:t>Ensure proper humidification to prevent dryness.</a:t>
            </a:r>
            <a:endParaRPr lang="en-US" sz="2400" kern="100" dirty="0">
              <a:effectLst/>
              <a:latin typeface="+mj-lt"/>
              <a:ea typeface="Aptos" panose="020B0004020202020204" pitchFamily="34" charset="0"/>
              <a:cs typeface="+mn-cs"/>
            </a:endParaRPr>
          </a:p>
          <a:p>
            <a:pPr marL="342900" marR="0" lvl="0" indent="-342900" algn="l" rtl="0">
              <a:lnSpc>
                <a:spcPct val="107000"/>
              </a:lnSpc>
              <a:spcAft>
                <a:spcPts val="800"/>
              </a:spcAft>
              <a:buFont typeface="+mj-lt"/>
              <a:buAutoNum type="arabicPeriod"/>
              <a:tabLst>
                <a:tab pos="457200" algn="l"/>
              </a:tabLst>
            </a:pPr>
            <a:r>
              <a:rPr lang="en-US" kern="0" dirty="0">
                <a:effectLst/>
                <a:latin typeface="+mj-lt"/>
                <a:ea typeface="Times New Roman" panose="02020603050405020304" pitchFamily="18" charset="0"/>
                <a:cs typeface="+mn-cs"/>
              </a:rPr>
              <a:t>Use sterile water for bacterial prevention.</a:t>
            </a:r>
            <a:endParaRPr lang="en-US" sz="2400" kern="100" dirty="0">
              <a:effectLst/>
              <a:latin typeface="+mj-lt"/>
              <a:ea typeface="Aptos" panose="020B0004020202020204" pitchFamily="34" charset="0"/>
              <a:cs typeface="+mn-cs"/>
            </a:endParaRPr>
          </a:p>
          <a:p>
            <a:pPr marL="342900" marR="0" lvl="0" indent="-342900" algn="l" rtl="0">
              <a:lnSpc>
                <a:spcPct val="107000"/>
              </a:lnSpc>
              <a:spcAft>
                <a:spcPts val="800"/>
              </a:spcAft>
              <a:buFont typeface="+mj-lt"/>
              <a:buAutoNum type="arabicPeriod"/>
              <a:tabLst>
                <a:tab pos="457200" algn="l"/>
              </a:tabLst>
            </a:pPr>
            <a:r>
              <a:rPr lang="en-US" kern="0" dirty="0">
                <a:effectLst/>
                <a:latin typeface="+mj-lt"/>
                <a:ea typeface="Times New Roman" panose="02020603050405020304" pitchFamily="18" charset="0"/>
                <a:cs typeface="+mn-cs"/>
              </a:rPr>
              <a:t>Attach and position the delivery device (e.g., cannula, mask, hood).</a:t>
            </a:r>
            <a:endParaRPr lang="en-US" sz="2400" kern="100" dirty="0">
              <a:effectLst/>
              <a:latin typeface="+mj-lt"/>
              <a:ea typeface="Aptos" panose="020B0004020202020204" pitchFamily="34" charset="0"/>
              <a:cs typeface="+mn-cs"/>
            </a:endParaRPr>
          </a:p>
          <a:p>
            <a:pPr marL="342900" marR="0" lvl="0" indent="-342900" algn="l" rtl="0">
              <a:lnSpc>
                <a:spcPct val="107000"/>
              </a:lnSpc>
              <a:spcAft>
                <a:spcPts val="800"/>
              </a:spcAft>
              <a:buFont typeface="+mj-lt"/>
              <a:buAutoNum type="arabicPeriod"/>
              <a:tabLst>
                <a:tab pos="457200" algn="l"/>
              </a:tabLst>
            </a:pPr>
            <a:r>
              <a:rPr lang="en-US" kern="0" dirty="0">
                <a:effectLst/>
                <a:latin typeface="+mj-lt"/>
                <a:ea typeface="Times New Roman" panose="02020603050405020304" pitchFamily="18" charset="0"/>
                <a:cs typeface="+mn-cs"/>
              </a:rPr>
              <a:t>Monitor the oxygen flow and adjust as prescribed.</a:t>
            </a:r>
            <a:endParaRPr lang="en-US" sz="2400" kern="100" dirty="0">
              <a:effectLst/>
              <a:latin typeface="+mj-lt"/>
              <a:ea typeface="Aptos" panose="020B0004020202020204" pitchFamily="34" charset="0"/>
              <a:cs typeface="+mn-cs"/>
            </a:endParaRPr>
          </a:p>
          <a:p>
            <a:pPr marL="342900" marR="0" lvl="0" indent="-342900" algn="l" rtl="0">
              <a:lnSpc>
                <a:spcPct val="107000"/>
              </a:lnSpc>
              <a:spcAft>
                <a:spcPts val="800"/>
              </a:spcAft>
              <a:buFont typeface="+mj-lt"/>
              <a:buAutoNum type="arabicPeriod"/>
              <a:tabLst>
                <a:tab pos="457200" algn="l"/>
              </a:tabLst>
            </a:pPr>
            <a:r>
              <a:rPr lang="en-US" kern="0" dirty="0">
                <a:effectLst/>
                <a:latin typeface="+mj-lt"/>
                <a:ea typeface="Times New Roman" panose="02020603050405020304" pitchFamily="18" charset="0"/>
                <a:cs typeface="+mn-cs"/>
              </a:rPr>
              <a:t>Evaluate the child’s response through </a:t>
            </a:r>
            <a:r>
              <a:rPr lang="en-US" kern="0" dirty="0" err="1">
                <a:effectLst/>
                <a:latin typeface="+mj-lt"/>
                <a:ea typeface="Times New Roman" panose="02020603050405020304" pitchFamily="18" charset="0"/>
                <a:cs typeface="+mn-cs"/>
              </a:rPr>
              <a:t>SaO</a:t>
            </a:r>
            <a:r>
              <a:rPr lang="en-US" kern="0" dirty="0">
                <a:effectLst/>
                <a:latin typeface="+mj-lt"/>
                <a:ea typeface="Times New Roman" panose="02020603050405020304" pitchFamily="18" charset="0"/>
                <a:cs typeface="+mn-cs"/>
              </a:rPr>
              <a:t>₂ levels or arterial blood gases.</a:t>
            </a:r>
            <a:endParaRPr lang="en-US" sz="2400" kern="100" dirty="0">
              <a:effectLst/>
              <a:latin typeface="+mj-lt"/>
              <a:ea typeface="Aptos" panose="020B0004020202020204" pitchFamily="34" charset="0"/>
              <a:cs typeface="+mn-cs"/>
            </a:endParaRPr>
          </a:p>
          <a:p>
            <a:pPr algn="l" rtl="0"/>
            <a:endParaRPr lang="ar-IQ" sz="2000" dirty="0">
              <a:latin typeface="+mj-lt"/>
              <a:cs typeface="+mn-cs"/>
            </a:endParaRPr>
          </a:p>
        </p:txBody>
      </p:sp>
    </p:spTree>
    <p:extLst>
      <p:ext uri="{BB962C8B-B14F-4D97-AF65-F5344CB8AC3E}">
        <p14:creationId xmlns:p14="http://schemas.microsoft.com/office/powerpoint/2010/main" val="1092846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950EA11D-879B-DED7-0822-A38265D8BBEA}"/>
              </a:ext>
            </a:extLst>
          </p:cNvPr>
          <p:cNvSpPr>
            <a:spLocks noGrp="1"/>
          </p:cNvSpPr>
          <p:nvPr>
            <p:ph type="title"/>
          </p:nvPr>
        </p:nvSpPr>
        <p:spPr/>
        <p:txBody>
          <a:bodyPr/>
          <a:lstStyle/>
          <a:p>
            <a:pPr algn="l" rtl="0"/>
            <a:r>
              <a:rPr lang="en-US" sz="4800" dirty="0">
                <a:latin typeface="+mj-lt"/>
                <a:cs typeface="+mn-cs"/>
              </a:rPr>
              <a:t>Technique Notes</a:t>
            </a:r>
            <a:endParaRPr lang="ar-IQ" sz="4800" dirty="0">
              <a:latin typeface="+mj-lt"/>
              <a:cs typeface="+mn-cs"/>
            </a:endParaRPr>
          </a:p>
        </p:txBody>
      </p:sp>
      <p:sp>
        <p:nvSpPr>
          <p:cNvPr id="3" name="عنصر نائب للمحتوى 2">
            <a:extLst>
              <a:ext uri="{FF2B5EF4-FFF2-40B4-BE49-F238E27FC236}">
                <a16:creationId xmlns:a16="http://schemas.microsoft.com/office/drawing/2014/main" id="{17C38EBB-B6FD-32B0-2FE4-BC63F61CE9E9}"/>
              </a:ext>
            </a:extLst>
          </p:cNvPr>
          <p:cNvSpPr>
            <a:spLocks noGrp="1"/>
          </p:cNvSpPr>
          <p:nvPr>
            <p:ph idx="1"/>
          </p:nvPr>
        </p:nvSpPr>
        <p:spPr/>
        <p:txBody>
          <a:bodyPr/>
          <a:lstStyle/>
          <a:p>
            <a:pPr algn="l" rtl="0"/>
            <a:r>
              <a:rPr lang="en-US" sz="3200" b="1" dirty="0">
                <a:latin typeface="+mj-lt"/>
                <a:cs typeface="+mn-cs"/>
              </a:rPr>
              <a:t>Specific Considerations:</a:t>
            </a:r>
            <a:endParaRPr lang="en-US" sz="3200" dirty="0">
              <a:latin typeface="+mj-lt"/>
              <a:cs typeface="+mn-cs"/>
            </a:endParaRPr>
          </a:p>
          <a:p>
            <a:pPr algn="l" rtl="0">
              <a:buFont typeface="Arial" panose="020B0604020202020204" pitchFamily="34" charset="0"/>
              <a:buChar char="•"/>
            </a:pPr>
            <a:r>
              <a:rPr lang="en-US" sz="3200" dirty="0">
                <a:latin typeface="+mj-lt"/>
                <a:cs typeface="+mn-cs"/>
              </a:rPr>
              <a:t>For nasal cannula: Insert prongs properly and encourage nasal breathing.</a:t>
            </a:r>
          </a:p>
          <a:p>
            <a:pPr algn="l" rtl="0">
              <a:buFont typeface="Arial" panose="020B0604020202020204" pitchFamily="34" charset="0"/>
              <a:buChar char="•"/>
            </a:pPr>
            <a:r>
              <a:rPr lang="en-US" sz="3200" dirty="0">
                <a:latin typeface="+mj-lt"/>
                <a:cs typeface="+mn-cs"/>
              </a:rPr>
              <a:t>For mask: Secure straps snugly.</a:t>
            </a:r>
          </a:p>
          <a:p>
            <a:pPr algn="l" rtl="0">
              <a:buFont typeface="Arial" panose="020B0604020202020204" pitchFamily="34" charset="0"/>
              <a:buChar char="•"/>
            </a:pPr>
            <a:r>
              <a:rPr lang="en-US" sz="3200" dirty="0">
                <a:latin typeface="+mj-lt"/>
                <a:cs typeface="+mn-cs"/>
              </a:rPr>
              <a:t>For hood: Ensure comfort and avoid resting hood on the neck.</a:t>
            </a:r>
          </a:p>
          <a:p>
            <a:pPr algn="l" rtl="0"/>
            <a:endParaRPr lang="ar-IQ" sz="3200" dirty="0">
              <a:latin typeface="+mj-lt"/>
              <a:cs typeface="+mn-cs"/>
            </a:endParaRPr>
          </a:p>
        </p:txBody>
      </p:sp>
    </p:spTree>
    <p:extLst>
      <p:ext uri="{BB962C8B-B14F-4D97-AF65-F5344CB8AC3E}">
        <p14:creationId xmlns:p14="http://schemas.microsoft.com/office/powerpoint/2010/main" val="669237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1A105FF-A113-632F-50E6-C7517396916D}"/>
              </a:ext>
            </a:extLst>
          </p:cNvPr>
          <p:cNvSpPr>
            <a:spLocks noGrp="1"/>
          </p:cNvSpPr>
          <p:nvPr>
            <p:ph type="title"/>
          </p:nvPr>
        </p:nvSpPr>
        <p:spPr/>
        <p:txBody>
          <a:bodyPr/>
          <a:lstStyle/>
          <a:p>
            <a:pPr algn="l" rtl="0"/>
            <a:r>
              <a:rPr lang="en-US" sz="4800" dirty="0">
                <a:latin typeface="+mj-lt"/>
                <a:cs typeface="+mn-cs"/>
              </a:rPr>
              <a:t>Evaluation of Response</a:t>
            </a:r>
            <a:endParaRPr lang="ar-IQ" sz="4800" dirty="0">
              <a:latin typeface="+mj-lt"/>
              <a:cs typeface="+mn-cs"/>
            </a:endParaRPr>
          </a:p>
        </p:txBody>
      </p:sp>
      <p:sp>
        <p:nvSpPr>
          <p:cNvPr id="3" name="عنصر نائب للمحتوى 2">
            <a:extLst>
              <a:ext uri="{FF2B5EF4-FFF2-40B4-BE49-F238E27FC236}">
                <a16:creationId xmlns:a16="http://schemas.microsoft.com/office/drawing/2014/main" id="{822835D9-7512-D59D-B711-A55E02732D2F}"/>
              </a:ext>
            </a:extLst>
          </p:cNvPr>
          <p:cNvSpPr>
            <a:spLocks noGrp="1"/>
          </p:cNvSpPr>
          <p:nvPr>
            <p:ph idx="1"/>
          </p:nvPr>
        </p:nvSpPr>
        <p:spPr/>
        <p:txBody>
          <a:bodyPr>
            <a:normAutofit/>
          </a:bodyPr>
          <a:lstStyle/>
          <a:p>
            <a:pPr algn="l" rtl="0"/>
            <a:r>
              <a:rPr lang="en-US" sz="3200" b="1" dirty="0">
                <a:latin typeface="+mj-lt"/>
                <a:cs typeface="+mn-cs"/>
              </a:rPr>
              <a:t>Assess Effectiveness Through:</a:t>
            </a:r>
            <a:endParaRPr lang="en-US" sz="3200" dirty="0">
              <a:latin typeface="+mj-lt"/>
              <a:cs typeface="+mn-cs"/>
            </a:endParaRPr>
          </a:p>
          <a:p>
            <a:pPr algn="l" rtl="0">
              <a:buFont typeface="Arial" panose="020B0604020202020204" pitchFamily="34" charset="0"/>
              <a:buChar char="•"/>
            </a:pPr>
            <a:r>
              <a:rPr lang="en-US" sz="3200" b="1" dirty="0">
                <a:latin typeface="+mj-lt"/>
                <a:cs typeface="+mn-cs"/>
              </a:rPr>
              <a:t>Pulse Oximeter (SaO2):</a:t>
            </a:r>
            <a:r>
              <a:rPr lang="en-US" sz="3200" dirty="0">
                <a:latin typeface="+mj-lt"/>
                <a:cs typeface="+mn-cs"/>
              </a:rPr>
              <a:t> Target above 90%.</a:t>
            </a:r>
          </a:p>
          <a:p>
            <a:pPr algn="l" rtl="0">
              <a:buFont typeface="Arial" panose="020B0604020202020204" pitchFamily="34" charset="0"/>
              <a:buChar char="•"/>
            </a:pPr>
            <a:r>
              <a:rPr lang="en-US" sz="3200" b="1" dirty="0">
                <a:latin typeface="+mj-lt"/>
                <a:cs typeface="+mn-cs"/>
              </a:rPr>
              <a:t>Arterial Blood Gas (PaO2):</a:t>
            </a:r>
            <a:r>
              <a:rPr lang="en-US" sz="3200" dirty="0">
                <a:latin typeface="+mj-lt"/>
                <a:cs typeface="+mn-cs"/>
              </a:rPr>
              <a:t> Target above 90 mmHg.</a:t>
            </a:r>
          </a:p>
          <a:p>
            <a:pPr algn="l" rtl="0"/>
            <a:r>
              <a:rPr lang="en-US" sz="3200" b="1" dirty="0">
                <a:latin typeface="+mj-lt"/>
                <a:cs typeface="+mn-cs"/>
              </a:rPr>
              <a:t>Poor Response Indicators:</a:t>
            </a:r>
            <a:endParaRPr lang="en-US" sz="3200" dirty="0">
              <a:latin typeface="+mj-lt"/>
              <a:cs typeface="+mn-cs"/>
            </a:endParaRPr>
          </a:p>
          <a:p>
            <a:pPr algn="l" rtl="0">
              <a:buFont typeface="Arial" panose="020B0604020202020204" pitchFamily="34" charset="0"/>
              <a:buChar char="•"/>
            </a:pPr>
            <a:r>
              <a:rPr lang="en-US" sz="3200" dirty="0">
                <a:latin typeface="+mj-lt"/>
                <a:cs typeface="+mn-cs"/>
              </a:rPr>
              <a:t>SaO2 under 85%.</a:t>
            </a:r>
          </a:p>
          <a:p>
            <a:pPr algn="l" rtl="0">
              <a:buFont typeface="Arial" panose="020B0604020202020204" pitchFamily="34" charset="0"/>
              <a:buChar char="•"/>
            </a:pPr>
            <a:r>
              <a:rPr lang="en-US" sz="3200" dirty="0">
                <a:latin typeface="+mj-lt"/>
                <a:cs typeface="+mn-cs"/>
              </a:rPr>
              <a:t>PaO2 under 60 mmHg.</a:t>
            </a:r>
          </a:p>
          <a:p>
            <a:pPr algn="l" rtl="0"/>
            <a:endParaRPr lang="ar-IQ" sz="3200" dirty="0">
              <a:latin typeface="+mj-lt"/>
              <a:cs typeface="+mn-cs"/>
            </a:endParaRPr>
          </a:p>
        </p:txBody>
      </p:sp>
    </p:spTree>
    <p:extLst>
      <p:ext uri="{BB962C8B-B14F-4D97-AF65-F5344CB8AC3E}">
        <p14:creationId xmlns:p14="http://schemas.microsoft.com/office/powerpoint/2010/main" val="4004947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FDDB5E-0620-148E-8C85-099B8F9C17A5}"/>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صورة تحتوي على بناء, ستارة, أزرق, نافذة أو شباك&#10;&#10;تم إنشاء الوصف تلقائياً">
            <a:extLst>
              <a:ext uri="{FF2B5EF4-FFF2-40B4-BE49-F238E27FC236}">
                <a16:creationId xmlns:a16="http://schemas.microsoft.com/office/drawing/2014/main" id="{2C024F99-C238-DAA9-7066-9B340F746B78}"/>
              </a:ext>
            </a:extLst>
          </p:cNvPr>
          <p:cNvPicPr>
            <a:picLocks noChangeAspect="1"/>
          </p:cNvPicPr>
          <p:nvPr/>
        </p:nvPicPr>
        <p:blipFill>
          <a:blip r:embed="rId3">
            <a:alphaModFix amt="35000"/>
          </a:blip>
          <a:srcRect t="15730"/>
          <a:stretch/>
        </p:blipFill>
        <p:spPr>
          <a:xfrm>
            <a:off x="20" y="10"/>
            <a:ext cx="12191980" cy="6857990"/>
          </a:xfrm>
          <a:prstGeom prst="rect">
            <a:avLst/>
          </a:prstGeom>
        </p:spPr>
      </p:pic>
      <p:sp>
        <p:nvSpPr>
          <p:cNvPr id="2" name="عنوان 1">
            <a:extLst>
              <a:ext uri="{FF2B5EF4-FFF2-40B4-BE49-F238E27FC236}">
                <a16:creationId xmlns:a16="http://schemas.microsoft.com/office/drawing/2014/main" id="{26258AB9-1912-CC24-2E2F-E99E53CDA0AE}"/>
              </a:ext>
            </a:extLst>
          </p:cNvPr>
          <p:cNvSpPr>
            <a:spLocks noGrp="1"/>
          </p:cNvSpPr>
          <p:nvPr>
            <p:ph type="title"/>
          </p:nvPr>
        </p:nvSpPr>
        <p:spPr>
          <a:xfrm>
            <a:off x="838200" y="365125"/>
            <a:ext cx="10515600" cy="1325563"/>
          </a:xfrm>
        </p:spPr>
        <p:txBody>
          <a:bodyPr>
            <a:normAutofit/>
          </a:bodyPr>
          <a:lstStyle/>
          <a:p>
            <a:pPr algn="l" rtl="0"/>
            <a:r>
              <a:rPr lang="en-US" dirty="0">
                <a:solidFill>
                  <a:srgbClr val="FFFFFF"/>
                </a:solidFill>
                <a:latin typeface="+mj-lt"/>
                <a:cs typeface="+mn-cs"/>
              </a:rPr>
              <a:t>Complications</a:t>
            </a:r>
            <a:endParaRPr lang="ar-IQ" dirty="0">
              <a:solidFill>
                <a:srgbClr val="FFFFFF"/>
              </a:solidFill>
              <a:latin typeface="+mj-lt"/>
              <a:cs typeface="+mn-cs"/>
            </a:endParaRPr>
          </a:p>
        </p:txBody>
      </p:sp>
      <p:graphicFrame>
        <p:nvGraphicFramePr>
          <p:cNvPr id="5" name="عنصر نائب للمحتوى 2">
            <a:extLst>
              <a:ext uri="{FF2B5EF4-FFF2-40B4-BE49-F238E27FC236}">
                <a16:creationId xmlns:a16="http://schemas.microsoft.com/office/drawing/2014/main" id="{EAA399C0-5F9D-5F4E-A090-AC41116307D1}"/>
              </a:ext>
            </a:extLst>
          </p:cNvPr>
          <p:cNvGraphicFramePr>
            <a:graphicFrameLocks noGrp="1"/>
          </p:cNvGraphicFramePr>
          <p:nvPr>
            <p:ph idx="1"/>
            <p:extLst>
              <p:ext uri="{D42A27DB-BD31-4B8C-83A1-F6EECF244321}">
                <p14:modId xmlns:p14="http://schemas.microsoft.com/office/powerpoint/2010/main" val="149110479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000411843"/>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عنوان 1">
            <a:extLst>
              <a:ext uri="{FF2B5EF4-FFF2-40B4-BE49-F238E27FC236}">
                <a16:creationId xmlns:a16="http://schemas.microsoft.com/office/drawing/2014/main" id="{5C7F1F87-FC68-0D24-E952-1E8F37BDFB3F}"/>
              </a:ext>
            </a:extLst>
          </p:cNvPr>
          <p:cNvSpPr>
            <a:spLocks noGrp="1"/>
          </p:cNvSpPr>
          <p:nvPr>
            <p:ph type="title"/>
          </p:nvPr>
        </p:nvSpPr>
        <p:spPr>
          <a:xfrm>
            <a:off x="6590662" y="4267832"/>
            <a:ext cx="4805996" cy="1297115"/>
          </a:xfrm>
        </p:spPr>
        <p:txBody>
          <a:bodyPr vert="horz" lIns="91440" tIns="45720" rIns="91440" bIns="45720" rtlCol="0" anchor="t">
            <a:normAutofit/>
          </a:bodyPr>
          <a:lstStyle/>
          <a:p>
            <a:pPr algn="l" rtl="0"/>
            <a:r>
              <a:rPr lang="en-US" sz="4400" kern="1200" dirty="0">
                <a:solidFill>
                  <a:schemeClr val="tx2"/>
                </a:solidFill>
                <a:latin typeface="+mj-lt"/>
                <a:ea typeface="+mj-ea"/>
                <a:cs typeface="+mn-cs"/>
              </a:rPr>
              <a:t>THANK YOU </a:t>
            </a:r>
          </a:p>
        </p:txBody>
      </p:sp>
      <p:pic>
        <p:nvPicPr>
          <p:cNvPr id="6" name="Graphic 5" descr="مصافحة باليد">
            <a:extLst>
              <a:ext uri="{FF2B5EF4-FFF2-40B4-BE49-F238E27FC236}">
                <a16:creationId xmlns:a16="http://schemas.microsoft.com/office/drawing/2014/main" id="{8B3DB11B-1CF9-D29F-B9C5-20D0E3F08DC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3" name="Group 1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796958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266</TotalTime>
  <Words>943</Words>
  <Application>Microsoft Office PowerPoint</Application>
  <PresentationFormat>شاشة عريضة</PresentationFormat>
  <Paragraphs>128</Paragraphs>
  <Slides>18</Slides>
  <Notes>8</Notes>
  <HiddenSlides>0</HiddenSlides>
  <MMClips>0</MMClips>
  <ScaleCrop>false</ScaleCrop>
  <HeadingPairs>
    <vt:vector size="6" baseType="variant">
      <vt:variant>
        <vt:lpstr>الخطوط المستخدمة</vt:lpstr>
      </vt:variant>
      <vt:variant>
        <vt:i4>8</vt:i4>
      </vt:variant>
      <vt:variant>
        <vt:lpstr>نسق</vt:lpstr>
      </vt:variant>
      <vt:variant>
        <vt:i4>1</vt:i4>
      </vt:variant>
      <vt:variant>
        <vt:lpstr>عناوين الشرائح</vt:lpstr>
      </vt:variant>
      <vt:variant>
        <vt:i4>18</vt:i4>
      </vt:variant>
    </vt:vector>
  </HeadingPairs>
  <TitlesOfParts>
    <vt:vector size="27" baseType="lpstr">
      <vt:lpstr>Aptos</vt:lpstr>
      <vt:lpstr>Aptos Display</vt:lpstr>
      <vt:lpstr>Arial</vt:lpstr>
      <vt:lpstr>Courier New</vt:lpstr>
      <vt:lpstr>Symbol</vt:lpstr>
      <vt:lpstr>Times New Roman</vt:lpstr>
      <vt:lpstr>TimesNewRomanPS-BoldMT</vt:lpstr>
      <vt:lpstr>TimesNewRomanPSMT</vt:lpstr>
      <vt:lpstr>نسق Office</vt:lpstr>
      <vt:lpstr>Oxygen Therapy</vt:lpstr>
      <vt:lpstr>Learning Objectives</vt:lpstr>
      <vt:lpstr>Introduction</vt:lpstr>
      <vt:lpstr>Purposes</vt:lpstr>
      <vt:lpstr>Indications</vt:lpstr>
      <vt:lpstr>Types of Oxygen Therapy</vt:lpstr>
      <vt:lpstr>Methods</vt:lpstr>
      <vt:lpstr>Methods</vt:lpstr>
      <vt:lpstr>Methods</vt:lpstr>
      <vt:lpstr>Methods</vt:lpstr>
      <vt:lpstr>Methods</vt:lpstr>
      <vt:lpstr>Equipment</vt:lpstr>
      <vt:lpstr>Humidification</vt:lpstr>
      <vt:lpstr>Procedure for Oxygen Therapy</vt:lpstr>
      <vt:lpstr>Technique Notes</vt:lpstr>
      <vt:lpstr>Evaluation of Response</vt:lpstr>
      <vt:lpstr>Complications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green lanter</dc:creator>
  <cp:lastModifiedBy>green lanter</cp:lastModifiedBy>
  <cp:revision>7</cp:revision>
  <dcterms:created xsi:type="dcterms:W3CDTF">2024-12-01T17:56:14Z</dcterms:created>
  <dcterms:modified xsi:type="dcterms:W3CDTF">2024-12-03T19:06:02Z</dcterms:modified>
</cp:coreProperties>
</file>