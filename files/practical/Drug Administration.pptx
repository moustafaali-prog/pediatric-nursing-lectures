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9"/>
  </p:notesMasterIdLst>
  <p:sldIdLst>
    <p:sldId id="263" r:id="rId2"/>
    <p:sldId id="269" r:id="rId3"/>
    <p:sldId id="268" r:id="rId4"/>
    <p:sldId id="270" r:id="rId5"/>
    <p:sldId id="257" r:id="rId6"/>
    <p:sldId id="286" r:id="rId7"/>
    <p:sldId id="272" r:id="rId8"/>
    <p:sldId id="271" r:id="rId9"/>
    <p:sldId id="273" r:id="rId10"/>
    <p:sldId id="274" r:id="rId11"/>
    <p:sldId id="275" r:id="rId12"/>
    <p:sldId id="277" r:id="rId13"/>
    <p:sldId id="296" r:id="rId14"/>
    <p:sldId id="299" r:id="rId15"/>
    <p:sldId id="300" r:id="rId16"/>
    <p:sldId id="301" r:id="rId17"/>
    <p:sldId id="303" r:id="rId18"/>
    <p:sldId id="304" r:id="rId19"/>
    <p:sldId id="302" r:id="rId20"/>
    <p:sldId id="305" r:id="rId21"/>
    <p:sldId id="306" r:id="rId22"/>
    <p:sldId id="307" r:id="rId23"/>
    <p:sldId id="298" r:id="rId24"/>
    <p:sldId id="308" r:id="rId25"/>
    <p:sldId id="278" r:id="rId26"/>
    <p:sldId id="290" r:id="rId27"/>
    <p:sldId id="279" r:id="rId28"/>
    <p:sldId id="280" r:id="rId29"/>
    <p:sldId id="281" r:id="rId30"/>
    <p:sldId id="282" r:id="rId31"/>
    <p:sldId id="283" r:id="rId32"/>
    <p:sldId id="297" r:id="rId33"/>
    <p:sldId id="276" r:id="rId34"/>
    <p:sldId id="284" r:id="rId35"/>
    <p:sldId id="285" r:id="rId36"/>
    <p:sldId id="293" r:id="rId37"/>
    <p:sldId id="294" r:id="rId38"/>
    <p:sldId id="295" r:id="rId39"/>
    <p:sldId id="309" r:id="rId40"/>
    <p:sldId id="310" r:id="rId41"/>
    <p:sldId id="311" r:id="rId42"/>
    <p:sldId id="292" r:id="rId43"/>
    <p:sldId id="288" r:id="rId44"/>
    <p:sldId id="287" r:id="rId45"/>
    <p:sldId id="289" r:id="rId46"/>
    <p:sldId id="312" r:id="rId47"/>
    <p:sldId id="262" r:id="rId48"/>
  </p:sldIdLst>
  <p:sldSz cx="12192000" cy="6858000"/>
  <p:notesSz cx="6858000" cy="9144000"/>
  <p:defaultTextStyle>
    <a:defPPr>
      <a:defRPr lang="ar-IQ"/>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60" autoAdjust="0"/>
    <p:restoredTop sz="94660"/>
  </p:normalViewPr>
  <p:slideViewPr>
    <p:cSldViewPr snapToGrid="0">
      <p:cViewPr varScale="1">
        <p:scale>
          <a:sx n="55" d="100"/>
          <a:sy n="55" d="100"/>
        </p:scale>
        <p:origin x="48" y="47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IQ"/>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99120814-4C77-4C62-98CD-5B519C20E275}" type="datetimeFigureOut">
              <a:rPr lang="ar-IQ" smtClean="0"/>
              <a:t>19/08/1446</a:t>
            </a:fld>
            <a:endParaRPr lang="ar-IQ"/>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ar-IQ"/>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ar-IQ"/>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IQ"/>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00C30ABC-E94F-40E4-9594-22CE7A167979}" type="slidenum">
              <a:rPr lang="ar-IQ" smtClean="0"/>
              <a:t>‹#›</a:t>
            </a:fld>
            <a:endParaRPr lang="ar-IQ"/>
          </a:p>
        </p:txBody>
      </p:sp>
    </p:spTree>
    <p:extLst>
      <p:ext uri="{BB962C8B-B14F-4D97-AF65-F5344CB8AC3E}">
        <p14:creationId xmlns:p14="http://schemas.microsoft.com/office/powerpoint/2010/main" val="367115972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صر نائب لصورة الشريحة 1"/>
          <p:cNvSpPr>
            <a:spLocks noGrp="1" noRot="1" noChangeAspect="1"/>
          </p:cNvSpPr>
          <p:nvPr>
            <p:ph type="sldImg"/>
          </p:nvPr>
        </p:nvSpPr>
        <p:spPr/>
      </p:sp>
      <p:sp>
        <p:nvSpPr>
          <p:cNvPr id="3" name="عنصر نائب للملاحظات 2"/>
          <p:cNvSpPr>
            <a:spLocks noGrp="1"/>
          </p:cNvSpPr>
          <p:nvPr>
            <p:ph type="body" idx="1"/>
          </p:nvPr>
        </p:nvSpPr>
        <p:spPr/>
        <p:txBody>
          <a:bodyPr/>
          <a:lstStyle/>
          <a:p>
            <a:r>
              <a:rPr lang="en-US" dirty="0"/>
              <a:t>1. </a:t>
            </a:r>
            <a:r>
              <a:rPr lang="en-US" dirty="0" err="1"/>
              <a:t>AgeNeonates</a:t>
            </a:r>
            <a:r>
              <a:rPr lang="en-US" dirty="0"/>
              <a:t> &amp; Infants: Immature liver and kidney function lead to slower drug metabolism and excretion, increasing the risk of drug accumulation and </a:t>
            </a:r>
            <a:r>
              <a:rPr lang="en-US" dirty="0" err="1"/>
              <a:t>toxicity.Older</a:t>
            </a:r>
            <a:r>
              <a:rPr lang="en-US" dirty="0"/>
              <a:t> Children: Enzyme activity in the liver matures, sometimes leading to faster drug metabolism than in adults, requiring higher doses per kg for some drugs (e.g., theophylline).2. </a:t>
            </a:r>
            <a:r>
              <a:rPr lang="en-US" dirty="0" err="1"/>
              <a:t>WeightPediatric</a:t>
            </a:r>
            <a:r>
              <a:rPr lang="en-US" dirty="0"/>
              <a:t> drug dosing is often weight-based (mg/kg) to ensure an appropriate therapeutic effect while minimizing </a:t>
            </a:r>
            <a:r>
              <a:rPr lang="en-US" dirty="0" err="1"/>
              <a:t>toxicity.Overweight</a:t>
            </a:r>
            <a:r>
              <a:rPr lang="en-US" dirty="0"/>
              <a:t> or underweight children may require dose adjustments, as body composition affects drug distribution.3. Body Surface Area (BSA)Used for more precise dosing in narrow therapeutic index drugs (e.g., chemotherapy, corticosteroids).BSA-based dosing accounts for metabolic rate differences better than weight-based </a:t>
            </a:r>
            <a:r>
              <a:rPr lang="en-US" dirty="0" err="1"/>
              <a:t>dosing.Formula</a:t>
            </a:r>
            <a:r>
              <a:rPr lang="en-US" dirty="0"/>
              <a:t> for BSA (m²):𝐵𝑆𝐴=(𝐻𝑒𝑖𝑔ℎ𝑡 in cm)×(𝑊𝑒𝑖𝑔ℎ𝑡 in kg)3600BSA= 3600(Height in cm)×(Weight in kg)​ ​ 4. Drug Form and Route of </a:t>
            </a:r>
            <a:r>
              <a:rPr lang="en-US" dirty="0" err="1"/>
              <a:t>AdministrationOral</a:t>
            </a:r>
            <a:r>
              <a:rPr lang="en-US" dirty="0"/>
              <a:t> (PO): Gastric pH, enzyme activity, and gastric emptying rate affect absorption. Liquid formulations are preferred for young </a:t>
            </a:r>
            <a:r>
              <a:rPr lang="en-US" dirty="0" err="1"/>
              <a:t>children.Intravenous</a:t>
            </a:r>
            <a:r>
              <a:rPr lang="en-US" dirty="0"/>
              <a:t> (IV): Provides rapid effect but requires careful monitoring for </a:t>
            </a:r>
            <a:r>
              <a:rPr lang="en-US" dirty="0" err="1"/>
              <a:t>toxicity.Intramuscular</a:t>
            </a:r>
            <a:r>
              <a:rPr lang="en-US" dirty="0"/>
              <a:t> (IM): Muscle mass and blood flow affect absorption; neonates have poor perfusion, leading to unpredictable IM </a:t>
            </a:r>
            <a:r>
              <a:rPr lang="en-US" dirty="0" err="1"/>
              <a:t>absorption.Topical</a:t>
            </a:r>
            <a:r>
              <a:rPr lang="en-US" dirty="0"/>
              <a:t>: Neonates have thin skin, leading to increased absorption of topical drugs (e.g., corticosteroids, alcohol-based products), increasing the risk of systemic </a:t>
            </a:r>
            <a:r>
              <a:rPr lang="en-US" dirty="0" err="1"/>
              <a:t>toxicity.Rectal</a:t>
            </a:r>
            <a:r>
              <a:rPr lang="en-US" dirty="0"/>
              <a:t> (PR): Used for patients who cannot take oral medications, but absorption may be erratic due to variable rectal blood flow.</a:t>
            </a:r>
            <a:endParaRPr lang="ar-IQ" dirty="0"/>
          </a:p>
        </p:txBody>
      </p:sp>
      <p:sp>
        <p:nvSpPr>
          <p:cNvPr id="4" name="عنصر نائب لرقم الشريحة 3"/>
          <p:cNvSpPr>
            <a:spLocks noGrp="1"/>
          </p:cNvSpPr>
          <p:nvPr>
            <p:ph type="sldNum" sz="quarter" idx="5"/>
          </p:nvPr>
        </p:nvSpPr>
        <p:spPr/>
        <p:txBody>
          <a:bodyPr/>
          <a:lstStyle/>
          <a:p>
            <a:fld id="{00C30ABC-E94F-40E4-9594-22CE7A167979}" type="slidenum">
              <a:rPr lang="ar-IQ" smtClean="0"/>
              <a:t>3</a:t>
            </a:fld>
            <a:endParaRPr lang="ar-IQ"/>
          </a:p>
        </p:txBody>
      </p:sp>
    </p:spTree>
    <p:extLst>
      <p:ext uri="{BB962C8B-B14F-4D97-AF65-F5344CB8AC3E}">
        <p14:creationId xmlns:p14="http://schemas.microsoft.com/office/powerpoint/2010/main" val="864490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ar-IQ"/>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ar-IQ"/>
          </a:p>
        </p:txBody>
      </p:sp>
      <p:sp>
        <p:nvSpPr>
          <p:cNvPr id="4" name="Date Placeholder 3"/>
          <p:cNvSpPr>
            <a:spLocks noGrp="1"/>
          </p:cNvSpPr>
          <p:nvPr>
            <p:ph type="dt" sz="half" idx="10"/>
          </p:nvPr>
        </p:nvSpPr>
        <p:spPr/>
        <p:txBody>
          <a:bodyPr/>
          <a:lstStyle/>
          <a:p>
            <a:fld id="{62C86B4A-0FDB-4ECD-9223-3DF2AE8C2385}" type="datetimeFigureOut">
              <a:rPr lang="ar-IQ" smtClean="0"/>
              <a:t>19/08/1446</a:t>
            </a:fld>
            <a:endParaRPr lang="ar-IQ"/>
          </a:p>
        </p:txBody>
      </p:sp>
      <p:sp>
        <p:nvSpPr>
          <p:cNvPr id="5" name="Footer Placeholder 4"/>
          <p:cNvSpPr>
            <a:spLocks noGrp="1"/>
          </p:cNvSpPr>
          <p:nvPr>
            <p:ph type="ftr" sz="quarter" idx="11"/>
          </p:nvPr>
        </p:nvSpPr>
        <p:spPr/>
        <p:txBody>
          <a:bodyPr/>
          <a:lstStyle/>
          <a:p>
            <a:endParaRPr lang="ar-IQ"/>
          </a:p>
        </p:txBody>
      </p:sp>
      <p:sp>
        <p:nvSpPr>
          <p:cNvPr id="6" name="Slide Number Placeholder 5"/>
          <p:cNvSpPr>
            <a:spLocks noGrp="1"/>
          </p:cNvSpPr>
          <p:nvPr>
            <p:ph type="sldNum" sz="quarter" idx="12"/>
          </p:nvPr>
        </p:nvSpPr>
        <p:spPr/>
        <p:txBody>
          <a:bodyPr/>
          <a:lstStyle/>
          <a:p>
            <a:fld id="{CF17CE81-640D-4872-B521-D658AE615E94}" type="slidenum">
              <a:rPr lang="ar-IQ" smtClean="0"/>
              <a:t>‹#›</a:t>
            </a:fld>
            <a:endParaRPr lang="ar-IQ"/>
          </a:p>
        </p:txBody>
      </p:sp>
    </p:spTree>
    <p:extLst>
      <p:ext uri="{BB962C8B-B14F-4D97-AF65-F5344CB8AC3E}">
        <p14:creationId xmlns:p14="http://schemas.microsoft.com/office/powerpoint/2010/main" val="2712774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Date Placeholder 3"/>
          <p:cNvSpPr>
            <a:spLocks noGrp="1"/>
          </p:cNvSpPr>
          <p:nvPr>
            <p:ph type="dt" sz="half" idx="10"/>
          </p:nvPr>
        </p:nvSpPr>
        <p:spPr/>
        <p:txBody>
          <a:bodyPr/>
          <a:lstStyle/>
          <a:p>
            <a:fld id="{62C86B4A-0FDB-4ECD-9223-3DF2AE8C2385}" type="datetimeFigureOut">
              <a:rPr lang="ar-IQ" smtClean="0"/>
              <a:t>19/08/1446</a:t>
            </a:fld>
            <a:endParaRPr lang="ar-IQ"/>
          </a:p>
        </p:txBody>
      </p:sp>
      <p:sp>
        <p:nvSpPr>
          <p:cNvPr id="5" name="Footer Placeholder 4"/>
          <p:cNvSpPr>
            <a:spLocks noGrp="1"/>
          </p:cNvSpPr>
          <p:nvPr>
            <p:ph type="ftr" sz="quarter" idx="11"/>
          </p:nvPr>
        </p:nvSpPr>
        <p:spPr/>
        <p:txBody>
          <a:bodyPr/>
          <a:lstStyle/>
          <a:p>
            <a:endParaRPr lang="ar-IQ"/>
          </a:p>
        </p:txBody>
      </p:sp>
      <p:sp>
        <p:nvSpPr>
          <p:cNvPr id="6" name="Slide Number Placeholder 5"/>
          <p:cNvSpPr>
            <a:spLocks noGrp="1"/>
          </p:cNvSpPr>
          <p:nvPr>
            <p:ph type="sldNum" sz="quarter" idx="12"/>
          </p:nvPr>
        </p:nvSpPr>
        <p:spPr/>
        <p:txBody>
          <a:bodyPr/>
          <a:lstStyle/>
          <a:p>
            <a:fld id="{CF17CE81-640D-4872-B521-D658AE615E94}" type="slidenum">
              <a:rPr lang="ar-IQ" smtClean="0"/>
              <a:t>‹#›</a:t>
            </a:fld>
            <a:endParaRPr lang="ar-IQ"/>
          </a:p>
        </p:txBody>
      </p:sp>
    </p:spTree>
    <p:extLst>
      <p:ext uri="{BB962C8B-B14F-4D97-AF65-F5344CB8AC3E}">
        <p14:creationId xmlns:p14="http://schemas.microsoft.com/office/powerpoint/2010/main" val="742606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ar-IQ"/>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C86B4A-0FDB-4ECD-9223-3DF2AE8C2385}" type="datetimeFigureOut">
              <a:rPr lang="ar-IQ" smtClean="0"/>
              <a:t>19/08/1446</a:t>
            </a:fld>
            <a:endParaRPr lang="ar-IQ"/>
          </a:p>
        </p:txBody>
      </p:sp>
      <p:sp>
        <p:nvSpPr>
          <p:cNvPr id="5" name="Footer Placeholder 4"/>
          <p:cNvSpPr>
            <a:spLocks noGrp="1"/>
          </p:cNvSpPr>
          <p:nvPr>
            <p:ph type="ftr" sz="quarter" idx="11"/>
          </p:nvPr>
        </p:nvSpPr>
        <p:spPr/>
        <p:txBody>
          <a:bodyPr/>
          <a:lstStyle/>
          <a:p>
            <a:endParaRPr lang="ar-IQ"/>
          </a:p>
        </p:txBody>
      </p:sp>
      <p:sp>
        <p:nvSpPr>
          <p:cNvPr id="6" name="Slide Number Placeholder 5"/>
          <p:cNvSpPr>
            <a:spLocks noGrp="1"/>
          </p:cNvSpPr>
          <p:nvPr>
            <p:ph type="sldNum" sz="quarter" idx="12"/>
          </p:nvPr>
        </p:nvSpPr>
        <p:spPr/>
        <p:txBody>
          <a:bodyPr/>
          <a:lstStyle/>
          <a:p>
            <a:fld id="{CF17CE81-640D-4872-B521-D658AE615E94}" type="slidenum">
              <a:rPr lang="ar-IQ" smtClean="0"/>
              <a:t>‹#›</a:t>
            </a:fld>
            <a:endParaRPr lang="ar-IQ"/>
          </a:p>
        </p:txBody>
      </p:sp>
    </p:spTree>
    <p:extLst>
      <p:ext uri="{BB962C8B-B14F-4D97-AF65-F5344CB8AC3E}">
        <p14:creationId xmlns:p14="http://schemas.microsoft.com/office/powerpoint/2010/main" val="3401303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Date Placeholder 4"/>
          <p:cNvSpPr>
            <a:spLocks noGrp="1"/>
          </p:cNvSpPr>
          <p:nvPr>
            <p:ph type="dt" sz="half" idx="10"/>
          </p:nvPr>
        </p:nvSpPr>
        <p:spPr/>
        <p:txBody>
          <a:bodyPr/>
          <a:lstStyle/>
          <a:p>
            <a:fld id="{62C86B4A-0FDB-4ECD-9223-3DF2AE8C2385}" type="datetimeFigureOut">
              <a:rPr lang="ar-IQ" smtClean="0"/>
              <a:t>19/08/1446</a:t>
            </a:fld>
            <a:endParaRPr lang="ar-IQ"/>
          </a:p>
        </p:txBody>
      </p:sp>
      <p:sp>
        <p:nvSpPr>
          <p:cNvPr id="6" name="Footer Placeholder 5"/>
          <p:cNvSpPr>
            <a:spLocks noGrp="1"/>
          </p:cNvSpPr>
          <p:nvPr>
            <p:ph type="ftr" sz="quarter" idx="11"/>
          </p:nvPr>
        </p:nvSpPr>
        <p:spPr/>
        <p:txBody>
          <a:bodyPr/>
          <a:lstStyle/>
          <a:p>
            <a:endParaRPr lang="ar-IQ"/>
          </a:p>
        </p:txBody>
      </p:sp>
      <p:sp>
        <p:nvSpPr>
          <p:cNvPr id="7" name="Slide Number Placeholder 6"/>
          <p:cNvSpPr>
            <a:spLocks noGrp="1"/>
          </p:cNvSpPr>
          <p:nvPr>
            <p:ph type="sldNum" sz="quarter" idx="12"/>
          </p:nvPr>
        </p:nvSpPr>
        <p:spPr/>
        <p:txBody>
          <a:bodyPr/>
          <a:lstStyle/>
          <a:p>
            <a:fld id="{CF17CE81-640D-4872-B521-D658AE615E94}" type="slidenum">
              <a:rPr lang="ar-IQ" smtClean="0"/>
              <a:t>‹#›</a:t>
            </a:fld>
            <a:endParaRPr lang="ar-IQ"/>
          </a:p>
        </p:txBody>
      </p:sp>
    </p:spTree>
    <p:extLst>
      <p:ext uri="{BB962C8B-B14F-4D97-AF65-F5344CB8AC3E}">
        <p14:creationId xmlns:p14="http://schemas.microsoft.com/office/powerpoint/2010/main" val="40189197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ar-IQ"/>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7" name="Date Placeholder 6"/>
          <p:cNvSpPr>
            <a:spLocks noGrp="1"/>
          </p:cNvSpPr>
          <p:nvPr>
            <p:ph type="dt" sz="half" idx="10"/>
          </p:nvPr>
        </p:nvSpPr>
        <p:spPr/>
        <p:txBody>
          <a:bodyPr/>
          <a:lstStyle/>
          <a:p>
            <a:fld id="{62C86B4A-0FDB-4ECD-9223-3DF2AE8C2385}" type="datetimeFigureOut">
              <a:rPr lang="ar-IQ" smtClean="0"/>
              <a:t>19/08/1446</a:t>
            </a:fld>
            <a:endParaRPr lang="ar-IQ"/>
          </a:p>
        </p:txBody>
      </p:sp>
      <p:sp>
        <p:nvSpPr>
          <p:cNvPr id="8" name="Footer Placeholder 7"/>
          <p:cNvSpPr>
            <a:spLocks noGrp="1"/>
          </p:cNvSpPr>
          <p:nvPr>
            <p:ph type="ftr" sz="quarter" idx="11"/>
          </p:nvPr>
        </p:nvSpPr>
        <p:spPr/>
        <p:txBody>
          <a:bodyPr/>
          <a:lstStyle/>
          <a:p>
            <a:endParaRPr lang="ar-IQ"/>
          </a:p>
        </p:txBody>
      </p:sp>
      <p:sp>
        <p:nvSpPr>
          <p:cNvPr id="9" name="Slide Number Placeholder 8"/>
          <p:cNvSpPr>
            <a:spLocks noGrp="1"/>
          </p:cNvSpPr>
          <p:nvPr>
            <p:ph type="sldNum" sz="quarter" idx="12"/>
          </p:nvPr>
        </p:nvSpPr>
        <p:spPr/>
        <p:txBody>
          <a:bodyPr/>
          <a:lstStyle/>
          <a:p>
            <a:fld id="{CF17CE81-640D-4872-B521-D658AE615E94}" type="slidenum">
              <a:rPr lang="ar-IQ" smtClean="0"/>
              <a:t>‹#›</a:t>
            </a:fld>
            <a:endParaRPr lang="ar-IQ"/>
          </a:p>
        </p:txBody>
      </p:sp>
    </p:spTree>
    <p:extLst>
      <p:ext uri="{BB962C8B-B14F-4D97-AF65-F5344CB8AC3E}">
        <p14:creationId xmlns:p14="http://schemas.microsoft.com/office/powerpoint/2010/main" val="2618218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Date Placeholder 2"/>
          <p:cNvSpPr>
            <a:spLocks noGrp="1"/>
          </p:cNvSpPr>
          <p:nvPr>
            <p:ph type="dt" sz="half" idx="10"/>
          </p:nvPr>
        </p:nvSpPr>
        <p:spPr/>
        <p:txBody>
          <a:bodyPr/>
          <a:lstStyle/>
          <a:p>
            <a:fld id="{62C86B4A-0FDB-4ECD-9223-3DF2AE8C2385}" type="datetimeFigureOut">
              <a:rPr lang="ar-IQ" smtClean="0"/>
              <a:t>19/08/1446</a:t>
            </a:fld>
            <a:endParaRPr lang="ar-IQ"/>
          </a:p>
        </p:txBody>
      </p:sp>
      <p:sp>
        <p:nvSpPr>
          <p:cNvPr id="4" name="Footer Placeholder 3"/>
          <p:cNvSpPr>
            <a:spLocks noGrp="1"/>
          </p:cNvSpPr>
          <p:nvPr>
            <p:ph type="ftr" sz="quarter" idx="11"/>
          </p:nvPr>
        </p:nvSpPr>
        <p:spPr/>
        <p:txBody>
          <a:bodyPr/>
          <a:lstStyle/>
          <a:p>
            <a:endParaRPr lang="ar-IQ"/>
          </a:p>
        </p:txBody>
      </p:sp>
      <p:sp>
        <p:nvSpPr>
          <p:cNvPr id="5" name="Slide Number Placeholder 4"/>
          <p:cNvSpPr>
            <a:spLocks noGrp="1"/>
          </p:cNvSpPr>
          <p:nvPr>
            <p:ph type="sldNum" sz="quarter" idx="12"/>
          </p:nvPr>
        </p:nvSpPr>
        <p:spPr/>
        <p:txBody>
          <a:bodyPr/>
          <a:lstStyle/>
          <a:p>
            <a:fld id="{CF17CE81-640D-4872-B521-D658AE615E94}" type="slidenum">
              <a:rPr lang="ar-IQ" smtClean="0"/>
              <a:t>‹#›</a:t>
            </a:fld>
            <a:endParaRPr lang="ar-IQ"/>
          </a:p>
        </p:txBody>
      </p:sp>
    </p:spTree>
    <p:extLst>
      <p:ext uri="{BB962C8B-B14F-4D97-AF65-F5344CB8AC3E}">
        <p14:creationId xmlns:p14="http://schemas.microsoft.com/office/powerpoint/2010/main" val="19106314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C86B4A-0FDB-4ECD-9223-3DF2AE8C2385}" type="datetimeFigureOut">
              <a:rPr lang="ar-IQ" smtClean="0"/>
              <a:t>19/08/1446</a:t>
            </a:fld>
            <a:endParaRPr lang="ar-IQ"/>
          </a:p>
        </p:txBody>
      </p:sp>
      <p:sp>
        <p:nvSpPr>
          <p:cNvPr id="3" name="Footer Placeholder 2"/>
          <p:cNvSpPr>
            <a:spLocks noGrp="1"/>
          </p:cNvSpPr>
          <p:nvPr>
            <p:ph type="ftr" sz="quarter" idx="11"/>
          </p:nvPr>
        </p:nvSpPr>
        <p:spPr/>
        <p:txBody>
          <a:bodyPr/>
          <a:lstStyle/>
          <a:p>
            <a:endParaRPr lang="ar-IQ"/>
          </a:p>
        </p:txBody>
      </p:sp>
      <p:sp>
        <p:nvSpPr>
          <p:cNvPr id="4" name="Slide Number Placeholder 3"/>
          <p:cNvSpPr>
            <a:spLocks noGrp="1"/>
          </p:cNvSpPr>
          <p:nvPr>
            <p:ph type="sldNum" sz="quarter" idx="12"/>
          </p:nvPr>
        </p:nvSpPr>
        <p:spPr/>
        <p:txBody>
          <a:bodyPr/>
          <a:lstStyle/>
          <a:p>
            <a:fld id="{CF17CE81-640D-4872-B521-D658AE615E94}" type="slidenum">
              <a:rPr lang="ar-IQ" smtClean="0"/>
              <a:t>‹#›</a:t>
            </a:fld>
            <a:endParaRPr lang="ar-IQ"/>
          </a:p>
        </p:txBody>
      </p:sp>
    </p:spTree>
    <p:extLst>
      <p:ext uri="{BB962C8B-B14F-4D97-AF65-F5344CB8AC3E}">
        <p14:creationId xmlns:p14="http://schemas.microsoft.com/office/powerpoint/2010/main" val="2722199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IQ"/>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C86B4A-0FDB-4ECD-9223-3DF2AE8C2385}" type="datetimeFigureOut">
              <a:rPr lang="ar-IQ" smtClean="0"/>
              <a:t>19/08/1446</a:t>
            </a:fld>
            <a:endParaRPr lang="ar-IQ"/>
          </a:p>
        </p:txBody>
      </p:sp>
      <p:sp>
        <p:nvSpPr>
          <p:cNvPr id="6" name="Footer Placeholder 5"/>
          <p:cNvSpPr>
            <a:spLocks noGrp="1"/>
          </p:cNvSpPr>
          <p:nvPr>
            <p:ph type="ftr" sz="quarter" idx="11"/>
          </p:nvPr>
        </p:nvSpPr>
        <p:spPr/>
        <p:txBody>
          <a:bodyPr/>
          <a:lstStyle/>
          <a:p>
            <a:endParaRPr lang="ar-IQ"/>
          </a:p>
        </p:txBody>
      </p:sp>
      <p:sp>
        <p:nvSpPr>
          <p:cNvPr id="7" name="Slide Number Placeholder 6"/>
          <p:cNvSpPr>
            <a:spLocks noGrp="1"/>
          </p:cNvSpPr>
          <p:nvPr>
            <p:ph type="sldNum" sz="quarter" idx="12"/>
          </p:nvPr>
        </p:nvSpPr>
        <p:spPr/>
        <p:txBody>
          <a:bodyPr/>
          <a:lstStyle/>
          <a:p>
            <a:fld id="{CF17CE81-640D-4872-B521-D658AE615E94}" type="slidenum">
              <a:rPr lang="ar-IQ" smtClean="0"/>
              <a:t>‹#›</a:t>
            </a:fld>
            <a:endParaRPr lang="ar-IQ"/>
          </a:p>
        </p:txBody>
      </p:sp>
    </p:spTree>
    <p:extLst>
      <p:ext uri="{BB962C8B-B14F-4D97-AF65-F5344CB8AC3E}">
        <p14:creationId xmlns:p14="http://schemas.microsoft.com/office/powerpoint/2010/main" val="3216333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ar-IQ"/>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IQ"/>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C86B4A-0FDB-4ECD-9223-3DF2AE8C2385}" type="datetimeFigureOut">
              <a:rPr lang="ar-IQ" smtClean="0"/>
              <a:t>19/08/1446</a:t>
            </a:fld>
            <a:endParaRPr lang="ar-IQ"/>
          </a:p>
        </p:txBody>
      </p:sp>
      <p:sp>
        <p:nvSpPr>
          <p:cNvPr id="6" name="Footer Placeholder 5"/>
          <p:cNvSpPr>
            <a:spLocks noGrp="1"/>
          </p:cNvSpPr>
          <p:nvPr>
            <p:ph type="ftr" sz="quarter" idx="11"/>
          </p:nvPr>
        </p:nvSpPr>
        <p:spPr/>
        <p:txBody>
          <a:bodyPr/>
          <a:lstStyle/>
          <a:p>
            <a:endParaRPr lang="ar-IQ"/>
          </a:p>
        </p:txBody>
      </p:sp>
      <p:sp>
        <p:nvSpPr>
          <p:cNvPr id="7" name="Slide Number Placeholder 6"/>
          <p:cNvSpPr>
            <a:spLocks noGrp="1"/>
          </p:cNvSpPr>
          <p:nvPr>
            <p:ph type="sldNum" sz="quarter" idx="12"/>
          </p:nvPr>
        </p:nvSpPr>
        <p:spPr/>
        <p:txBody>
          <a:bodyPr/>
          <a:lstStyle/>
          <a:p>
            <a:fld id="{CF17CE81-640D-4872-B521-D658AE615E94}" type="slidenum">
              <a:rPr lang="ar-IQ" smtClean="0"/>
              <a:t>‹#›</a:t>
            </a:fld>
            <a:endParaRPr lang="ar-IQ"/>
          </a:p>
        </p:txBody>
      </p:sp>
    </p:spTree>
    <p:extLst>
      <p:ext uri="{BB962C8B-B14F-4D97-AF65-F5344CB8AC3E}">
        <p14:creationId xmlns:p14="http://schemas.microsoft.com/office/powerpoint/2010/main" val="2098145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ar-IQ"/>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Date Placeholder 3"/>
          <p:cNvSpPr>
            <a:spLocks noGrp="1"/>
          </p:cNvSpPr>
          <p:nvPr>
            <p:ph type="dt" sz="half" idx="10"/>
          </p:nvPr>
        </p:nvSpPr>
        <p:spPr/>
        <p:txBody>
          <a:bodyPr/>
          <a:lstStyle/>
          <a:p>
            <a:fld id="{62C86B4A-0FDB-4ECD-9223-3DF2AE8C2385}" type="datetimeFigureOut">
              <a:rPr lang="ar-IQ" smtClean="0"/>
              <a:t>19/08/1446</a:t>
            </a:fld>
            <a:endParaRPr lang="ar-IQ"/>
          </a:p>
        </p:txBody>
      </p:sp>
      <p:sp>
        <p:nvSpPr>
          <p:cNvPr id="5" name="Footer Placeholder 4"/>
          <p:cNvSpPr>
            <a:spLocks noGrp="1"/>
          </p:cNvSpPr>
          <p:nvPr>
            <p:ph type="ftr" sz="quarter" idx="11"/>
          </p:nvPr>
        </p:nvSpPr>
        <p:spPr/>
        <p:txBody>
          <a:bodyPr/>
          <a:lstStyle/>
          <a:p>
            <a:endParaRPr lang="ar-IQ"/>
          </a:p>
        </p:txBody>
      </p:sp>
      <p:sp>
        <p:nvSpPr>
          <p:cNvPr id="6" name="Slide Number Placeholder 5"/>
          <p:cNvSpPr>
            <a:spLocks noGrp="1"/>
          </p:cNvSpPr>
          <p:nvPr>
            <p:ph type="sldNum" sz="quarter" idx="12"/>
          </p:nvPr>
        </p:nvSpPr>
        <p:spPr/>
        <p:txBody>
          <a:bodyPr/>
          <a:lstStyle/>
          <a:p>
            <a:fld id="{CF17CE81-640D-4872-B521-D658AE615E94}" type="slidenum">
              <a:rPr lang="ar-IQ" smtClean="0"/>
              <a:t>‹#›</a:t>
            </a:fld>
            <a:endParaRPr lang="ar-IQ"/>
          </a:p>
        </p:txBody>
      </p:sp>
    </p:spTree>
    <p:extLst>
      <p:ext uri="{BB962C8B-B14F-4D97-AF65-F5344CB8AC3E}">
        <p14:creationId xmlns:p14="http://schemas.microsoft.com/office/powerpoint/2010/main" val="1226986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ar-IQ"/>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Date Placeholder 3"/>
          <p:cNvSpPr>
            <a:spLocks noGrp="1"/>
          </p:cNvSpPr>
          <p:nvPr>
            <p:ph type="dt" sz="half" idx="10"/>
          </p:nvPr>
        </p:nvSpPr>
        <p:spPr/>
        <p:txBody>
          <a:bodyPr/>
          <a:lstStyle/>
          <a:p>
            <a:fld id="{62C86B4A-0FDB-4ECD-9223-3DF2AE8C2385}" type="datetimeFigureOut">
              <a:rPr lang="ar-IQ" smtClean="0"/>
              <a:t>19/08/1446</a:t>
            </a:fld>
            <a:endParaRPr lang="ar-IQ"/>
          </a:p>
        </p:txBody>
      </p:sp>
      <p:sp>
        <p:nvSpPr>
          <p:cNvPr id="5" name="Footer Placeholder 4"/>
          <p:cNvSpPr>
            <a:spLocks noGrp="1"/>
          </p:cNvSpPr>
          <p:nvPr>
            <p:ph type="ftr" sz="quarter" idx="11"/>
          </p:nvPr>
        </p:nvSpPr>
        <p:spPr/>
        <p:txBody>
          <a:bodyPr/>
          <a:lstStyle/>
          <a:p>
            <a:endParaRPr lang="ar-IQ"/>
          </a:p>
        </p:txBody>
      </p:sp>
      <p:sp>
        <p:nvSpPr>
          <p:cNvPr id="6" name="Slide Number Placeholder 5"/>
          <p:cNvSpPr>
            <a:spLocks noGrp="1"/>
          </p:cNvSpPr>
          <p:nvPr>
            <p:ph type="sldNum" sz="quarter" idx="12"/>
          </p:nvPr>
        </p:nvSpPr>
        <p:spPr/>
        <p:txBody>
          <a:bodyPr/>
          <a:lstStyle/>
          <a:p>
            <a:fld id="{CF17CE81-640D-4872-B521-D658AE615E94}" type="slidenum">
              <a:rPr lang="ar-IQ" smtClean="0"/>
              <a:t>‹#›</a:t>
            </a:fld>
            <a:endParaRPr lang="ar-IQ"/>
          </a:p>
        </p:txBody>
      </p:sp>
    </p:spTree>
    <p:extLst>
      <p:ext uri="{BB962C8B-B14F-4D97-AF65-F5344CB8AC3E}">
        <p14:creationId xmlns:p14="http://schemas.microsoft.com/office/powerpoint/2010/main" val="314063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Contents slide layout">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57DA700-D493-4724-A7E6-2C18A3598372}"/>
              </a:ext>
            </a:extLst>
          </p:cNvPr>
          <p:cNvGrpSpPr/>
          <p:nvPr userDrawn="1"/>
        </p:nvGrpSpPr>
        <p:grpSpPr>
          <a:xfrm flipH="1">
            <a:off x="592779" y="1333500"/>
            <a:ext cx="4034462" cy="4935026"/>
            <a:chOff x="6446339" y="1280897"/>
            <a:chExt cx="4320717" cy="5285178"/>
          </a:xfrm>
        </p:grpSpPr>
        <p:sp>
          <p:nvSpPr>
            <p:cNvPr id="4" name="Freeform: Shape 3">
              <a:extLst>
                <a:ext uri="{FF2B5EF4-FFF2-40B4-BE49-F238E27FC236}">
                  <a16:creationId xmlns:a16="http://schemas.microsoft.com/office/drawing/2014/main" id="{0315FDDC-CB08-4F29-898E-B915DE387084}"/>
                </a:ext>
              </a:extLst>
            </p:cNvPr>
            <p:cNvSpPr/>
            <p:nvPr/>
          </p:nvSpPr>
          <p:spPr>
            <a:xfrm>
              <a:off x="7360122" y="5629227"/>
              <a:ext cx="2033648" cy="936848"/>
            </a:xfrm>
            <a:custGeom>
              <a:avLst/>
              <a:gdLst>
                <a:gd name="connsiteX0" fmla="*/ 448273 w 847725"/>
                <a:gd name="connsiteY0" fmla="*/ 7144 h 390525"/>
                <a:gd name="connsiteX1" fmla="*/ 464466 w 847725"/>
                <a:gd name="connsiteY1" fmla="*/ 184309 h 390525"/>
                <a:gd name="connsiteX2" fmla="*/ 452083 w 847725"/>
                <a:gd name="connsiteY2" fmla="*/ 224314 h 390525"/>
                <a:gd name="connsiteX3" fmla="*/ 352071 w 847725"/>
                <a:gd name="connsiteY3" fmla="*/ 269081 h 390525"/>
                <a:gd name="connsiteX4" fmla="*/ 30126 w 847725"/>
                <a:gd name="connsiteY4" fmla="*/ 283369 h 390525"/>
                <a:gd name="connsiteX5" fmla="*/ 7266 w 847725"/>
                <a:gd name="connsiteY5" fmla="*/ 285274 h 390525"/>
                <a:gd name="connsiteX6" fmla="*/ 12981 w 847725"/>
                <a:gd name="connsiteY6" fmla="*/ 292894 h 390525"/>
                <a:gd name="connsiteX7" fmla="*/ 439701 w 847725"/>
                <a:gd name="connsiteY7" fmla="*/ 384334 h 390525"/>
                <a:gd name="connsiteX8" fmla="*/ 455893 w 847725"/>
                <a:gd name="connsiteY8" fmla="*/ 385286 h 390525"/>
                <a:gd name="connsiteX9" fmla="*/ 829273 w 847725"/>
                <a:gd name="connsiteY9" fmla="*/ 321469 h 390525"/>
                <a:gd name="connsiteX10" fmla="*/ 797841 w 847725"/>
                <a:gd name="connsiteY10" fmla="*/ 52864 h 390525"/>
                <a:gd name="connsiteX11" fmla="*/ 448273 w 847725"/>
                <a:gd name="connsiteY11" fmla="*/ 7144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47725" h="390525">
                  <a:moveTo>
                    <a:pt x="448273" y="7144"/>
                  </a:moveTo>
                  <a:cubicBezTo>
                    <a:pt x="460656" y="89059"/>
                    <a:pt x="469228" y="136684"/>
                    <a:pt x="464466" y="184309"/>
                  </a:cubicBezTo>
                  <a:cubicBezTo>
                    <a:pt x="463513" y="196691"/>
                    <a:pt x="460656" y="208121"/>
                    <a:pt x="452083" y="224314"/>
                  </a:cubicBezTo>
                  <a:cubicBezTo>
                    <a:pt x="433033" y="261461"/>
                    <a:pt x="379693" y="268129"/>
                    <a:pt x="352071" y="269081"/>
                  </a:cubicBezTo>
                  <a:cubicBezTo>
                    <a:pt x="256821" y="270986"/>
                    <a:pt x="63463" y="282416"/>
                    <a:pt x="30126" y="283369"/>
                  </a:cubicBezTo>
                  <a:cubicBezTo>
                    <a:pt x="26316" y="283369"/>
                    <a:pt x="5361" y="283369"/>
                    <a:pt x="7266" y="285274"/>
                  </a:cubicBezTo>
                  <a:cubicBezTo>
                    <a:pt x="8218" y="286226"/>
                    <a:pt x="12981" y="292894"/>
                    <a:pt x="12981" y="292894"/>
                  </a:cubicBezTo>
                  <a:cubicBezTo>
                    <a:pt x="24411" y="308134"/>
                    <a:pt x="381598" y="373856"/>
                    <a:pt x="439701" y="384334"/>
                  </a:cubicBezTo>
                  <a:cubicBezTo>
                    <a:pt x="445416" y="385286"/>
                    <a:pt x="450178" y="385286"/>
                    <a:pt x="455893" y="385286"/>
                  </a:cubicBezTo>
                  <a:cubicBezTo>
                    <a:pt x="508281" y="381476"/>
                    <a:pt x="794983" y="355759"/>
                    <a:pt x="829273" y="321469"/>
                  </a:cubicBezTo>
                  <a:cubicBezTo>
                    <a:pt x="870231" y="279559"/>
                    <a:pt x="827368" y="142399"/>
                    <a:pt x="797841" y="52864"/>
                  </a:cubicBezTo>
                  <a:cubicBezTo>
                    <a:pt x="810223" y="42386"/>
                    <a:pt x="634963" y="21431"/>
                    <a:pt x="448273" y="7144"/>
                  </a:cubicBezTo>
                  <a:close/>
                </a:path>
              </a:pathLst>
            </a:custGeom>
            <a:solidFill>
              <a:srgbClr val="B3B3B3"/>
            </a:solidFill>
            <a:ln w="952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718ED047-E415-4002-A4AF-11B7D0A2933D}"/>
                </a:ext>
              </a:extLst>
            </p:cNvPr>
            <p:cNvSpPr/>
            <p:nvPr/>
          </p:nvSpPr>
          <p:spPr>
            <a:xfrm>
              <a:off x="7358820" y="5629227"/>
              <a:ext cx="1987948" cy="913998"/>
            </a:xfrm>
            <a:custGeom>
              <a:avLst/>
              <a:gdLst>
                <a:gd name="connsiteX0" fmla="*/ 436434 w 828675"/>
                <a:gd name="connsiteY0" fmla="*/ 7144 h 381000"/>
                <a:gd name="connsiteX1" fmla="*/ 452626 w 828675"/>
                <a:gd name="connsiteY1" fmla="*/ 178594 h 381000"/>
                <a:gd name="connsiteX2" fmla="*/ 440244 w 828675"/>
                <a:gd name="connsiteY2" fmla="*/ 217646 h 381000"/>
                <a:gd name="connsiteX3" fmla="*/ 342136 w 828675"/>
                <a:gd name="connsiteY3" fmla="*/ 260509 h 381000"/>
                <a:gd name="connsiteX4" fmla="*/ 11619 w 828675"/>
                <a:gd name="connsiteY4" fmla="*/ 281464 h 381000"/>
                <a:gd name="connsiteX5" fmla="*/ 428814 w 828675"/>
                <a:gd name="connsiteY5" fmla="*/ 372904 h 381000"/>
                <a:gd name="connsiteX6" fmla="*/ 444054 w 828675"/>
                <a:gd name="connsiteY6" fmla="*/ 373856 h 381000"/>
                <a:gd name="connsiteX7" fmla="*/ 813624 w 828675"/>
                <a:gd name="connsiteY7" fmla="*/ 311944 h 381000"/>
                <a:gd name="connsiteX8" fmla="*/ 782191 w 828675"/>
                <a:gd name="connsiteY8" fmla="*/ 52864 h 381000"/>
                <a:gd name="connsiteX9" fmla="*/ 436434 w 828675"/>
                <a:gd name="connsiteY9" fmla="*/ 71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675" h="381000">
                  <a:moveTo>
                    <a:pt x="436434" y="7144"/>
                  </a:moveTo>
                  <a:cubicBezTo>
                    <a:pt x="448816" y="86201"/>
                    <a:pt x="457389" y="131921"/>
                    <a:pt x="452626" y="178594"/>
                  </a:cubicBezTo>
                  <a:cubicBezTo>
                    <a:pt x="451674" y="190976"/>
                    <a:pt x="448816" y="201454"/>
                    <a:pt x="440244" y="217646"/>
                  </a:cubicBezTo>
                  <a:cubicBezTo>
                    <a:pt x="421194" y="252889"/>
                    <a:pt x="367854" y="260509"/>
                    <a:pt x="342136" y="260509"/>
                  </a:cubicBezTo>
                  <a:cubicBezTo>
                    <a:pt x="269746" y="262414"/>
                    <a:pt x="43051" y="274796"/>
                    <a:pt x="11619" y="281464"/>
                  </a:cubicBezTo>
                  <a:cubicBezTo>
                    <a:pt x="-39816" y="292894"/>
                    <a:pt x="367854" y="362426"/>
                    <a:pt x="428814" y="372904"/>
                  </a:cubicBezTo>
                  <a:cubicBezTo>
                    <a:pt x="433576" y="373856"/>
                    <a:pt x="439291" y="373856"/>
                    <a:pt x="444054" y="373856"/>
                  </a:cubicBezTo>
                  <a:cubicBezTo>
                    <a:pt x="494536" y="370046"/>
                    <a:pt x="779334" y="346234"/>
                    <a:pt x="813624" y="311944"/>
                  </a:cubicBezTo>
                  <a:cubicBezTo>
                    <a:pt x="853629" y="271939"/>
                    <a:pt x="811719" y="139541"/>
                    <a:pt x="782191" y="52864"/>
                  </a:cubicBezTo>
                  <a:cubicBezTo>
                    <a:pt x="793621" y="41434"/>
                    <a:pt x="620266" y="20479"/>
                    <a:pt x="436434" y="7144"/>
                  </a:cubicBezTo>
                  <a:close/>
                </a:path>
              </a:pathLst>
            </a:custGeom>
            <a:solidFill>
              <a:srgbClr val="CCCCCC"/>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A95A626E-BA13-409F-A2BA-1FCB370FDB9B}"/>
                </a:ext>
              </a:extLst>
            </p:cNvPr>
            <p:cNvSpPr/>
            <p:nvPr/>
          </p:nvSpPr>
          <p:spPr>
            <a:xfrm>
              <a:off x="6448412" y="1280897"/>
              <a:ext cx="4318644" cy="4592842"/>
            </a:xfrm>
            <a:custGeom>
              <a:avLst/>
              <a:gdLst>
                <a:gd name="connsiteX0" fmla="*/ 1610322 w 1800225"/>
                <a:gd name="connsiteY0" fmla="*/ 1912136 h 1914525"/>
                <a:gd name="connsiteX1" fmla="*/ 53937 w 1800225"/>
                <a:gd name="connsiteY1" fmla="*/ 1736876 h 1914525"/>
                <a:gd name="connsiteX2" fmla="*/ 7264 w 1800225"/>
                <a:gd name="connsiteY2" fmla="*/ 1681631 h 1914525"/>
                <a:gd name="connsiteX3" fmla="*/ 66319 w 1800225"/>
                <a:gd name="connsiteY3" fmla="*/ 529106 h 1914525"/>
                <a:gd name="connsiteX4" fmla="*/ 107277 w 1800225"/>
                <a:gd name="connsiteY4" fmla="*/ 432903 h 1914525"/>
                <a:gd name="connsiteX5" fmla="*/ 1729384 w 1800225"/>
                <a:gd name="connsiteY5" fmla="*/ 9041 h 1914525"/>
                <a:gd name="connsiteX6" fmla="*/ 1797012 w 1800225"/>
                <a:gd name="connsiteY6" fmla="*/ 63333 h 1914525"/>
                <a:gd name="connsiteX7" fmla="*/ 1691284 w 1800225"/>
                <a:gd name="connsiteY7" fmla="*/ 1844508 h 1914525"/>
                <a:gd name="connsiteX8" fmla="*/ 1610322 w 1800225"/>
                <a:gd name="connsiteY8" fmla="*/ 1912136 h 1914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0225" h="1914525">
                  <a:moveTo>
                    <a:pt x="1610322" y="1912136"/>
                  </a:moveTo>
                  <a:lnTo>
                    <a:pt x="53937" y="1736876"/>
                  </a:lnTo>
                  <a:cubicBezTo>
                    <a:pt x="26314" y="1734018"/>
                    <a:pt x="5359" y="1709253"/>
                    <a:pt x="7264" y="1681631"/>
                  </a:cubicBezTo>
                  <a:lnTo>
                    <a:pt x="66319" y="529106"/>
                  </a:lnTo>
                  <a:cubicBezTo>
                    <a:pt x="68224" y="458621"/>
                    <a:pt x="84417" y="438618"/>
                    <a:pt x="107277" y="432903"/>
                  </a:cubicBezTo>
                  <a:lnTo>
                    <a:pt x="1729384" y="9041"/>
                  </a:lnTo>
                  <a:cubicBezTo>
                    <a:pt x="1764627" y="-484"/>
                    <a:pt x="1798917" y="27138"/>
                    <a:pt x="1797012" y="63333"/>
                  </a:cubicBezTo>
                  <a:lnTo>
                    <a:pt x="1691284" y="1844508"/>
                  </a:lnTo>
                  <a:cubicBezTo>
                    <a:pt x="1687474" y="1885466"/>
                    <a:pt x="1651279" y="1915946"/>
                    <a:pt x="1610322" y="1912136"/>
                  </a:cubicBezTo>
                  <a:close/>
                </a:path>
              </a:pathLst>
            </a:custGeom>
            <a:solidFill>
              <a:srgbClr val="CCCCCC"/>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E8248B3A-FAE1-4F80-BB8B-D195C0E2A022}"/>
                </a:ext>
              </a:extLst>
            </p:cNvPr>
            <p:cNvSpPr/>
            <p:nvPr/>
          </p:nvSpPr>
          <p:spPr>
            <a:xfrm>
              <a:off x="6464696" y="1280897"/>
              <a:ext cx="4250094" cy="3998744"/>
            </a:xfrm>
            <a:custGeom>
              <a:avLst/>
              <a:gdLst>
                <a:gd name="connsiteX0" fmla="*/ 1678781 w 1771650"/>
                <a:gd name="connsiteY0" fmla="*/ 1664486 h 1666875"/>
                <a:gd name="connsiteX1" fmla="*/ 7144 w 1771650"/>
                <a:gd name="connsiteY1" fmla="*/ 1552091 h 1666875"/>
                <a:gd name="connsiteX2" fmla="*/ 58579 w 1771650"/>
                <a:gd name="connsiteY2" fmla="*/ 482433 h 1666875"/>
                <a:gd name="connsiteX3" fmla="*/ 98584 w 1771650"/>
                <a:gd name="connsiteY3" fmla="*/ 432903 h 1666875"/>
                <a:gd name="connsiteX4" fmla="*/ 1705451 w 1771650"/>
                <a:gd name="connsiteY4" fmla="*/ 9041 h 1666875"/>
                <a:gd name="connsiteX5" fmla="*/ 1772126 w 1771650"/>
                <a:gd name="connsiteY5" fmla="*/ 63333 h 1666875"/>
                <a:gd name="connsiteX6" fmla="*/ 1678781 w 1771650"/>
                <a:gd name="connsiteY6" fmla="*/ 1664486 h 1666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71650" h="1666875">
                  <a:moveTo>
                    <a:pt x="1678781" y="1664486"/>
                  </a:moveTo>
                  <a:lnTo>
                    <a:pt x="7144" y="1552091"/>
                  </a:lnTo>
                  <a:lnTo>
                    <a:pt x="58579" y="482433"/>
                  </a:lnTo>
                  <a:cubicBezTo>
                    <a:pt x="59531" y="459573"/>
                    <a:pt x="75724" y="439571"/>
                    <a:pt x="98584" y="432903"/>
                  </a:cubicBezTo>
                  <a:lnTo>
                    <a:pt x="1705451" y="9041"/>
                  </a:lnTo>
                  <a:cubicBezTo>
                    <a:pt x="1740694" y="-484"/>
                    <a:pt x="1774984" y="27138"/>
                    <a:pt x="1772126" y="63333"/>
                  </a:cubicBezTo>
                  <a:lnTo>
                    <a:pt x="1678781" y="1664486"/>
                  </a:lnTo>
                  <a:close/>
                </a:path>
              </a:pathLst>
            </a:custGeom>
            <a:solidFill>
              <a:srgbClr val="1A1A1A"/>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EC73273F-F0D9-4D38-B99A-17BF52577CFE}"/>
                </a:ext>
              </a:extLst>
            </p:cNvPr>
            <p:cNvSpPr/>
            <p:nvPr/>
          </p:nvSpPr>
          <p:spPr>
            <a:xfrm>
              <a:off x="6572092" y="1577928"/>
              <a:ext cx="3907345" cy="3404644"/>
            </a:xfrm>
            <a:custGeom>
              <a:avLst/>
              <a:gdLst>
                <a:gd name="connsiteX0" fmla="*/ 1539716 w 1628775"/>
                <a:gd name="connsiteY0" fmla="*/ 1416844 h 1419225"/>
                <a:gd name="connsiteX1" fmla="*/ 7144 w 1628775"/>
                <a:gd name="connsiteY1" fmla="*/ 1357789 h 1419225"/>
                <a:gd name="connsiteX2" fmla="*/ 57626 w 1628775"/>
                <a:gd name="connsiteY2" fmla="*/ 363379 h 1419225"/>
                <a:gd name="connsiteX3" fmla="*/ 1628299 w 1628775"/>
                <a:gd name="connsiteY3" fmla="*/ 7144 h 1419225"/>
              </a:gdLst>
              <a:ahLst/>
              <a:cxnLst>
                <a:cxn ang="0">
                  <a:pos x="connsiteX0" y="connsiteY0"/>
                </a:cxn>
                <a:cxn ang="0">
                  <a:pos x="connsiteX1" y="connsiteY1"/>
                </a:cxn>
                <a:cxn ang="0">
                  <a:pos x="connsiteX2" y="connsiteY2"/>
                </a:cxn>
                <a:cxn ang="0">
                  <a:pos x="connsiteX3" y="connsiteY3"/>
                </a:cxn>
              </a:cxnLst>
              <a:rect l="l" t="t" r="r" b="b"/>
              <a:pathLst>
                <a:path w="1628775" h="1419225">
                  <a:moveTo>
                    <a:pt x="1539716" y="1416844"/>
                  </a:moveTo>
                  <a:lnTo>
                    <a:pt x="7144" y="1357789"/>
                  </a:lnTo>
                  <a:lnTo>
                    <a:pt x="57626" y="363379"/>
                  </a:lnTo>
                  <a:lnTo>
                    <a:pt x="1628299" y="7144"/>
                  </a:lnTo>
                  <a:close/>
                </a:path>
              </a:pathLst>
            </a:custGeom>
            <a:solidFill>
              <a:srgbClr val="E6E6E6"/>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14DA78C4-87F2-446E-AE34-0432570E280A}"/>
                </a:ext>
              </a:extLst>
            </p:cNvPr>
            <p:cNvSpPr/>
            <p:nvPr/>
          </p:nvSpPr>
          <p:spPr>
            <a:xfrm>
              <a:off x="6446339" y="4996281"/>
              <a:ext cx="4044444" cy="868298"/>
            </a:xfrm>
            <a:custGeom>
              <a:avLst/>
              <a:gdLst>
                <a:gd name="connsiteX0" fmla="*/ 13844 w 1685925"/>
                <a:gd name="connsiteY0" fmla="*/ 7144 h 361950"/>
                <a:gd name="connsiteX1" fmla="*/ 7176 w 1685925"/>
                <a:gd name="connsiteY1" fmla="*/ 133826 h 361950"/>
                <a:gd name="connsiteX2" fmla="*/ 53849 w 1685925"/>
                <a:gd name="connsiteY2" fmla="*/ 189071 h 361950"/>
                <a:gd name="connsiteX3" fmla="*/ 1597851 w 1685925"/>
                <a:gd name="connsiteY3" fmla="*/ 363379 h 361950"/>
                <a:gd name="connsiteX4" fmla="*/ 1675956 w 1685925"/>
                <a:gd name="connsiteY4" fmla="*/ 296704 h 361950"/>
                <a:gd name="connsiteX5" fmla="*/ 1686434 w 1685925"/>
                <a:gd name="connsiteY5" fmla="*/ 111919 h 361950"/>
                <a:gd name="connsiteX6" fmla="*/ 13844 w 1685925"/>
                <a:gd name="connsiteY6" fmla="*/ 7144 h 36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925" h="361950">
                  <a:moveTo>
                    <a:pt x="13844" y="7144"/>
                  </a:moveTo>
                  <a:lnTo>
                    <a:pt x="7176" y="133826"/>
                  </a:lnTo>
                  <a:cubicBezTo>
                    <a:pt x="6224" y="161449"/>
                    <a:pt x="26226" y="186214"/>
                    <a:pt x="53849" y="189071"/>
                  </a:cubicBezTo>
                  <a:lnTo>
                    <a:pt x="1597851" y="363379"/>
                  </a:lnTo>
                  <a:cubicBezTo>
                    <a:pt x="1637856" y="368141"/>
                    <a:pt x="1674051" y="337661"/>
                    <a:pt x="1675956" y="296704"/>
                  </a:cubicBezTo>
                  <a:lnTo>
                    <a:pt x="1686434" y="111919"/>
                  </a:lnTo>
                  <a:lnTo>
                    <a:pt x="13844" y="7144"/>
                  </a:lnTo>
                  <a:close/>
                </a:path>
              </a:pathLst>
            </a:custGeom>
            <a:solidFill>
              <a:srgbClr val="B3B3B3"/>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201B44D6-F92F-461D-A50C-E9045F317764}"/>
                </a:ext>
              </a:extLst>
            </p:cNvPr>
            <p:cNvSpPr/>
            <p:nvPr/>
          </p:nvSpPr>
          <p:spPr>
            <a:xfrm>
              <a:off x="7715310" y="1593115"/>
              <a:ext cx="2775473" cy="3394037"/>
            </a:xfrm>
            <a:custGeom>
              <a:avLst/>
              <a:gdLst>
                <a:gd name="connsiteX0" fmla="*/ 1425389 w 2775473"/>
                <a:gd name="connsiteY0" fmla="*/ 306593 h 3394037"/>
                <a:gd name="connsiteX1" fmla="*/ 2775473 w 2775473"/>
                <a:gd name="connsiteY1" fmla="*/ 0 h 3394037"/>
                <a:gd name="connsiteX2" fmla="*/ 2565699 w 2775473"/>
                <a:gd name="connsiteY2" fmla="*/ 3394037 h 3394037"/>
                <a:gd name="connsiteX3" fmla="*/ 0 w 2775473"/>
                <a:gd name="connsiteY3" fmla="*/ 3281082 h 3394037"/>
                <a:gd name="connsiteX4" fmla="*/ 1425389 w 2775473"/>
                <a:gd name="connsiteY4" fmla="*/ 306593 h 3394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75473" h="3394037">
                  <a:moveTo>
                    <a:pt x="1425389" y="306593"/>
                  </a:moveTo>
                  <a:lnTo>
                    <a:pt x="2775473" y="0"/>
                  </a:lnTo>
                  <a:lnTo>
                    <a:pt x="2565699" y="3394037"/>
                  </a:lnTo>
                  <a:lnTo>
                    <a:pt x="0" y="3281082"/>
                  </a:lnTo>
                  <a:lnTo>
                    <a:pt x="1425389" y="306593"/>
                  </a:lnTo>
                  <a:close/>
                </a:path>
              </a:pathLst>
            </a:custGeom>
            <a:solidFill>
              <a:srgbClr val="999999">
                <a:alpha val="10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grpSp>
      <p:sp>
        <p:nvSpPr>
          <p:cNvPr id="11" name="Text Placeholder 9">
            <a:extLst>
              <a:ext uri="{FF2B5EF4-FFF2-40B4-BE49-F238E27FC236}">
                <a16:creationId xmlns:a16="http://schemas.microsoft.com/office/drawing/2014/main" id="{8F734703-4A61-4A31-BB9E-0C690EB35224}"/>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14" name="Picture Placeholder 13">
            <a:extLst>
              <a:ext uri="{FF2B5EF4-FFF2-40B4-BE49-F238E27FC236}">
                <a16:creationId xmlns:a16="http://schemas.microsoft.com/office/drawing/2014/main" id="{54D90936-42A8-407A-87C1-0A47569609FC}"/>
              </a:ext>
            </a:extLst>
          </p:cNvPr>
          <p:cNvSpPr>
            <a:spLocks noGrp="1"/>
          </p:cNvSpPr>
          <p:nvPr>
            <p:ph type="pic" sz="quarter" idx="42" hasCustomPrompt="1"/>
          </p:nvPr>
        </p:nvSpPr>
        <p:spPr>
          <a:xfrm>
            <a:off x="859407" y="1640713"/>
            <a:ext cx="3631408" cy="3157745"/>
          </a:xfrm>
          <a:custGeom>
            <a:avLst/>
            <a:gdLst>
              <a:gd name="connsiteX0" fmla="*/ 0 w 3631408"/>
              <a:gd name="connsiteY0" fmla="*/ 0 h 3157745"/>
              <a:gd name="connsiteX1" fmla="*/ 3518328 w 3631408"/>
              <a:gd name="connsiteY1" fmla="*/ 797970 h 3157745"/>
              <a:gd name="connsiteX2" fmla="*/ 3631408 w 3631408"/>
              <a:gd name="connsiteY2" fmla="*/ 3025461 h 3157745"/>
              <a:gd name="connsiteX3" fmla="*/ 198427 w 3631408"/>
              <a:gd name="connsiteY3" fmla="*/ 3157745 h 3157745"/>
            </a:gdLst>
            <a:ahLst/>
            <a:cxnLst>
              <a:cxn ang="0">
                <a:pos x="connsiteX0" y="connsiteY0"/>
              </a:cxn>
              <a:cxn ang="0">
                <a:pos x="connsiteX1" y="connsiteY1"/>
              </a:cxn>
              <a:cxn ang="0">
                <a:pos x="connsiteX2" y="connsiteY2"/>
              </a:cxn>
              <a:cxn ang="0">
                <a:pos x="connsiteX3" y="connsiteY3"/>
              </a:cxn>
            </a:cxnLst>
            <a:rect l="l" t="t" r="r" b="b"/>
            <a:pathLst>
              <a:path w="3631408" h="3157745">
                <a:moveTo>
                  <a:pt x="0" y="0"/>
                </a:moveTo>
                <a:lnTo>
                  <a:pt x="3518328" y="797970"/>
                </a:lnTo>
                <a:lnTo>
                  <a:pt x="3631408" y="3025461"/>
                </a:lnTo>
                <a:lnTo>
                  <a:pt x="198427" y="3157745"/>
                </a:lnTo>
                <a:close/>
              </a:path>
            </a:pathLst>
          </a:custGeom>
          <a:solidFill>
            <a:schemeClr val="bg1">
              <a:lumMod val="95000"/>
            </a:schemeClr>
          </a:solidFill>
        </p:spPr>
        <p:txBody>
          <a:bodyPr wrap="square" anchor="ctr">
            <a:noAutofit/>
          </a:bodyPr>
          <a:lstStyle>
            <a:lvl1pPr marL="0" marR="0" indent="0" algn="ctr" defTabSz="914446" rtl="0" eaLnBrk="1" fontAlgn="auto" latinLnBrk="0" hangingPunct="1">
              <a:lnSpc>
                <a:spcPct val="100000"/>
              </a:lnSpc>
              <a:spcBef>
                <a:spcPct val="20000"/>
              </a:spcBef>
              <a:spcAft>
                <a:spcPts val="0"/>
              </a:spcAft>
              <a:buClrTx/>
              <a:buSzTx/>
              <a:buFont typeface="Arial" pitchFamily="34" charset="0"/>
              <a:buNone/>
              <a:tabLst/>
              <a:defRPr sz="1200">
                <a:solidFill>
                  <a:schemeClr val="tx1">
                    <a:lumMod val="75000"/>
                    <a:lumOff val="25000"/>
                  </a:schemeClr>
                </a:solidFill>
              </a:defRPr>
            </a:lvl1pPr>
          </a:lstStyle>
          <a:p>
            <a:pPr marL="0" lvl="0" algn="ctr"/>
            <a:r>
              <a:rPr lang="en-US" altLang="ko-KR" dirty="0"/>
              <a:t>Place Your Picture Here</a:t>
            </a:r>
            <a:endParaRPr lang="ko-KR" altLang="en-US" dirty="0"/>
          </a:p>
        </p:txBody>
      </p:sp>
      <p:grpSp>
        <p:nvGrpSpPr>
          <p:cNvPr id="12" name="Group 11">
            <a:extLst>
              <a:ext uri="{FF2B5EF4-FFF2-40B4-BE49-F238E27FC236}">
                <a16:creationId xmlns:a16="http://schemas.microsoft.com/office/drawing/2014/main" id="{83239325-648E-4C47-A0FE-7713B34A5F6E}"/>
              </a:ext>
            </a:extLst>
          </p:cNvPr>
          <p:cNvGrpSpPr/>
          <p:nvPr userDrawn="1"/>
        </p:nvGrpSpPr>
        <p:grpSpPr>
          <a:xfrm flipV="1">
            <a:off x="5427361" y="1143268"/>
            <a:ext cx="1337278" cy="220479"/>
            <a:chOff x="5809673" y="3008118"/>
            <a:chExt cx="2419398" cy="398889"/>
          </a:xfrm>
        </p:grpSpPr>
        <p:sp>
          <p:nvSpPr>
            <p:cNvPr id="13" name="Rectangle 12">
              <a:extLst>
                <a:ext uri="{FF2B5EF4-FFF2-40B4-BE49-F238E27FC236}">
                  <a16:creationId xmlns:a16="http://schemas.microsoft.com/office/drawing/2014/main" id="{6C34544F-4AFB-4567-9A14-BD40476D91DB}"/>
                </a:ext>
              </a:extLst>
            </p:cNvPr>
            <p:cNvSpPr/>
            <p:nvPr userDrawn="1"/>
          </p:nvSpPr>
          <p:spPr>
            <a:xfrm>
              <a:off x="5809673" y="3008118"/>
              <a:ext cx="398888" cy="39888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EC347462-2243-4988-88A7-D48FDFC67F8A}"/>
                </a:ext>
              </a:extLst>
            </p:cNvPr>
            <p:cNvSpPr/>
            <p:nvPr userDrawn="1"/>
          </p:nvSpPr>
          <p:spPr>
            <a:xfrm>
              <a:off x="6314801" y="3008118"/>
              <a:ext cx="398888" cy="398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AAED053-508E-4B0B-9E07-60D6E23602BC}"/>
                </a:ext>
              </a:extLst>
            </p:cNvPr>
            <p:cNvSpPr/>
            <p:nvPr userDrawn="1"/>
          </p:nvSpPr>
          <p:spPr>
            <a:xfrm>
              <a:off x="6819928" y="3008118"/>
              <a:ext cx="398888" cy="39888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9D32752-7C30-4517-952B-8736B7299F1D}"/>
                </a:ext>
              </a:extLst>
            </p:cNvPr>
            <p:cNvSpPr/>
            <p:nvPr userDrawn="1"/>
          </p:nvSpPr>
          <p:spPr>
            <a:xfrm>
              <a:off x="7325056" y="3008118"/>
              <a:ext cx="398888" cy="39888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D7307619-FF7D-47F2-9979-458DC7E6076E}"/>
                </a:ext>
              </a:extLst>
            </p:cNvPr>
            <p:cNvSpPr/>
            <p:nvPr userDrawn="1"/>
          </p:nvSpPr>
          <p:spPr>
            <a:xfrm>
              <a:off x="7830183" y="3008118"/>
              <a:ext cx="398888" cy="39888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7091093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Agenda Layout">
    <p:spTree>
      <p:nvGrpSpPr>
        <p:cNvPr id="1" name=""/>
        <p:cNvGrpSpPr/>
        <p:nvPr/>
      </p:nvGrpSpPr>
      <p:grpSpPr>
        <a:xfrm>
          <a:off x="0" y="0"/>
          <a:ext cx="0" cy="0"/>
          <a:chOff x="0" y="0"/>
          <a:chExt cx="0" cy="0"/>
        </a:xfrm>
      </p:grpSpPr>
      <p:sp>
        <p:nvSpPr>
          <p:cNvPr id="19" name="Rectangle 18"/>
          <p:cNvSpPr/>
          <p:nvPr userDrawn="1"/>
        </p:nvSpPr>
        <p:spPr>
          <a:xfrm>
            <a:off x="9807276" y="0"/>
            <a:ext cx="2384725"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46" name="Freeform: Shape 45">
            <a:extLst>
              <a:ext uri="{FF2B5EF4-FFF2-40B4-BE49-F238E27FC236}">
                <a16:creationId xmlns:a16="http://schemas.microsoft.com/office/drawing/2014/main" id="{A9BB1F4B-B25A-4413-A9F8-698D3557FB80}"/>
              </a:ext>
            </a:extLst>
          </p:cNvPr>
          <p:cNvSpPr/>
          <p:nvPr/>
        </p:nvSpPr>
        <p:spPr>
          <a:xfrm>
            <a:off x="7953731" y="1576695"/>
            <a:ext cx="3686283" cy="4466486"/>
          </a:xfrm>
          <a:custGeom>
            <a:avLst/>
            <a:gdLst>
              <a:gd name="connsiteX0" fmla="*/ 2600325 w 3686283"/>
              <a:gd name="connsiteY0" fmla="*/ 147528 h 4466486"/>
              <a:gd name="connsiteX1" fmla="*/ 2730818 w 3686283"/>
              <a:gd name="connsiteY1" fmla="*/ 275163 h 4466486"/>
              <a:gd name="connsiteX2" fmla="*/ 2600325 w 3686283"/>
              <a:gd name="connsiteY2" fmla="*/ 147528 h 4466486"/>
              <a:gd name="connsiteX3" fmla="*/ 1847850 w 3686283"/>
              <a:gd name="connsiteY3" fmla="*/ 10 h 4466486"/>
              <a:gd name="connsiteX4" fmla="*/ 2013585 w 3686283"/>
              <a:gd name="connsiteY4" fmla="*/ 28466 h 4466486"/>
              <a:gd name="connsiteX5" fmla="*/ 2286000 w 3686283"/>
              <a:gd name="connsiteY5" fmla="*/ 58946 h 4466486"/>
              <a:gd name="connsiteX6" fmla="*/ 2541270 w 3686283"/>
              <a:gd name="connsiteY6" fmla="*/ 109428 h 4466486"/>
              <a:gd name="connsiteX7" fmla="*/ 2574608 w 3686283"/>
              <a:gd name="connsiteY7" fmla="*/ 121811 h 4466486"/>
              <a:gd name="connsiteX8" fmla="*/ 2751773 w 3686283"/>
              <a:gd name="connsiteY8" fmla="*/ 214203 h 4466486"/>
              <a:gd name="connsiteX9" fmla="*/ 2498408 w 3686283"/>
              <a:gd name="connsiteY9" fmla="*/ 34181 h 4466486"/>
              <a:gd name="connsiteX10" fmla="*/ 2518410 w 3686283"/>
              <a:gd name="connsiteY10" fmla="*/ 32276 h 4466486"/>
              <a:gd name="connsiteX11" fmla="*/ 2828925 w 3686283"/>
              <a:gd name="connsiteY11" fmla="*/ 302786 h 4466486"/>
              <a:gd name="connsiteX12" fmla="*/ 2837498 w 3686283"/>
              <a:gd name="connsiteY12" fmla="*/ 374223 h 4466486"/>
              <a:gd name="connsiteX13" fmla="*/ 3133725 w 3686283"/>
              <a:gd name="connsiteY13" fmla="*/ 293261 h 4466486"/>
              <a:gd name="connsiteX14" fmla="*/ 3069908 w 3686283"/>
              <a:gd name="connsiteY14" fmla="*/ 293261 h 4466486"/>
              <a:gd name="connsiteX15" fmla="*/ 2973705 w 3686283"/>
              <a:gd name="connsiteY15" fmla="*/ 308501 h 4466486"/>
              <a:gd name="connsiteX16" fmla="*/ 2908935 w 3686283"/>
              <a:gd name="connsiteY16" fmla="*/ 366603 h 4466486"/>
              <a:gd name="connsiteX17" fmla="*/ 2924175 w 3686283"/>
              <a:gd name="connsiteY17" fmla="*/ 396131 h 4466486"/>
              <a:gd name="connsiteX18" fmla="*/ 2972753 w 3686283"/>
              <a:gd name="connsiteY18" fmla="*/ 388511 h 4466486"/>
              <a:gd name="connsiteX19" fmla="*/ 3132773 w 3686283"/>
              <a:gd name="connsiteY19" fmla="*/ 368508 h 4466486"/>
              <a:gd name="connsiteX20" fmla="*/ 2998470 w 3686283"/>
              <a:gd name="connsiteY20" fmla="*/ 405656 h 4466486"/>
              <a:gd name="connsiteX21" fmla="*/ 3079433 w 3686283"/>
              <a:gd name="connsiteY21" fmla="*/ 414228 h 4466486"/>
              <a:gd name="connsiteX22" fmla="*/ 3160395 w 3686283"/>
              <a:gd name="connsiteY22" fmla="*/ 445661 h 4466486"/>
              <a:gd name="connsiteX23" fmla="*/ 3083243 w 3686283"/>
              <a:gd name="connsiteY23" fmla="*/ 435183 h 4466486"/>
              <a:gd name="connsiteX24" fmla="*/ 3215640 w 3686283"/>
              <a:gd name="connsiteY24" fmla="*/ 491381 h 4466486"/>
              <a:gd name="connsiteX25" fmla="*/ 3157538 w 3686283"/>
              <a:gd name="connsiteY25" fmla="*/ 476141 h 4466486"/>
              <a:gd name="connsiteX26" fmla="*/ 3173730 w 3686283"/>
              <a:gd name="connsiteY26" fmla="*/ 494238 h 4466486"/>
              <a:gd name="connsiteX27" fmla="*/ 3308033 w 3686283"/>
              <a:gd name="connsiteY27" fmla="*/ 689501 h 4466486"/>
              <a:gd name="connsiteX28" fmla="*/ 3393758 w 3686283"/>
              <a:gd name="connsiteY28" fmla="*/ 842853 h 4466486"/>
              <a:gd name="connsiteX29" fmla="*/ 3467100 w 3686283"/>
              <a:gd name="connsiteY29" fmla="*/ 1227663 h 4466486"/>
              <a:gd name="connsiteX30" fmla="*/ 3483293 w 3686283"/>
              <a:gd name="connsiteY30" fmla="*/ 1302911 h 4466486"/>
              <a:gd name="connsiteX31" fmla="*/ 3605213 w 3686283"/>
              <a:gd name="connsiteY31" fmla="*/ 1573421 h 4466486"/>
              <a:gd name="connsiteX32" fmla="*/ 3558540 w 3686283"/>
              <a:gd name="connsiteY32" fmla="*/ 1822976 h 4466486"/>
              <a:gd name="connsiteX33" fmla="*/ 3527108 w 3686283"/>
              <a:gd name="connsiteY33" fmla="*/ 1921083 h 4466486"/>
              <a:gd name="connsiteX34" fmla="*/ 3553778 w 3686283"/>
              <a:gd name="connsiteY34" fmla="*/ 2005856 h 4466486"/>
              <a:gd name="connsiteX35" fmla="*/ 3622358 w 3686283"/>
              <a:gd name="connsiteY35" fmla="*/ 2024906 h 4466486"/>
              <a:gd name="connsiteX36" fmla="*/ 3668078 w 3686283"/>
              <a:gd name="connsiteY36" fmla="*/ 1975376 h 4466486"/>
              <a:gd name="connsiteX37" fmla="*/ 3673793 w 3686283"/>
              <a:gd name="connsiteY37" fmla="*/ 1944896 h 4466486"/>
              <a:gd name="connsiteX38" fmla="*/ 3639503 w 3686283"/>
              <a:gd name="connsiteY38" fmla="*/ 2080151 h 4466486"/>
              <a:gd name="connsiteX39" fmla="*/ 3585210 w 3686283"/>
              <a:gd name="connsiteY39" fmla="*/ 2164923 h 4466486"/>
              <a:gd name="connsiteX40" fmla="*/ 3498533 w 3686283"/>
              <a:gd name="connsiteY40" fmla="*/ 2310656 h 4466486"/>
              <a:gd name="connsiteX41" fmla="*/ 3452813 w 3686283"/>
              <a:gd name="connsiteY41" fmla="*/ 2408764 h 4466486"/>
              <a:gd name="connsiteX42" fmla="*/ 3448050 w 3686283"/>
              <a:gd name="connsiteY42" fmla="*/ 2458293 h 4466486"/>
              <a:gd name="connsiteX43" fmla="*/ 3183255 w 3686283"/>
              <a:gd name="connsiteY43" fmla="*/ 2671654 h 4466486"/>
              <a:gd name="connsiteX44" fmla="*/ 3066098 w 3686283"/>
              <a:gd name="connsiteY44" fmla="*/ 2803098 h 4466486"/>
              <a:gd name="connsiteX45" fmla="*/ 3066098 w 3686283"/>
              <a:gd name="connsiteY45" fmla="*/ 2880251 h 4466486"/>
              <a:gd name="connsiteX46" fmla="*/ 3031808 w 3686283"/>
              <a:gd name="connsiteY46" fmla="*/ 3010743 h 4466486"/>
              <a:gd name="connsiteX47" fmla="*/ 2946083 w 3686283"/>
              <a:gd name="connsiteY47" fmla="*/ 3070751 h 4466486"/>
              <a:gd name="connsiteX48" fmla="*/ 2998470 w 3686283"/>
              <a:gd name="connsiteY48" fmla="*/ 2908826 h 4466486"/>
              <a:gd name="connsiteX49" fmla="*/ 2875598 w 3686283"/>
              <a:gd name="connsiteY49" fmla="*/ 3078371 h 4466486"/>
              <a:gd name="connsiteX50" fmla="*/ 2957513 w 3686283"/>
              <a:gd name="connsiteY50" fmla="*/ 2907873 h 4466486"/>
              <a:gd name="connsiteX51" fmla="*/ 2829878 w 3686283"/>
              <a:gd name="connsiteY51" fmla="*/ 3063131 h 4466486"/>
              <a:gd name="connsiteX52" fmla="*/ 2926080 w 3686283"/>
              <a:gd name="connsiteY52" fmla="*/ 2949783 h 4466486"/>
              <a:gd name="connsiteX53" fmla="*/ 2812733 w 3686283"/>
              <a:gd name="connsiteY53" fmla="*/ 3049796 h 4466486"/>
              <a:gd name="connsiteX54" fmla="*/ 2533650 w 3686283"/>
              <a:gd name="connsiteY54" fmla="*/ 3226008 h 4466486"/>
              <a:gd name="connsiteX55" fmla="*/ 2338388 w 3686283"/>
              <a:gd name="connsiteY55" fmla="*/ 3264108 h 4466486"/>
              <a:gd name="connsiteX56" fmla="*/ 2214563 w 3686283"/>
              <a:gd name="connsiteY56" fmla="*/ 3397458 h 4466486"/>
              <a:gd name="connsiteX57" fmla="*/ 2216468 w 3686283"/>
              <a:gd name="connsiteY57" fmla="*/ 3450798 h 4466486"/>
              <a:gd name="connsiteX58" fmla="*/ 2396490 w 3686283"/>
              <a:gd name="connsiteY58" fmla="*/ 3977531 h 4466486"/>
              <a:gd name="connsiteX59" fmla="*/ 2577465 w 3686283"/>
              <a:gd name="connsiteY59" fmla="*/ 4291856 h 4466486"/>
              <a:gd name="connsiteX60" fmla="*/ 2556510 w 3686283"/>
              <a:gd name="connsiteY60" fmla="*/ 4342339 h 4466486"/>
              <a:gd name="connsiteX61" fmla="*/ 1666875 w 3686283"/>
              <a:gd name="connsiteY61" fmla="*/ 4464259 h 4466486"/>
              <a:gd name="connsiteX62" fmla="*/ 1286828 w 3686283"/>
              <a:gd name="connsiteY62" fmla="*/ 4460449 h 4466486"/>
              <a:gd name="connsiteX63" fmla="*/ 743903 w 3686283"/>
              <a:gd name="connsiteY63" fmla="*/ 4396631 h 4466486"/>
              <a:gd name="connsiteX64" fmla="*/ 716280 w 3686283"/>
              <a:gd name="connsiteY64" fmla="*/ 4354721 h 4466486"/>
              <a:gd name="connsiteX65" fmla="*/ 808673 w 3686283"/>
              <a:gd name="connsiteY65" fmla="*/ 3804176 h 4466486"/>
              <a:gd name="connsiteX66" fmla="*/ 759143 w 3686283"/>
              <a:gd name="connsiteY66" fmla="*/ 3469848 h 4466486"/>
              <a:gd name="connsiteX67" fmla="*/ 602933 w 3686283"/>
              <a:gd name="connsiteY67" fmla="*/ 3306018 h 4466486"/>
              <a:gd name="connsiteX68" fmla="*/ 296228 w 3686283"/>
              <a:gd name="connsiteY68" fmla="*/ 3193623 h 4466486"/>
              <a:gd name="connsiteX69" fmla="*/ 180023 w 3686283"/>
              <a:gd name="connsiteY69" fmla="*/ 3141236 h 4466486"/>
              <a:gd name="connsiteX70" fmla="*/ 73343 w 3686283"/>
              <a:gd name="connsiteY70" fmla="*/ 2839293 h 4466486"/>
              <a:gd name="connsiteX71" fmla="*/ 70485 w 3686283"/>
              <a:gd name="connsiteY71" fmla="*/ 2664033 h 4466486"/>
              <a:gd name="connsiteX72" fmla="*/ 89535 w 3686283"/>
              <a:gd name="connsiteY72" fmla="*/ 2507823 h 4466486"/>
              <a:gd name="connsiteX73" fmla="*/ 87630 w 3686283"/>
              <a:gd name="connsiteY73" fmla="*/ 2477343 h 4466486"/>
              <a:gd name="connsiteX74" fmla="*/ 65723 w 3686283"/>
              <a:gd name="connsiteY74" fmla="*/ 2304941 h 4466486"/>
              <a:gd name="connsiteX75" fmla="*/ 82868 w 3686283"/>
              <a:gd name="connsiteY75" fmla="*/ 2251601 h 4466486"/>
              <a:gd name="connsiteX76" fmla="*/ 42863 w 3686283"/>
              <a:gd name="connsiteY76" fmla="*/ 2117298 h 4466486"/>
              <a:gd name="connsiteX77" fmla="*/ 0 w 3686283"/>
              <a:gd name="connsiteY77" fmla="*/ 2055386 h 4466486"/>
              <a:gd name="connsiteX78" fmla="*/ 0 w 3686283"/>
              <a:gd name="connsiteY78" fmla="*/ 1996331 h 4466486"/>
              <a:gd name="connsiteX79" fmla="*/ 120968 w 3686283"/>
              <a:gd name="connsiteY79" fmla="*/ 1869648 h 4466486"/>
              <a:gd name="connsiteX80" fmla="*/ 242888 w 3686283"/>
              <a:gd name="connsiteY80" fmla="*/ 1732488 h 4466486"/>
              <a:gd name="connsiteX81" fmla="*/ 277178 w 3686283"/>
              <a:gd name="connsiteY81" fmla="*/ 1493411 h 4466486"/>
              <a:gd name="connsiteX82" fmla="*/ 278130 w 3686283"/>
              <a:gd name="connsiteY82" fmla="*/ 1294338 h 4466486"/>
              <a:gd name="connsiteX83" fmla="*/ 330756 w 3686283"/>
              <a:gd name="connsiteY83" fmla="*/ 1017756 h 4466486"/>
              <a:gd name="connsiteX84" fmla="*/ 345094 w 3686283"/>
              <a:gd name="connsiteY84" fmla="*/ 980044 h 4466486"/>
              <a:gd name="connsiteX85" fmla="*/ 355181 w 3686283"/>
              <a:gd name="connsiteY85" fmla="*/ 982080 h 4466486"/>
              <a:gd name="connsiteX86" fmla="*/ 565561 w 3686283"/>
              <a:gd name="connsiteY86" fmla="*/ 771700 h 4466486"/>
              <a:gd name="connsiteX87" fmla="*/ 549028 w 3686283"/>
              <a:gd name="connsiteY87" fmla="*/ 689811 h 4466486"/>
              <a:gd name="connsiteX88" fmla="*/ 505749 w 3686283"/>
              <a:gd name="connsiteY88" fmla="*/ 625619 h 4466486"/>
              <a:gd name="connsiteX89" fmla="*/ 523161 w 3686283"/>
              <a:gd name="connsiteY89" fmla="*/ 631024 h 4466486"/>
              <a:gd name="connsiteX90" fmla="*/ 565560 w 3686283"/>
              <a:gd name="connsiteY90" fmla="*/ 635298 h 4466486"/>
              <a:gd name="connsiteX91" fmla="*/ 759407 w 3686283"/>
              <a:gd name="connsiteY91" fmla="*/ 506808 h 4466486"/>
              <a:gd name="connsiteX92" fmla="*/ 766522 w 3686283"/>
              <a:gd name="connsiteY92" fmla="*/ 483889 h 4466486"/>
              <a:gd name="connsiteX93" fmla="*/ 806340 w 3686283"/>
              <a:gd name="connsiteY93" fmla="*/ 496250 h 4466486"/>
              <a:gd name="connsiteX94" fmla="*/ 867114 w 3686283"/>
              <a:gd name="connsiteY94" fmla="*/ 502376 h 4466486"/>
              <a:gd name="connsiteX95" fmla="*/ 1168668 w 3686283"/>
              <a:gd name="connsiteY95" fmla="*/ 200822 h 4466486"/>
              <a:gd name="connsiteX96" fmla="*/ 1144970 w 3686283"/>
              <a:gd name="connsiteY96" fmla="*/ 83444 h 4466486"/>
              <a:gd name="connsiteX97" fmla="*/ 1123627 w 3686283"/>
              <a:gd name="connsiteY97" fmla="*/ 44121 h 4466486"/>
              <a:gd name="connsiteX98" fmla="*/ 1144905 w 3686283"/>
              <a:gd name="connsiteY98" fmla="*/ 31323 h 4466486"/>
              <a:gd name="connsiteX99" fmla="*/ 1165860 w 3686283"/>
              <a:gd name="connsiteY99" fmla="*/ 26561 h 4466486"/>
              <a:gd name="connsiteX100" fmla="*/ 1196340 w 3686283"/>
              <a:gd name="connsiteY100" fmla="*/ 32276 h 4466486"/>
              <a:gd name="connsiteX101" fmla="*/ 1301115 w 3686283"/>
              <a:gd name="connsiteY101" fmla="*/ 5606 h 4466486"/>
              <a:gd name="connsiteX102" fmla="*/ 1280160 w 3686283"/>
              <a:gd name="connsiteY102" fmla="*/ 28466 h 4466486"/>
              <a:gd name="connsiteX103" fmla="*/ 1403033 w 3686283"/>
              <a:gd name="connsiteY103" fmla="*/ 17036 h 4466486"/>
              <a:gd name="connsiteX104" fmla="*/ 1370648 w 3686283"/>
              <a:gd name="connsiteY104" fmla="*/ 37991 h 4466486"/>
              <a:gd name="connsiteX105" fmla="*/ 1378268 w 3686283"/>
              <a:gd name="connsiteY105" fmla="*/ 42753 h 4466486"/>
              <a:gd name="connsiteX106" fmla="*/ 1401128 w 3686283"/>
              <a:gd name="connsiteY106" fmla="*/ 48468 h 4466486"/>
              <a:gd name="connsiteX107" fmla="*/ 1682115 w 3686283"/>
              <a:gd name="connsiteY107" fmla="*/ 29418 h 4466486"/>
              <a:gd name="connsiteX108" fmla="*/ 1847850 w 3686283"/>
              <a:gd name="connsiteY108" fmla="*/ 10 h 4466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3686283" h="4466486">
                <a:moveTo>
                  <a:pt x="2600325" y="147528"/>
                </a:moveTo>
                <a:cubicBezTo>
                  <a:pt x="2647950" y="184676"/>
                  <a:pt x="2687955" y="226586"/>
                  <a:pt x="2730818" y="275163"/>
                </a:cubicBezTo>
                <a:cubicBezTo>
                  <a:pt x="2725103" y="205631"/>
                  <a:pt x="2662238" y="146576"/>
                  <a:pt x="2600325" y="147528"/>
                </a:cubicBezTo>
                <a:close/>
                <a:moveTo>
                  <a:pt x="1847850" y="10"/>
                </a:moveTo>
                <a:cubicBezTo>
                  <a:pt x="1903095" y="-347"/>
                  <a:pt x="1958340" y="8940"/>
                  <a:pt x="2013585" y="28466"/>
                </a:cubicBezTo>
                <a:cubicBezTo>
                  <a:pt x="2102168" y="59898"/>
                  <a:pt x="2193608" y="69423"/>
                  <a:pt x="2286000" y="58946"/>
                </a:cubicBezTo>
                <a:cubicBezTo>
                  <a:pt x="2377440" y="48468"/>
                  <a:pt x="2461260" y="67518"/>
                  <a:pt x="2541270" y="109428"/>
                </a:cubicBezTo>
                <a:cubicBezTo>
                  <a:pt x="2551748" y="115143"/>
                  <a:pt x="2562225" y="119906"/>
                  <a:pt x="2574608" y="121811"/>
                </a:cubicBezTo>
                <a:cubicBezTo>
                  <a:pt x="2644140" y="127526"/>
                  <a:pt x="2706053" y="147528"/>
                  <a:pt x="2751773" y="214203"/>
                </a:cubicBezTo>
                <a:cubicBezTo>
                  <a:pt x="2732723" y="109428"/>
                  <a:pt x="2665095" y="61803"/>
                  <a:pt x="2498408" y="34181"/>
                </a:cubicBezTo>
                <a:cubicBezTo>
                  <a:pt x="2509838" y="33228"/>
                  <a:pt x="2514600" y="32276"/>
                  <a:pt x="2518410" y="32276"/>
                </a:cubicBezTo>
                <a:cubicBezTo>
                  <a:pt x="2686050" y="23703"/>
                  <a:pt x="2806065" y="129431"/>
                  <a:pt x="2828925" y="302786"/>
                </a:cubicBezTo>
                <a:cubicBezTo>
                  <a:pt x="2831783" y="325646"/>
                  <a:pt x="2834640" y="348506"/>
                  <a:pt x="2837498" y="374223"/>
                </a:cubicBezTo>
                <a:cubicBezTo>
                  <a:pt x="2922270" y="277068"/>
                  <a:pt x="3033713" y="245636"/>
                  <a:pt x="3133725" y="293261"/>
                </a:cubicBezTo>
                <a:cubicBezTo>
                  <a:pt x="3108008" y="293261"/>
                  <a:pt x="3088958" y="293261"/>
                  <a:pt x="3069908" y="293261"/>
                </a:cubicBezTo>
                <a:cubicBezTo>
                  <a:pt x="3036570" y="293261"/>
                  <a:pt x="3004185" y="297071"/>
                  <a:pt x="2973705" y="308501"/>
                </a:cubicBezTo>
                <a:cubicBezTo>
                  <a:pt x="2945130" y="319931"/>
                  <a:pt x="2922270" y="338028"/>
                  <a:pt x="2908935" y="366603"/>
                </a:cubicBezTo>
                <a:cubicBezTo>
                  <a:pt x="2901315" y="382796"/>
                  <a:pt x="2905125" y="392321"/>
                  <a:pt x="2924175" y="396131"/>
                </a:cubicBezTo>
                <a:cubicBezTo>
                  <a:pt x="2941320" y="398988"/>
                  <a:pt x="2956560" y="397083"/>
                  <a:pt x="2972753" y="388511"/>
                </a:cubicBezTo>
                <a:cubicBezTo>
                  <a:pt x="3023235" y="360888"/>
                  <a:pt x="3077528" y="357078"/>
                  <a:pt x="3132773" y="368508"/>
                </a:cubicBezTo>
                <a:cubicBezTo>
                  <a:pt x="3086100" y="373271"/>
                  <a:pt x="3039428" y="375176"/>
                  <a:pt x="2998470" y="405656"/>
                </a:cubicBezTo>
                <a:cubicBezTo>
                  <a:pt x="3026093" y="408513"/>
                  <a:pt x="3052763" y="407561"/>
                  <a:pt x="3079433" y="414228"/>
                </a:cubicBezTo>
                <a:cubicBezTo>
                  <a:pt x="3105150" y="419943"/>
                  <a:pt x="3131820" y="426611"/>
                  <a:pt x="3160395" y="445661"/>
                </a:cubicBezTo>
                <a:cubicBezTo>
                  <a:pt x="3129915" y="441851"/>
                  <a:pt x="3108008" y="428516"/>
                  <a:pt x="3083243" y="435183"/>
                </a:cubicBezTo>
                <a:cubicBezTo>
                  <a:pt x="3128010" y="446613"/>
                  <a:pt x="3171825" y="458996"/>
                  <a:pt x="3215640" y="491381"/>
                </a:cubicBezTo>
                <a:cubicBezTo>
                  <a:pt x="3190875" y="488523"/>
                  <a:pt x="3176588" y="474236"/>
                  <a:pt x="3157538" y="476141"/>
                </a:cubicBezTo>
                <a:cubicBezTo>
                  <a:pt x="3159443" y="486618"/>
                  <a:pt x="3168015" y="489476"/>
                  <a:pt x="3173730" y="494238"/>
                </a:cubicBezTo>
                <a:cubicBezTo>
                  <a:pt x="3238500" y="545673"/>
                  <a:pt x="3286125" y="610443"/>
                  <a:pt x="3308033" y="689501"/>
                </a:cubicBezTo>
                <a:cubicBezTo>
                  <a:pt x="3324225" y="748556"/>
                  <a:pt x="3350895" y="796181"/>
                  <a:pt x="3393758" y="842853"/>
                </a:cubicBezTo>
                <a:cubicBezTo>
                  <a:pt x="3493770" y="953343"/>
                  <a:pt x="3506153" y="1087646"/>
                  <a:pt x="3467100" y="1227663"/>
                </a:cubicBezTo>
                <a:cubicBezTo>
                  <a:pt x="3458528" y="1258143"/>
                  <a:pt x="3463290" y="1279098"/>
                  <a:pt x="3483293" y="1302911"/>
                </a:cubicBezTo>
                <a:cubicBezTo>
                  <a:pt x="3549015" y="1381968"/>
                  <a:pt x="3601403" y="1465788"/>
                  <a:pt x="3605213" y="1573421"/>
                </a:cubicBezTo>
                <a:cubicBezTo>
                  <a:pt x="3608070" y="1660098"/>
                  <a:pt x="3608070" y="1745823"/>
                  <a:pt x="3558540" y="1822976"/>
                </a:cubicBezTo>
                <a:cubicBezTo>
                  <a:pt x="3539490" y="1852503"/>
                  <a:pt x="3529965" y="1885841"/>
                  <a:pt x="3527108" y="1921083"/>
                </a:cubicBezTo>
                <a:cubicBezTo>
                  <a:pt x="3524250" y="1953468"/>
                  <a:pt x="3530918" y="1982043"/>
                  <a:pt x="3553778" y="2005856"/>
                </a:cubicBezTo>
                <a:cubicBezTo>
                  <a:pt x="3572828" y="2024906"/>
                  <a:pt x="3595688" y="2030621"/>
                  <a:pt x="3622358" y="2024906"/>
                </a:cubicBezTo>
                <a:cubicBezTo>
                  <a:pt x="3649028" y="2019191"/>
                  <a:pt x="3662363" y="2001093"/>
                  <a:pt x="3668078" y="1975376"/>
                </a:cubicBezTo>
                <a:cubicBezTo>
                  <a:pt x="3669983" y="1965851"/>
                  <a:pt x="3671888" y="1956326"/>
                  <a:pt x="3673793" y="1944896"/>
                </a:cubicBezTo>
                <a:cubicBezTo>
                  <a:pt x="3698558" y="1998236"/>
                  <a:pt x="3686175" y="2063958"/>
                  <a:pt x="3639503" y="2080151"/>
                </a:cubicBezTo>
                <a:cubicBezTo>
                  <a:pt x="3592830" y="2096343"/>
                  <a:pt x="3582353" y="2117298"/>
                  <a:pt x="3585210" y="2164923"/>
                </a:cubicBezTo>
                <a:cubicBezTo>
                  <a:pt x="3588068" y="2226836"/>
                  <a:pt x="3544253" y="2273508"/>
                  <a:pt x="3498533" y="2310656"/>
                </a:cubicBezTo>
                <a:cubicBezTo>
                  <a:pt x="3466148" y="2337326"/>
                  <a:pt x="3451860" y="2368758"/>
                  <a:pt x="3452813" y="2408764"/>
                </a:cubicBezTo>
                <a:cubicBezTo>
                  <a:pt x="3452813" y="2425908"/>
                  <a:pt x="3455670" y="2442101"/>
                  <a:pt x="3448050" y="2458293"/>
                </a:cubicBezTo>
                <a:cubicBezTo>
                  <a:pt x="3397568" y="2577356"/>
                  <a:pt x="3317558" y="2657366"/>
                  <a:pt x="3183255" y="2671654"/>
                </a:cubicBezTo>
                <a:cubicBezTo>
                  <a:pt x="3115628" y="2678321"/>
                  <a:pt x="3066098" y="2735471"/>
                  <a:pt x="3066098" y="2803098"/>
                </a:cubicBezTo>
                <a:cubicBezTo>
                  <a:pt x="3066098" y="2828816"/>
                  <a:pt x="3067050" y="2854533"/>
                  <a:pt x="3066098" y="2880251"/>
                </a:cubicBezTo>
                <a:cubicBezTo>
                  <a:pt x="3064193" y="2925971"/>
                  <a:pt x="3056573" y="2970739"/>
                  <a:pt x="3031808" y="3010743"/>
                </a:cubicBezTo>
                <a:cubicBezTo>
                  <a:pt x="3012758" y="3042176"/>
                  <a:pt x="2987993" y="3064083"/>
                  <a:pt x="2946083" y="3070751"/>
                </a:cubicBezTo>
                <a:cubicBezTo>
                  <a:pt x="3017520" y="2962166"/>
                  <a:pt x="3022283" y="2946926"/>
                  <a:pt x="2998470" y="2908826"/>
                </a:cubicBezTo>
                <a:cubicBezTo>
                  <a:pt x="3002280" y="3000266"/>
                  <a:pt x="2945130" y="3079323"/>
                  <a:pt x="2875598" y="3078371"/>
                </a:cubicBezTo>
                <a:cubicBezTo>
                  <a:pt x="2962275" y="3022173"/>
                  <a:pt x="2990850" y="2963118"/>
                  <a:pt x="2957513" y="2907873"/>
                </a:cubicBezTo>
                <a:cubicBezTo>
                  <a:pt x="2949893" y="2994551"/>
                  <a:pt x="2906078" y="3051701"/>
                  <a:pt x="2829878" y="3063131"/>
                </a:cubicBezTo>
                <a:cubicBezTo>
                  <a:pt x="2885123" y="3033604"/>
                  <a:pt x="2924175" y="3001218"/>
                  <a:pt x="2926080" y="2949783"/>
                </a:cubicBezTo>
                <a:cubicBezTo>
                  <a:pt x="2889885" y="2981216"/>
                  <a:pt x="2850833" y="3014554"/>
                  <a:pt x="2812733" y="3049796"/>
                </a:cubicBezTo>
                <a:cubicBezTo>
                  <a:pt x="2730818" y="3125996"/>
                  <a:pt x="2642235" y="3190766"/>
                  <a:pt x="2533650" y="3226008"/>
                </a:cubicBezTo>
                <a:cubicBezTo>
                  <a:pt x="2469833" y="3246011"/>
                  <a:pt x="2405063" y="3258393"/>
                  <a:pt x="2338388" y="3264108"/>
                </a:cubicBezTo>
                <a:cubicBezTo>
                  <a:pt x="2262188" y="3270776"/>
                  <a:pt x="2216468" y="3321258"/>
                  <a:pt x="2214563" y="3397458"/>
                </a:cubicBezTo>
                <a:cubicBezTo>
                  <a:pt x="2214563" y="3415556"/>
                  <a:pt x="2213610" y="3433654"/>
                  <a:pt x="2216468" y="3450798"/>
                </a:cubicBezTo>
                <a:cubicBezTo>
                  <a:pt x="2251710" y="3634631"/>
                  <a:pt x="2308860" y="3811796"/>
                  <a:pt x="2396490" y="3977531"/>
                </a:cubicBezTo>
                <a:cubicBezTo>
                  <a:pt x="2452688" y="4084211"/>
                  <a:pt x="2516505" y="4187081"/>
                  <a:pt x="2577465" y="4291856"/>
                </a:cubicBezTo>
                <a:cubicBezTo>
                  <a:pt x="2599373" y="4329956"/>
                  <a:pt x="2598420" y="4330909"/>
                  <a:pt x="2556510" y="4342339"/>
                </a:cubicBezTo>
                <a:cubicBezTo>
                  <a:pt x="2265045" y="4418539"/>
                  <a:pt x="1966913" y="4454734"/>
                  <a:pt x="1666875" y="4464259"/>
                </a:cubicBezTo>
                <a:cubicBezTo>
                  <a:pt x="1540193" y="4468068"/>
                  <a:pt x="1413510" y="4467116"/>
                  <a:pt x="1286828" y="4460449"/>
                </a:cubicBezTo>
                <a:cubicBezTo>
                  <a:pt x="1104900" y="4449971"/>
                  <a:pt x="923925" y="4429016"/>
                  <a:pt x="743903" y="4396631"/>
                </a:cubicBezTo>
                <a:cubicBezTo>
                  <a:pt x="717233" y="4391868"/>
                  <a:pt x="709613" y="4382343"/>
                  <a:pt x="716280" y="4354721"/>
                </a:cubicBezTo>
                <a:cubicBezTo>
                  <a:pt x="762000" y="4173746"/>
                  <a:pt x="795338" y="3990866"/>
                  <a:pt x="808673" y="3804176"/>
                </a:cubicBezTo>
                <a:cubicBezTo>
                  <a:pt x="816293" y="3688923"/>
                  <a:pt x="805815" y="3576529"/>
                  <a:pt x="759143" y="3469848"/>
                </a:cubicBezTo>
                <a:cubicBezTo>
                  <a:pt x="726758" y="3397458"/>
                  <a:pt x="679133" y="3335546"/>
                  <a:pt x="602933" y="3306018"/>
                </a:cubicBezTo>
                <a:cubicBezTo>
                  <a:pt x="501968" y="3266014"/>
                  <a:pt x="401003" y="3225056"/>
                  <a:pt x="296228" y="3193623"/>
                </a:cubicBezTo>
                <a:cubicBezTo>
                  <a:pt x="255270" y="3181241"/>
                  <a:pt x="216218" y="3164096"/>
                  <a:pt x="180023" y="3141236"/>
                </a:cubicBezTo>
                <a:cubicBezTo>
                  <a:pt x="65723" y="3068846"/>
                  <a:pt x="29528" y="2966929"/>
                  <a:pt x="73343" y="2839293"/>
                </a:cubicBezTo>
                <a:cubicBezTo>
                  <a:pt x="93345" y="2780239"/>
                  <a:pt x="99060" y="2724041"/>
                  <a:pt x="70485" y="2664033"/>
                </a:cubicBezTo>
                <a:cubicBezTo>
                  <a:pt x="44768" y="2610693"/>
                  <a:pt x="49530" y="2555448"/>
                  <a:pt x="89535" y="2507823"/>
                </a:cubicBezTo>
                <a:cubicBezTo>
                  <a:pt x="100013" y="2495441"/>
                  <a:pt x="96203" y="2487821"/>
                  <a:pt x="87630" y="2477343"/>
                </a:cubicBezTo>
                <a:cubicBezTo>
                  <a:pt x="44768" y="2424956"/>
                  <a:pt x="39053" y="2366853"/>
                  <a:pt x="65723" y="2304941"/>
                </a:cubicBezTo>
                <a:cubicBezTo>
                  <a:pt x="73343" y="2287796"/>
                  <a:pt x="79058" y="2269698"/>
                  <a:pt x="82868" y="2251601"/>
                </a:cubicBezTo>
                <a:cubicBezTo>
                  <a:pt x="93345" y="2200166"/>
                  <a:pt x="89535" y="2153494"/>
                  <a:pt x="42863" y="2117298"/>
                </a:cubicBezTo>
                <a:cubicBezTo>
                  <a:pt x="22860" y="2104916"/>
                  <a:pt x="11430" y="2080151"/>
                  <a:pt x="0" y="2055386"/>
                </a:cubicBezTo>
                <a:cubicBezTo>
                  <a:pt x="0" y="2035383"/>
                  <a:pt x="0" y="2015381"/>
                  <a:pt x="0" y="1996331"/>
                </a:cubicBezTo>
                <a:cubicBezTo>
                  <a:pt x="26670" y="1941086"/>
                  <a:pt x="67628" y="1899176"/>
                  <a:pt x="120968" y="1869648"/>
                </a:cubicBezTo>
                <a:cubicBezTo>
                  <a:pt x="178118" y="1838216"/>
                  <a:pt x="217170" y="1791543"/>
                  <a:pt x="242888" y="1732488"/>
                </a:cubicBezTo>
                <a:cubicBezTo>
                  <a:pt x="276225" y="1656288"/>
                  <a:pt x="282893" y="1575326"/>
                  <a:pt x="277178" y="1493411"/>
                </a:cubicBezTo>
                <a:cubicBezTo>
                  <a:pt x="272415" y="1426736"/>
                  <a:pt x="272415" y="1361013"/>
                  <a:pt x="278130" y="1294338"/>
                </a:cubicBezTo>
                <a:cubicBezTo>
                  <a:pt x="286227" y="1199088"/>
                  <a:pt x="303134" y="1106696"/>
                  <a:pt x="330756" y="1017756"/>
                </a:cubicBezTo>
                <a:lnTo>
                  <a:pt x="345094" y="980044"/>
                </a:lnTo>
                <a:lnTo>
                  <a:pt x="355181" y="982080"/>
                </a:lnTo>
                <a:cubicBezTo>
                  <a:pt x="471371" y="982080"/>
                  <a:pt x="565561" y="887890"/>
                  <a:pt x="565561" y="771700"/>
                </a:cubicBezTo>
                <a:cubicBezTo>
                  <a:pt x="565561" y="742653"/>
                  <a:pt x="559674" y="714980"/>
                  <a:pt x="549028" y="689811"/>
                </a:cubicBezTo>
                <a:lnTo>
                  <a:pt x="505749" y="625619"/>
                </a:lnTo>
                <a:lnTo>
                  <a:pt x="523161" y="631024"/>
                </a:lnTo>
                <a:cubicBezTo>
                  <a:pt x="536856" y="633826"/>
                  <a:pt x="551036" y="635298"/>
                  <a:pt x="565560" y="635298"/>
                </a:cubicBezTo>
                <a:cubicBezTo>
                  <a:pt x="652703" y="635298"/>
                  <a:pt x="727470" y="582316"/>
                  <a:pt x="759407" y="506808"/>
                </a:cubicBezTo>
                <a:lnTo>
                  <a:pt x="766522" y="483889"/>
                </a:lnTo>
                <a:lnTo>
                  <a:pt x="806340" y="496250"/>
                </a:lnTo>
                <a:cubicBezTo>
                  <a:pt x="825971" y="500267"/>
                  <a:pt x="846296" y="502376"/>
                  <a:pt x="867114" y="502376"/>
                </a:cubicBezTo>
                <a:cubicBezTo>
                  <a:pt x="1033658" y="502376"/>
                  <a:pt x="1168668" y="367366"/>
                  <a:pt x="1168668" y="200822"/>
                </a:cubicBezTo>
                <a:cubicBezTo>
                  <a:pt x="1168668" y="159186"/>
                  <a:pt x="1160230" y="119521"/>
                  <a:pt x="1144970" y="83444"/>
                </a:cubicBezTo>
                <a:lnTo>
                  <a:pt x="1123627" y="44121"/>
                </a:lnTo>
                <a:lnTo>
                  <a:pt x="1144905" y="31323"/>
                </a:lnTo>
                <a:cubicBezTo>
                  <a:pt x="1151573" y="28466"/>
                  <a:pt x="1163955" y="20846"/>
                  <a:pt x="1165860" y="26561"/>
                </a:cubicBezTo>
                <a:cubicBezTo>
                  <a:pt x="1173480" y="47516"/>
                  <a:pt x="1186815" y="34181"/>
                  <a:pt x="1196340" y="32276"/>
                </a:cubicBezTo>
                <a:cubicBezTo>
                  <a:pt x="1230630" y="25608"/>
                  <a:pt x="1263015" y="7511"/>
                  <a:pt x="1301115" y="5606"/>
                </a:cubicBezTo>
                <a:cubicBezTo>
                  <a:pt x="1297305" y="17036"/>
                  <a:pt x="1281113" y="14178"/>
                  <a:pt x="1280160" y="28466"/>
                </a:cubicBezTo>
                <a:cubicBezTo>
                  <a:pt x="1322070" y="37038"/>
                  <a:pt x="1360170" y="13226"/>
                  <a:pt x="1403033" y="17036"/>
                </a:cubicBezTo>
                <a:cubicBezTo>
                  <a:pt x="1394460" y="30371"/>
                  <a:pt x="1376363" y="24656"/>
                  <a:pt x="1370648" y="37991"/>
                </a:cubicBezTo>
                <a:cubicBezTo>
                  <a:pt x="1373505" y="39896"/>
                  <a:pt x="1375410" y="41801"/>
                  <a:pt x="1378268" y="42753"/>
                </a:cubicBezTo>
                <a:cubicBezTo>
                  <a:pt x="1385888" y="44658"/>
                  <a:pt x="1393508" y="46563"/>
                  <a:pt x="1401128" y="48468"/>
                </a:cubicBezTo>
                <a:cubicBezTo>
                  <a:pt x="1496378" y="69423"/>
                  <a:pt x="1589723" y="61803"/>
                  <a:pt x="1682115" y="29418"/>
                </a:cubicBezTo>
                <a:cubicBezTo>
                  <a:pt x="1737360" y="10368"/>
                  <a:pt x="1792605" y="367"/>
                  <a:pt x="1847850" y="10"/>
                </a:cubicBezTo>
                <a:close/>
              </a:path>
            </a:pathLst>
          </a:custGeom>
          <a:solidFill>
            <a:schemeClr val="accent2"/>
          </a:solidFill>
          <a:ln w="9525" cap="flat">
            <a:noFill/>
            <a:prstDash val="solid"/>
            <a:miter/>
          </a:ln>
        </p:spPr>
        <p:txBody>
          <a:bodyPr rtlCol="0" anchor="ctr"/>
          <a:lstStyle/>
          <a:p>
            <a:endParaRPr lang="en-US"/>
          </a:p>
        </p:txBody>
      </p:sp>
      <p:grpSp>
        <p:nvGrpSpPr>
          <p:cNvPr id="25" name="Group 3">
            <a:extLst>
              <a:ext uri="{FF2B5EF4-FFF2-40B4-BE49-F238E27FC236}">
                <a16:creationId xmlns:a16="http://schemas.microsoft.com/office/drawing/2014/main" id="{B879DBAE-11A7-4ACF-A087-F2FF2D75E9FC}"/>
              </a:ext>
            </a:extLst>
          </p:cNvPr>
          <p:cNvGrpSpPr/>
          <p:nvPr userDrawn="1"/>
        </p:nvGrpSpPr>
        <p:grpSpPr>
          <a:xfrm flipH="1">
            <a:off x="7552919" y="1082951"/>
            <a:ext cx="1359101" cy="1355808"/>
            <a:chOff x="2659596" y="1543234"/>
            <a:chExt cx="1135890" cy="1133138"/>
          </a:xfrm>
          <a:solidFill>
            <a:schemeClr val="accent2">
              <a:alpha val="40000"/>
            </a:schemeClr>
          </a:solidFill>
        </p:grpSpPr>
        <p:sp>
          <p:nvSpPr>
            <p:cNvPr id="31" name="Oval 6">
              <a:extLst>
                <a:ext uri="{FF2B5EF4-FFF2-40B4-BE49-F238E27FC236}">
                  <a16:creationId xmlns:a16="http://schemas.microsoft.com/office/drawing/2014/main" id="{08F34E14-41EE-4570-9003-E4CDAAE3E84E}"/>
                </a:ext>
              </a:extLst>
            </p:cNvPr>
            <p:cNvSpPr/>
            <p:nvPr userDrawn="1"/>
          </p:nvSpPr>
          <p:spPr>
            <a:xfrm>
              <a:off x="2659596" y="1806964"/>
              <a:ext cx="504056" cy="50405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2" name="Oval 7">
              <a:extLst>
                <a:ext uri="{FF2B5EF4-FFF2-40B4-BE49-F238E27FC236}">
                  <a16:creationId xmlns:a16="http://schemas.microsoft.com/office/drawing/2014/main" id="{5D5066E1-C612-4E74-81DB-D558B0BFCAF1}"/>
                </a:ext>
              </a:extLst>
            </p:cNvPr>
            <p:cNvSpPr/>
            <p:nvPr userDrawn="1"/>
          </p:nvSpPr>
          <p:spPr>
            <a:xfrm>
              <a:off x="3115668" y="2324716"/>
              <a:ext cx="351656" cy="35165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3" name="Oval 8">
              <a:extLst>
                <a:ext uri="{FF2B5EF4-FFF2-40B4-BE49-F238E27FC236}">
                  <a16:creationId xmlns:a16="http://schemas.microsoft.com/office/drawing/2014/main" id="{3A9D439C-5778-4B53-B216-277C15AC7EBC}"/>
                </a:ext>
              </a:extLst>
            </p:cNvPr>
            <p:cNvSpPr/>
            <p:nvPr userDrawn="1"/>
          </p:nvSpPr>
          <p:spPr>
            <a:xfrm>
              <a:off x="2911624" y="2049884"/>
              <a:ext cx="351656" cy="35165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4" name="Oval 10">
              <a:extLst>
                <a:ext uri="{FF2B5EF4-FFF2-40B4-BE49-F238E27FC236}">
                  <a16:creationId xmlns:a16="http://schemas.microsoft.com/office/drawing/2014/main" id="{6AA97C1C-AAFE-425B-A3F2-D437C55366FE}"/>
                </a:ext>
              </a:extLst>
            </p:cNvPr>
            <p:cNvSpPr/>
            <p:nvPr userDrawn="1"/>
          </p:nvSpPr>
          <p:spPr>
            <a:xfrm>
              <a:off x="3319116" y="2042298"/>
              <a:ext cx="296416" cy="29641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5" name="Oval 11">
              <a:extLst>
                <a:ext uri="{FF2B5EF4-FFF2-40B4-BE49-F238E27FC236}">
                  <a16:creationId xmlns:a16="http://schemas.microsoft.com/office/drawing/2014/main" id="{DF9C29D3-0AAE-47C3-BF2F-995D60A22769}"/>
                </a:ext>
              </a:extLst>
            </p:cNvPr>
            <p:cNvSpPr/>
            <p:nvPr userDrawn="1"/>
          </p:nvSpPr>
          <p:spPr>
            <a:xfrm>
              <a:off x="3195562" y="1851902"/>
              <a:ext cx="204044" cy="204044"/>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6" name="Oval 12">
              <a:extLst>
                <a:ext uri="{FF2B5EF4-FFF2-40B4-BE49-F238E27FC236}">
                  <a16:creationId xmlns:a16="http://schemas.microsoft.com/office/drawing/2014/main" id="{5B3F67AE-299B-4078-896E-F7C4912FDF77}"/>
                </a:ext>
              </a:extLst>
            </p:cNvPr>
            <p:cNvSpPr/>
            <p:nvPr userDrawn="1"/>
          </p:nvSpPr>
          <p:spPr>
            <a:xfrm>
              <a:off x="3507798" y="1889875"/>
              <a:ext cx="128098" cy="1280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7" name="Oval 13">
              <a:extLst>
                <a:ext uri="{FF2B5EF4-FFF2-40B4-BE49-F238E27FC236}">
                  <a16:creationId xmlns:a16="http://schemas.microsoft.com/office/drawing/2014/main" id="{CC6A2D6A-AA30-48D4-B438-3CD2E1C62D10}"/>
                </a:ext>
              </a:extLst>
            </p:cNvPr>
            <p:cNvSpPr/>
            <p:nvPr userDrawn="1"/>
          </p:nvSpPr>
          <p:spPr>
            <a:xfrm>
              <a:off x="3330270" y="1543234"/>
              <a:ext cx="263730" cy="26373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8" name="Oval 14">
              <a:extLst>
                <a:ext uri="{FF2B5EF4-FFF2-40B4-BE49-F238E27FC236}">
                  <a16:creationId xmlns:a16="http://schemas.microsoft.com/office/drawing/2014/main" id="{3FEFFB24-6C78-41E8-8E91-571FB4C879EE}"/>
                </a:ext>
              </a:extLst>
            </p:cNvPr>
            <p:cNvSpPr/>
            <p:nvPr userDrawn="1"/>
          </p:nvSpPr>
          <p:spPr>
            <a:xfrm>
              <a:off x="3517387" y="1545450"/>
              <a:ext cx="153226" cy="15322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39" name="Oval 15">
              <a:extLst>
                <a:ext uri="{FF2B5EF4-FFF2-40B4-BE49-F238E27FC236}">
                  <a16:creationId xmlns:a16="http://schemas.microsoft.com/office/drawing/2014/main" id="{3FE70E65-3D74-4DE9-9926-27BA2FE61E45}"/>
                </a:ext>
              </a:extLst>
            </p:cNvPr>
            <p:cNvSpPr/>
            <p:nvPr userDrawn="1"/>
          </p:nvSpPr>
          <p:spPr>
            <a:xfrm>
              <a:off x="3731437" y="1843075"/>
              <a:ext cx="64049" cy="6404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40" name="Oval 16">
              <a:extLst>
                <a:ext uri="{FF2B5EF4-FFF2-40B4-BE49-F238E27FC236}">
                  <a16:creationId xmlns:a16="http://schemas.microsoft.com/office/drawing/2014/main" id="{D23BAE25-C589-4F0F-A671-6324036647AB}"/>
                </a:ext>
              </a:extLst>
            </p:cNvPr>
            <p:cNvSpPr/>
            <p:nvPr userDrawn="1"/>
          </p:nvSpPr>
          <p:spPr>
            <a:xfrm>
              <a:off x="2680891" y="1816108"/>
              <a:ext cx="128098" cy="12809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grpSp>
      <p:sp>
        <p:nvSpPr>
          <p:cNvPr id="43" name="Rectangle 42"/>
          <p:cNvSpPr/>
          <p:nvPr userDrawn="1"/>
        </p:nvSpPr>
        <p:spPr>
          <a:xfrm>
            <a:off x="1" y="0"/>
            <a:ext cx="1242341"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cxnSp>
        <p:nvCxnSpPr>
          <p:cNvPr id="28" name="Straight Connector 27"/>
          <p:cNvCxnSpPr/>
          <p:nvPr userDrawn="1"/>
        </p:nvCxnSpPr>
        <p:spPr>
          <a:xfrm>
            <a:off x="1308208" y="0"/>
            <a:ext cx="0" cy="6858000"/>
          </a:xfrm>
          <a:prstGeom prst="line">
            <a:avLst/>
          </a:prstGeom>
          <a:ln w="63500">
            <a:solidFill>
              <a:srgbClr val="57687C"/>
            </a:solidFill>
          </a:ln>
        </p:spPr>
        <p:style>
          <a:lnRef idx="1">
            <a:schemeClr val="accent1"/>
          </a:lnRef>
          <a:fillRef idx="0">
            <a:schemeClr val="accent1"/>
          </a:fillRef>
          <a:effectRef idx="0">
            <a:schemeClr val="accent1"/>
          </a:effectRef>
          <a:fontRef idx="minor">
            <a:schemeClr val="tx1"/>
          </a:fontRef>
        </p:style>
      </p:cxnSp>
      <p:sp>
        <p:nvSpPr>
          <p:cNvPr id="22" name="Text Placeholder 9">
            <a:extLst>
              <a:ext uri="{FF2B5EF4-FFF2-40B4-BE49-F238E27FC236}">
                <a16:creationId xmlns:a16="http://schemas.microsoft.com/office/drawing/2014/main" id="{E360EA22-67A8-42B7-B644-8A449E16C0A6}"/>
              </a:ext>
            </a:extLst>
          </p:cNvPr>
          <p:cNvSpPr>
            <a:spLocks noGrp="1"/>
          </p:cNvSpPr>
          <p:nvPr>
            <p:ph type="body" sz="quarter" idx="15" hasCustomPrompt="1"/>
          </p:nvPr>
        </p:nvSpPr>
        <p:spPr>
          <a:xfrm>
            <a:off x="2005084" y="339509"/>
            <a:ext cx="6881455" cy="724247"/>
          </a:xfrm>
          <a:prstGeom prst="rect">
            <a:avLst/>
          </a:prstGeom>
        </p:spPr>
        <p:txBody>
          <a:bodyPr anchor="ctr"/>
          <a:lstStyle>
            <a:lvl1pPr marL="0" indent="0" algn="l">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
        <p:nvSpPr>
          <p:cNvPr id="47" name="Trapezoid 24">
            <a:extLst>
              <a:ext uri="{FF2B5EF4-FFF2-40B4-BE49-F238E27FC236}">
                <a16:creationId xmlns:a16="http://schemas.microsoft.com/office/drawing/2014/main" id="{E339873D-CAAF-4E94-956E-BB6F5DFD9105}"/>
              </a:ext>
            </a:extLst>
          </p:cNvPr>
          <p:cNvSpPr>
            <a:spLocks noChangeAspect="1"/>
          </p:cNvSpPr>
          <p:nvPr userDrawn="1"/>
        </p:nvSpPr>
        <p:spPr>
          <a:xfrm rot="8369018">
            <a:off x="8701080" y="2510678"/>
            <a:ext cx="651757" cy="657965"/>
          </a:xfrm>
          <a:custGeom>
            <a:avLst/>
            <a:gdLst/>
            <a:ahLst/>
            <a:cxnLst/>
            <a:rect l="l" t="t" r="r" b="b"/>
            <a:pathLst>
              <a:path w="4411086" h="4453092">
                <a:moveTo>
                  <a:pt x="3095887" y="1153910"/>
                </a:moveTo>
                <a:cubicBezTo>
                  <a:pt x="3119009" y="1174647"/>
                  <a:pt x="3146597" y="1191685"/>
                  <a:pt x="3177861" y="1203446"/>
                </a:cubicBezTo>
                <a:cubicBezTo>
                  <a:pt x="3302917" y="1250492"/>
                  <a:pt x="3439398" y="1195315"/>
                  <a:pt x="3482703" y="1080205"/>
                </a:cubicBezTo>
                <a:cubicBezTo>
                  <a:pt x="3526008" y="965093"/>
                  <a:pt x="3459737" y="833641"/>
                  <a:pt x="3334683" y="786595"/>
                </a:cubicBezTo>
                <a:cubicBezTo>
                  <a:pt x="3209628" y="739549"/>
                  <a:pt x="3073147" y="794724"/>
                  <a:pt x="3029841" y="909836"/>
                </a:cubicBezTo>
                <a:cubicBezTo>
                  <a:pt x="2997363" y="996169"/>
                  <a:pt x="3026521" y="1091695"/>
                  <a:pt x="3095887" y="1153910"/>
                </a:cubicBezTo>
                <a:close/>
                <a:moveTo>
                  <a:pt x="3521423" y="1860548"/>
                </a:moveTo>
                <a:cubicBezTo>
                  <a:pt x="3544546" y="1881285"/>
                  <a:pt x="3572135" y="1898322"/>
                  <a:pt x="3603399" y="1910084"/>
                </a:cubicBezTo>
                <a:cubicBezTo>
                  <a:pt x="3728453" y="1957130"/>
                  <a:pt x="3864935" y="1901953"/>
                  <a:pt x="3908240" y="1786842"/>
                </a:cubicBezTo>
                <a:cubicBezTo>
                  <a:pt x="3951546" y="1671732"/>
                  <a:pt x="3885275" y="1540278"/>
                  <a:pt x="3760220" y="1493232"/>
                </a:cubicBezTo>
                <a:cubicBezTo>
                  <a:pt x="3635166" y="1446186"/>
                  <a:pt x="3498684" y="1501363"/>
                  <a:pt x="3455379" y="1616474"/>
                </a:cubicBezTo>
                <a:cubicBezTo>
                  <a:pt x="3422900" y="1702807"/>
                  <a:pt x="3452057" y="1798333"/>
                  <a:pt x="3521423" y="1860548"/>
                </a:cubicBezTo>
                <a:close/>
                <a:moveTo>
                  <a:pt x="3507502" y="2659088"/>
                </a:moveTo>
                <a:cubicBezTo>
                  <a:pt x="3530625" y="2679826"/>
                  <a:pt x="3558214" y="2696863"/>
                  <a:pt x="3589478" y="2708624"/>
                </a:cubicBezTo>
                <a:cubicBezTo>
                  <a:pt x="3714532" y="2755670"/>
                  <a:pt x="3851014" y="2700494"/>
                  <a:pt x="3894319" y="2585383"/>
                </a:cubicBezTo>
                <a:cubicBezTo>
                  <a:pt x="3937624" y="2470273"/>
                  <a:pt x="3871353" y="2338820"/>
                  <a:pt x="3746299" y="2291774"/>
                </a:cubicBezTo>
                <a:cubicBezTo>
                  <a:pt x="3621245" y="2244728"/>
                  <a:pt x="3484763" y="2299905"/>
                  <a:pt x="3441458" y="2415014"/>
                </a:cubicBezTo>
                <a:cubicBezTo>
                  <a:pt x="3408979" y="2501348"/>
                  <a:pt x="3438136" y="2596873"/>
                  <a:pt x="3507502" y="2659088"/>
                </a:cubicBezTo>
                <a:close/>
                <a:moveTo>
                  <a:pt x="2750047" y="3029987"/>
                </a:moveTo>
                <a:cubicBezTo>
                  <a:pt x="2773168" y="3050726"/>
                  <a:pt x="2800759" y="3067763"/>
                  <a:pt x="2832021" y="3079524"/>
                </a:cubicBezTo>
                <a:cubicBezTo>
                  <a:pt x="2957076" y="3126570"/>
                  <a:pt x="3093558" y="3071393"/>
                  <a:pt x="3136863" y="2956283"/>
                </a:cubicBezTo>
                <a:cubicBezTo>
                  <a:pt x="3180168" y="2841172"/>
                  <a:pt x="3113897" y="2709719"/>
                  <a:pt x="2988843" y="2662673"/>
                </a:cubicBezTo>
                <a:cubicBezTo>
                  <a:pt x="2863789" y="2615627"/>
                  <a:pt x="2727307" y="2670804"/>
                  <a:pt x="2684001" y="2785914"/>
                </a:cubicBezTo>
                <a:cubicBezTo>
                  <a:pt x="2651523" y="2872247"/>
                  <a:pt x="2680681" y="2967773"/>
                  <a:pt x="2750047" y="3029987"/>
                </a:cubicBezTo>
                <a:close/>
                <a:moveTo>
                  <a:pt x="1666926" y="2573567"/>
                </a:moveTo>
                <a:lnTo>
                  <a:pt x="1775047" y="423729"/>
                </a:lnTo>
                <a:lnTo>
                  <a:pt x="1991290" y="423729"/>
                </a:lnTo>
                <a:lnTo>
                  <a:pt x="2099411" y="2573567"/>
                </a:lnTo>
                <a:close/>
                <a:moveTo>
                  <a:pt x="1154974" y="2568578"/>
                </a:moveTo>
                <a:cubicBezTo>
                  <a:pt x="1178096" y="2589317"/>
                  <a:pt x="1205685" y="2606354"/>
                  <a:pt x="1236949" y="2618115"/>
                </a:cubicBezTo>
                <a:cubicBezTo>
                  <a:pt x="1362003" y="2665161"/>
                  <a:pt x="1498485" y="2609985"/>
                  <a:pt x="1541790" y="2494874"/>
                </a:cubicBezTo>
                <a:cubicBezTo>
                  <a:pt x="1585096" y="2379763"/>
                  <a:pt x="1518825" y="2248310"/>
                  <a:pt x="1393770" y="2201264"/>
                </a:cubicBezTo>
                <a:cubicBezTo>
                  <a:pt x="1268716" y="2154218"/>
                  <a:pt x="1132234" y="2209394"/>
                  <a:pt x="1088929" y="2324505"/>
                </a:cubicBezTo>
                <a:cubicBezTo>
                  <a:pt x="1056450" y="2410839"/>
                  <a:pt x="1085608" y="2506364"/>
                  <a:pt x="1154974" y="2568578"/>
                </a:cubicBezTo>
                <a:close/>
                <a:moveTo>
                  <a:pt x="1811301" y="3132571"/>
                </a:moveTo>
                <a:lnTo>
                  <a:pt x="1704026" y="2663196"/>
                </a:lnTo>
                <a:lnTo>
                  <a:pt x="2117930" y="2682436"/>
                </a:lnTo>
                <a:lnTo>
                  <a:pt x="1967575" y="3139835"/>
                </a:lnTo>
                <a:close/>
                <a:moveTo>
                  <a:pt x="474734" y="2026084"/>
                </a:moveTo>
                <a:cubicBezTo>
                  <a:pt x="497856" y="2046823"/>
                  <a:pt x="525445" y="2063859"/>
                  <a:pt x="556709" y="2075621"/>
                </a:cubicBezTo>
                <a:cubicBezTo>
                  <a:pt x="681763" y="2122667"/>
                  <a:pt x="818245" y="2067490"/>
                  <a:pt x="861550" y="1952380"/>
                </a:cubicBezTo>
                <a:cubicBezTo>
                  <a:pt x="904855" y="1837269"/>
                  <a:pt x="838584" y="1705816"/>
                  <a:pt x="713530" y="1658770"/>
                </a:cubicBezTo>
                <a:cubicBezTo>
                  <a:pt x="588476" y="1611724"/>
                  <a:pt x="451994" y="1666900"/>
                  <a:pt x="408689" y="1782011"/>
                </a:cubicBezTo>
                <a:cubicBezTo>
                  <a:pt x="376210" y="1868344"/>
                  <a:pt x="405367" y="1963870"/>
                  <a:pt x="474734" y="2026084"/>
                </a:cubicBezTo>
                <a:close/>
                <a:moveTo>
                  <a:pt x="470005" y="2517620"/>
                </a:moveTo>
                <a:cubicBezTo>
                  <a:pt x="142796" y="2243059"/>
                  <a:pt x="-69074" y="1913805"/>
                  <a:pt x="20698" y="1573981"/>
                </a:cubicBezTo>
                <a:cubicBezTo>
                  <a:pt x="290062" y="677171"/>
                  <a:pt x="1131284" y="1373424"/>
                  <a:pt x="1417683" y="1157395"/>
                </a:cubicBezTo>
                <a:cubicBezTo>
                  <a:pt x="1704082" y="941367"/>
                  <a:pt x="795764" y="512391"/>
                  <a:pt x="1486994" y="164947"/>
                </a:cubicBezTo>
                <a:cubicBezTo>
                  <a:pt x="1963635" y="-91969"/>
                  <a:pt x="2301495" y="-33140"/>
                  <a:pt x="2924035" y="233397"/>
                </a:cubicBezTo>
                <a:cubicBezTo>
                  <a:pt x="3546575" y="499935"/>
                  <a:pt x="4682373" y="1460700"/>
                  <a:pt x="4352060" y="2410274"/>
                </a:cubicBezTo>
                <a:cubicBezTo>
                  <a:pt x="4055563" y="3262631"/>
                  <a:pt x="2903863" y="3342769"/>
                  <a:pt x="2149143" y="3248705"/>
                </a:cubicBezTo>
                <a:cubicBezTo>
                  <a:pt x="2120485" y="3221681"/>
                  <a:pt x="2088781" y="3200633"/>
                  <a:pt x="2056697" y="3184977"/>
                </a:cubicBezTo>
                <a:lnTo>
                  <a:pt x="2029525" y="3174239"/>
                </a:lnTo>
                <a:lnTo>
                  <a:pt x="2074465" y="2961096"/>
                </a:lnTo>
                <a:cubicBezTo>
                  <a:pt x="2174448" y="2968058"/>
                  <a:pt x="2268303" y="2914369"/>
                  <a:pt x="2302852" y="2822534"/>
                </a:cubicBezTo>
                <a:cubicBezTo>
                  <a:pt x="2344980" y="2710550"/>
                  <a:pt x="2283405" y="2583099"/>
                  <a:pt x="2164586" y="2533664"/>
                </a:cubicBezTo>
                <a:lnTo>
                  <a:pt x="2177079" y="2474412"/>
                </a:lnTo>
                <a:lnTo>
                  <a:pt x="2181423" y="2474420"/>
                </a:lnTo>
                <a:lnTo>
                  <a:pt x="2180348" y="2458905"/>
                </a:lnTo>
                <a:lnTo>
                  <a:pt x="2183345" y="2444691"/>
                </a:lnTo>
                <a:lnTo>
                  <a:pt x="2179364" y="2444684"/>
                </a:lnTo>
                <a:lnTo>
                  <a:pt x="2069296" y="855315"/>
                </a:lnTo>
                <a:cubicBezTo>
                  <a:pt x="2264713" y="815272"/>
                  <a:pt x="2400776" y="670372"/>
                  <a:pt x="2376696" y="524656"/>
                </a:cubicBezTo>
                <a:cubicBezTo>
                  <a:pt x="2351678" y="373263"/>
                  <a:pt x="2163271" y="278317"/>
                  <a:pt x="1955875" y="312591"/>
                </a:cubicBezTo>
                <a:cubicBezTo>
                  <a:pt x="1748480" y="346862"/>
                  <a:pt x="1600634" y="497374"/>
                  <a:pt x="1625652" y="648768"/>
                </a:cubicBezTo>
                <a:cubicBezTo>
                  <a:pt x="1635034" y="705540"/>
                  <a:pt x="1667392" y="754373"/>
                  <a:pt x="1715112" y="791433"/>
                </a:cubicBezTo>
                <a:lnTo>
                  <a:pt x="1728511" y="799403"/>
                </a:lnTo>
                <a:lnTo>
                  <a:pt x="1608970" y="2443607"/>
                </a:lnTo>
                <a:lnTo>
                  <a:pt x="1608731" y="2443607"/>
                </a:lnTo>
                <a:lnTo>
                  <a:pt x="1608909" y="2444461"/>
                </a:lnTo>
                <a:lnTo>
                  <a:pt x="1606809" y="2473335"/>
                </a:lnTo>
                <a:lnTo>
                  <a:pt x="1614885" y="2473351"/>
                </a:lnTo>
                <a:lnTo>
                  <a:pt x="1760460" y="3176931"/>
                </a:lnTo>
                <a:cubicBezTo>
                  <a:pt x="1363839" y="3071567"/>
                  <a:pt x="842276" y="2829991"/>
                  <a:pt x="470005" y="2517620"/>
                </a:cubicBezTo>
                <a:close/>
                <a:moveTo>
                  <a:pt x="1703651" y="4144665"/>
                </a:moveTo>
                <a:cubicBezTo>
                  <a:pt x="1692426" y="4135382"/>
                  <a:pt x="1682479" y="4126471"/>
                  <a:pt x="1673433" y="4117764"/>
                </a:cubicBezTo>
                <a:cubicBezTo>
                  <a:pt x="1630012" y="4075967"/>
                  <a:pt x="1607344" y="4038835"/>
                  <a:pt x="1563711" y="3987474"/>
                </a:cubicBezTo>
                <a:cubicBezTo>
                  <a:pt x="1428119" y="3754817"/>
                  <a:pt x="1459551" y="3514918"/>
                  <a:pt x="1577437" y="3369529"/>
                </a:cubicBezTo>
                <a:cubicBezTo>
                  <a:pt x="1695323" y="3224139"/>
                  <a:pt x="1812160" y="3189516"/>
                  <a:pt x="1943877" y="3254126"/>
                </a:cubicBezTo>
                <a:cubicBezTo>
                  <a:pt x="2075594" y="3318736"/>
                  <a:pt x="2201944" y="3486346"/>
                  <a:pt x="2150195" y="3720844"/>
                </a:cubicBezTo>
                <a:cubicBezTo>
                  <a:pt x="2053054" y="4010881"/>
                  <a:pt x="2046121" y="3999957"/>
                  <a:pt x="2256634" y="4453092"/>
                </a:cubicBezTo>
                <a:cubicBezTo>
                  <a:pt x="1923422" y="4292924"/>
                  <a:pt x="1782225" y="4209649"/>
                  <a:pt x="1703651" y="414466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a:p>
        </p:txBody>
      </p:sp>
      <p:sp>
        <p:nvSpPr>
          <p:cNvPr id="48" name="Oval 21">
            <a:extLst>
              <a:ext uri="{FF2B5EF4-FFF2-40B4-BE49-F238E27FC236}">
                <a16:creationId xmlns:a16="http://schemas.microsoft.com/office/drawing/2014/main" id="{C87F3836-E21F-44AB-83F0-999DA3F367E3}"/>
              </a:ext>
            </a:extLst>
          </p:cNvPr>
          <p:cNvSpPr>
            <a:spLocks noChangeAspect="1"/>
          </p:cNvSpPr>
          <p:nvPr userDrawn="1"/>
        </p:nvSpPr>
        <p:spPr>
          <a:xfrm>
            <a:off x="9708408" y="2901039"/>
            <a:ext cx="675275" cy="591830"/>
          </a:xfrm>
          <a:custGeom>
            <a:avLst/>
            <a:gdLst/>
            <a:ahLst/>
            <a:cxnLst/>
            <a:rect l="l" t="t" r="r" b="b"/>
            <a:pathLst>
              <a:path w="4088377" h="3321003">
                <a:moveTo>
                  <a:pt x="1365628" y="1622218"/>
                </a:moveTo>
                <a:cubicBezTo>
                  <a:pt x="1121373" y="1556771"/>
                  <a:pt x="870309" y="1701722"/>
                  <a:pt x="804861" y="1945977"/>
                </a:cubicBezTo>
                <a:cubicBezTo>
                  <a:pt x="739413" y="2190232"/>
                  <a:pt x="884365" y="2441296"/>
                  <a:pt x="1128620" y="2506744"/>
                </a:cubicBezTo>
                <a:cubicBezTo>
                  <a:pt x="1372875" y="2572191"/>
                  <a:pt x="1623939" y="2427240"/>
                  <a:pt x="1689387" y="2182985"/>
                </a:cubicBezTo>
                <a:cubicBezTo>
                  <a:pt x="1754835" y="1938730"/>
                  <a:pt x="1609883" y="1687666"/>
                  <a:pt x="1365628" y="1622218"/>
                </a:cubicBezTo>
                <a:close/>
                <a:moveTo>
                  <a:pt x="1447099" y="1318163"/>
                </a:moveTo>
                <a:cubicBezTo>
                  <a:pt x="1859279" y="1428606"/>
                  <a:pt x="2103885" y="1852277"/>
                  <a:pt x="1993442" y="2264456"/>
                </a:cubicBezTo>
                <a:cubicBezTo>
                  <a:pt x="1882999" y="2676636"/>
                  <a:pt x="1459328" y="2921242"/>
                  <a:pt x="1047149" y="2810799"/>
                </a:cubicBezTo>
                <a:cubicBezTo>
                  <a:pt x="634969" y="2700356"/>
                  <a:pt x="390363" y="2276685"/>
                  <a:pt x="500806" y="1864505"/>
                </a:cubicBezTo>
                <a:cubicBezTo>
                  <a:pt x="611249" y="1452326"/>
                  <a:pt x="1034920" y="1207720"/>
                  <a:pt x="1447099" y="1318163"/>
                </a:cubicBezTo>
                <a:close/>
                <a:moveTo>
                  <a:pt x="1476725" y="1207597"/>
                </a:moveTo>
                <a:cubicBezTo>
                  <a:pt x="1003481" y="1080792"/>
                  <a:pt x="517045" y="1361635"/>
                  <a:pt x="390240" y="1834879"/>
                </a:cubicBezTo>
                <a:cubicBezTo>
                  <a:pt x="263435" y="2308124"/>
                  <a:pt x="544279" y="2794559"/>
                  <a:pt x="1017523" y="2921365"/>
                </a:cubicBezTo>
                <a:cubicBezTo>
                  <a:pt x="1490767" y="3048170"/>
                  <a:pt x="1977202" y="2767326"/>
                  <a:pt x="2104008" y="2294082"/>
                </a:cubicBezTo>
                <a:cubicBezTo>
                  <a:pt x="2230813" y="1820838"/>
                  <a:pt x="1949969" y="1334403"/>
                  <a:pt x="1476725" y="1207597"/>
                </a:cubicBezTo>
                <a:close/>
                <a:moveTo>
                  <a:pt x="3290290" y="1590224"/>
                </a:moveTo>
                <a:cubicBezTo>
                  <a:pt x="3269727" y="1586016"/>
                  <a:pt x="3248437" y="1583806"/>
                  <a:pt x="3226630" y="1583806"/>
                </a:cubicBezTo>
                <a:cubicBezTo>
                  <a:pt x="3052179" y="1583806"/>
                  <a:pt x="2910758" y="1725227"/>
                  <a:pt x="2910758" y="1899678"/>
                </a:cubicBezTo>
                <a:cubicBezTo>
                  <a:pt x="2910758" y="2074130"/>
                  <a:pt x="3052179" y="2215551"/>
                  <a:pt x="3226630" y="2215550"/>
                </a:cubicBezTo>
                <a:cubicBezTo>
                  <a:pt x="3401082" y="2215551"/>
                  <a:pt x="3542503" y="2074130"/>
                  <a:pt x="3542502" y="1899678"/>
                </a:cubicBezTo>
                <a:cubicBezTo>
                  <a:pt x="3542503" y="1747033"/>
                  <a:pt x="3434228" y="1619677"/>
                  <a:pt x="3290290" y="1590224"/>
                </a:cubicBezTo>
                <a:close/>
                <a:moveTo>
                  <a:pt x="3334055" y="1377473"/>
                </a:moveTo>
                <a:cubicBezTo>
                  <a:pt x="3576950" y="1427177"/>
                  <a:pt x="3759665" y="1642090"/>
                  <a:pt x="3759665" y="1899678"/>
                </a:cubicBezTo>
                <a:cubicBezTo>
                  <a:pt x="3759665" y="2194064"/>
                  <a:pt x="3521017" y="2432713"/>
                  <a:pt x="3226630" y="2432713"/>
                </a:cubicBezTo>
                <a:cubicBezTo>
                  <a:pt x="2932244" y="2432712"/>
                  <a:pt x="2693596" y="2194065"/>
                  <a:pt x="2693596" y="1899678"/>
                </a:cubicBezTo>
                <a:cubicBezTo>
                  <a:pt x="2693596" y="1605292"/>
                  <a:pt x="2932244" y="1366644"/>
                  <a:pt x="3226630" y="1366644"/>
                </a:cubicBezTo>
                <a:cubicBezTo>
                  <a:pt x="3263429" y="1366644"/>
                  <a:pt x="3299356" y="1370373"/>
                  <a:pt x="3334055" y="1377473"/>
                </a:cubicBezTo>
                <a:close/>
                <a:moveTo>
                  <a:pt x="1391137" y="789478"/>
                </a:moveTo>
                <a:lnTo>
                  <a:pt x="1759910" y="888290"/>
                </a:lnTo>
                <a:lnTo>
                  <a:pt x="1754625" y="1202375"/>
                </a:lnTo>
                <a:lnTo>
                  <a:pt x="1744979" y="1199790"/>
                </a:lnTo>
                <a:cubicBezTo>
                  <a:pt x="1823578" y="1244024"/>
                  <a:pt x="1894617" y="1298265"/>
                  <a:pt x="1954704" y="1362586"/>
                </a:cubicBezTo>
                <a:lnTo>
                  <a:pt x="2234317" y="1293059"/>
                </a:lnTo>
                <a:lnTo>
                  <a:pt x="2413554" y="1630152"/>
                </a:lnTo>
                <a:lnTo>
                  <a:pt x="2214321" y="1809770"/>
                </a:lnTo>
                <a:cubicBezTo>
                  <a:pt x="2239296" y="1900740"/>
                  <a:pt x="2251067" y="1995997"/>
                  <a:pt x="2246841" y="2092825"/>
                </a:cubicBezTo>
                <a:lnTo>
                  <a:pt x="2495698" y="2230974"/>
                </a:lnTo>
                <a:lnTo>
                  <a:pt x="2396885" y="2599747"/>
                </a:lnTo>
                <a:lnTo>
                  <a:pt x="2094912" y="2594668"/>
                </a:lnTo>
                <a:cubicBezTo>
                  <a:pt x="2056732" y="2658461"/>
                  <a:pt x="2010475" y="2715996"/>
                  <a:pt x="1958644" y="2767359"/>
                </a:cubicBezTo>
                <a:lnTo>
                  <a:pt x="2057814" y="3026193"/>
                </a:lnTo>
                <a:lnTo>
                  <a:pt x="1745078" y="3245174"/>
                </a:lnTo>
                <a:lnTo>
                  <a:pt x="1507869" y="3039237"/>
                </a:lnTo>
                <a:lnTo>
                  <a:pt x="1536736" y="3019025"/>
                </a:lnTo>
                <a:cubicBezTo>
                  <a:pt x="1445878" y="3048429"/>
                  <a:pt x="1349798" y="3062567"/>
                  <a:pt x="1251837" y="3062021"/>
                </a:cubicBezTo>
                <a:lnTo>
                  <a:pt x="1108065" y="3321003"/>
                </a:lnTo>
                <a:lnTo>
                  <a:pt x="739291" y="3222191"/>
                </a:lnTo>
                <a:lnTo>
                  <a:pt x="744274" y="2926021"/>
                </a:lnTo>
                <a:cubicBezTo>
                  <a:pt x="666128" y="2881484"/>
                  <a:pt x="595548" y="2827017"/>
                  <a:pt x="535891" y="2762576"/>
                </a:cubicBezTo>
                <a:lnTo>
                  <a:pt x="540671" y="2772825"/>
                </a:lnTo>
                <a:lnTo>
                  <a:pt x="232276" y="2832568"/>
                </a:lnTo>
                <a:lnTo>
                  <a:pt x="70927" y="2486556"/>
                </a:lnTo>
                <a:lnTo>
                  <a:pt x="279495" y="2317444"/>
                </a:lnTo>
                <a:cubicBezTo>
                  <a:pt x="257233" y="2235849"/>
                  <a:pt x="245603" y="2150814"/>
                  <a:pt x="245586" y="2064274"/>
                </a:cubicBezTo>
                <a:lnTo>
                  <a:pt x="0" y="1927940"/>
                </a:lnTo>
                <a:lnTo>
                  <a:pt x="98812" y="1559167"/>
                </a:lnTo>
                <a:lnTo>
                  <a:pt x="380240" y="1563901"/>
                </a:lnTo>
                <a:cubicBezTo>
                  <a:pt x="418421" y="1496524"/>
                  <a:pt x="464524" y="1435092"/>
                  <a:pt x="516679" y="1380105"/>
                </a:cubicBezTo>
                <a:lnTo>
                  <a:pt x="422419" y="1089378"/>
                </a:lnTo>
                <a:lnTo>
                  <a:pt x="746189" y="887063"/>
                </a:lnTo>
                <a:lnTo>
                  <a:pt x="972292" y="1105134"/>
                </a:lnTo>
                <a:lnTo>
                  <a:pt x="970019" y="1106554"/>
                </a:lnTo>
                <a:cubicBezTo>
                  <a:pt x="1058903" y="1078586"/>
                  <a:pt x="1152743" y="1065659"/>
                  <a:pt x="1248316" y="1066709"/>
                </a:cubicBezTo>
                <a:lnTo>
                  <a:pt x="1238669" y="1064125"/>
                </a:lnTo>
                <a:close/>
                <a:moveTo>
                  <a:pt x="3349970" y="1300109"/>
                </a:moveTo>
                <a:cubicBezTo>
                  <a:pt x="3310130" y="1291957"/>
                  <a:pt x="3268880" y="1287676"/>
                  <a:pt x="3226630" y="1287676"/>
                </a:cubicBezTo>
                <a:cubicBezTo>
                  <a:pt x="2888631" y="1287676"/>
                  <a:pt x="2614628" y="1561679"/>
                  <a:pt x="2614628" y="1899678"/>
                </a:cubicBezTo>
                <a:cubicBezTo>
                  <a:pt x="2614628" y="2237678"/>
                  <a:pt x="2888630" y="2511680"/>
                  <a:pt x="3226630" y="2511681"/>
                </a:cubicBezTo>
                <a:cubicBezTo>
                  <a:pt x="3564630" y="2511681"/>
                  <a:pt x="3838633" y="2237678"/>
                  <a:pt x="3838633" y="1899678"/>
                </a:cubicBezTo>
                <a:cubicBezTo>
                  <a:pt x="3838632" y="1603928"/>
                  <a:pt x="3628849" y="1357176"/>
                  <a:pt x="3349970" y="1300109"/>
                </a:cubicBezTo>
                <a:close/>
                <a:moveTo>
                  <a:pt x="3358324" y="1024334"/>
                </a:moveTo>
                <a:lnTo>
                  <a:pt x="3410883" y="1234575"/>
                </a:lnTo>
                <a:lnTo>
                  <a:pt x="3403994" y="1234575"/>
                </a:lnTo>
                <a:cubicBezTo>
                  <a:pt x="3464268" y="1250018"/>
                  <a:pt x="3521292" y="1273478"/>
                  <a:pt x="3572818" y="1305612"/>
                </a:cubicBezTo>
                <a:lnTo>
                  <a:pt x="3746730" y="1209354"/>
                </a:lnTo>
                <a:lnTo>
                  <a:pt x="3926358" y="1401981"/>
                </a:lnTo>
                <a:lnTo>
                  <a:pt x="3825667" y="1557247"/>
                </a:lnTo>
                <a:cubicBezTo>
                  <a:pt x="3858552" y="1613408"/>
                  <a:pt x="3883404" y="1674784"/>
                  <a:pt x="3897877" y="1740062"/>
                </a:cubicBezTo>
                <a:lnTo>
                  <a:pt x="4088377" y="1787686"/>
                </a:lnTo>
                <a:lnTo>
                  <a:pt x="4088377" y="2051071"/>
                </a:lnTo>
                <a:lnTo>
                  <a:pt x="3886243" y="2101605"/>
                </a:lnTo>
                <a:cubicBezTo>
                  <a:pt x="3872191" y="2150933"/>
                  <a:pt x="3851639" y="2197531"/>
                  <a:pt x="3826272" y="2241013"/>
                </a:cubicBezTo>
                <a:lnTo>
                  <a:pt x="3938572" y="2395786"/>
                </a:lnTo>
                <a:lnTo>
                  <a:pt x="3769272" y="2597551"/>
                </a:lnTo>
                <a:lnTo>
                  <a:pt x="3574432" y="2502674"/>
                </a:lnTo>
                <a:lnTo>
                  <a:pt x="3590059" y="2484050"/>
                </a:lnTo>
                <a:cubicBezTo>
                  <a:pt x="3534764" y="2519868"/>
                  <a:pt x="3473263" y="2546445"/>
                  <a:pt x="3407886" y="2563572"/>
                </a:cubicBezTo>
                <a:lnTo>
                  <a:pt x="3358323" y="2761823"/>
                </a:lnTo>
                <a:lnTo>
                  <a:pt x="3094938" y="2761823"/>
                </a:lnTo>
                <a:lnTo>
                  <a:pt x="3045375" y="2563574"/>
                </a:lnTo>
                <a:cubicBezTo>
                  <a:pt x="2985349" y="2547848"/>
                  <a:pt x="2928591" y="2524155"/>
                  <a:pt x="2877330" y="2491865"/>
                </a:cubicBezTo>
                <a:lnTo>
                  <a:pt x="2882346" y="2497841"/>
                </a:lnTo>
                <a:lnTo>
                  <a:pt x="2687507" y="2592718"/>
                </a:lnTo>
                <a:lnTo>
                  <a:pt x="2518206" y="2390954"/>
                </a:lnTo>
                <a:lnTo>
                  <a:pt x="2626994" y="2241021"/>
                </a:lnTo>
                <a:cubicBezTo>
                  <a:pt x="2597591" y="2190623"/>
                  <a:pt x="2574657" y="2136035"/>
                  <a:pt x="2559194" y="2078370"/>
                </a:cubicBezTo>
                <a:lnTo>
                  <a:pt x="2371198" y="2031371"/>
                </a:lnTo>
                <a:lnTo>
                  <a:pt x="2371198" y="1767986"/>
                </a:lnTo>
                <a:lnTo>
                  <a:pt x="2559579" y="1720890"/>
                </a:lnTo>
                <a:cubicBezTo>
                  <a:pt x="2572992" y="1669175"/>
                  <a:pt x="2592745" y="1620006"/>
                  <a:pt x="2617681" y="1574051"/>
                </a:cubicBezTo>
                <a:lnTo>
                  <a:pt x="2502958" y="1397149"/>
                </a:lnTo>
                <a:lnTo>
                  <a:pt x="2682587" y="1204520"/>
                </a:lnTo>
                <a:lnTo>
                  <a:pt x="2872193" y="1309466"/>
                </a:lnTo>
                <a:lnTo>
                  <a:pt x="2870932" y="1310818"/>
                </a:lnTo>
                <a:cubicBezTo>
                  <a:pt x="2925169" y="1276310"/>
                  <a:pt x="2985393" y="1250941"/>
                  <a:pt x="3049268" y="1234575"/>
                </a:cubicBezTo>
                <a:lnTo>
                  <a:pt x="3042378" y="1234576"/>
                </a:lnTo>
                <a:lnTo>
                  <a:pt x="3094939" y="1024334"/>
                </a:lnTo>
                <a:close/>
                <a:moveTo>
                  <a:pt x="2786480" y="402820"/>
                </a:moveTo>
                <a:cubicBezTo>
                  <a:pt x="2745900" y="389943"/>
                  <a:pt x="2701172" y="388627"/>
                  <a:pt x="2657264" y="401580"/>
                </a:cubicBezTo>
                <a:cubicBezTo>
                  <a:pt x="2540176" y="436121"/>
                  <a:pt x="2473258" y="559041"/>
                  <a:pt x="2507800" y="676128"/>
                </a:cubicBezTo>
                <a:cubicBezTo>
                  <a:pt x="2542340" y="793216"/>
                  <a:pt x="2665260" y="860133"/>
                  <a:pt x="2782348" y="825592"/>
                </a:cubicBezTo>
                <a:cubicBezTo>
                  <a:pt x="2899435" y="791051"/>
                  <a:pt x="2966353" y="668132"/>
                  <a:pt x="2931812" y="551045"/>
                </a:cubicBezTo>
                <a:cubicBezTo>
                  <a:pt x="2910223" y="477864"/>
                  <a:pt x="2854113" y="424282"/>
                  <a:pt x="2786480" y="402820"/>
                </a:cubicBezTo>
                <a:close/>
                <a:moveTo>
                  <a:pt x="2932202" y="47278"/>
                </a:moveTo>
                <a:lnTo>
                  <a:pt x="3090904" y="140999"/>
                </a:lnTo>
                <a:lnTo>
                  <a:pt x="3054065" y="265147"/>
                </a:lnTo>
                <a:cubicBezTo>
                  <a:pt x="3087256" y="296329"/>
                  <a:pt x="3116089" y="332603"/>
                  <a:pt x="3138727" y="373550"/>
                </a:cubicBezTo>
                <a:lnTo>
                  <a:pt x="3276016" y="367796"/>
                </a:lnTo>
                <a:lnTo>
                  <a:pt x="3328165" y="544574"/>
                </a:lnTo>
                <a:lnTo>
                  <a:pt x="3202503" y="618514"/>
                </a:lnTo>
                <a:cubicBezTo>
                  <a:pt x="3202838" y="654403"/>
                  <a:pt x="3198271" y="689748"/>
                  <a:pt x="3189855" y="723955"/>
                </a:cubicBezTo>
                <a:lnTo>
                  <a:pt x="3295873" y="805599"/>
                </a:lnTo>
                <a:lnTo>
                  <a:pt x="3222192" y="974540"/>
                </a:lnTo>
                <a:lnTo>
                  <a:pt x="3072634" y="949439"/>
                </a:lnTo>
                <a:lnTo>
                  <a:pt x="3079435" y="933845"/>
                </a:lnTo>
                <a:cubicBezTo>
                  <a:pt x="3049413" y="968833"/>
                  <a:pt x="3013398" y="998848"/>
                  <a:pt x="2972910" y="1023288"/>
                </a:cubicBezTo>
                <a:lnTo>
                  <a:pt x="2978897" y="1166163"/>
                </a:lnTo>
                <a:lnTo>
                  <a:pt x="2802119" y="1218312"/>
                </a:lnTo>
                <a:lnTo>
                  <a:pt x="2729602" y="1095065"/>
                </a:lnTo>
                <a:cubicBezTo>
                  <a:pt x="2686199" y="1096396"/>
                  <a:pt x="2643414" y="1091732"/>
                  <a:pt x="2602615" y="1080209"/>
                </a:cubicBezTo>
                <a:lnTo>
                  <a:pt x="2607165" y="1083226"/>
                </a:lnTo>
                <a:lnTo>
                  <a:pt x="2495179" y="1185484"/>
                </a:lnTo>
                <a:lnTo>
                  <a:pt x="2341599" y="1083585"/>
                </a:lnTo>
                <a:lnTo>
                  <a:pt x="2384929" y="961414"/>
                </a:lnTo>
                <a:cubicBezTo>
                  <a:pt x="2355215" y="933409"/>
                  <a:pt x="2329015" y="901312"/>
                  <a:pt x="2307218" y="865670"/>
                </a:cubicBezTo>
                <a:lnTo>
                  <a:pt x="2171734" y="871348"/>
                </a:lnTo>
                <a:lnTo>
                  <a:pt x="2119584" y="694571"/>
                </a:lnTo>
                <a:lnTo>
                  <a:pt x="2236697" y="625662"/>
                </a:lnTo>
                <a:cubicBezTo>
                  <a:pt x="2235459" y="588297"/>
                  <a:pt x="2238982" y="551385"/>
                  <a:pt x="2246620" y="515603"/>
                </a:cubicBezTo>
                <a:lnTo>
                  <a:pt x="2134594" y="419585"/>
                </a:lnTo>
                <a:lnTo>
                  <a:pt x="2217016" y="254732"/>
                </a:lnTo>
                <a:lnTo>
                  <a:pt x="2365055" y="287627"/>
                </a:lnTo>
                <a:lnTo>
                  <a:pt x="2364476" y="288784"/>
                </a:lnTo>
                <a:cubicBezTo>
                  <a:pt x="2394046" y="254885"/>
                  <a:pt x="2429444" y="225933"/>
                  <a:pt x="2469075" y="202302"/>
                </a:cubicBezTo>
                <a:lnTo>
                  <a:pt x="2464452" y="203666"/>
                </a:lnTo>
                <a:lnTo>
                  <a:pt x="2458102" y="52150"/>
                </a:lnTo>
                <a:lnTo>
                  <a:pt x="2634880" y="0"/>
                </a:lnTo>
                <a:lnTo>
                  <a:pt x="2711784" y="130703"/>
                </a:lnTo>
                <a:lnTo>
                  <a:pt x="2707159" y="132067"/>
                </a:lnTo>
                <a:cubicBezTo>
                  <a:pt x="2750672" y="130497"/>
                  <a:pt x="2793590" y="134953"/>
                  <a:pt x="2834535" y="14631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49" name="Rectangle 5">
            <a:extLst>
              <a:ext uri="{FF2B5EF4-FFF2-40B4-BE49-F238E27FC236}">
                <a16:creationId xmlns:a16="http://schemas.microsoft.com/office/drawing/2014/main" id="{4B555ABA-AEB4-4F13-AAC1-EE4F76B7089E}"/>
              </a:ext>
            </a:extLst>
          </p:cNvPr>
          <p:cNvSpPr>
            <a:spLocks noChangeAspect="1"/>
          </p:cNvSpPr>
          <p:nvPr userDrawn="1"/>
        </p:nvSpPr>
        <p:spPr>
          <a:xfrm>
            <a:off x="10351614" y="2300788"/>
            <a:ext cx="489440" cy="489077"/>
          </a:xfrm>
          <a:custGeom>
            <a:avLst/>
            <a:gdLst/>
            <a:ahLst/>
            <a:cxnLst/>
            <a:rect l="l" t="t" r="r" b="b"/>
            <a:pathLst>
              <a:path w="3971162" h="3968213">
                <a:moveTo>
                  <a:pt x="808855" y="2815607"/>
                </a:moveTo>
                <a:lnTo>
                  <a:pt x="1168895" y="2815607"/>
                </a:lnTo>
                <a:lnTo>
                  <a:pt x="1168895" y="3175607"/>
                </a:lnTo>
                <a:lnTo>
                  <a:pt x="808855" y="3175607"/>
                </a:lnTo>
                <a:close/>
                <a:moveTo>
                  <a:pt x="697665" y="2704397"/>
                </a:moveTo>
                <a:lnTo>
                  <a:pt x="697665" y="3286817"/>
                </a:lnTo>
                <a:lnTo>
                  <a:pt x="1280085" y="3286817"/>
                </a:lnTo>
                <a:lnTo>
                  <a:pt x="1280085" y="2704397"/>
                </a:lnTo>
                <a:close/>
                <a:moveTo>
                  <a:pt x="537750" y="2544482"/>
                </a:moveTo>
                <a:lnTo>
                  <a:pt x="1440000" y="2544482"/>
                </a:lnTo>
                <a:lnTo>
                  <a:pt x="1440000" y="3446732"/>
                </a:lnTo>
                <a:lnTo>
                  <a:pt x="537750" y="3446732"/>
                </a:lnTo>
                <a:close/>
                <a:moveTo>
                  <a:pt x="0" y="2528213"/>
                </a:moveTo>
                <a:lnTo>
                  <a:pt x="360000" y="2528213"/>
                </a:lnTo>
                <a:lnTo>
                  <a:pt x="360000" y="3608213"/>
                </a:lnTo>
                <a:lnTo>
                  <a:pt x="1440000" y="3608213"/>
                </a:lnTo>
                <a:lnTo>
                  <a:pt x="1440000" y="3968213"/>
                </a:lnTo>
                <a:lnTo>
                  <a:pt x="360000" y="3968213"/>
                </a:lnTo>
                <a:lnTo>
                  <a:pt x="0" y="3968213"/>
                </a:lnTo>
                <a:lnTo>
                  <a:pt x="0" y="3608213"/>
                </a:lnTo>
                <a:close/>
                <a:moveTo>
                  <a:pt x="3605829" y="2524046"/>
                </a:moveTo>
                <a:lnTo>
                  <a:pt x="3965829" y="2524046"/>
                </a:lnTo>
                <a:lnTo>
                  <a:pt x="3965829" y="3604046"/>
                </a:lnTo>
                <a:lnTo>
                  <a:pt x="3965829" y="3964046"/>
                </a:lnTo>
                <a:lnTo>
                  <a:pt x="3605829" y="3964046"/>
                </a:lnTo>
                <a:lnTo>
                  <a:pt x="2525829" y="3964046"/>
                </a:lnTo>
                <a:lnTo>
                  <a:pt x="2525829" y="3604046"/>
                </a:lnTo>
                <a:lnTo>
                  <a:pt x="3605829" y="3604046"/>
                </a:lnTo>
                <a:close/>
                <a:moveTo>
                  <a:pt x="1542677" y="2468095"/>
                </a:moveTo>
                <a:lnTo>
                  <a:pt x="1758701" y="2468095"/>
                </a:lnTo>
                <a:lnTo>
                  <a:pt x="1758701" y="2835684"/>
                </a:lnTo>
                <a:lnTo>
                  <a:pt x="1542677" y="2835684"/>
                </a:lnTo>
                <a:close/>
                <a:moveTo>
                  <a:pt x="3174101" y="2437460"/>
                </a:moveTo>
                <a:lnTo>
                  <a:pt x="3390125" y="2437460"/>
                </a:lnTo>
                <a:lnTo>
                  <a:pt x="3390125" y="2663201"/>
                </a:lnTo>
                <a:lnTo>
                  <a:pt x="3174101" y="2663201"/>
                </a:lnTo>
                <a:close/>
                <a:moveTo>
                  <a:pt x="2809842" y="2295613"/>
                </a:moveTo>
                <a:lnTo>
                  <a:pt x="3025866" y="2295613"/>
                </a:lnTo>
                <a:lnTo>
                  <a:pt x="3025866" y="2663202"/>
                </a:lnTo>
                <a:lnTo>
                  <a:pt x="3389097" y="2663202"/>
                </a:lnTo>
                <a:lnTo>
                  <a:pt x="3389097" y="2873898"/>
                </a:lnTo>
                <a:lnTo>
                  <a:pt x="3389097" y="2873898"/>
                </a:lnTo>
                <a:lnTo>
                  <a:pt x="3389097" y="3446732"/>
                </a:lnTo>
                <a:lnTo>
                  <a:pt x="3173073" y="3446732"/>
                </a:lnTo>
                <a:lnTo>
                  <a:pt x="3173073" y="2879226"/>
                </a:lnTo>
                <a:lnTo>
                  <a:pt x="3021508" y="2879226"/>
                </a:lnTo>
                <a:lnTo>
                  <a:pt x="3021508" y="2663202"/>
                </a:lnTo>
                <a:lnTo>
                  <a:pt x="2809842" y="2663202"/>
                </a:lnTo>
                <a:close/>
                <a:moveTo>
                  <a:pt x="2093780" y="2089306"/>
                </a:moveTo>
                <a:lnTo>
                  <a:pt x="2309804" y="2089306"/>
                </a:lnTo>
                <a:lnTo>
                  <a:pt x="2309804" y="2315047"/>
                </a:lnTo>
                <a:lnTo>
                  <a:pt x="2093780" y="2315047"/>
                </a:lnTo>
                <a:close/>
                <a:moveTo>
                  <a:pt x="2656492" y="1853849"/>
                </a:moveTo>
                <a:lnTo>
                  <a:pt x="2872516" y="1853849"/>
                </a:lnTo>
                <a:lnTo>
                  <a:pt x="2872516" y="2038657"/>
                </a:lnTo>
                <a:lnTo>
                  <a:pt x="2989835" y="2038657"/>
                </a:lnTo>
                <a:lnTo>
                  <a:pt x="2989835" y="1887092"/>
                </a:lnTo>
                <a:lnTo>
                  <a:pt x="3205859" y="1887092"/>
                </a:lnTo>
                <a:lnTo>
                  <a:pt x="3205859" y="2028940"/>
                </a:lnTo>
                <a:lnTo>
                  <a:pt x="3390125" y="2028940"/>
                </a:lnTo>
                <a:lnTo>
                  <a:pt x="3390125" y="2254681"/>
                </a:lnTo>
                <a:lnTo>
                  <a:pt x="3205859" y="2254681"/>
                </a:lnTo>
                <a:lnTo>
                  <a:pt x="3174101" y="2254681"/>
                </a:lnTo>
                <a:lnTo>
                  <a:pt x="3005149" y="2254681"/>
                </a:lnTo>
                <a:lnTo>
                  <a:pt x="2989835" y="2254681"/>
                </a:lnTo>
                <a:lnTo>
                  <a:pt x="2688721" y="2254681"/>
                </a:lnTo>
                <a:lnTo>
                  <a:pt x="2688721" y="2447179"/>
                </a:lnTo>
                <a:lnTo>
                  <a:pt x="2488606" y="2447179"/>
                </a:lnTo>
                <a:lnTo>
                  <a:pt x="2488606" y="2663841"/>
                </a:lnTo>
                <a:lnTo>
                  <a:pt x="2486018" y="2663841"/>
                </a:lnTo>
                <a:lnTo>
                  <a:pt x="2486018" y="2846997"/>
                </a:lnTo>
                <a:lnTo>
                  <a:pt x="2840287" y="2846997"/>
                </a:lnTo>
                <a:lnTo>
                  <a:pt x="2840287" y="3046907"/>
                </a:lnTo>
                <a:lnTo>
                  <a:pt x="3045880" y="3046907"/>
                </a:lnTo>
                <a:lnTo>
                  <a:pt x="3045880" y="3272648"/>
                </a:lnTo>
                <a:lnTo>
                  <a:pt x="2829856" y="3272648"/>
                </a:lnTo>
                <a:lnTo>
                  <a:pt x="2829856" y="3063021"/>
                </a:lnTo>
                <a:lnTo>
                  <a:pt x="2472698" y="3063021"/>
                </a:lnTo>
                <a:lnTo>
                  <a:pt x="2472698" y="2847499"/>
                </a:lnTo>
                <a:lnTo>
                  <a:pt x="2093780" y="2847499"/>
                </a:lnTo>
                <a:lnTo>
                  <a:pt x="2088510" y="2847499"/>
                </a:lnTo>
                <a:lnTo>
                  <a:pt x="1910267" y="2847499"/>
                </a:lnTo>
                <a:lnTo>
                  <a:pt x="1910267" y="3028023"/>
                </a:lnTo>
                <a:lnTo>
                  <a:pt x="2277575" y="3028023"/>
                </a:lnTo>
                <a:lnTo>
                  <a:pt x="2277575" y="3241488"/>
                </a:lnTo>
                <a:lnTo>
                  <a:pt x="2829855" y="3241488"/>
                </a:lnTo>
                <a:lnTo>
                  <a:pt x="2829855" y="3457512"/>
                </a:lnTo>
                <a:lnTo>
                  <a:pt x="2269993" y="3457512"/>
                </a:lnTo>
                <a:lnTo>
                  <a:pt x="2269993" y="3244047"/>
                </a:lnTo>
                <a:lnTo>
                  <a:pt x="2111604" y="3244047"/>
                </a:lnTo>
                <a:lnTo>
                  <a:pt x="2111604" y="3446733"/>
                </a:lnTo>
                <a:lnTo>
                  <a:pt x="1744015" y="3446733"/>
                </a:lnTo>
                <a:lnTo>
                  <a:pt x="1744015" y="3230709"/>
                </a:lnTo>
                <a:lnTo>
                  <a:pt x="1909986" y="3230709"/>
                </a:lnTo>
                <a:lnTo>
                  <a:pt x="1909986" y="3051709"/>
                </a:lnTo>
                <a:lnTo>
                  <a:pt x="1542678" y="3051709"/>
                </a:lnTo>
                <a:lnTo>
                  <a:pt x="1542678" y="2835685"/>
                </a:lnTo>
                <a:lnTo>
                  <a:pt x="1877756" y="2835685"/>
                </a:lnTo>
                <a:lnTo>
                  <a:pt x="1877756" y="2315047"/>
                </a:lnTo>
                <a:lnTo>
                  <a:pt x="2093780" y="2315047"/>
                </a:lnTo>
                <a:lnTo>
                  <a:pt x="2093780" y="2631475"/>
                </a:lnTo>
                <a:lnTo>
                  <a:pt x="2272582" y="2631475"/>
                </a:lnTo>
                <a:lnTo>
                  <a:pt x="2272582" y="2438100"/>
                </a:lnTo>
                <a:lnTo>
                  <a:pt x="2472697" y="2438100"/>
                </a:lnTo>
                <a:lnTo>
                  <a:pt x="2472697" y="2254681"/>
                </a:lnTo>
                <a:lnTo>
                  <a:pt x="2472697" y="2221438"/>
                </a:lnTo>
                <a:lnTo>
                  <a:pt x="2472697" y="2038657"/>
                </a:lnTo>
                <a:lnTo>
                  <a:pt x="2656492" y="2038657"/>
                </a:lnTo>
                <a:close/>
                <a:moveTo>
                  <a:pt x="2989836" y="1667759"/>
                </a:moveTo>
                <a:lnTo>
                  <a:pt x="3357425" y="1667759"/>
                </a:lnTo>
                <a:lnTo>
                  <a:pt x="3357425" y="1883783"/>
                </a:lnTo>
                <a:lnTo>
                  <a:pt x="2989836" y="1883783"/>
                </a:lnTo>
                <a:close/>
                <a:moveTo>
                  <a:pt x="2309586" y="1554888"/>
                </a:moveTo>
                <a:lnTo>
                  <a:pt x="2829824" y="1554888"/>
                </a:lnTo>
                <a:lnTo>
                  <a:pt x="2829824" y="1770912"/>
                </a:lnTo>
                <a:lnTo>
                  <a:pt x="2525643" y="1770912"/>
                </a:lnTo>
                <a:lnTo>
                  <a:pt x="2525643" y="1927296"/>
                </a:lnTo>
                <a:lnTo>
                  <a:pt x="2309619" y="1927296"/>
                </a:lnTo>
                <a:lnTo>
                  <a:pt x="2309619" y="1770912"/>
                </a:lnTo>
                <a:lnTo>
                  <a:pt x="2309586" y="1770912"/>
                </a:lnTo>
                <a:close/>
                <a:moveTo>
                  <a:pt x="616397" y="1550030"/>
                </a:moveTo>
                <a:lnTo>
                  <a:pt x="808855" y="1550030"/>
                </a:lnTo>
                <a:lnTo>
                  <a:pt x="832421" y="1550030"/>
                </a:lnTo>
                <a:lnTo>
                  <a:pt x="1024879" y="1550030"/>
                </a:lnTo>
                <a:lnTo>
                  <a:pt x="1024879" y="1775771"/>
                </a:lnTo>
                <a:lnTo>
                  <a:pt x="832421" y="1775771"/>
                </a:lnTo>
                <a:lnTo>
                  <a:pt x="832421" y="2079590"/>
                </a:lnTo>
                <a:lnTo>
                  <a:pt x="1028931" y="2079590"/>
                </a:lnTo>
                <a:lnTo>
                  <a:pt x="1192537" y="2079590"/>
                </a:lnTo>
                <a:lnTo>
                  <a:pt x="1244955" y="2079590"/>
                </a:lnTo>
                <a:lnTo>
                  <a:pt x="1244955" y="2231155"/>
                </a:lnTo>
                <a:lnTo>
                  <a:pt x="1468668" y="2231155"/>
                </a:lnTo>
                <a:lnTo>
                  <a:pt x="1468668" y="2447179"/>
                </a:lnTo>
                <a:lnTo>
                  <a:pt x="1244955" y="2447179"/>
                </a:lnTo>
                <a:lnTo>
                  <a:pt x="1244955" y="2447179"/>
                </a:lnTo>
                <a:lnTo>
                  <a:pt x="1028931" y="2447179"/>
                </a:lnTo>
                <a:lnTo>
                  <a:pt x="1028931" y="2295614"/>
                </a:lnTo>
                <a:lnTo>
                  <a:pt x="619703" y="2295614"/>
                </a:lnTo>
                <a:lnTo>
                  <a:pt x="619703" y="2082482"/>
                </a:lnTo>
                <a:lnTo>
                  <a:pt x="616397" y="2082482"/>
                </a:lnTo>
                <a:close/>
                <a:moveTo>
                  <a:pt x="1747452" y="1324289"/>
                </a:moveTo>
                <a:lnTo>
                  <a:pt x="1963476" y="1324289"/>
                </a:lnTo>
                <a:lnTo>
                  <a:pt x="1963476" y="1528779"/>
                </a:lnTo>
                <a:lnTo>
                  <a:pt x="2151955" y="1528779"/>
                </a:lnTo>
                <a:lnTo>
                  <a:pt x="2151955" y="1754520"/>
                </a:lnTo>
                <a:lnTo>
                  <a:pt x="1935931" y="1754520"/>
                </a:lnTo>
                <a:lnTo>
                  <a:pt x="1935931" y="1550030"/>
                </a:lnTo>
                <a:lnTo>
                  <a:pt x="1758702" y="1550030"/>
                </a:lnTo>
                <a:lnTo>
                  <a:pt x="1758702" y="1863566"/>
                </a:lnTo>
                <a:lnTo>
                  <a:pt x="2119726" y="1863566"/>
                </a:lnTo>
                <a:lnTo>
                  <a:pt x="2119726" y="2079590"/>
                </a:lnTo>
                <a:lnTo>
                  <a:pt x="1761543" y="2079590"/>
                </a:lnTo>
                <a:lnTo>
                  <a:pt x="1761543" y="2259540"/>
                </a:lnTo>
                <a:lnTo>
                  <a:pt x="1545519" y="2259540"/>
                </a:lnTo>
                <a:lnTo>
                  <a:pt x="1545519" y="2082482"/>
                </a:lnTo>
                <a:lnTo>
                  <a:pt x="1542678" y="2082482"/>
                </a:lnTo>
                <a:lnTo>
                  <a:pt x="1542678" y="2079589"/>
                </a:lnTo>
                <a:lnTo>
                  <a:pt x="1030691" y="2079589"/>
                </a:lnTo>
                <a:lnTo>
                  <a:pt x="1030691" y="1863565"/>
                </a:lnTo>
                <a:lnTo>
                  <a:pt x="1192537" y="1863565"/>
                </a:lnTo>
                <a:lnTo>
                  <a:pt x="1192537" y="1662900"/>
                </a:lnTo>
                <a:lnTo>
                  <a:pt x="1440000" y="1662900"/>
                </a:lnTo>
                <a:lnTo>
                  <a:pt x="1440000" y="1863565"/>
                </a:lnTo>
                <a:lnTo>
                  <a:pt x="1542678" y="1863565"/>
                </a:lnTo>
                <a:lnTo>
                  <a:pt x="1542678" y="1550030"/>
                </a:lnTo>
                <a:lnTo>
                  <a:pt x="1747452" y="1550030"/>
                </a:lnTo>
                <a:close/>
                <a:moveTo>
                  <a:pt x="2802267" y="814725"/>
                </a:moveTo>
                <a:lnTo>
                  <a:pt x="3162307" y="814725"/>
                </a:lnTo>
                <a:lnTo>
                  <a:pt x="3162307" y="1174725"/>
                </a:lnTo>
                <a:lnTo>
                  <a:pt x="2802267" y="1174725"/>
                </a:lnTo>
                <a:close/>
                <a:moveTo>
                  <a:pt x="884915" y="814725"/>
                </a:moveTo>
                <a:lnTo>
                  <a:pt x="1244955" y="814725"/>
                </a:lnTo>
                <a:lnTo>
                  <a:pt x="1244955" y="1174725"/>
                </a:lnTo>
                <a:lnTo>
                  <a:pt x="884915" y="1174725"/>
                </a:lnTo>
                <a:close/>
                <a:moveTo>
                  <a:pt x="2691077" y="703515"/>
                </a:moveTo>
                <a:lnTo>
                  <a:pt x="2691077" y="1285935"/>
                </a:lnTo>
                <a:lnTo>
                  <a:pt x="3273497" y="1285935"/>
                </a:lnTo>
                <a:lnTo>
                  <a:pt x="3273497" y="703515"/>
                </a:lnTo>
                <a:close/>
                <a:moveTo>
                  <a:pt x="773725" y="703515"/>
                </a:moveTo>
                <a:lnTo>
                  <a:pt x="773725" y="1285935"/>
                </a:lnTo>
                <a:lnTo>
                  <a:pt x="1356145" y="1285935"/>
                </a:lnTo>
                <a:lnTo>
                  <a:pt x="1356145" y="703515"/>
                </a:lnTo>
                <a:close/>
                <a:moveTo>
                  <a:pt x="2531162" y="543600"/>
                </a:moveTo>
                <a:lnTo>
                  <a:pt x="3433412" y="543600"/>
                </a:lnTo>
                <a:lnTo>
                  <a:pt x="3433412" y="1445850"/>
                </a:lnTo>
                <a:lnTo>
                  <a:pt x="2531162" y="1445850"/>
                </a:lnTo>
                <a:close/>
                <a:moveTo>
                  <a:pt x="613810" y="543600"/>
                </a:moveTo>
                <a:lnTo>
                  <a:pt x="1516060" y="543600"/>
                </a:lnTo>
                <a:lnTo>
                  <a:pt x="1516060" y="1445850"/>
                </a:lnTo>
                <a:lnTo>
                  <a:pt x="613810" y="1445850"/>
                </a:lnTo>
                <a:close/>
                <a:moveTo>
                  <a:pt x="2088509" y="543244"/>
                </a:moveTo>
                <a:lnTo>
                  <a:pt x="2283187" y="543244"/>
                </a:lnTo>
                <a:lnTo>
                  <a:pt x="2283187" y="759268"/>
                </a:lnTo>
                <a:lnTo>
                  <a:pt x="2088509" y="759268"/>
                </a:lnTo>
                <a:close/>
                <a:moveTo>
                  <a:pt x="1751276" y="543243"/>
                </a:moveTo>
                <a:lnTo>
                  <a:pt x="1967300" y="543243"/>
                </a:lnTo>
                <a:lnTo>
                  <a:pt x="1967300" y="986389"/>
                </a:lnTo>
                <a:lnTo>
                  <a:pt x="2119726" y="986389"/>
                </a:lnTo>
                <a:lnTo>
                  <a:pt x="2119726" y="986388"/>
                </a:lnTo>
                <a:lnTo>
                  <a:pt x="2335750" y="986388"/>
                </a:lnTo>
                <a:lnTo>
                  <a:pt x="2335750" y="1491348"/>
                </a:lnTo>
                <a:lnTo>
                  <a:pt x="2119726" y="1491348"/>
                </a:lnTo>
                <a:lnTo>
                  <a:pt x="2119726" y="1202413"/>
                </a:lnTo>
                <a:lnTo>
                  <a:pt x="1747396" y="1202413"/>
                </a:lnTo>
                <a:lnTo>
                  <a:pt x="1747396" y="986389"/>
                </a:lnTo>
                <a:lnTo>
                  <a:pt x="1751276" y="986389"/>
                </a:lnTo>
                <a:close/>
                <a:moveTo>
                  <a:pt x="4409" y="5850"/>
                </a:moveTo>
                <a:lnTo>
                  <a:pt x="364409" y="5850"/>
                </a:lnTo>
                <a:lnTo>
                  <a:pt x="1444409" y="5850"/>
                </a:lnTo>
                <a:lnTo>
                  <a:pt x="1444409" y="365850"/>
                </a:lnTo>
                <a:lnTo>
                  <a:pt x="364409" y="365850"/>
                </a:lnTo>
                <a:lnTo>
                  <a:pt x="364409" y="1445850"/>
                </a:lnTo>
                <a:lnTo>
                  <a:pt x="4409" y="1445850"/>
                </a:lnTo>
                <a:lnTo>
                  <a:pt x="4409" y="365850"/>
                </a:lnTo>
                <a:close/>
                <a:moveTo>
                  <a:pt x="2531162" y="0"/>
                </a:moveTo>
                <a:lnTo>
                  <a:pt x="3611162" y="0"/>
                </a:lnTo>
                <a:lnTo>
                  <a:pt x="3971162" y="0"/>
                </a:lnTo>
                <a:lnTo>
                  <a:pt x="3971162" y="360000"/>
                </a:lnTo>
                <a:lnTo>
                  <a:pt x="3971162" y="1440000"/>
                </a:lnTo>
                <a:lnTo>
                  <a:pt x="3611162" y="1440000"/>
                </a:lnTo>
                <a:lnTo>
                  <a:pt x="3611162" y="360000"/>
                </a:lnTo>
                <a:lnTo>
                  <a:pt x="2531162" y="360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50" name="Freeform: Shape 49">
            <a:extLst>
              <a:ext uri="{FF2B5EF4-FFF2-40B4-BE49-F238E27FC236}">
                <a16:creationId xmlns:a16="http://schemas.microsoft.com/office/drawing/2014/main" id="{A9F6F473-5CB6-426B-B9DE-611B4B6EE1DB}"/>
              </a:ext>
            </a:extLst>
          </p:cNvPr>
          <p:cNvSpPr/>
          <p:nvPr userDrawn="1"/>
        </p:nvSpPr>
        <p:spPr>
          <a:xfrm rot="5400000">
            <a:off x="10385291" y="3603707"/>
            <a:ext cx="455427" cy="456099"/>
          </a:xfrm>
          <a:custGeom>
            <a:avLst/>
            <a:gdLst>
              <a:gd name="connsiteX0" fmla="*/ 42 w 721442"/>
              <a:gd name="connsiteY0" fmla="*/ 522852 h 722507"/>
              <a:gd name="connsiteX1" fmla="*/ 5857 w 721442"/>
              <a:gd name="connsiteY1" fmla="*/ 47329 h 722507"/>
              <a:gd name="connsiteX2" fmla="*/ 53185 w 721442"/>
              <a:gd name="connsiteY2" fmla="*/ 0 h 722507"/>
              <a:gd name="connsiteX3" fmla="*/ 102932 w 721442"/>
              <a:gd name="connsiteY3" fmla="*/ 0 h 722507"/>
              <a:gd name="connsiteX4" fmla="*/ 150260 w 721442"/>
              <a:gd name="connsiteY4" fmla="*/ 47329 h 722507"/>
              <a:gd name="connsiteX5" fmla="*/ 148891 w 721442"/>
              <a:gd name="connsiteY5" fmla="*/ 154199 h 722507"/>
              <a:gd name="connsiteX6" fmla="*/ 148407 w 721442"/>
              <a:gd name="connsiteY6" fmla="*/ 182723 h 722507"/>
              <a:gd name="connsiteX7" fmla="*/ 331751 w 721442"/>
              <a:gd name="connsiteY7" fmla="*/ 177508 h 722507"/>
              <a:gd name="connsiteX8" fmla="*/ 527686 w 721442"/>
              <a:gd name="connsiteY8" fmla="*/ 167574 h 722507"/>
              <a:gd name="connsiteX9" fmla="*/ 467883 w 721442"/>
              <a:gd name="connsiteY9" fmla="*/ 53046 h 722507"/>
              <a:gd name="connsiteX10" fmla="*/ 721421 w 721442"/>
              <a:gd name="connsiteY10" fmla="*/ 129085 h 722507"/>
              <a:gd name="connsiteX11" fmla="*/ 547357 w 721442"/>
              <a:gd name="connsiteY11" fmla="*/ 287593 h 722507"/>
              <a:gd name="connsiteX12" fmla="*/ 146593 w 721442"/>
              <a:gd name="connsiteY12" fmla="*/ 294469 h 722507"/>
              <a:gd name="connsiteX13" fmla="*/ 146309 w 721442"/>
              <a:gd name="connsiteY13" fmla="*/ 312824 h 722507"/>
              <a:gd name="connsiteX14" fmla="*/ 145796 w 721442"/>
              <a:gd name="connsiteY14" fmla="*/ 388895 h 722507"/>
              <a:gd name="connsiteX15" fmla="*/ 145887 w 721442"/>
              <a:gd name="connsiteY15" fmla="*/ 417641 h 722507"/>
              <a:gd name="connsiteX16" fmla="*/ 564076 w 721442"/>
              <a:gd name="connsiteY16" fmla="*/ 417641 h 722507"/>
              <a:gd name="connsiteX17" fmla="*/ 719692 w 721442"/>
              <a:gd name="connsiteY17" fmla="*/ 543229 h 722507"/>
              <a:gd name="connsiteX18" fmla="*/ 631765 w 721442"/>
              <a:gd name="connsiteY18" fmla="*/ 586638 h 722507"/>
              <a:gd name="connsiteX19" fmla="*/ 452578 w 721442"/>
              <a:gd name="connsiteY19" fmla="*/ 524866 h 722507"/>
              <a:gd name="connsiteX20" fmla="*/ 234716 w 721442"/>
              <a:gd name="connsiteY20" fmla="*/ 528410 h 722507"/>
              <a:gd name="connsiteX21" fmla="*/ 147934 w 721442"/>
              <a:gd name="connsiteY21" fmla="*/ 529997 h 722507"/>
              <a:gd name="connsiteX22" fmla="*/ 149842 w 721442"/>
              <a:gd name="connsiteY22" fmla="*/ 554392 h 722507"/>
              <a:gd name="connsiteX23" fmla="*/ 210351 w 721442"/>
              <a:gd name="connsiteY23" fmla="*/ 722507 h 722507"/>
              <a:gd name="connsiteX24" fmla="*/ 42 w 721442"/>
              <a:gd name="connsiteY24" fmla="*/ 522852 h 722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21442" h="722507">
                <a:moveTo>
                  <a:pt x="42" y="522852"/>
                </a:moveTo>
                <a:cubicBezTo>
                  <a:pt x="-605" y="350129"/>
                  <a:pt x="6503" y="220051"/>
                  <a:pt x="5857" y="47329"/>
                </a:cubicBezTo>
                <a:cubicBezTo>
                  <a:pt x="5857" y="21190"/>
                  <a:pt x="27046" y="0"/>
                  <a:pt x="53185" y="0"/>
                </a:cubicBezTo>
                <a:lnTo>
                  <a:pt x="102932" y="0"/>
                </a:lnTo>
                <a:cubicBezTo>
                  <a:pt x="129071" y="0"/>
                  <a:pt x="150260" y="21190"/>
                  <a:pt x="150260" y="47329"/>
                </a:cubicBezTo>
                <a:cubicBezTo>
                  <a:pt x="149853" y="88041"/>
                  <a:pt x="149377" y="122989"/>
                  <a:pt x="148891" y="154199"/>
                </a:cubicBezTo>
                <a:lnTo>
                  <a:pt x="148407" y="182723"/>
                </a:lnTo>
                <a:lnTo>
                  <a:pt x="331751" y="177508"/>
                </a:lnTo>
                <a:cubicBezTo>
                  <a:pt x="397063" y="175650"/>
                  <a:pt x="462374" y="173066"/>
                  <a:pt x="527686" y="167574"/>
                </a:cubicBezTo>
                <a:cubicBezTo>
                  <a:pt x="642817" y="145134"/>
                  <a:pt x="586782" y="11119"/>
                  <a:pt x="467883" y="53046"/>
                </a:cubicBezTo>
                <a:cubicBezTo>
                  <a:pt x="570547" y="-49115"/>
                  <a:pt x="723145" y="18126"/>
                  <a:pt x="721421" y="129085"/>
                </a:cubicBezTo>
                <a:cubicBezTo>
                  <a:pt x="720775" y="181200"/>
                  <a:pt x="734474" y="263637"/>
                  <a:pt x="547357" y="287593"/>
                </a:cubicBezTo>
                <a:lnTo>
                  <a:pt x="146593" y="294469"/>
                </a:lnTo>
                <a:lnTo>
                  <a:pt x="146309" y="312824"/>
                </a:lnTo>
                <a:cubicBezTo>
                  <a:pt x="146013" y="337190"/>
                  <a:pt x="145822" y="361872"/>
                  <a:pt x="145796" y="388895"/>
                </a:cubicBezTo>
                <a:lnTo>
                  <a:pt x="145887" y="417641"/>
                </a:lnTo>
                <a:lnTo>
                  <a:pt x="564076" y="417641"/>
                </a:lnTo>
                <a:cubicBezTo>
                  <a:pt x="676720" y="420465"/>
                  <a:pt x="718804" y="471343"/>
                  <a:pt x="719692" y="543229"/>
                </a:cubicBezTo>
                <a:cubicBezTo>
                  <a:pt x="721183" y="582376"/>
                  <a:pt x="690900" y="608290"/>
                  <a:pt x="631765" y="586638"/>
                </a:cubicBezTo>
                <a:cubicBezTo>
                  <a:pt x="553530" y="556303"/>
                  <a:pt x="540205" y="522675"/>
                  <a:pt x="452578" y="524866"/>
                </a:cubicBezTo>
                <a:cubicBezTo>
                  <a:pt x="380525" y="525785"/>
                  <a:pt x="322260" y="526811"/>
                  <a:pt x="234716" y="528410"/>
                </a:cubicBezTo>
                <a:lnTo>
                  <a:pt x="147934" y="529997"/>
                </a:lnTo>
                <a:lnTo>
                  <a:pt x="149842" y="554392"/>
                </a:lnTo>
                <a:cubicBezTo>
                  <a:pt x="166488" y="646104"/>
                  <a:pt x="240698" y="721838"/>
                  <a:pt x="210351" y="722507"/>
                </a:cubicBezTo>
                <a:cubicBezTo>
                  <a:pt x="126033" y="702477"/>
                  <a:pt x="1009" y="637864"/>
                  <a:pt x="42" y="52285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p>
        </p:txBody>
      </p:sp>
      <p:sp>
        <p:nvSpPr>
          <p:cNvPr id="51" name="Frame 1">
            <a:extLst>
              <a:ext uri="{FF2B5EF4-FFF2-40B4-BE49-F238E27FC236}">
                <a16:creationId xmlns:a16="http://schemas.microsoft.com/office/drawing/2014/main" id="{1EA4BFBA-7B1D-4020-A243-8505AEA8FCD8}"/>
              </a:ext>
            </a:extLst>
          </p:cNvPr>
          <p:cNvSpPr/>
          <p:nvPr userDrawn="1"/>
        </p:nvSpPr>
        <p:spPr>
          <a:xfrm>
            <a:off x="9493570" y="1878930"/>
            <a:ext cx="474352" cy="640910"/>
          </a:xfrm>
          <a:custGeom>
            <a:avLst/>
            <a:gdLst/>
            <a:ahLst/>
            <a:cxnLst/>
            <a:rect l="l" t="t" r="r" b="b"/>
            <a:pathLst>
              <a:path w="2823581" h="3962432">
                <a:moveTo>
                  <a:pt x="1366785" y="3230945"/>
                </a:moveTo>
                <a:cubicBezTo>
                  <a:pt x="1292218" y="3230945"/>
                  <a:pt x="1231770" y="3291393"/>
                  <a:pt x="1231770" y="3365960"/>
                </a:cubicBezTo>
                <a:cubicBezTo>
                  <a:pt x="1231770" y="3440527"/>
                  <a:pt x="1292218" y="3500975"/>
                  <a:pt x="1366785" y="3500975"/>
                </a:cubicBezTo>
                <a:cubicBezTo>
                  <a:pt x="1441352" y="3500975"/>
                  <a:pt x="1501800" y="3440527"/>
                  <a:pt x="1501800" y="3365960"/>
                </a:cubicBezTo>
                <a:cubicBezTo>
                  <a:pt x="1501800" y="3291393"/>
                  <a:pt x="1441352" y="3230945"/>
                  <a:pt x="1366785" y="3230945"/>
                </a:cubicBezTo>
                <a:close/>
                <a:moveTo>
                  <a:pt x="1699205" y="3185940"/>
                </a:moveTo>
                <a:cubicBezTo>
                  <a:pt x="1674349" y="3185940"/>
                  <a:pt x="1654200" y="3206089"/>
                  <a:pt x="1654200" y="3230945"/>
                </a:cubicBezTo>
                <a:cubicBezTo>
                  <a:pt x="1654200" y="3255801"/>
                  <a:pt x="1674349" y="3275950"/>
                  <a:pt x="1699205" y="3275950"/>
                </a:cubicBezTo>
                <a:cubicBezTo>
                  <a:pt x="1724061" y="3275950"/>
                  <a:pt x="1744210" y="3255801"/>
                  <a:pt x="1744210" y="3230945"/>
                </a:cubicBezTo>
                <a:cubicBezTo>
                  <a:pt x="1744210" y="3206089"/>
                  <a:pt x="1724061" y="3185940"/>
                  <a:pt x="1699205" y="3185940"/>
                </a:cubicBezTo>
                <a:close/>
                <a:moveTo>
                  <a:pt x="1501800" y="2830204"/>
                </a:moveTo>
                <a:cubicBezTo>
                  <a:pt x="1452089" y="2830204"/>
                  <a:pt x="1411790" y="2870503"/>
                  <a:pt x="1411790" y="2920214"/>
                </a:cubicBezTo>
                <a:cubicBezTo>
                  <a:pt x="1411790" y="2969925"/>
                  <a:pt x="1452089" y="3010224"/>
                  <a:pt x="1501800" y="3010224"/>
                </a:cubicBezTo>
                <a:cubicBezTo>
                  <a:pt x="1551511" y="3010224"/>
                  <a:pt x="1591810" y="2969925"/>
                  <a:pt x="1591810" y="2920214"/>
                </a:cubicBezTo>
                <a:cubicBezTo>
                  <a:pt x="1591810" y="2870503"/>
                  <a:pt x="1551511" y="2830204"/>
                  <a:pt x="1501800" y="2830204"/>
                </a:cubicBezTo>
                <a:close/>
                <a:moveTo>
                  <a:pt x="322536" y="2413264"/>
                </a:moveTo>
                <a:lnTo>
                  <a:pt x="1264147" y="2413264"/>
                </a:lnTo>
                <a:lnTo>
                  <a:pt x="682536" y="3458376"/>
                </a:lnTo>
                <a:lnTo>
                  <a:pt x="898974" y="3458376"/>
                </a:lnTo>
                <a:lnTo>
                  <a:pt x="1480585" y="2413264"/>
                </a:lnTo>
                <a:lnTo>
                  <a:pt x="1978720" y="2413264"/>
                </a:lnTo>
                <a:lnTo>
                  <a:pt x="1978720" y="3628270"/>
                </a:lnTo>
                <a:lnTo>
                  <a:pt x="322536" y="3628270"/>
                </a:lnTo>
                <a:close/>
                <a:moveTo>
                  <a:pt x="322536" y="2153598"/>
                </a:moveTo>
                <a:lnTo>
                  <a:pt x="682536" y="2153598"/>
                </a:lnTo>
                <a:lnTo>
                  <a:pt x="682536" y="2261598"/>
                </a:lnTo>
                <a:lnTo>
                  <a:pt x="322536" y="2261598"/>
                </a:lnTo>
                <a:close/>
                <a:moveTo>
                  <a:pt x="322536" y="1870494"/>
                </a:moveTo>
                <a:lnTo>
                  <a:pt x="826536" y="1870494"/>
                </a:lnTo>
                <a:lnTo>
                  <a:pt x="826536" y="1978494"/>
                </a:lnTo>
                <a:lnTo>
                  <a:pt x="322536" y="1978494"/>
                </a:lnTo>
                <a:close/>
                <a:moveTo>
                  <a:pt x="322536" y="1587391"/>
                </a:moveTo>
                <a:lnTo>
                  <a:pt x="682536" y="1587391"/>
                </a:lnTo>
                <a:lnTo>
                  <a:pt x="682536" y="1695391"/>
                </a:lnTo>
                <a:lnTo>
                  <a:pt x="322536" y="1695391"/>
                </a:lnTo>
                <a:close/>
                <a:moveTo>
                  <a:pt x="322536" y="1304288"/>
                </a:moveTo>
                <a:lnTo>
                  <a:pt x="826536" y="1304288"/>
                </a:lnTo>
                <a:lnTo>
                  <a:pt x="826536" y="1412288"/>
                </a:lnTo>
                <a:lnTo>
                  <a:pt x="322536" y="1412288"/>
                </a:lnTo>
                <a:close/>
                <a:moveTo>
                  <a:pt x="1733633" y="1039034"/>
                </a:moveTo>
                <a:lnTo>
                  <a:pt x="1735422" y="1042133"/>
                </a:lnTo>
                <a:lnTo>
                  <a:pt x="176045" y="1042133"/>
                </a:lnTo>
                <a:lnTo>
                  <a:pt x="176045" y="3786387"/>
                </a:lnTo>
                <a:lnTo>
                  <a:pt x="2128211" y="3786387"/>
                </a:lnTo>
                <a:lnTo>
                  <a:pt x="2128211" y="1722464"/>
                </a:lnTo>
                <a:lnTo>
                  <a:pt x="2131710" y="1728524"/>
                </a:lnTo>
                <a:lnTo>
                  <a:pt x="2527059" y="1040609"/>
                </a:lnTo>
                <a:lnTo>
                  <a:pt x="2244788" y="1040049"/>
                </a:lnTo>
                <a:lnTo>
                  <a:pt x="1480585" y="2413264"/>
                </a:lnTo>
                <a:lnTo>
                  <a:pt x="1264147" y="2413264"/>
                </a:lnTo>
                <a:lnTo>
                  <a:pt x="2028589" y="1039620"/>
                </a:lnTo>
                <a:close/>
                <a:moveTo>
                  <a:pt x="2607143" y="0"/>
                </a:moveTo>
                <a:lnTo>
                  <a:pt x="2823581" y="0"/>
                </a:lnTo>
                <a:lnTo>
                  <a:pt x="2342071" y="865238"/>
                </a:lnTo>
                <a:lnTo>
                  <a:pt x="2823581" y="866194"/>
                </a:lnTo>
                <a:lnTo>
                  <a:pt x="2304256" y="1769829"/>
                </a:lnTo>
                <a:lnTo>
                  <a:pt x="2304256" y="3962432"/>
                </a:lnTo>
                <a:lnTo>
                  <a:pt x="0" y="3962432"/>
                </a:lnTo>
                <a:lnTo>
                  <a:pt x="0" y="866088"/>
                </a:lnTo>
                <a:lnTo>
                  <a:pt x="1767662" y="866088"/>
                </a:lnTo>
                <a:lnTo>
                  <a:pt x="1766512" y="864096"/>
                </a:lnTo>
                <a:lnTo>
                  <a:pt x="2125872" y="864809"/>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1" dirty="0">
              <a:solidFill>
                <a:schemeClr val="tx1"/>
              </a:solidFill>
            </a:endParaRPr>
          </a:p>
        </p:txBody>
      </p:sp>
    </p:spTree>
    <p:extLst>
      <p:ext uri="{BB962C8B-B14F-4D97-AF65-F5344CB8AC3E}">
        <p14:creationId xmlns:p14="http://schemas.microsoft.com/office/powerpoint/2010/main" val="2581532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ar-IQ"/>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ar-IQ"/>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C86B4A-0FDB-4ECD-9223-3DF2AE8C2385}" type="datetimeFigureOut">
              <a:rPr lang="ar-IQ" smtClean="0"/>
              <a:t>19/08/1446</a:t>
            </a:fld>
            <a:endParaRPr lang="ar-IQ"/>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ar-IQ"/>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17CE81-640D-4872-B521-D658AE615E94}" type="slidenum">
              <a:rPr lang="ar-IQ" smtClean="0"/>
              <a:t>‹#›</a:t>
            </a:fld>
            <a:endParaRPr lang="ar-IQ"/>
          </a:p>
        </p:txBody>
      </p:sp>
    </p:spTree>
    <p:extLst>
      <p:ext uri="{BB962C8B-B14F-4D97-AF65-F5344CB8AC3E}">
        <p14:creationId xmlns:p14="http://schemas.microsoft.com/office/powerpoint/2010/main" val="2113112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IQ"/>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gi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a:xfrm>
            <a:off x="1648647" y="701632"/>
            <a:ext cx="6146613" cy="3455252"/>
          </a:xfrm>
        </p:spPr>
        <p:txBody>
          <a:bodyPr>
            <a:normAutofit/>
          </a:bodyPr>
          <a:lstStyle/>
          <a:p>
            <a:pPr algn="ctr"/>
            <a:r>
              <a:rPr lang="en-US" b="1" dirty="0">
                <a:cs typeface="+mj-cs"/>
              </a:rPr>
              <a:t>Drug Administration</a:t>
            </a:r>
            <a:endParaRPr lang="ar-IQ" b="1" dirty="0">
              <a:cs typeface="+mj-cs"/>
            </a:endParaRPr>
          </a:p>
        </p:txBody>
      </p:sp>
      <p:sp>
        <p:nvSpPr>
          <p:cNvPr id="3" name="Rounded Rectangle 40">
            <a:extLst>
              <a:ext uri="{FF2B5EF4-FFF2-40B4-BE49-F238E27FC236}">
                <a16:creationId xmlns:a16="http://schemas.microsoft.com/office/drawing/2014/main" id="{9EAE5B7B-9157-44FC-AC9D-E519CCFB3F84}"/>
              </a:ext>
            </a:extLst>
          </p:cNvPr>
          <p:cNvSpPr/>
          <p:nvPr/>
        </p:nvSpPr>
        <p:spPr>
          <a:xfrm rot="2942052">
            <a:off x="7207446" y="595756"/>
            <a:ext cx="1050409" cy="880491"/>
          </a:xfrm>
          <a:custGeom>
            <a:avLst/>
            <a:gdLst/>
            <a:ahLst/>
            <a:cxnLst/>
            <a:rect l="l" t="t" r="r" b="b"/>
            <a:pathLst>
              <a:path w="3011706" h="3204001">
                <a:moveTo>
                  <a:pt x="2432249" y="1011942"/>
                </a:moveTo>
                <a:cubicBezTo>
                  <a:pt x="2423608" y="1019482"/>
                  <a:pt x="2416303" y="1028841"/>
                  <a:pt x="2410966" y="1039800"/>
                </a:cubicBezTo>
                <a:lnTo>
                  <a:pt x="1969837" y="1945620"/>
                </a:lnTo>
                <a:cubicBezTo>
                  <a:pt x="1948488" y="1989457"/>
                  <a:pt x="1966719" y="2042300"/>
                  <a:pt x="2010556" y="2063648"/>
                </a:cubicBezTo>
                <a:cubicBezTo>
                  <a:pt x="2054392" y="2084996"/>
                  <a:pt x="2107235" y="2066766"/>
                  <a:pt x="2128583" y="2022929"/>
                </a:cubicBezTo>
                <a:lnTo>
                  <a:pt x="2569712" y="1117109"/>
                </a:lnTo>
                <a:cubicBezTo>
                  <a:pt x="2591061" y="1073271"/>
                  <a:pt x="2572830" y="1020430"/>
                  <a:pt x="2528993" y="999081"/>
                </a:cubicBezTo>
                <a:cubicBezTo>
                  <a:pt x="2496115" y="983070"/>
                  <a:pt x="2458172" y="989322"/>
                  <a:pt x="2432249" y="1011942"/>
                </a:cubicBezTo>
                <a:close/>
                <a:moveTo>
                  <a:pt x="1709549" y="1044955"/>
                </a:moveTo>
                <a:cubicBezTo>
                  <a:pt x="1978186" y="735551"/>
                  <a:pt x="2446780" y="702502"/>
                  <a:pt x="2756184" y="971139"/>
                </a:cubicBezTo>
                <a:cubicBezTo>
                  <a:pt x="3065588" y="1239776"/>
                  <a:pt x="3098636" y="1708370"/>
                  <a:pt x="2830000" y="2017774"/>
                </a:cubicBezTo>
                <a:cubicBezTo>
                  <a:pt x="2561363" y="2327178"/>
                  <a:pt x="2092769" y="2360227"/>
                  <a:pt x="1783365" y="2091590"/>
                </a:cubicBezTo>
                <a:cubicBezTo>
                  <a:pt x="1473960" y="1822953"/>
                  <a:pt x="1440912" y="1354359"/>
                  <a:pt x="1709549" y="1044955"/>
                </a:cubicBezTo>
                <a:close/>
                <a:moveTo>
                  <a:pt x="208197" y="1872243"/>
                </a:moveTo>
                <a:cubicBezTo>
                  <a:pt x="195168" y="1885273"/>
                  <a:pt x="187109" y="1903273"/>
                  <a:pt x="187109" y="1923155"/>
                </a:cubicBezTo>
                <a:lnTo>
                  <a:pt x="187109" y="2715155"/>
                </a:lnTo>
                <a:cubicBezTo>
                  <a:pt x="187109" y="2754920"/>
                  <a:pt x="219344" y="2787155"/>
                  <a:pt x="259109" y="2787155"/>
                </a:cubicBezTo>
                <a:cubicBezTo>
                  <a:pt x="298874" y="2787155"/>
                  <a:pt x="331109" y="2754920"/>
                  <a:pt x="331109" y="2715155"/>
                </a:cubicBezTo>
                <a:lnTo>
                  <a:pt x="331109" y="1923155"/>
                </a:lnTo>
                <a:cubicBezTo>
                  <a:pt x="331109" y="1883390"/>
                  <a:pt x="298874" y="1851155"/>
                  <a:pt x="259109" y="1851155"/>
                </a:cubicBezTo>
                <a:cubicBezTo>
                  <a:pt x="239226" y="1851156"/>
                  <a:pt x="221226" y="1859214"/>
                  <a:pt x="208197" y="1872243"/>
                </a:cubicBezTo>
                <a:close/>
                <a:moveTo>
                  <a:pt x="0" y="1625202"/>
                </a:moveTo>
                <a:cubicBezTo>
                  <a:pt x="418057" y="1737228"/>
                  <a:pt x="858998" y="1737384"/>
                  <a:pt x="1277606" y="1625336"/>
                </a:cubicBezTo>
                <a:cubicBezTo>
                  <a:pt x="1277605" y="1938624"/>
                  <a:pt x="1277605" y="2251911"/>
                  <a:pt x="1277605" y="2565198"/>
                </a:cubicBezTo>
                <a:cubicBezTo>
                  <a:pt x="1277605" y="2917999"/>
                  <a:pt x="991603" y="3204001"/>
                  <a:pt x="638802" y="3204001"/>
                </a:cubicBezTo>
                <a:lnTo>
                  <a:pt x="638803" y="3204000"/>
                </a:lnTo>
                <a:cubicBezTo>
                  <a:pt x="286002" y="3204000"/>
                  <a:pt x="0" y="2917999"/>
                  <a:pt x="0" y="2565197"/>
                </a:cubicBezTo>
                <a:close/>
                <a:moveTo>
                  <a:pt x="208197" y="459897"/>
                </a:moveTo>
                <a:cubicBezTo>
                  <a:pt x="195167" y="472926"/>
                  <a:pt x="187109" y="490926"/>
                  <a:pt x="187109" y="510808"/>
                </a:cubicBezTo>
                <a:lnTo>
                  <a:pt x="187109" y="1302808"/>
                </a:lnTo>
                <a:cubicBezTo>
                  <a:pt x="187109" y="1342573"/>
                  <a:pt x="219344" y="1374808"/>
                  <a:pt x="259109" y="1374808"/>
                </a:cubicBezTo>
                <a:cubicBezTo>
                  <a:pt x="298874" y="1374808"/>
                  <a:pt x="331109" y="1342573"/>
                  <a:pt x="331109" y="1302808"/>
                </a:cubicBezTo>
                <a:lnTo>
                  <a:pt x="331109" y="510808"/>
                </a:lnTo>
                <a:cubicBezTo>
                  <a:pt x="331109" y="471043"/>
                  <a:pt x="298874" y="438808"/>
                  <a:pt x="259109" y="438808"/>
                </a:cubicBezTo>
                <a:cubicBezTo>
                  <a:pt x="239226" y="438808"/>
                  <a:pt x="221226" y="446867"/>
                  <a:pt x="208197" y="459897"/>
                </a:cubicBezTo>
                <a:close/>
                <a:moveTo>
                  <a:pt x="187101" y="187101"/>
                </a:moveTo>
                <a:cubicBezTo>
                  <a:pt x="302701" y="71501"/>
                  <a:pt x="462402" y="0"/>
                  <a:pt x="638803" y="0"/>
                </a:cubicBezTo>
                <a:cubicBezTo>
                  <a:pt x="991604" y="0"/>
                  <a:pt x="1277606" y="286002"/>
                  <a:pt x="1277606" y="638803"/>
                </a:cubicBezTo>
                <a:lnTo>
                  <a:pt x="1277606" y="1497764"/>
                </a:lnTo>
                <a:cubicBezTo>
                  <a:pt x="859958" y="1616355"/>
                  <a:pt x="417375" y="1616210"/>
                  <a:pt x="0" y="1498771"/>
                </a:cubicBezTo>
                <a:lnTo>
                  <a:pt x="0" y="638803"/>
                </a:lnTo>
                <a:cubicBezTo>
                  <a:pt x="0" y="462403"/>
                  <a:pt x="71500" y="302702"/>
                  <a:pt x="187101" y="187101"/>
                </a:cubicBezTo>
                <a:close/>
              </a:path>
            </a:pathLst>
          </a:custGeom>
          <a:ln/>
        </p:spPr>
        <p:style>
          <a:lnRef idx="3">
            <a:schemeClr val="lt1"/>
          </a:lnRef>
          <a:fillRef idx="1">
            <a:schemeClr val="accent4"/>
          </a:fillRef>
          <a:effectRef idx="1">
            <a:schemeClr val="accent4"/>
          </a:effectRef>
          <a:fontRef idx="minor">
            <a:schemeClr val="lt1"/>
          </a:fontRef>
        </p:style>
        <p:txBody>
          <a:bodyPr rtlCol="0" anchor="ctr"/>
          <a:lstStyle/>
          <a:p>
            <a:pPr algn="ctr"/>
            <a:endParaRPr lang="ko-KR" altLang="en-US" sz="2700"/>
          </a:p>
        </p:txBody>
      </p:sp>
      <p:sp>
        <p:nvSpPr>
          <p:cNvPr id="4" name="TextBox 3"/>
          <p:cNvSpPr txBox="1"/>
          <p:nvPr/>
        </p:nvSpPr>
        <p:spPr>
          <a:xfrm>
            <a:off x="2064327" y="4408227"/>
            <a:ext cx="5288403" cy="523220"/>
          </a:xfrm>
          <a:prstGeom prst="rect">
            <a:avLst/>
          </a:prstGeom>
          <a:solidFill>
            <a:schemeClr val="accent2">
              <a:lumMod val="40000"/>
              <a:lumOff val="60000"/>
            </a:schemeClr>
          </a:solidFill>
        </p:spPr>
        <p:style>
          <a:lnRef idx="2">
            <a:schemeClr val="accent2"/>
          </a:lnRef>
          <a:fillRef idx="1">
            <a:schemeClr val="lt1"/>
          </a:fillRef>
          <a:effectRef idx="0">
            <a:schemeClr val="accent2"/>
          </a:effectRef>
          <a:fontRef idx="minor">
            <a:schemeClr val="dk1"/>
          </a:fontRef>
        </p:style>
        <p:txBody>
          <a:bodyPr wrap="square" rtlCol="1">
            <a:spAutoFit/>
          </a:bodyPr>
          <a:lstStyle/>
          <a:p>
            <a:pPr algn="ctr"/>
            <a:r>
              <a:rPr lang="en-US" sz="2800" dirty="0">
                <a:latin typeface="Agency FB" panose="020B0503020202020204" pitchFamily="34" charset="0"/>
              </a:rPr>
              <a:t>Dr. Moustafa </a:t>
            </a:r>
            <a:r>
              <a:rPr lang="en-US" sz="2800" dirty="0" err="1">
                <a:latin typeface="Agency FB" panose="020B0503020202020204" pitchFamily="34" charset="0"/>
              </a:rPr>
              <a:t>AL-Shammari</a:t>
            </a:r>
            <a:endParaRPr lang="ar-IQ" sz="2800" dirty="0">
              <a:latin typeface="Agency FB" panose="020B0503020202020204" pitchFamily="34" charset="0"/>
            </a:endParaRPr>
          </a:p>
        </p:txBody>
      </p:sp>
    </p:spTree>
    <p:extLst>
      <p:ext uri="{BB962C8B-B14F-4D97-AF65-F5344CB8AC3E}">
        <p14:creationId xmlns:p14="http://schemas.microsoft.com/office/powerpoint/2010/main" val="354332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b="1" dirty="0"/>
              <a:t>Objective</a:t>
            </a:r>
            <a:endParaRPr lang="ar-IQ" sz="5400" dirty="0"/>
          </a:p>
        </p:txBody>
      </p:sp>
      <p:sp>
        <p:nvSpPr>
          <p:cNvPr id="3" name="Content Placeholder 2"/>
          <p:cNvSpPr>
            <a:spLocks noGrp="1"/>
          </p:cNvSpPr>
          <p:nvPr>
            <p:ph idx="1"/>
          </p:nvPr>
        </p:nvSpPr>
        <p:spPr>
          <a:xfrm>
            <a:off x="297180" y="1463040"/>
            <a:ext cx="11056620" cy="4713923"/>
          </a:xfrm>
        </p:spPr>
        <p:txBody>
          <a:bodyPr>
            <a:normAutofit/>
          </a:bodyPr>
          <a:lstStyle/>
          <a:p>
            <a:pPr marL="0" indent="0">
              <a:buNone/>
            </a:pPr>
            <a:endParaRPr lang="en-US" b="1" dirty="0"/>
          </a:p>
          <a:p>
            <a:pPr marL="0" indent="0">
              <a:buNone/>
            </a:pPr>
            <a:r>
              <a:rPr lang="en-US" b="1" dirty="0"/>
              <a:t>By the end of lecture, the student will be able to:</a:t>
            </a:r>
          </a:p>
          <a:p>
            <a:pPr marL="342900" indent="-342900">
              <a:buFont typeface="+mj-lt"/>
              <a:buAutoNum type="arabicPeriod"/>
            </a:pPr>
            <a:r>
              <a:rPr lang="en-US" dirty="0"/>
              <a:t>Identify a brief introduction about drug and medication .</a:t>
            </a:r>
          </a:p>
          <a:p>
            <a:pPr marL="342900" indent="-342900">
              <a:buFont typeface="+mj-lt"/>
              <a:buAutoNum type="arabicPeriod"/>
            </a:pPr>
            <a:r>
              <a:rPr lang="en-US" dirty="0"/>
              <a:t>List the essential principles for the administration of medications.</a:t>
            </a:r>
          </a:p>
          <a:p>
            <a:pPr marL="342900" indent="-342900">
              <a:buFont typeface="+mj-lt"/>
              <a:buAutoNum type="arabicPeriod"/>
            </a:pPr>
            <a:r>
              <a:rPr lang="en-US" dirty="0"/>
              <a:t>Discuss the steps of the different routes of administration of medications.</a:t>
            </a:r>
          </a:p>
          <a:p>
            <a:pPr marL="342900" indent="-342900">
              <a:buFont typeface="+mj-lt"/>
              <a:buAutoNum type="arabicPeriod"/>
            </a:pPr>
            <a:r>
              <a:rPr lang="en-US" dirty="0"/>
              <a:t>Calculate a safe drug dosage needed for the individual child.</a:t>
            </a:r>
          </a:p>
          <a:p>
            <a:endParaRPr lang="ar-IQ" dirty="0"/>
          </a:p>
        </p:txBody>
      </p:sp>
      <p:sp>
        <p:nvSpPr>
          <p:cNvPr id="5" name="Rounded Rectangle 25">
            <a:extLst>
              <a:ext uri="{FF2B5EF4-FFF2-40B4-BE49-F238E27FC236}">
                <a16:creationId xmlns:a16="http://schemas.microsoft.com/office/drawing/2014/main" id="{A53FDB1A-403D-4EBD-8EB6-3E1911FAEEC5}"/>
              </a:ext>
            </a:extLst>
          </p:cNvPr>
          <p:cNvSpPr/>
          <p:nvPr/>
        </p:nvSpPr>
        <p:spPr>
          <a:xfrm>
            <a:off x="10208525" y="303497"/>
            <a:ext cx="1761398" cy="1436355"/>
          </a:xfrm>
          <a:custGeom>
            <a:avLst/>
            <a:gdLst/>
            <a:ahLst/>
            <a:cxnLst/>
            <a:rect l="l" t="t" r="r" b="b"/>
            <a:pathLst>
              <a:path w="3240000" h="2730652">
                <a:moveTo>
                  <a:pt x="1452811" y="1541940"/>
                </a:moveTo>
                <a:lnTo>
                  <a:pt x="1452811" y="1831951"/>
                </a:lnTo>
                <a:lnTo>
                  <a:pt x="1162800" y="1831951"/>
                </a:lnTo>
                <a:lnTo>
                  <a:pt x="1162800" y="2166329"/>
                </a:lnTo>
                <a:lnTo>
                  <a:pt x="1452811" y="2166329"/>
                </a:lnTo>
                <a:lnTo>
                  <a:pt x="1452811" y="2456340"/>
                </a:lnTo>
                <a:lnTo>
                  <a:pt x="1787189" y="2456340"/>
                </a:lnTo>
                <a:lnTo>
                  <a:pt x="1787189" y="2166329"/>
                </a:lnTo>
                <a:lnTo>
                  <a:pt x="2077200" y="2166329"/>
                </a:lnTo>
                <a:lnTo>
                  <a:pt x="2077200" y="1831951"/>
                </a:lnTo>
                <a:lnTo>
                  <a:pt x="1787189" y="1831951"/>
                </a:lnTo>
                <a:lnTo>
                  <a:pt x="1787189" y="1541940"/>
                </a:lnTo>
                <a:close/>
                <a:moveTo>
                  <a:pt x="0" y="1278453"/>
                </a:moveTo>
                <a:lnTo>
                  <a:pt x="3240000" y="1278453"/>
                </a:lnTo>
                <a:lnTo>
                  <a:pt x="3240000" y="2376509"/>
                </a:lnTo>
                <a:cubicBezTo>
                  <a:pt x="3240000" y="2572097"/>
                  <a:pt x="3081445" y="2730652"/>
                  <a:pt x="2885857" y="2730652"/>
                </a:cubicBezTo>
                <a:lnTo>
                  <a:pt x="354143" y="2730652"/>
                </a:lnTo>
                <a:cubicBezTo>
                  <a:pt x="158555" y="2730652"/>
                  <a:pt x="0" y="2572097"/>
                  <a:pt x="0" y="2376509"/>
                </a:cubicBezTo>
                <a:close/>
                <a:moveTo>
                  <a:pt x="1001150" y="200505"/>
                </a:moveTo>
                <a:cubicBezTo>
                  <a:pt x="933045" y="200505"/>
                  <a:pt x="877834" y="255715"/>
                  <a:pt x="877834" y="323821"/>
                </a:cubicBezTo>
                <a:lnTo>
                  <a:pt x="877834" y="605836"/>
                </a:lnTo>
                <a:lnTo>
                  <a:pt x="2362163" y="605836"/>
                </a:lnTo>
                <a:lnTo>
                  <a:pt x="2362163" y="323821"/>
                </a:lnTo>
                <a:cubicBezTo>
                  <a:pt x="2362163" y="255715"/>
                  <a:pt x="2306952" y="200505"/>
                  <a:pt x="2238846" y="200505"/>
                </a:cubicBezTo>
                <a:close/>
                <a:moveTo>
                  <a:pt x="843301" y="0"/>
                </a:moveTo>
                <a:lnTo>
                  <a:pt x="2396696" y="0"/>
                </a:lnTo>
                <a:cubicBezTo>
                  <a:pt x="2488075" y="0"/>
                  <a:pt x="2562152" y="74077"/>
                  <a:pt x="2562152" y="165456"/>
                </a:cubicBezTo>
                <a:lnTo>
                  <a:pt x="2562152" y="605836"/>
                </a:lnTo>
                <a:lnTo>
                  <a:pt x="2885857" y="605836"/>
                </a:lnTo>
                <a:cubicBezTo>
                  <a:pt x="3081445" y="605836"/>
                  <a:pt x="3240000" y="764391"/>
                  <a:pt x="3240000" y="959979"/>
                </a:cubicBezTo>
                <a:lnTo>
                  <a:pt x="3240000" y="1134437"/>
                </a:lnTo>
                <a:lnTo>
                  <a:pt x="0" y="1134437"/>
                </a:lnTo>
                <a:lnTo>
                  <a:pt x="0" y="959979"/>
                </a:lnTo>
                <a:cubicBezTo>
                  <a:pt x="0" y="764391"/>
                  <a:pt x="158555" y="605836"/>
                  <a:pt x="354143" y="605836"/>
                </a:cubicBezTo>
                <a:lnTo>
                  <a:pt x="677845" y="605836"/>
                </a:lnTo>
                <a:lnTo>
                  <a:pt x="677845" y="165456"/>
                </a:lnTo>
                <a:cubicBezTo>
                  <a:pt x="677845" y="74077"/>
                  <a:pt x="751923" y="0"/>
                  <a:pt x="843301" y="0"/>
                </a:cubicBezTo>
                <a:close/>
              </a:path>
            </a:pathLst>
          </a:custGeom>
          <a:solidFill>
            <a:schemeClr val="accent5"/>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sz="2700"/>
          </a:p>
        </p:txBody>
      </p:sp>
    </p:spTree>
    <p:extLst>
      <p:ext uri="{BB962C8B-B14F-4D97-AF65-F5344CB8AC3E}">
        <p14:creationId xmlns:p14="http://schemas.microsoft.com/office/powerpoint/2010/main" val="2619288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0"/>
              </a:spcAft>
            </a:pPr>
            <a:r>
              <a:rPr lang="en-US" b="1" dirty="0">
                <a:latin typeface="Times New Roman" panose="02020603050405020304" pitchFamily="18" charset="0"/>
                <a:ea typeface="Calibri" panose="020F0502020204030204" pitchFamily="34" charset="0"/>
                <a:cs typeface="Arial" panose="020B0604020202020204" pitchFamily="34" charset="0"/>
              </a:rPr>
              <a:t>Introduction:</a:t>
            </a:r>
            <a:endParaRPr lang="ar-IQ" dirty="0"/>
          </a:p>
        </p:txBody>
      </p:sp>
      <p:sp>
        <p:nvSpPr>
          <p:cNvPr id="3" name="Content Placeholder 2"/>
          <p:cNvSpPr>
            <a:spLocks noGrp="1"/>
          </p:cNvSpPr>
          <p:nvPr>
            <p:ph idx="1"/>
          </p:nvPr>
        </p:nvSpPr>
        <p:spPr>
          <a:xfrm>
            <a:off x="228600" y="1690688"/>
            <a:ext cx="11125200" cy="4486275"/>
          </a:xfrm>
        </p:spPr>
        <p:txBody>
          <a:bodyPr>
            <a:normAutofit/>
          </a:bodyPr>
          <a:lstStyle/>
          <a:p>
            <a:pPr indent="450215" algn="just">
              <a:lnSpc>
                <a:spcPct val="150000"/>
              </a:lnSpc>
            </a:pPr>
            <a:r>
              <a:rPr lang="en-US" dirty="0">
                <a:latin typeface="Times New Roman" panose="02020603050405020304" pitchFamily="18" charset="0"/>
                <a:ea typeface="Calibri" panose="020F0502020204030204" pitchFamily="34" charset="0"/>
                <a:cs typeface="Arial" panose="020B0604020202020204" pitchFamily="34" charset="0"/>
              </a:rPr>
              <a:t>child responds to drugs more rapidly and unpredictably than an adult does</a:t>
            </a:r>
            <a:r>
              <a:rPr lang="en-US" dirty="0"/>
              <a:t> for this reason; </a:t>
            </a:r>
            <a:r>
              <a:rPr lang="en-US" b="1" u="sng" dirty="0">
                <a:latin typeface="Times New Roman" panose="02020603050405020304" pitchFamily="18" charset="0"/>
                <a:ea typeface="Calibri" panose="020F0502020204030204" pitchFamily="34" charset="0"/>
                <a:cs typeface="Arial" panose="020B0604020202020204" pitchFamily="34" charset="0"/>
              </a:rPr>
              <a:t>pediatric drug administration requires special care</a:t>
            </a:r>
            <a:r>
              <a:rPr lang="en-US" dirty="0">
                <a:latin typeface="Times New Roman" panose="02020603050405020304" pitchFamily="18" charset="0"/>
                <a:ea typeface="Calibri" panose="020F0502020204030204" pitchFamily="34" charset="0"/>
                <a:cs typeface="Arial" panose="020B0604020202020204" pitchFamily="34" charset="0"/>
              </a:rPr>
              <a:t>. Such factors as </a:t>
            </a:r>
            <a:r>
              <a:rPr lang="en-US" sz="3200" b="1" dirty="0">
                <a:solidFill>
                  <a:schemeClr val="accent2"/>
                </a:solidFill>
                <a:latin typeface="Times New Roman" panose="02020603050405020304" pitchFamily="18" charset="0"/>
                <a:ea typeface="Calibri" panose="020F0502020204030204" pitchFamily="34" charset="0"/>
                <a:cs typeface="Arial" panose="020B0604020202020204" pitchFamily="34" charset="0"/>
              </a:rPr>
              <a:t>age</a:t>
            </a:r>
            <a:r>
              <a:rPr lang="en-US" dirty="0">
                <a:latin typeface="Times New Roman" panose="02020603050405020304" pitchFamily="18" charset="0"/>
                <a:ea typeface="Calibri" panose="020F0502020204030204" pitchFamily="34" charset="0"/>
                <a:cs typeface="Arial" panose="020B0604020202020204" pitchFamily="34" charset="0"/>
              </a:rPr>
              <a:t>, </a:t>
            </a:r>
            <a:r>
              <a:rPr lang="en-US" sz="3200" b="1" dirty="0">
                <a:solidFill>
                  <a:schemeClr val="accent2"/>
                </a:solidFill>
                <a:latin typeface="Times New Roman" panose="02020603050405020304" pitchFamily="18" charset="0"/>
                <a:ea typeface="Calibri" panose="020F0502020204030204" pitchFamily="34" charset="0"/>
                <a:cs typeface="Arial" panose="020B0604020202020204" pitchFamily="34" charset="0"/>
              </a:rPr>
              <a:t>weight</a:t>
            </a:r>
            <a:r>
              <a:rPr lang="en-US" dirty="0">
                <a:latin typeface="Times New Roman" panose="02020603050405020304" pitchFamily="18" charset="0"/>
                <a:ea typeface="Calibri" panose="020F0502020204030204" pitchFamily="34" charset="0"/>
                <a:cs typeface="Arial" panose="020B0604020202020204" pitchFamily="34" charset="0"/>
              </a:rPr>
              <a:t>, </a:t>
            </a:r>
            <a:r>
              <a:rPr lang="en-US" sz="3200" b="1" dirty="0">
                <a:solidFill>
                  <a:schemeClr val="accent2"/>
                </a:solidFill>
                <a:latin typeface="Times New Roman" panose="02020603050405020304" pitchFamily="18" charset="0"/>
                <a:ea typeface="Calibri" panose="020F0502020204030204" pitchFamily="34" charset="0"/>
                <a:cs typeface="Arial" panose="020B0604020202020204" pitchFamily="34" charset="0"/>
              </a:rPr>
              <a:t>body surface area</a:t>
            </a:r>
            <a:r>
              <a:rPr lang="en-US" dirty="0">
                <a:latin typeface="Times New Roman" panose="02020603050405020304" pitchFamily="18" charset="0"/>
                <a:ea typeface="Calibri" panose="020F0502020204030204" pitchFamily="34" charset="0"/>
                <a:cs typeface="Arial" panose="020B0604020202020204" pitchFamily="34" charset="0"/>
              </a:rPr>
              <a:t>, and </a:t>
            </a:r>
            <a:r>
              <a:rPr lang="en-US" sz="3200" b="1" dirty="0">
                <a:solidFill>
                  <a:schemeClr val="accent2"/>
                </a:solidFill>
                <a:latin typeface="Times New Roman" panose="02020603050405020304" pitchFamily="18" charset="0"/>
                <a:ea typeface="Calibri" panose="020F0502020204030204" pitchFamily="34" charset="0"/>
                <a:cs typeface="Arial" panose="020B0604020202020204" pitchFamily="34" charset="0"/>
              </a:rPr>
              <a:t>drug form </a:t>
            </a:r>
            <a:r>
              <a:rPr lang="en-US" dirty="0">
                <a:latin typeface="Times New Roman" panose="02020603050405020304" pitchFamily="18" charset="0"/>
                <a:ea typeface="Calibri" panose="020F0502020204030204" pitchFamily="34" charset="0"/>
                <a:cs typeface="Arial" panose="020B0604020202020204" pitchFamily="34" charset="0"/>
              </a:rPr>
              <a:t>and </a:t>
            </a:r>
            <a:r>
              <a:rPr lang="en-US" sz="3200" b="1" dirty="0">
                <a:solidFill>
                  <a:schemeClr val="accent2"/>
                </a:solidFill>
                <a:latin typeface="Times New Roman" panose="02020603050405020304" pitchFamily="18" charset="0"/>
                <a:ea typeface="Calibri" panose="020F0502020204030204" pitchFamily="34" charset="0"/>
                <a:cs typeface="Arial" panose="020B0604020202020204" pitchFamily="34" charset="0"/>
              </a:rPr>
              <a:t>route</a:t>
            </a:r>
            <a:r>
              <a:rPr lang="en-US" dirty="0">
                <a:latin typeface="Times New Roman" panose="02020603050405020304" pitchFamily="18" charset="0"/>
                <a:ea typeface="Calibri" panose="020F0502020204030204" pitchFamily="34" charset="0"/>
                <a:cs typeface="Arial" panose="020B0604020202020204" pitchFamily="34" charset="0"/>
              </a:rPr>
              <a:t> may dramatically affect a child's response to a drug. For example, because of his thin epithelium, a neonate or an infant absorbs topical medications much faster than an older child does.</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p:txBody>
      </p:sp>
      <p:sp>
        <p:nvSpPr>
          <p:cNvPr id="4" name="Block Arc 20">
            <a:extLst>
              <a:ext uri="{FF2B5EF4-FFF2-40B4-BE49-F238E27FC236}">
                <a16:creationId xmlns:a16="http://schemas.microsoft.com/office/drawing/2014/main" id="{442BD419-0F67-4BAB-976B-E90CC1C4AECE}"/>
              </a:ext>
            </a:extLst>
          </p:cNvPr>
          <p:cNvSpPr>
            <a:spLocks noChangeAspect="1"/>
          </p:cNvSpPr>
          <p:nvPr/>
        </p:nvSpPr>
        <p:spPr>
          <a:xfrm rot="10800000">
            <a:off x="10364649" y="365125"/>
            <a:ext cx="1431110" cy="1551760"/>
          </a:xfrm>
          <a:custGeom>
            <a:avLst/>
            <a:gdLst/>
            <a:ahLst/>
            <a:cxnLst/>
            <a:rect l="l" t="t" r="r" b="b"/>
            <a:pathLst>
              <a:path w="2958558" h="3207983">
                <a:moveTo>
                  <a:pt x="376920" y="2960896"/>
                </a:moveTo>
                <a:cubicBezTo>
                  <a:pt x="266613" y="2960896"/>
                  <a:pt x="177192" y="2871475"/>
                  <a:pt x="177192" y="2761168"/>
                </a:cubicBezTo>
                <a:cubicBezTo>
                  <a:pt x="177192" y="2650861"/>
                  <a:pt x="266613" y="2561440"/>
                  <a:pt x="376920" y="2561440"/>
                </a:cubicBezTo>
                <a:cubicBezTo>
                  <a:pt x="487227" y="2561440"/>
                  <a:pt x="576648" y="2650861"/>
                  <a:pt x="576648" y="2761168"/>
                </a:cubicBezTo>
                <a:cubicBezTo>
                  <a:pt x="576648" y="2871475"/>
                  <a:pt x="487227" y="2960896"/>
                  <a:pt x="376920" y="2960896"/>
                </a:cubicBezTo>
                <a:close/>
                <a:moveTo>
                  <a:pt x="376921" y="3072323"/>
                </a:moveTo>
                <a:cubicBezTo>
                  <a:pt x="539434" y="3072323"/>
                  <a:pt x="671176" y="2940581"/>
                  <a:pt x="671176" y="2778068"/>
                </a:cubicBezTo>
                <a:cubicBezTo>
                  <a:pt x="671176" y="2615555"/>
                  <a:pt x="539434" y="2483813"/>
                  <a:pt x="376921" y="2483813"/>
                </a:cubicBezTo>
                <a:cubicBezTo>
                  <a:pt x="214408" y="2483813"/>
                  <a:pt x="82666" y="2615555"/>
                  <a:pt x="82666" y="2778068"/>
                </a:cubicBezTo>
                <a:cubicBezTo>
                  <a:pt x="82666" y="2940581"/>
                  <a:pt x="214408" y="3072323"/>
                  <a:pt x="376921" y="3072323"/>
                </a:cubicBezTo>
                <a:close/>
                <a:moveTo>
                  <a:pt x="2379939" y="3207575"/>
                </a:moveTo>
                <a:cubicBezTo>
                  <a:pt x="2342159" y="3210380"/>
                  <a:pt x="2303308" y="3198772"/>
                  <a:pt x="2272342" y="3172087"/>
                </a:cubicBezTo>
                <a:cubicBezTo>
                  <a:pt x="2210411" y="3118717"/>
                  <a:pt x="2203469" y="3025247"/>
                  <a:pt x="2256839" y="2963315"/>
                </a:cubicBezTo>
                <a:cubicBezTo>
                  <a:pt x="2292137" y="2922355"/>
                  <a:pt x="2344975" y="2905450"/>
                  <a:pt x="2394194" y="2916618"/>
                </a:cubicBezTo>
                <a:lnTo>
                  <a:pt x="2482323" y="2842744"/>
                </a:lnTo>
                <a:lnTo>
                  <a:pt x="2486558" y="2847797"/>
                </a:lnTo>
                <a:cubicBezTo>
                  <a:pt x="2638916" y="2767056"/>
                  <a:pt x="2628462" y="2744879"/>
                  <a:pt x="2689889" y="2690172"/>
                </a:cubicBezTo>
                <a:cubicBezTo>
                  <a:pt x="2722819" y="2655246"/>
                  <a:pt x="2732363" y="2657367"/>
                  <a:pt x="2726376" y="2568558"/>
                </a:cubicBezTo>
                <a:lnTo>
                  <a:pt x="2730335" y="2568172"/>
                </a:lnTo>
                <a:lnTo>
                  <a:pt x="2726098" y="2568172"/>
                </a:lnTo>
                <a:lnTo>
                  <a:pt x="2726098" y="2140027"/>
                </a:lnTo>
                <a:lnTo>
                  <a:pt x="2686068" y="2140105"/>
                </a:lnTo>
                <a:cubicBezTo>
                  <a:pt x="2685662" y="1932305"/>
                  <a:pt x="2574529" y="1740506"/>
                  <a:pt x="2394530" y="1636956"/>
                </a:cubicBezTo>
                <a:cubicBezTo>
                  <a:pt x="2214320" y="1533284"/>
                  <a:pt x="1992511" y="1533845"/>
                  <a:pt x="1812826" y="1638426"/>
                </a:cubicBezTo>
                <a:cubicBezTo>
                  <a:pt x="1633353" y="1742884"/>
                  <a:pt x="1523189" y="1935240"/>
                  <a:pt x="1523830" y="2143038"/>
                </a:cubicBezTo>
                <a:lnTo>
                  <a:pt x="1483625" y="2143162"/>
                </a:lnTo>
                <a:lnTo>
                  <a:pt x="1483625" y="2568172"/>
                </a:lnTo>
                <a:lnTo>
                  <a:pt x="1479388" y="2568172"/>
                </a:lnTo>
                <a:lnTo>
                  <a:pt x="1483347" y="2568558"/>
                </a:lnTo>
                <a:cubicBezTo>
                  <a:pt x="1477359" y="2657367"/>
                  <a:pt x="1486903" y="2655246"/>
                  <a:pt x="1519833" y="2690172"/>
                </a:cubicBezTo>
                <a:cubicBezTo>
                  <a:pt x="1581261" y="2744879"/>
                  <a:pt x="1570806" y="2767057"/>
                  <a:pt x="1723166" y="2847797"/>
                </a:cubicBezTo>
                <a:lnTo>
                  <a:pt x="1727402" y="2842744"/>
                </a:lnTo>
                <a:lnTo>
                  <a:pt x="1815530" y="2916618"/>
                </a:lnTo>
                <a:cubicBezTo>
                  <a:pt x="1864749" y="2905450"/>
                  <a:pt x="1917587" y="2922356"/>
                  <a:pt x="1952884" y="2963315"/>
                </a:cubicBezTo>
                <a:cubicBezTo>
                  <a:pt x="2006254" y="3025247"/>
                  <a:pt x="1999313" y="3118717"/>
                  <a:pt x="1937381" y="3172087"/>
                </a:cubicBezTo>
                <a:cubicBezTo>
                  <a:pt x="1906416" y="3198772"/>
                  <a:pt x="1867565" y="3210380"/>
                  <a:pt x="1829785" y="3207575"/>
                </a:cubicBezTo>
                <a:cubicBezTo>
                  <a:pt x="1792004" y="3204769"/>
                  <a:pt x="1755294" y="3187551"/>
                  <a:pt x="1728609" y="3156586"/>
                </a:cubicBezTo>
                <a:cubicBezTo>
                  <a:pt x="1704170" y="3128225"/>
                  <a:pt x="1692377" y="3093251"/>
                  <a:pt x="1694258" y="3058558"/>
                </a:cubicBezTo>
                <a:lnTo>
                  <a:pt x="1607474" y="2985811"/>
                </a:lnTo>
                <a:lnTo>
                  <a:pt x="1609754" y="2983092"/>
                </a:lnTo>
                <a:cubicBezTo>
                  <a:pt x="1505378" y="2914609"/>
                  <a:pt x="1454899" y="2874388"/>
                  <a:pt x="1372959" y="2808609"/>
                </a:cubicBezTo>
                <a:cubicBezTo>
                  <a:pt x="1301402" y="2768123"/>
                  <a:pt x="1295976" y="2652344"/>
                  <a:pt x="1300245" y="2568172"/>
                </a:cubicBezTo>
                <a:lnTo>
                  <a:pt x="1296941" y="2568172"/>
                </a:lnTo>
                <a:lnTo>
                  <a:pt x="1296941" y="2143739"/>
                </a:lnTo>
                <a:lnTo>
                  <a:pt x="1251342" y="2143880"/>
                </a:lnTo>
                <a:cubicBezTo>
                  <a:pt x="1250400" y="1838694"/>
                  <a:pt x="1412261" y="1556194"/>
                  <a:pt x="1675942" y="1402813"/>
                </a:cubicBezTo>
                <a:cubicBezTo>
                  <a:pt x="1778114" y="1343381"/>
                  <a:pt x="1889554" y="1306836"/>
                  <a:pt x="2003205" y="1293823"/>
                </a:cubicBezTo>
                <a:lnTo>
                  <a:pt x="2003205" y="878785"/>
                </a:lnTo>
                <a:lnTo>
                  <a:pt x="1998176" y="878621"/>
                </a:lnTo>
                <a:cubicBezTo>
                  <a:pt x="2009560" y="630102"/>
                  <a:pt x="1847671" y="398939"/>
                  <a:pt x="1584243" y="287563"/>
                </a:cubicBezTo>
                <a:cubicBezTo>
                  <a:pt x="1373323" y="198386"/>
                  <a:pt x="1125012" y="198092"/>
                  <a:pt x="913796" y="286769"/>
                </a:cubicBezTo>
                <a:cubicBezTo>
                  <a:pt x="650203" y="397436"/>
                  <a:pt x="487575" y="627955"/>
                  <a:pt x="497878" y="876315"/>
                </a:cubicBezTo>
                <a:lnTo>
                  <a:pt x="492947" y="876461"/>
                </a:lnTo>
                <a:lnTo>
                  <a:pt x="492947" y="2424958"/>
                </a:lnTo>
                <a:cubicBezTo>
                  <a:pt x="646520" y="2471832"/>
                  <a:pt x="757382" y="2615059"/>
                  <a:pt x="757382" y="2784179"/>
                </a:cubicBezTo>
                <a:cubicBezTo>
                  <a:pt x="757382" y="2993324"/>
                  <a:pt x="587836" y="3162870"/>
                  <a:pt x="378691" y="3162870"/>
                </a:cubicBezTo>
                <a:cubicBezTo>
                  <a:pt x="169546" y="3162870"/>
                  <a:pt x="0" y="2993324"/>
                  <a:pt x="0" y="2784179"/>
                </a:cubicBezTo>
                <a:cubicBezTo>
                  <a:pt x="0" y="2610447"/>
                  <a:pt x="116991" y="2464039"/>
                  <a:pt x="276947" y="2421074"/>
                </a:cubicBezTo>
                <a:lnTo>
                  <a:pt x="276947" y="783746"/>
                </a:lnTo>
                <a:lnTo>
                  <a:pt x="281758" y="783746"/>
                </a:lnTo>
                <a:cubicBezTo>
                  <a:pt x="307533" y="493124"/>
                  <a:pt x="502412" y="231983"/>
                  <a:pt x="801266" y="95774"/>
                </a:cubicBezTo>
                <a:cubicBezTo>
                  <a:pt x="1082323" y="-32324"/>
                  <a:pt x="1416727" y="-31901"/>
                  <a:pt x="1697364" y="96907"/>
                </a:cubicBezTo>
                <a:cubicBezTo>
                  <a:pt x="1994951" y="233494"/>
                  <a:pt x="2188714" y="494056"/>
                  <a:pt x="2214549" y="783746"/>
                </a:cubicBezTo>
                <a:lnTo>
                  <a:pt x="2219205" y="783746"/>
                </a:lnTo>
                <a:lnTo>
                  <a:pt x="2219205" y="1295162"/>
                </a:lnTo>
                <a:cubicBezTo>
                  <a:pt x="2327099" y="1309357"/>
                  <a:pt x="2432799" y="1344641"/>
                  <a:pt x="2530224" y="1400656"/>
                </a:cubicBezTo>
                <a:cubicBezTo>
                  <a:pt x="2794677" y="1552703"/>
                  <a:pt x="2957961" y="1834385"/>
                  <a:pt x="2958558" y="2139573"/>
                </a:cubicBezTo>
                <a:lnTo>
                  <a:pt x="2912782" y="2139663"/>
                </a:lnTo>
                <a:lnTo>
                  <a:pt x="2912782" y="2568172"/>
                </a:lnTo>
                <a:lnTo>
                  <a:pt x="2909478" y="2568172"/>
                </a:lnTo>
                <a:cubicBezTo>
                  <a:pt x="2913747" y="2652344"/>
                  <a:pt x="2908320" y="2768123"/>
                  <a:pt x="2836763" y="2808609"/>
                </a:cubicBezTo>
                <a:cubicBezTo>
                  <a:pt x="2754824" y="2874388"/>
                  <a:pt x="2704345" y="2914609"/>
                  <a:pt x="2599970" y="2983091"/>
                </a:cubicBezTo>
                <a:lnTo>
                  <a:pt x="2602250" y="2985811"/>
                </a:lnTo>
                <a:lnTo>
                  <a:pt x="2515466" y="3058559"/>
                </a:lnTo>
                <a:cubicBezTo>
                  <a:pt x="2517346" y="3093252"/>
                  <a:pt x="2505554" y="3128225"/>
                  <a:pt x="2481114" y="3156586"/>
                </a:cubicBezTo>
                <a:cubicBezTo>
                  <a:pt x="2454429" y="3187551"/>
                  <a:pt x="2417719" y="3204769"/>
                  <a:pt x="2379939" y="320757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solidFill>
                <a:schemeClr val="tx1"/>
              </a:solidFill>
            </a:endParaRPr>
          </a:p>
        </p:txBody>
      </p:sp>
    </p:spTree>
    <p:extLst>
      <p:ext uri="{BB962C8B-B14F-4D97-AF65-F5344CB8AC3E}">
        <p14:creationId xmlns:p14="http://schemas.microsoft.com/office/powerpoint/2010/main" val="112373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latin typeface="Times New Roman" panose="02020603050405020304" pitchFamily="18" charset="0"/>
                <a:ea typeface="Calibri" panose="020F0502020204030204" pitchFamily="34" charset="0"/>
                <a:cs typeface="Arial" panose="020B0604020202020204" pitchFamily="34" charset="0"/>
              </a:rPr>
              <a:t>General steps for administer medication</a:t>
            </a:r>
            <a:endParaRPr lang="ar-IQ" u="sng" dirty="0"/>
          </a:p>
        </p:txBody>
      </p:sp>
      <p:sp>
        <p:nvSpPr>
          <p:cNvPr id="3" name="Content Placeholder 2"/>
          <p:cNvSpPr>
            <a:spLocks noGrp="1"/>
          </p:cNvSpPr>
          <p:nvPr>
            <p:ph idx="1"/>
          </p:nvPr>
        </p:nvSpPr>
        <p:spPr>
          <a:xfrm>
            <a:off x="411480" y="1690688"/>
            <a:ext cx="11224260" cy="4486275"/>
          </a:xfrm>
        </p:spPr>
        <p:txBody>
          <a:bodyPr>
            <a:normAutofit fontScale="85000" lnSpcReduction="20000"/>
          </a:bodyPr>
          <a:lstStyle/>
          <a:p>
            <a:pPr>
              <a:lnSpc>
                <a:spcPct val="150000"/>
              </a:lnSpc>
            </a:pPr>
            <a:r>
              <a:rPr lang="en-US" dirty="0">
                <a:latin typeface="Times New Roman" panose="02020603050405020304" pitchFamily="18" charset="0"/>
                <a:ea typeface="Calibri" panose="020F0502020204030204" pitchFamily="34" charset="0"/>
                <a:cs typeface="Arial" panose="020B0604020202020204" pitchFamily="34" charset="0"/>
              </a:rPr>
              <a:t>Assess the child's condition to determine the need for the medication and the effectiveness of previous therapy.</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nSpc>
                <a:spcPct val="150000"/>
              </a:lnSpc>
            </a:pPr>
            <a:r>
              <a:rPr lang="en-US" dirty="0">
                <a:latin typeface="Times New Roman" panose="02020603050405020304" pitchFamily="18" charset="0"/>
                <a:ea typeface="Calibri" panose="020F0502020204030204" pitchFamily="34" charset="0"/>
                <a:cs typeface="Arial" panose="020B0604020202020204" pitchFamily="34" charset="0"/>
              </a:rPr>
              <a:t>Carefully observe the child for a rash, pruritus, cough, or other signs of an adverse reaction to a previously administered drug.</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nSpc>
                <a:spcPct val="150000"/>
              </a:lnSpc>
            </a:pPr>
            <a:r>
              <a:rPr lang="en-US" dirty="0">
                <a:latin typeface="Times New Roman" panose="02020603050405020304" pitchFamily="18" charset="0"/>
                <a:ea typeface="Calibri" panose="020F0502020204030204" pitchFamily="34" charset="0"/>
                <a:cs typeface="Arial" panose="020B0604020202020204" pitchFamily="34" charset="0"/>
              </a:rPr>
              <a:t>Identify the child by comparing the name on his wristband with that on the medication card. If the child can talk and respond, ask him his name.</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nSpc>
                <a:spcPct val="150000"/>
              </a:lnSpc>
            </a:pPr>
            <a:r>
              <a:rPr lang="en-US" dirty="0">
                <a:latin typeface="Times New Roman" panose="02020603050405020304" pitchFamily="18" charset="0"/>
                <a:ea typeface="Calibri" panose="020F0502020204030204" pitchFamily="34" charset="0"/>
                <a:cs typeface="Arial" panose="020B0604020202020204" pitchFamily="34" charset="0"/>
              </a:rPr>
              <a:t>Explain the procedure to the child and his parents. Use terms the child can understand.</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nSpc>
                <a:spcPct val="150000"/>
              </a:lnSpc>
            </a:pPr>
            <a:r>
              <a:rPr lang="en-US" dirty="0">
                <a:latin typeface="Times New Roman" panose="02020603050405020304" pitchFamily="18" charset="0"/>
                <a:ea typeface="Calibri" panose="020F0502020204030204" pitchFamily="34" charset="0"/>
                <a:cs typeface="Arial" panose="020B0604020202020204" pitchFamily="34" charset="0"/>
              </a:rPr>
              <a:t>Provide privacy, especially for an older child.</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spTree>
    <p:extLst>
      <p:ext uri="{BB962C8B-B14F-4D97-AF65-F5344CB8AC3E}">
        <p14:creationId xmlns:p14="http://schemas.microsoft.com/office/powerpoint/2010/main" val="1450538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6839" y="75705"/>
            <a:ext cx="10515600" cy="1325563"/>
          </a:xfrm>
        </p:spPr>
        <p:txBody>
          <a:bodyPr>
            <a:normAutofit/>
          </a:bodyPr>
          <a:lstStyle/>
          <a:p>
            <a:r>
              <a:rPr lang="en-US" sz="4800" b="1" dirty="0"/>
              <a:t>Drug Administration Routes </a:t>
            </a:r>
            <a:endParaRPr lang="ar-IQ" sz="4800" b="1" dirty="0"/>
          </a:p>
        </p:txBody>
      </p:sp>
      <p:pic>
        <p:nvPicPr>
          <p:cNvPr id="10" name="Picture 9"/>
          <p:cNvPicPr>
            <a:picLocks noChangeAspect="1"/>
          </p:cNvPicPr>
          <p:nvPr/>
        </p:nvPicPr>
        <p:blipFill>
          <a:blip r:embed="rId2"/>
          <a:stretch>
            <a:fillRect/>
          </a:stretch>
        </p:blipFill>
        <p:spPr>
          <a:xfrm>
            <a:off x="0" y="1119116"/>
            <a:ext cx="12192000" cy="572970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9087391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latin typeface="Times New Roman" panose="02020603050405020304" pitchFamily="18" charset="0"/>
                <a:ea typeface="Calibri" panose="020F0502020204030204" pitchFamily="34" charset="0"/>
                <a:cs typeface="Arial" panose="020B0604020202020204" pitchFamily="34" charset="0"/>
              </a:rPr>
              <a:t>Six right for administer medication</a:t>
            </a:r>
            <a:endParaRPr lang="ar-IQ" u="sng" dirty="0"/>
          </a:p>
        </p:txBody>
      </p:sp>
      <p:sp>
        <p:nvSpPr>
          <p:cNvPr id="3" name="Content Placeholder 2"/>
          <p:cNvSpPr>
            <a:spLocks noGrp="1"/>
          </p:cNvSpPr>
          <p:nvPr>
            <p:ph idx="1"/>
          </p:nvPr>
        </p:nvSpPr>
        <p:spPr/>
        <p:txBody>
          <a:bodyPr/>
          <a:lstStyle/>
          <a:p>
            <a:pPr>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1-Right Medication</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2-Right Patient</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3-Right Dosage</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4-</a:t>
            </a:r>
            <a:r>
              <a:rPr lang="en-US" sz="2400" dirty="0">
                <a:solidFill>
                  <a:srgbClr val="DF6227"/>
                </a:solidFill>
                <a:effectLst/>
                <a:latin typeface="TimesNewRomanPS-BoldMT"/>
                <a:ea typeface="Calibri" panose="020F0502020204030204" pitchFamily="34" charset="0"/>
                <a:cs typeface="TimesNewRomanPS-BoldMT"/>
              </a:rPr>
              <a:t> </a:t>
            </a:r>
            <a:r>
              <a:rPr lang="en-US" dirty="0">
                <a:latin typeface="Times New Roman" panose="02020603050405020304" pitchFamily="18" charset="0"/>
                <a:ea typeface="Calibri" panose="020F0502020204030204" pitchFamily="34" charset="0"/>
                <a:cs typeface="Arial" panose="020B0604020202020204" pitchFamily="34" charset="0"/>
              </a:rPr>
              <a:t>Right Route </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5-</a:t>
            </a:r>
            <a:r>
              <a:rPr lang="en-US" sz="2400" dirty="0">
                <a:solidFill>
                  <a:srgbClr val="DF6227"/>
                </a:solidFill>
                <a:effectLst/>
                <a:latin typeface="TimesNewRomanPS-BoldMT"/>
                <a:ea typeface="Calibri" panose="020F0502020204030204" pitchFamily="34" charset="0"/>
                <a:cs typeface="TimesNewRomanPS-BoldMT"/>
              </a:rPr>
              <a:t> </a:t>
            </a:r>
            <a:r>
              <a:rPr lang="en-US" dirty="0">
                <a:latin typeface="Times New Roman" panose="02020603050405020304" pitchFamily="18" charset="0"/>
                <a:ea typeface="Calibri" panose="020F0502020204030204" pitchFamily="34" charset="0"/>
                <a:cs typeface="Arial" panose="020B0604020202020204" pitchFamily="34" charset="0"/>
              </a:rPr>
              <a:t>Right Time </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6-Documentation</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spTree>
    <p:extLst>
      <p:ext uri="{BB962C8B-B14F-4D97-AF65-F5344CB8AC3E}">
        <p14:creationId xmlns:p14="http://schemas.microsoft.com/office/powerpoint/2010/main" val="3722073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lnSpc>
                <a:spcPct val="115000"/>
              </a:lnSpc>
              <a:spcAft>
                <a:spcPts val="0"/>
              </a:spcAft>
            </a:pPr>
            <a:r>
              <a:rPr lang="en-US" sz="4800" b="1" dirty="0">
                <a:latin typeface="Times New Roman" panose="02020603050405020304" pitchFamily="18" charset="0"/>
                <a:ea typeface="Calibri" panose="020F0502020204030204" pitchFamily="34" charset="0"/>
                <a:cs typeface="Arial" panose="020B0604020202020204" pitchFamily="34" charset="0"/>
              </a:rPr>
              <a:t>Administering Oral Medications</a:t>
            </a:r>
            <a:endParaRPr lang="ar-IQ" sz="4800" dirty="0"/>
          </a:p>
        </p:txBody>
      </p:sp>
      <p:pic>
        <p:nvPicPr>
          <p:cNvPr id="4" name="صورة 7"/>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2080260" y="1690688"/>
            <a:ext cx="8229599" cy="4961572"/>
          </a:xfrm>
          <a:prstGeom prst="rect">
            <a:avLst/>
          </a:prstGeom>
        </p:spPr>
      </p:pic>
    </p:spTree>
    <p:extLst>
      <p:ext uri="{BB962C8B-B14F-4D97-AF65-F5344CB8AC3E}">
        <p14:creationId xmlns:p14="http://schemas.microsoft.com/office/powerpoint/2010/main" val="4223174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11010900" cy="1460500"/>
          </a:xfrm>
        </p:spPr>
        <p:txBody>
          <a:bodyPr>
            <a:normAutofit/>
          </a:bodyPr>
          <a:lstStyle/>
          <a:p>
            <a:pPr>
              <a:lnSpc>
                <a:spcPct val="115000"/>
              </a:lnSpc>
              <a:spcAft>
                <a:spcPts val="0"/>
              </a:spcAft>
            </a:pPr>
            <a:r>
              <a:rPr lang="en-US" b="1" dirty="0">
                <a:latin typeface="Times New Roman" panose="02020603050405020304" pitchFamily="18" charset="0"/>
                <a:ea typeface="Calibri" panose="020F0502020204030204" pitchFamily="34" charset="0"/>
                <a:cs typeface="Arial" panose="020B0604020202020204" pitchFamily="34" charset="0"/>
              </a:rPr>
              <a:t>Equipment</a:t>
            </a:r>
            <a:r>
              <a:rPr lang="en-US" sz="4000" dirty="0">
                <a:latin typeface="Times New Roman" panose="02020603050405020304" pitchFamily="18" charset="0"/>
                <a:ea typeface="Calibri" panose="020F0502020204030204" pitchFamily="34" charset="0"/>
                <a:cs typeface="Arial" panose="020B0604020202020204" pitchFamily="34" charset="0"/>
              </a:rPr>
              <a:t> </a:t>
            </a:r>
            <a:r>
              <a:rPr lang="en-US" b="1" dirty="0">
                <a:latin typeface="Times New Roman" panose="02020603050405020304" pitchFamily="18" charset="0"/>
                <a:ea typeface="Calibri" panose="020F0502020204030204" pitchFamily="34" charset="0"/>
                <a:cs typeface="Arial" panose="020B0604020202020204" pitchFamily="34" charset="0"/>
              </a:rPr>
              <a:t>for oral medications</a:t>
            </a:r>
            <a:endParaRPr lang="ar-IQ" dirty="0"/>
          </a:p>
        </p:txBody>
      </p:sp>
      <p:sp>
        <p:nvSpPr>
          <p:cNvPr id="3" name="Content Placeholder 2"/>
          <p:cNvSpPr>
            <a:spLocks noGrp="1"/>
          </p:cNvSpPr>
          <p:nvPr>
            <p:ph idx="1"/>
          </p:nvPr>
        </p:nvSpPr>
        <p:spPr>
          <a:xfrm>
            <a:off x="342900" y="1620520"/>
            <a:ext cx="6217920" cy="4716463"/>
          </a:xfrm>
        </p:spPr>
        <p:txBody>
          <a:bodyPr>
            <a:normAutofit/>
          </a:bodyPr>
          <a:lstStyle/>
          <a:p>
            <a:pPr marL="514350" indent="-514350">
              <a:lnSpc>
                <a:spcPct val="115000"/>
              </a:lnSpc>
              <a:buFont typeface="+mj-lt"/>
              <a:buAutoNum type="arabicPeriod"/>
              <a:tabLst>
                <a:tab pos="577215" algn="l"/>
                <a:tab pos="870585" algn="l"/>
                <a:tab pos="958215" algn="l"/>
                <a:tab pos="5850890" algn="r"/>
              </a:tabLst>
            </a:pPr>
            <a:r>
              <a:rPr lang="en-US" dirty="0">
                <a:latin typeface="Times New Roman" panose="02020603050405020304" pitchFamily="18" charset="0"/>
                <a:ea typeface="Calibri" panose="020F0502020204030204" pitchFamily="34" charset="0"/>
                <a:cs typeface="Arial" panose="020B0604020202020204" pitchFamily="34" charset="0"/>
              </a:rPr>
              <a:t>Prescribed medication</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514350" indent="-514350">
              <a:lnSpc>
                <a:spcPct val="115000"/>
              </a:lnSpc>
              <a:buFont typeface="+mj-lt"/>
              <a:buAutoNum type="arabicPeriod"/>
            </a:pPr>
            <a:r>
              <a:rPr lang="en-US" dirty="0">
                <a:latin typeface="Times New Roman" panose="02020603050405020304" pitchFamily="18" charset="0"/>
                <a:ea typeface="Calibri" panose="020F0502020204030204" pitchFamily="34" charset="0"/>
                <a:cs typeface="Arial" panose="020B0604020202020204" pitchFamily="34" charset="0"/>
              </a:rPr>
              <a:t>Plastic disposable syringe, plastic medicine dropper, or spoon</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514350" indent="-514350">
              <a:lnSpc>
                <a:spcPct val="115000"/>
              </a:lnSpc>
              <a:buFont typeface="+mj-lt"/>
              <a:buAutoNum type="arabicPeriod"/>
            </a:pPr>
            <a:r>
              <a:rPr lang="en-US" dirty="0">
                <a:latin typeface="Times New Roman" panose="02020603050405020304" pitchFamily="18" charset="0"/>
                <a:ea typeface="Calibri" panose="020F0502020204030204" pitchFamily="34" charset="0"/>
                <a:cs typeface="Arial" panose="020B0604020202020204" pitchFamily="34" charset="0"/>
              </a:rPr>
              <a:t>Medication cup </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514350" indent="-514350">
              <a:lnSpc>
                <a:spcPct val="115000"/>
              </a:lnSpc>
              <a:buFont typeface="+mj-lt"/>
              <a:buAutoNum type="arabicPeriod"/>
            </a:pPr>
            <a:r>
              <a:rPr lang="en-US" dirty="0">
                <a:latin typeface="Times New Roman" panose="02020603050405020304" pitchFamily="18" charset="0"/>
                <a:ea typeface="Calibri" panose="020F0502020204030204" pitchFamily="34" charset="0"/>
                <a:cs typeface="Arial" panose="020B0604020202020204" pitchFamily="34" charset="0"/>
              </a:rPr>
              <a:t>Water, syrup, or jelly (for tablets)</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514350" indent="-514350">
              <a:lnSpc>
                <a:spcPct val="115000"/>
              </a:lnSpc>
              <a:buFont typeface="+mj-lt"/>
              <a:buAutoNum type="arabicPeriod"/>
            </a:pPr>
            <a:r>
              <a:rPr lang="en-US" dirty="0">
                <a:latin typeface="Times New Roman" panose="02020603050405020304" pitchFamily="18" charset="0"/>
                <a:ea typeface="Calibri" panose="020F0502020204030204" pitchFamily="34" charset="0"/>
                <a:cs typeface="Arial" panose="020B0604020202020204" pitchFamily="34" charset="0"/>
              </a:rPr>
              <a:t>Optional: fruit juice.</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0" indent="0">
              <a:buNone/>
            </a:pPr>
            <a:endParaRPr lang="ar-IQ" dirty="0"/>
          </a:p>
        </p:txBody>
      </p:sp>
      <p:sp>
        <p:nvSpPr>
          <p:cNvPr id="4" name="Rectangle 2"/>
          <p:cNvSpPr>
            <a:spLocks noChangeArrowheads="1"/>
          </p:cNvSpPr>
          <p:nvPr/>
        </p:nvSpPr>
        <p:spPr bwMode="auto">
          <a:xfrm>
            <a:off x="6780848" y="1620520"/>
            <a:ext cx="16937774" cy="50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ar-IQ"/>
          </a:p>
        </p:txBody>
      </p:sp>
      <p:graphicFrame>
        <p:nvGraphicFramePr>
          <p:cNvPr id="5" name="Object 4"/>
          <p:cNvGraphicFramePr>
            <a:graphicFrameLocks noChangeAspect="1"/>
          </p:cNvGraphicFramePr>
          <p:nvPr>
            <p:extLst>
              <p:ext uri="{D42A27DB-BD31-4B8C-83A1-F6EECF244321}">
                <p14:modId xmlns:p14="http://schemas.microsoft.com/office/powerpoint/2010/main" val="2428247199"/>
              </p:ext>
            </p:extLst>
          </p:nvPr>
        </p:nvGraphicFramePr>
        <p:xfrm>
          <a:off x="6780848" y="1620520"/>
          <a:ext cx="5411152" cy="3797299"/>
        </p:xfrm>
        <a:graphic>
          <a:graphicData uri="http://schemas.openxmlformats.org/presentationml/2006/ole">
            <mc:AlternateContent xmlns:mc="http://schemas.openxmlformats.org/markup-compatibility/2006">
              <mc:Choice xmlns:v="urn:schemas-microsoft-com:vml" Requires="v">
                <p:oleObj r:id="rId2" imgW="5877745" imgH="4544059" progId="MSPhotoEd.3">
                  <p:embed/>
                </p:oleObj>
              </mc:Choice>
              <mc:Fallback>
                <p:oleObj r:id="rId2" imgW="5877745" imgH="4544059" progId="MSPhotoEd.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0848" y="1620520"/>
                        <a:ext cx="5411152" cy="3797299"/>
                      </a:xfrm>
                      <a:prstGeom prst="rect">
                        <a:avLst/>
                      </a:prstGeom>
                      <a:noFill/>
                    </p:spPr>
                  </p:pic>
                </p:oleObj>
              </mc:Fallback>
            </mc:AlternateContent>
          </a:graphicData>
        </a:graphic>
      </p:graphicFrame>
    </p:spTree>
    <p:extLst>
      <p:ext uri="{BB962C8B-B14F-4D97-AF65-F5344CB8AC3E}">
        <p14:creationId xmlns:p14="http://schemas.microsoft.com/office/powerpoint/2010/main" val="1759063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160" y="0"/>
            <a:ext cx="10515600" cy="1325563"/>
          </a:xfrm>
        </p:spPr>
        <p:txBody>
          <a:bodyPr>
            <a:normAutofit/>
          </a:bodyPr>
          <a:lstStyle/>
          <a:p>
            <a:pPr>
              <a:lnSpc>
                <a:spcPct val="115000"/>
              </a:lnSpc>
              <a:spcAft>
                <a:spcPts val="0"/>
              </a:spcAft>
            </a:pPr>
            <a:r>
              <a:rPr lang="en-US" b="1" dirty="0">
                <a:latin typeface="Times New Roman" panose="02020603050405020304" pitchFamily="18" charset="0"/>
                <a:ea typeface="Calibri" panose="020F0502020204030204" pitchFamily="34" charset="0"/>
                <a:cs typeface="Arial" panose="020B0604020202020204" pitchFamily="34" charset="0"/>
              </a:rPr>
              <a:t>Steps</a:t>
            </a:r>
            <a:r>
              <a:rPr lang="en-US" sz="4000" b="1" dirty="0">
                <a:latin typeface="Times New Roman" panose="02020603050405020304" pitchFamily="18" charset="0"/>
                <a:ea typeface="Calibri" panose="020F0502020204030204" pitchFamily="34" charset="0"/>
                <a:cs typeface="Arial" panose="020B0604020202020204" pitchFamily="34" charset="0"/>
              </a:rPr>
              <a:t> of Oral Administration </a:t>
            </a:r>
            <a:endParaRPr lang="ar-IQ" b="1" dirty="0"/>
          </a:p>
        </p:txBody>
      </p:sp>
      <p:sp>
        <p:nvSpPr>
          <p:cNvPr id="3" name="Content Placeholder 2"/>
          <p:cNvSpPr>
            <a:spLocks noGrp="1"/>
          </p:cNvSpPr>
          <p:nvPr>
            <p:ph idx="1"/>
          </p:nvPr>
        </p:nvSpPr>
        <p:spPr>
          <a:xfrm>
            <a:off x="518160" y="1325563"/>
            <a:ext cx="11369040" cy="4851400"/>
          </a:xfrm>
        </p:spPr>
        <p:txBody>
          <a:bodyPr>
            <a:normAutofit/>
          </a:bodyPr>
          <a:lstStyle/>
          <a:p>
            <a:pPr marL="514350" indent="-514350" algn="just">
              <a:lnSpc>
                <a:spcPct val="115000"/>
              </a:lnSpc>
              <a:spcAft>
                <a:spcPts val="0"/>
              </a:spcAft>
              <a:buFont typeface="+mj-lt"/>
              <a:buAutoNum type="arabicPeriod"/>
              <a:tabLst>
                <a:tab pos="5850890" algn="r"/>
              </a:tabLst>
            </a:pPr>
            <a:r>
              <a:rPr lang="en-US" dirty="0">
                <a:latin typeface="Times New Roman" panose="02020603050405020304" pitchFamily="18" charset="0"/>
                <a:ea typeface="Calibri" panose="020F0502020204030204" pitchFamily="34" charset="0"/>
                <a:cs typeface="Arial" panose="020B0604020202020204" pitchFamily="34" charset="0"/>
              </a:rPr>
              <a:t>Verify medication orders and assemble supplies.</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514350" indent="-514350" algn="just">
              <a:lnSpc>
                <a:spcPct val="115000"/>
              </a:lnSpc>
              <a:spcAft>
                <a:spcPts val="0"/>
              </a:spcAft>
              <a:buFont typeface="+mj-lt"/>
              <a:buAutoNum type="arabicPeriod"/>
              <a:tabLst>
                <a:tab pos="5850890" algn="r"/>
              </a:tabLst>
            </a:pPr>
            <a:r>
              <a:rPr lang="en-US" dirty="0">
                <a:latin typeface="Times New Roman" panose="02020603050405020304" pitchFamily="18" charset="0"/>
                <a:ea typeface="Calibri" panose="020F0502020204030204" pitchFamily="34" charset="0"/>
                <a:cs typeface="Arial" panose="020B0604020202020204" pitchFamily="34" charset="0"/>
              </a:rPr>
              <a:t> Place the infant</a:t>
            </a:r>
            <a:r>
              <a:rPr lang="en-US" dirty="0">
                <a:latin typeface="Calibri" panose="020F0502020204030204" pitchFamily="34" charset="0"/>
                <a:ea typeface="Calibri" panose="020F0502020204030204" pitchFamily="34" charset="0"/>
                <a:cs typeface="Arial" panose="020B0604020202020204" pitchFamily="34" charset="0"/>
              </a:rPr>
              <a:t>’</a:t>
            </a:r>
            <a:r>
              <a:rPr lang="en-US" dirty="0">
                <a:latin typeface="Times New Roman" panose="02020603050405020304" pitchFamily="18" charset="0"/>
                <a:ea typeface="Calibri" panose="020F0502020204030204" pitchFamily="34" charset="0"/>
                <a:cs typeface="Arial" panose="020B0604020202020204" pitchFamily="34" charset="0"/>
              </a:rPr>
              <a:t>s legs between your knees to maintain control of them.</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514350" indent="-514350" algn="just">
              <a:lnSpc>
                <a:spcPct val="115000"/>
              </a:lnSpc>
              <a:spcAft>
                <a:spcPts val="0"/>
              </a:spcAft>
              <a:buFont typeface="+mj-lt"/>
              <a:buAutoNum type="arabicPeriod"/>
              <a:tabLst>
                <a:tab pos="5850890" algn="r"/>
              </a:tabLst>
            </a:pPr>
            <a:r>
              <a:rPr lang="en-US" dirty="0">
                <a:latin typeface="Times New Roman" panose="02020603050405020304" pitchFamily="18" charset="0"/>
                <a:ea typeface="Calibri" panose="020F0502020204030204" pitchFamily="34" charset="0"/>
                <a:cs typeface="Arial" panose="020B0604020202020204" pitchFamily="34" charset="0"/>
              </a:rPr>
              <a:t>Place one of the infant</a:t>
            </a:r>
            <a:r>
              <a:rPr lang="en-US" dirty="0">
                <a:latin typeface="Calibri" panose="020F0502020204030204" pitchFamily="34" charset="0"/>
                <a:ea typeface="Calibri" panose="020F0502020204030204" pitchFamily="34" charset="0"/>
                <a:cs typeface="Arial" panose="020B0604020202020204" pitchFamily="34" charset="0"/>
              </a:rPr>
              <a:t>’</a:t>
            </a:r>
            <a:r>
              <a:rPr lang="en-US" dirty="0">
                <a:latin typeface="Times New Roman" panose="02020603050405020304" pitchFamily="18" charset="0"/>
                <a:ea typeface="Calibri" panose="020F0502020204030204" pitchFamily="34" charset="0"/>
                <a:cs typeface="Arial" panose="020B0604020202020204" pitchFamily="34" charset="0"/>
              </a:rPr>
              <a:t>s arms behind your back and restrain the other arm by </a:t>
            </a:r>
            <a:r>
              <a:rPr lang="en-US" dirty="0">
                <a:latin typeface="Calibri" panose="020F0502020204030204" pitchFamily="34" charset="0"/>
                <a:ea typeface="Calibri" panose="020F0502020204030204" pitchFamily="34" charset="0"/>
                <a:cs typeface="Arial" panose="020B0604020202020204" pitchFamily="34" charset="0"/>
              </a:rPr>
              <a:t>“</a:t>
            </a:r>
            <a:r>
              <a:rPr lang="en-US" b="1" dirty="0">
                <a:latin typeface="Times New Roman" panose="02020603050405020304" pitchFamily="18" charset="0"/>
                <a:ea typeface="Calibri" panose="020F0502020204030204" pitchFamily="34" charset="0"/>
                <a:cs typeface="Arial" panose="020B0604020202020204" pitchFamily="34" charset="0"/>
              </a:rPr>
              <a:t>hugging</a:t>
            </a:r>
            <a:r>
              <a:rPr lang="en-US" b="1" dirty="0">
                <a:latin typeface="Calibri" panose="020F0502020204030204" pitchFamily="34" charset="0"/>
                <a:ea typeface="Calibri" panose="020F0502020204030204" pitchFamily="34" charset="0"/>
                <a:cs typeface="Arial" panose="020B0604020202020204" pitchFamily="34" charset="0"/>
              </a:rPr>
              <a:t>”</a:t>
            </a:r>
            <a:r>
              <a:rPr lang="en-US" b="1" dirty="0">
                <a:latin typeface="Times New Roman" panose="02020603050405020304" pitchFamily="18" charset="0"/>
                <a:ea typeface="Calibri" panose="020F0502020204030204" pitchFamily="34" charset="0"/>
                <a:cs typeface="Arial" panose="020B0604020202020204" pitchFamily="34" charset="0"/>
              </a:rPr>
              <a:t> the child </a:t>
            </a:r>
            <a:r>
              <a:rPr lang="en-US" dirty="0">
                <a:latin typeface="Times New Roman" panose="02020603050405020304" pitchFamily="18" charset="0"/>
                <a:ea typeface="Calibri" panose="020F0502020204030204" pitchFamily="34" charset="0"/>
                <a:cs typeface="Arial" panose="020B0604020202020204" pitchFamily="34" charset="0"/>
              </a:rPr>
              <a:t>(this helps to prevent the child from tipping the medication cup).</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514350" indent="-514350" algn="just">
              <a:lnSpc>
                <a:spcPct val="115000"/>
              </a:lnSpc>
              <a:spcAft>
                <a:spcPts val="0"/>
              </a:spcAft>
              <a:buFont typeface="+mj-lt"/>
              <a:buAutoNum type="arabicPeriod"/>
              <a:tabLst>
                <a:tab pos="5850890" algn="r"/>
              </a:tabLst>
            </a:pPr>
            <a:r>
              <a:rPr lang="en-US" dirty="0">
                <a:latin typeface="Times New Roman" panose="02020603050405020304" pitchFamily="18" charset="0"/>
                <a:ea typeface="Calibri" panose="020F0502020204030204" pitchFamily="34" charset="0"/>
                <a:cs typeface="Arial" panose="020B0604020202020204" pitchFamily="34" charset="0"/>
              </a:rPr>
              <a:t>Give the medication slowly by cup or syringe to allow the child time to swallow. An older child may be given the choice to self-administer the medication by cup or syringe.</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0" indent="0">
              <a:buNone/>
            </a:pPr>
            <a:endParaRPr lang="ar-IQ" dirty="0"/>
          </a:p>
        </p:txBody>
      </p:sp>
      <p:sp>
        <p:nvSpPr>
          <p:cNvPr id="4" name="Oval 47">
            <a:extLst>
              <a:ext uri="{FF2B5EF4-FFF2-40B4-BE49-F238E27FC236}">
                <a16:creationId xmlns:a16="http://schemas.microsoft.com/office/drawing/2014/main" id="{2A7B72D2-455E-4647-BA7D-2D9A0D0187FB}"/>
              </a:ext>
            </a:extLst>
          </p:cNvPr>
          <p:cNvSpPr>
            <a:spLocks noChangeAspect="1"/>
          </p:cNvSpPr>
          <p:nvPr/>
        </p:nvSpPr>
        <p:spPr>
          <a:xfrm>
            <a:off x="10126639" y="146766"/>
            <a:ext cx="1755184" cy="1755184"/>
          </a:xfrm>
          <a:custGeom>
            <a:avLst/>
            <a:gdLst/>
            <a:ahLst/>
            <a:cxnLst/>
            <a:rect l="l" t="t" r="r" b="b"/>
            <a:pathLst>
              <a:path w="3240000" h="3240000">
                <a:moveTo>
                  <a:pt x="1303187" y="480874"/>
                </a:moveTo>
                <a:lnTo>
                  <a:pt x="1303187" y="1303187"/>
                </a:lnTo>
                <a:lnTo>
                  <a:pt x="480874" y="1303187"/>
                </a:lnTo>
                <a:lnTo>
                  <a:pt x="480874" y="1936813"/>
                </a:lnTo>
                <a:lnTo>
                  <a:pt x="1303187" y="1936813"/>
                </a:lnTo>
                <a:lnTo>
                  <a:pt x="1303187" y="2759126"/>
                </a:lnTo>
                <a:lnTo>
                  <a:pt x="1936813" y="2759126"/>
                </a:lnTo>
                <a:lnTo>
                  <a:pt x="1936813" y="1936813"/>
                </a:lnTo>
                <a:lnTo>
                  <a:pt x="2759126" y="1936813"/>
                </a:lnTo>
                <a:lnTo>
                  <a:pt x="2759126" y="1303187"/>
                </a:lnTo>
                <a:lnTo>
                  <a:pt x="1936813" y="1303187"/>
                </a:lnTo>
                <a:lnTo>
                  <a:pt x="1936813" y="480874"/>
                </a:lnTo>
                <a:close/>
                <a:moveTo>
                  <a:pt x="1620000" y="0"/>
                </a:moveTo>
                <a:cubicBezTo>
                  <a:pt x="2514701" y="0"/>
                  <a:pt x="3240000" y="725299"/>
                  <a:pt x="3240000" y="1620000"/>
                </a:cubicBezTo>
                <a:cubicBezTo>
                  <a:pt x="3240000" y="2514701"/>
                  <a:pt x="2514701" y="3240000"/>
                  <a:pt x="1620000" y="3240000"/>
                </a:cubicBezTo>
                <a:cubicBezTo>
                  <a:pt x="725299" y="3240000"/>
                  <a:pt x="0" y="2514701"/>
                  <a:pt x="0" y="1620000"/>
                </a:cubicBezTo>
                <a:cubicBezTo>
                  <a:pt x="0" y="725299"/>
                  <a:pt x="725299" y="0"/>
                  <a:pt x="162000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Tree>
    <p:extLst>
      <p:ext uri="{BB962C8B-B14F-4D97-AF65-F5344CB8AC3E}">
        <p14:creationId xmlns:p14="http://schemas.microsoft.com/office/powerpoint/2010/main" val="3673184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4320" y="0"/>
            <a:ext cx="10515600" cy="1325563"/>
          </a:xfrm>
        </p:spPr>
        <p:txBody>
          <a:bodyPr/>
          <a:lstStyle/>
          <a:p>
            <a:r>
              <a:rPr lang="en-US" dirty="0" err="1"/>
              <a:t>Cont</a:t>
            </a:r>
            <a:r>
              <a:rPr lang="en-US" dirty="0"/>
              <a:t>…</a:t>
            </a:r>
            <a:endParaRPr lang="ar-IQ" dirty="0"/>
          </a:p>
        </p:txBody>
      </p:sp>
      <p:sp>
        <p:nvSpPr>
          <p:cNvPr id="3" name="Content Placeholder 2"/>
          <p:cNvSpPr>
            <a:spLocks noGrp="1"/>
          </p:cNvSpPr>
          <p:nvPr>
            <p:ph idx="1"/>
          </p:nvPr>
        </p:nvSpPr>
        <p:spPr>
          <a:xfrm>
            <a:off x="434340" y="1097280"/>
            <a:ext cx="7155180" cy="5760720"/>
          </a:xfrm>
        </p:spPr>
        <p:txBody>
          <a:bodyPr>
            <a:normAutofit/>
          </a:bodyPr>
          <a:lstStyle/>
          <a:p>
            <a:pPr marL="0" lvl="0" indent="0" algn="just">
              <a:lnSpc>
                <a:spcPct val="115000"/>
              </a:lnSpc>
              <a:buNone/>
              <a:tabLst>
                <a:tab pos="5850890" algn="r"/>
              </a:tabLst>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5. Provide </a:t>
            </a:r>
            <a:r>
              <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rPr>
              <a:t>“</a:t>
            </a: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chasers</a:t>
            </a:r>
            <a:r>
              <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rPr>
              <a:t>”</a:t>
            </a: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 of water, fruit juice, or frozen ice-pops to help lessen the residual taste of the medicine. The patient</a:t>
            </a:r>
            <a:r>
              <a:rPr lang="en-US" sz="2400" dirty="0">
                <a:solidFill>
                  <a:prstClr val="black"/>
                </a:solidFill>
                <a:latin typeface="Calibri" panose="020F0502020204030204" pitchFamily="34" charset="0"/>
                <a:ea typeface="Calibri" panose="020F0502020204030204" pitchFamily="34" charset="0"/>
                <a:cs typeface="Arial" panose="020B0604020202020204" pitchFamily="34" charset="0"/>
              </a:rPr>
              <a:t>’</a:t>
            </a: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s age and diet prescription are considered when choosing a chaser.</a:t>
            </a:r>
          </a:p>
          <a:p>
            <a:pPr marL="0" lvl="0" indent="0" algn="just">
              <a:lnSpc>
                <a:spcPct val="115000"/>
              </a:lnSpc>
              <a:buNone/>
              <a:tabLst>
                <a:tab pos="5850890" algn="r"/>
              </a:tabLst>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6. Document in the medication administration record (MAR) the medication, route, time, and dose given</a:t>
            </a:r>
          </a:p>
          <a:p>
            <a:pPr marL="342900" lvl="0" indent="-342900" algn="just">
              <a:lnSpc>
                <a:spcPct val="115000"/>
              </a:lnSpc>
              <a:buFont typeface="Wingdings" panose="05000000000000000000" pitchFamily="2" charset="2"/>
              <a:buChar char=""/>
              <a:tabLst>
                <a:tab pos="5850890" algn="r"/>
              </a:tabLst>
            </a:pPr>
            <a:r>
              <a:rPr lang="en-US" sz="2400" b="1" dirty="0">
                <a:solidFill>
                  <a:prstClr val="black"/>
                </a:solidFill>
                <a:latin typeface="Times New Roman" panose="02020603050405020304" pitchFamily="18" charset="0"/>
                <a:ea typeface="Calibri" panose="020F0502020204030204" pitchFamily="34" charset="0"/>
                <a:cs typeface="Arial" panose="020B0604020202020204" pitchFamily="34" charset="0"/>
              </a:rPr>
              <a:t>Measure a drug ordered in teaspoons in milliliters; the established standard is 5 ml/tsp.</a:t>
            </a:r>
            <a:endPar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endParaRPr>
          </a:p>
        </p:txBody>
      </p:sp>
      <p:pic>
        <p:nvPicPr>
          <p:cNvPr id="4" name="Picture 3"/>
          <p:cNvPicPr>
            <a:picLocks noChangeAspect="1"/>
          </p:cNvPicPr>
          <p:nvPr/>
        </p:nvPicPr>
        <p:blipFill>
          <a:blip r:embed="rId2"/>
          <a:stretch>
            <a:fillRect/>
          </a:stretch>
        </p:blipFill>
        <p:spPr>
          <a:xfrm>
            <a:off x="7764616" y="0"/>
            <a:ext cx="4427384" cy="6858000"/>
          </a:xfrm>
          <a:prstGeom prst="rect">
            <a:avLst/>
          </a:prstGeom>
        </p:spPr>
      </p:pic>
    </p:spTree>
    <p:extLst>
      <p:ext uri="{BB962C8B-B14F-4D97-AF65-F5344CB8AC3E}">
        <p14:creationId xmlns:p14="http://schemas.microsoft.com/office/powerpoint/2010/main" val="1397407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 y="227965"/>
            <a:ext cx="10515600" cy="1097915"/>
          </a:xfrm>
        </p:spPr>
        <p:txBody>
          <a:bodyPr>
            <a:normAutofit/>
          </a:bodyPr>
          <a:lstStyle/>
          <a:p>
            <a:pPr>
              <a:lnSpc>
                <a:spcPct val="115000"/>
              </a:lnSpc>
              <a:spcAft>
                <a:spcPts val="0"/>
              </a:spcAft>
            </a:pPr>
            <a:r>
              <a:rPr lang="en-US" b="1" u="dbl" dirty="0">
                <a:latin typeface="Times New Roman" panose="02020603050405020304" pitchFamily="18" charset="0"/>
                <a:ea typeface="Calibri" panose="020F0502020204030204" pitchFamily="34" charset="0"/>
                <a:cs typeface="Arial" panose="020B0604020202020204" pitchFamily="34" charset="0"/>
              </a:rPr>
              <a:t>Notices</a:t>
            </a:r>
            <a:endParaRPr lang="ar-IQ" dirty="0"/>
          </a:p>
        </p:txBody>
      </p:sp>
      <p:sp>
        <p:nvSpPr>
          <p:cNvPr id="3" name="Content Placeholder 2"/>
          <p:cNvSpPr>
            <a:spLocks noGrp="1"/>
          </p:cNvSpPr>
          <p:nvPr>
            <p:ph idx="1"/>
          </p:nvPr>
        </p:nvSpPr>
        <p:spPr>
          <a:xfrm>
            <a:off x="289560" y="1325880"/>
            <a:ext cx="11064240" cy="4851083"/>
          </a:xfrm>
        </p:spPr>
        <p:txBody>
          <a:bodyPr>
            <a:normAutofit fontScale="92500" lnSpcReduction="10000"/>
          </a:bodyPr>
          <a:lstStyle/>
          <a:p>
            <a:pPr algn="just">
              <a:lnSpc>
                <a:spcPct val="115000"/>
              </a:lnSpc>
            </a:pPr>
            <a:r>
              <a:rPr lang="en-US" dirty="0">
                <a:latin typeface="Times New Roman" panose="02020603050405020304" pitchFamily="18" charset="0"/>
                <a:ea typeface="Calibri" panose="020F0502020204030204" pitchFamily="34" charset="0"/>
                <a:cs typeface="Arial" panose="020B0604020202020204" pitchFamily="34" charset="0"/>
              </a:rPr>
              <a:t>Medication is administered slowly, especially if the child is crying. The child’s head and shoulders are elevated to prevent aspiration. Toddlers may attempt to push away the medicine cup. In anticipation of this response, the nurse holds the child in a “</a:t>
            </a:r>
            <a:r>
              <a:rPr lang="en-US" b="1" dirty="0">
                <a:latin typeface="Times New Roman" panose="02020603050405020304" pitchFamily="18" charset="0"/>
                <a:ea typeface="Calibri" panose="020F0502020204030204" pitchFamily="34" charset="0"/>
                <a:cs typeface="Arial" panose="020B0604020202020204" pitchFamily="34" charset="0"/>
              </a:rPr>
              <a:t>hug” position in the nurse’s lap </a:t>
            </a:r>
            <a:r>
              <a:rPr lang="en-US" dirty="0">
                <a:latin typeface="Times New Roman" panose="02020603050405020304" pitchFamily="18" charset="0"/>
                <a:ea typeface="Calibri" panose="020F0502020204030204" pitchFamily="34" charset="0"/>
                <a:cs typeface="Arial" panose="020B0604020202020204" pitchFamily="34" charset="0"/>
              </a:rPr>
              <a:t>in a semi sitting position</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gn="just">
              <a:lnSpc>
                <a:spcPct val="115000"/>
              </a:lnSpc>
            </a:pPr>
            <a:r>
              <a:rPr lang="en-US" dirty="0">
                <a:latin typeface="Times New Roman" panose="02020603050405020304" pitchFamily="18" charset="0"/>
                <a:ea typeface="Calibri" panose="020F0502020204030204" pitchFamily="34" charset="0"/>
                <a:cs typeface="Arial" panose="020B0604020202020204" pitchFamily="34" charset="0"/>
              </a:rPr>
              <a:t>The use of important sources of nutrients, foods, or liquids (e.g., orange juice) for disguising the taste of the medication is discouraged because the child may develop a distaste for these foods. </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gn="just">
              <a:lnSpc>
                <a:spcPct val="115000"/>
              </a:lnSpc>
            </a:pPr>
            <a:r>
              <a:rPr lang="en-US" dirty="0">
                <a:latin typeface="Times New Roman" panose="02020603050405020304" pitchFamily="18" charset="0"/>
                <a:ea typeface="Calibri" panose="020F0502020204030204" pitchFamily="34" charset="0"/>
                <a:cs typeface="Arial" panose="020B0604020202020204" pitchFamily="34" charset="0"/>
              </a:rPr>
              <a:t>If a nasogastric tube is in place, the nurse tests for proper placement of the tube before pouring medication into the funnel. A small amount of water is administered afterward to flush (cleanse) the tube.</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spTree>
    <p:extLst>
      <p:ext uri="{BB962C8B-B14F-4D97-AF65-F5344CB8AC3E}">
        <p14:creationId xmlns:p14="http://schemas.microsoft.com/office/powerpoint/2010/main" val="3666392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42900" y="411480"/>
            <a:ext cx="11849100" cy="6172199"/>
          </a:xfrm>
        </p:spPr>
        <p:txBody>
          <a:bodyPr>
            <a:normAutofit/>
          </a:bodyPr>
          <a:lstStyle/>
          <a:p>
            <a:pPr>
              <a:lnSpc>
                <a:spcPct val="100000"/>
              </a:lnSpc>
            </a:pPr>
            <a:r>
              <a:rPr lang="en-US" dirty="0"/>
              <a:t>Never pinch the infant or child’s nostril when administrating medications </a:t>
            </a:r>
          </a:p>
          <a:p>
            <a:pPr>
              <a:lnSpc>
                <a:spcPct val="100000"/>
              </a:lnSpc>
            </a:pPr>
            <a:r>
              <a:rPr lang="en-US" dirty="0"/>
              <a:t>Don’t place medication in a baby’s bottle </a:t>
            </a:r>
          </a:p>
          <a:p>
            <a:pPr>
              <a:lnSpc>
                <a:spcPct val="100000"/>
              </a:lnSpc>
            </a:pPr>
            <a:r>
              <a:rPr lang="en-US" dirty="0"/>
              <a:t>Suspension must be administered immediately after measurement to prevent settling and giving an incomplete dose </a:t>
            </a:r>
          </a:p>
          <a:p>
            <a:pPr>
              <a:lnSpc>
                <a:spcPct val="100000"/>
              </a:lnSpc>
            </a:pPr>
            <a:r>
              <a:rPr lang="en-US" dirty="0">
                <a:latin typeface="Times New Roman" panose="02020603050405020304" pitchFamily="18" charset="0"/>
                <a:ea typeface="Calibri" panose="020F0502020204030204" pitchFamily="34" charset="0"/>
                <a:cs typeface="Arial" panose="020B0604020202020204" pitchFamily="34" charset="0"/>
              </a:rPr>
              <a:t>Slide the syringe or medicine dropper into the infant's mouth alongside his tongue. Release the medication slowly </a:t>
            </a:r>
          </a:p>
          <a:p>
            <a:pPr>
              <a:lnSpc>
                <a:spcPct val="100000"/>
              </a:lnSpc>
            </a:pPr>
            <a:r>
              <a:rPr lang="en-US" dirty="0">
                <a:latin typeface="Times New Roman" panose="02020603050405020304" pitchFamily="18" charset="0"/>
                <a:ea typeface="Calibri" panose="020F0502020204030204" pitchFamily="34" charset="0"/>
                <a:cs typeface="Arial" panose="020B0604020202020204" pitchFamily="34" charset="0"/>
              </a:rPr>
              <a:t>If the medication is in tablet form, first crush the tablet, if appropriate, and mix it with water, syrup, or jelly. Use a spoon, syringe, or dropper to administer the medication. (Toddler)</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nSpc>
                <a:spcPct val="100000"/>
              </a:lnSpc>
            </a:pPr>
            <a:r>
              <a:rPr lang="en-US" dirty="0">
                <a:latin typeface="Times New Roman" panose="02020603050405020304" pitchFamily="18" charset="0"/>
                <a:ea typeface="Calibri" panose="020F0502020204030204" pitchFamily="34" charset="0"/>
                <a:cs typeface="Arial" panose="020B0604020202020204" pitchFamily="34" charset="0"/>
              </a:rPr>
              <a:t>Giving medication in tablet or capsule form for older enough child (between ages 4 and 6), you should teach him how to swallow solid medication. </a:t>
            </a:r>
          </a:p>
        </p:txBody>
      </p:sp>
    </p:spTree>
    <p:extLst>
      <p:ext uri="{BB962C8B-B14F-4D97-AF65-F5344CB8AC3E}">
        <p14:creationId xmlns:p14="http://schemas.microsoft.com/office/powerpoint/2010/main" val="943874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0"/>
              </a:spcAft>
            </a:pPr>
            <a:r>
              <a:rPr lang="en-US" b="1" dirty="0">
                <a:solidFill>
                  <a:srgbClr val="000000"/>
                </a:solidFill>
                <a:latin typeface="Times New Roman" panose="02020603050405020304" pitchFamily="18" charset="0"/>
                <a:ea typeface="Calibri" panose="020F0502020204030204" pitchFamily="34" charset="0"/>
                <a:cs typeface="Arial" panose="020B0604020202020204" pitchFamily="34" charset="0"/>
              </a:rPr>
              <a:t>Administering parenteral medications</a:t>
            </a:r>
            <a:endParaRPr lang="ar-IQ" dirty="0"/>
          </a:p>
        </p:txBody>
      </p:sp>
      <p:sp>
        <p:nvSpPr>
          <p:cNvPr id="3" name="Content Placeholder 2"/>
          <p:cNvSpPr>
            <a:spLocks noGrp="1"/>
          </p:cNvSpPr>
          <p:nvPr>
            <p:ph idx="1"/>
          </p:nvPr>
        </p:nvSpPr>
        <p:spPr>
          <a:xfrm>
            <a:off x="838200" y="1825624"/>
            <a:ext cx="10957560" cy="4598035"/>
          </a:xfrm>
        </p:spPr>
        <p:txBody>
          <a:bodyPr>
            <a:normAutofit/>
          </a:bodyPr>
          <a:lstStyle/>
          <a:p>
            <a:pPr>
              <a:lnSpc>
                <a:spcPct val="115000"/>
              </a:lnSpc>
              <a:spcAft>
                <a:spcPts val="0"/>
              </a:spcAft>
            </a:pPr>
            <a:r>
              <a:rPr lang="en-US" b="1" dirty="0">
                <a:solidFill>
                  <a:srgbClr val="FF0000"/>
                </a:solidFill>
                <a:latin typeface="Times New Roman" panose="02020603050405020304" pitchFamily="18" charset="0"/>
                <a:ea typeface="Calibri" panose="020F0502020204030204" pitchFamily="34" charset="0"/>
                <a:cs typeface="Arial" panose="020B0604020202020204" pitchFamily="34" charset="0"/>
              </a:rPr>
              <a:t>Nose Drops</a:t>
            </a:r>
          </a:p>
          <a:p>
            <a:pPr>
              <a:lnSpc>
                <a:spcPct val="115000"/>
              </a:lnSpc>
              <a:spcAft>
                <a:spcPts val="0"/>
              </a:spcAft>
            </a:pPr>
            <a:r>
              <a:rPr lang="en-US" b="1" dirty="0">
                <a:solidFill>
                  <a:srgbClr val="FF0000"/>
                </a:solidFill>
                <a:latin typeface="Times New Roman" panose="02020603050405020304" pitchFamily="18" charset="0"/>
                <a:ea typeface="Calibri" panose="020F0502020204030204" pitchFamily="34" charset="0"/>
                <a:cs typeface="Arial" panose="020B0604020202020204" pitchFamily="34" charset="0"/>
              </a:rPr>
              <a:t>Ear Drops</a:t>
            </a:r>
          </a:p>
          <a:p>
            <a:pPr>
              <a:lnSpc>
                <a:spcPct val="115000"/>
              </a:lnSpc>
              <a:spcAft>
                <a:spcPts val="0"/>
              </a:spcAft>
            </a:pPr>
            <a:r>
              <a:rPr lang="en-US" b="1" dirty="0">
                <a:solidFill>
                  <a:srgbClr val="FF0000"/>
                </a:solidFill>
                <a:latin typeface="Times New Roman" panose="02020603050405020304" pitchFamily="18" charset="0"/>
                <a:ea typeface="Calibri" panose="020F0502020204030204" pitchFamily="34" charset="0"/>
                <a:cs typeface="Arial" panose="020B0604020202020204" pitchFamily="34" charset="0"/>
              </a:rPr>
              <a:t>Eye Drops</a:t>
            </a:r>
            <a:endParaRPr lang="en-US" sz="2000" dirty="0">
              <a:solidFill>
                <a:srgbClr val="FF0000"/>
              </a:solidFill>
              <a:latin typeface="Times New Roman" panose="02020603050405020304" pitchFamily="18" charset="0"/>
              <a:ea typeface="Calibri" panose="020F0502020204030204" pitchFamily="34" charset="0"/>
              <a:cs typeface="Arial" panose="020B0604020202020204" pitchFamily="34" charset="0"/>
            </a:endParaRPr>
          </a:p>
          <a:p>
            <a:pPr marL="0" indent="0">
              <a:buNone/>
            </a:pPr>
            <a:endParaRPr lang="en-US" dirty="0">
              <a:latin typeface="Times New Roman" panose="02020603050405020304" pitchFamily="18" charset="0"/>
              <a:ea typeface="Calibri" panose="020F0502020204030204" pitchFamily="34" charset="0"/>
              <a:cs typeface="Arial" panose="020B0604020202020204" pitchFamily="34" charset="0"/>
            </a:endParaRPr>
          </a:p>
          <a:p>
            <a:pPr marL="0" indent="0">
              <a:buNone/>
            </a:pPr>
            <a:r>
              <a:rPr lang="en-US" sz="3600" dirty="0">
                <a:latin typeface="Times New Roman" panose="02020603050405020304" pitchFamily="18" charset="0"/>
                <a:ea typeface="Calibri" panose="020F0502020204030204" pitchFamily="34" charset="0"/>
                <a:cs typeface="Arial" panose="020B0604020202020204" pitchFamily="34" charset="0"/>
              </a:rPr>
              <a:t>the principles for administering nose drops, ear drops, and eye drops to children are essentially the same as for adults. Infants and small children may need to be restrained in a mummy restraint</a:t>
            </a:r>
            <a:endParaRPr lang="ar-IQ" sz="3600" dirty="0"/>
          </a:p>
        </p:txBody>
      </p:sp>
    </p:spTree>
    <p:extLst>
      <p:ext uri="{BB962C8B-B14F-4D97-AF65-F5344CB8AC3E}">
        <p14:creationId xmlns:p14="http://schemas.microsoft.com/office/powerpoint/2010/main" val="169493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060" y="365125"/>
            <a:ext cx="10515600" cy="937895"/>
          </a:xfrm>
        </p:spPr>
        <p:txBody>
          <a:bodyPr/>
          <a:lstStyle/>
          <a:p>
            <a:r>
              <a:rPr lang="en-US" b="1" dirty="0">
                <a:latin typeface="Times New Roman" panose="02020603050405020304" pitchFamily="18" charset="0"/>
                <a:ea typeface="Calibri" panose="020F0502020204030204" pitchFamily="34" charset="0"/>
                <a:cs typeface="Arial" panose="020B0604020202020204" pitchFamily="34" charset="0"/>
              </a:rPr>
              <a:t>NURSING Tips </a:t>
            </a:r>
            <a:endParaRPr lang="ar-IQ" dirty="0"/>
          </a:p>
        </p:txBody>
      </p:sp>
      <p:sp>
        <p:nvSpPr>
          <p:cNvPr id="3" name="Content Placeholder 2"/>
          <p:cNvSpPr>
            <a:spLocks noGrp="1"/>
          </p:cNvSpPr>
          <p:nvPr>
            <p:ph idx="1"/>
          </p:nvPr>
        </p:nvSpPr>
        <p:spPr>
          <a:xfrm>
            <a:off x="480060" y="1303020"/>
            <a:ext cx="11521440" cy="4873943"/>
          </a:xfrm>
        </p:spPr>
        <p:txBody>
          <a:bodyPr>
            <a:normAutofit fontScale="85000" lnSpcReduction="10000"/>
          </a:bodyPr>
          <a:lstStyle/>
          <a:p>
            <a:pPr algn="just">
              <a:lnSpc>
                <a:spcPct val="150000"/>
              </a:lnSpc>
              <a:spcAft>
                <a:spcPts val="0"/>
              </a:spcAft>
            </a:pPr>
            <a:r>
              <a:rPr lang="en-US" b="1" dirty="0">
                <a:latin typeface="Times New Roman" panose="02020603050405020304" pitchFamily="18" charset="0"/>
                <a:ea typeface="Calibri" panose="020F0502020204030204" pitchFamily="34" charset="0"/>
                <a:cs typeface="Arial" panose="020B0604020202020204" pitchFamily="34" charset="0"/>
              </a:rPr>
              <a:t>To reduce unpleasant sensations when administering medications:</a:t>
            </a:r>
            <a:endParaRPr lang="en-US" sz="2400" b="1" dirty="0">
              <a:latin typeface="Times New Roman" panose="02020603050405020304" pitchFamily="18" charset="0"/>
              <a:ea typeface="Calibri" panose="020F0502020204030204" pitchFamily="34" charset="0"/>
              <a:cs typeface="Arial" panose="020B0604020202020204" pitchFamily="34" charset="0"/>
            </a:endParaRPr>
          </a:p>
          <a:p>
            <a:pPr algn="just">
              <a:lnSpc>
                <a:spcPct val="150000"/>
              </a:lnSpc>
              <a:spcAft>
                <a:spcPts val="0"/>
              </a:spcAft>
            </a:pPr>
            <a:r>
              <a:rPr lang="en-US" b="1" dirty="0">
                <a:latin typeface="Times New Roman" panose="02020603050405020304" pitchFamily="18" charset="0"/>
                <a:ea typeface="Calibri" panose="020F0502020204030204" pitchFamily="34" charset="0"/>
                <a:cs typeface="Arial" panose="020B0604020202020204" pitchFamily="34" charset="0"/>
              </a:rPr>
              <a:t>Eye</a:t>
            </a:r>
            <a:r>
              <a:rPr lang="en-US" dirty="0">
                <a:latin typeface="Times New Roman" panose="02020603050405020304" pitchFamily="18" charset="0"/>
                <a:ea typeface="Calibri" panose="020F0502020204030204" pitchFamily="34" charset="0"/>
                <a:cs typeface="Arial" panose="020B0604020202020204" pitchFamily="34" charset="0"/>
              </a:rPr>
              <a:t>—Apply finger pressure to the </a:t>
            </a:r>
            <a:r>
              <a:rPr lang="en-US" b="1" dirty="0">
                <a:latin typeface="Times New Roman" panose="02020603050405020304" pitchFamily="18" charset="0"/>
                <a:ea typeface="Calibri" panose="020F0502020204030204" pitchFamily="34" charset="0"/>
                <a:cs typeface="Arial" panose="020B0604020202020204" pitchFamily="34" charset="0"/>
              </a:rPr>
              <a:t>lacrimal punctum at the inner aspect of  the eyelid </a:t>
            </a:r>
            <a:r>
              <a:rPr lang="en-US" dirty="0">
                <a:latin typeface="Times New Roman" panose="02020603050405020304" pitchFamily="18" charset="0"/>
                <a:ea typeface="Calibri" panose="020F0502020204030204" pitchFamily="34" charset="0"/>
                <a:cs typeface="Arial" panose="020B0604020202020204" pitchFamily="34" charset="0"/>
              </a:rPr>
              <a:t>for 1 minute to prevent drainage of medication to the nasopharynx and the unpleasant “tasting” of the drug.</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algn="just">
              <a:lnSpc>
                <a:spcPct val="150000"/>
              </a:lnSpc>
              <a:spcAft>
                <a:spcPts val="0"/>
              </a:spcAft>
            </a:pPr>
            <a:r>
              <a:rPr lang="en-US" b="1" dirty="0">
                <a:latin typeface="Times New Roman" panose="02020603050405020304" pitchFamily="18" charset="0"/>
                <a:ea typeface="Calibri" panose="020F0502020204030204" pitchFamily="34" charset="0"/>
                <a:cs typeface="Arial" panose="020B0604020202020204" pitchFamily="34" charset="0"/>
              </a:rPr>
              <a:t>Ear</a:t>
            </a:r>
            <a:r>
              <a:rPr lang="en-US" dirty="0">
                <a:latin typeface="Times New Roman" panose="02020603050405020304" pitchFamily="18" charset="0"/>
                <a:ea typeface="Calibri" panose="020F0502020204030204" pitchFamily="34" charset="0"/>
                <a:cs typeface="Arial" panose="020B0604020202020204" pitchFamily="34" charset="0"/>
              </a:rPr>
              <a:t>—Allow medications stored in the refrigerator to </a:t>
            </a:r>
            <a:r>
              <a:rPr lang="en-US" b="1" dirty="0">
                <a:latin typeface="Times New Roman" panose="02020603050405020304" pitchFamily="18" charset="0"/>
                <a:ea typeface="Calibri" panose="020F0502020204030204" pitchFamily="34" charset="0"/>
                <a:cs typeface="Arial" panose="020B0604020202020204" pitchFamily="34" charset="0"/>
              </a:rPr>
              <a:t>warm to room temperature </a:t>
            </a:r>
            <a:r>
              <a:rPr lang="en-US" dirty="0">
                <a:latin typeface="Times New Roman" panose="02020603050405020304" pitchFamily="18" charset="0"/>
                <a:ea typeface="Calibri" panose="020F0502020204030204" pitchFamily="34" charset="0"/>
                <a:cs typeface="Arial" panose="020B0604020202020204" pitchFamily="34" charset="0"/>
              </a:rPr>
              <a:t>before instillation.</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algn="just">
              <a:lnSpc>
                <a:spcPct val="150000"/>
              </a:lnSpc>
              <a:spcAft>
                <a:spcPts val="0"/>
              </a:spcAft>
            </a:pPr>
            <a:r>
              <a:rPr lang="en-US" b="1" dirty="0">
                <a:latin typeface="Times New Roman" panose="02020603050405020304" pitchFamily="18" charset="0"/>
                <a:ea typeface="Calibri" panose="020F0502020204030204" pitchFamily="34" charset="0"/>
                <a:cs typeface="Arial" panose="020B0604020202020204" pitchFamily="34" charset="0"/>
              </a:rPr>
              <a:t>Nose</a:t>
            </a:r>
            <a:r>
              <a:rPr lang="en-US" dirty="0">
                <a:latin typeface="Times New Roman" panose="02020603050405020304" pitchFamily="18" charset="0"/>
                <a:ea typeface="Calibri" panose="020F0502020204030204" pitchFamily="34" charset="0"/>
                <a:cs typeface="Arial" panose="020B0604020202020204" pitchFamily="34" charset="0"/>
              </a:rPr>
              <a:t>—Position the child with the </a:t>
            </a:r>
            <a:r>
              <a:rPr lang="en-US" b="1" dirty="0">
                <a:latin typeface="Times New Roman" panose="02020603050405020304" pitchFamily="18" charset="0"/>
                <a:ea typeface="Calibri" panose="020F0502020204030204" pitchFamily="34" charset="0"/>
                <a:cs typeface="Arial" panose="020B0604020202020204" pitchFamily="34" charset="0"/>
              </a:rPr>
              <a:t>head hyperextended </a:t>
            </a:r>
            <a:r>
              <a:rPr lang="en-US" dirty="0">
                <a:latin typeface="Times New Roman" panose="02020603050405020304" pitchFamily="18" charset="0"/>
                <a:ea typeface="Calibri" panose="020F0502020204030204" pitchFamily="34" charset="0"/>
                <a:cs typeface="Arial" panose="020B0604020202020204" pitchFamily="34" charset="0"/>
              </a:rPr>
              <a:t>to prevent strangling sensations caused by medication trickling into the throat rather than up into the nasal passages.</a:t>
            </a:r>
            <a:endParaRPr lang="en-US" sz="2400" dirty="0">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spTree>
    <p:extLst>
      <p:ext uri="{BB962C8B-B14F-4D97-AF65-F5344CB8AC3E}">
        <p14:creationId xmlns:p14="http://schemas.microsoft.com/office/powerpoint/2010/main" val="1086857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50000"/>
              </a:lnSpc>
              <a:spcAft>
                <a:spcPts val="0"/>
              </a:spcAft>
            </a:pPr>
            <a:r>
              <a:rPr lang="en-US" b="1" u="sng" dirty="0">
                <a:ln w="9525" cap="rnd" cmpd="sng" algn="ctr">
                  <a:solidFill>
                    <a:srgbClr val="000000"/>
                  </a:solidFill>
                  <a:prstDash val="solid"/>
                  <a:bevel/>
                </a:ln>
                <a:latin typeface="Times New Roman" panose="02020603050405020304" pitchFamily="18" charset="0"/>
                <a:ea typeface="Calibri" panose="020F0502020204030204" pitchFamily="34" charset="0"/>
                <a:cs typeface="Arial" panose="020B0604020202020204" pitchFamily="34" charset="0"/>
              </a:rPr>
              <a:t>Nose drops</a:t>
            </a:r>
            <a:endParaRPr lang="ar-IQ" dirty="0"/>
          </a:p>
        </p:txBody>
      </p:sp>
      <p:pic>
        <p:nvPicPr>
          <p:cNvPr id="6" name="Content Placeholder 5"/>
          <p:cNvPicPr>
            <a:picLocks noGrp="1" noChangeAspect="1"/>
          </p:cNvPicPr>
          <p:nvPr>
            <p:ph idx="1"/>
          </p:nvPr>
        </p:nvPicPr>
        <p:blipFill>
          <a:blip r:embed="rId2"/>
          <a:stretch>
            <a:fillRect/>
          </a:stretch>
        </p:blipFill>
        <p:spPr>
          <a:xfrm>
            <a:off x="3604259" y="0"/>
            <a:ext cx="8059043" cy="6423660"/>
          </a:xfrm>
          <a:prstGeom prst="rect">
            <a:avLst/>
          </a:prstGeom>
        </p:spPr>
      </p:pic>
    </p:spTree>
    <p:extLst>
      <p:ext uri="{BB962C8B-B14F-4D97-AF65-F5344CB8AC3E}">
        <p14:creationId xmlns:p14="http://schemas.microsoft.com/office/powerpoint/2010/main" val="2487639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 y="-136843"/>
            <a:ext cx="10515600" cy="1325563"/>
          </a:xfrm>
        </p:spPr>
        <p:txBody>
          <a:bodyPr/>
          <a:lstStyle/>
          <a:p>
            <a:r>
              <a:rPr lang="en-US" b="1" dirty="0">
                <a:latin typeface="Times New Roman" panose="02020603050405020304" pitchFamily="18" charset="0"/>
                <a:ea typeface="Calibri" panose="020F0502020204030204" pitchFamily="34" charset="0"/>
                <a:cs typeface="Arial" panose="020B0604020202020204" pitchFamily="34" charset="0"/>
              </a:rPr>
              <a:t>Steps</a:t>
            </a:r>
            <a:endParaRPr lang="ar-IQ" dirty="0"/>
          </a:p>
        </p:txBody>
      </p:sp>
      <p:sp>
        <p:nvSpPr>
          <p:cNvPr id="3" name="Content Placeholder 2"/>
          <p:cNvSpPr>
            <a:spLocks noGrp="1"/>
          </p:cNvSpPr>
          <p:nvPr>
            <p:ph idx="1"/>
          </p:nvPr>
        </p:nvSpPr>
        <p:spPr>
          <a:xfrm>
            <a:off x="388620" y="1005840"/>
            <a:ext cx="11635740" cy="5852160"/>
          </a:xfrm>
        </p:spPr>
        <p:txBody>
          <a:bodyPr>
            <a:normAutofit fontScale="77500" lnSpcReduction="20000"/>
          </a:bodyPr>
          <a:lstStyle/>
          <a:p>
            <a:pPr marL="0" indent="0" algn="just">
              <a:lnSpc>
                <a:spcPct val="150000"/>
              </a:lnSpc>
              <a:spcAft>
                <a:spcPts val="0"/>
              </a:spcAft>
              <a:buNone/>
            </a:pPr>
            <a:r>
              <a:rPr lang="en-US" dirty="0">
                <a:latin typeface="Times New Roman" panose="02020603050405020304" pitchFamily="18" charset="0"/>
                <a:ea typeface="Calibri" panose="020F0502020204030204" pitchFamily="34" charset="0"/>
                <a:cs typeface="Arial" panose="020B0604020202020204" pitchFamily="34" charset="0"/>
              </a:rPr>
              <a:t>1. Immobilize the infant with a mummy restraint.</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0" indent="0" algn="just">
              <a:lnSpc>
                <a:spcPct val="150000"/>
              </a:lnSpc>
              <a:spcAft>
                <a:spcPts val="0"/>
              </a:spcAft>
              <a:buNone/>
            </a:pPr>
            <a:r>
              <a:rPr lang="en-US" dirty="0">
                <a:latin typeface="Times New Roman" panose="02020603050405020304" pitchFamily="18" charset="0"/>
                <a:ea typeface="Calibri" panose="020F0502020204030204" pitchFamily="34" charset="0"/>
                <a:cs typeface="Arial" panose="020B0604020202020204" pitchFamily="34" charset="0"/>
              </a:rPr>
              <a:t>2. Wipe excess mucus from nose with a tissue.</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0" indent="0" algn="just">
              <a:lnSpc>
                <a:spcPct val="150000"/>
              </a:lnSpc>
              <a:spcAft>
                <a:spcPts val="0"/>
              </a:spcAft>
              <a:buNone/>
            </a:pPr>
            <a:r>
              <a:rPr lang="en-US" dirty="0">
                <a:latin typeface="Times New Roman" panose="02020603050405020304" pitchFamily="18" charset="0"/>
                <a:ea typeface="Calibri" panose="020F0502020204030204" pitchFamily="34" charset="0"/>
                <a:cs typeface="Arial" panose="020B0604020202020204" pitchFamily="34" charset="0"/>
              </a:rPr>
              <a:t>3. Place the infant on his or her back, with the head over the side of the mattress or the neck extended over a pillow.</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0" indent="0" algn="just">
              <a:lnSpc>
                <a:spcPct val="150000"/>
              </a:lnSpc>
              <a:spcAft>
                <a:spcPts val="0"/>
              </a:spcAft>
              <a:buNone/>
            </a:pPr>
            <a:r>
              <a:rPr lang="en-US" dirty="0">
                <a:latin typeface="Times New Roman" panose="02020603050405020304" pitchFamily="18" charset="0"/>
                <a:ea typeface="Calibri" panose="020F0502020204030204" pitchFamily="34" charset="0"/>
                <a:cs typeface="Arial" panose="020B0604020202020204" pitchFamily="34" charset="0"/>
              </a:rPr>
              <a:t>4. Encircle the infant</a:t>
            </a:r>
            <a:r>
              <a:rPr lang="en-US" dirty="0">
                <a:latin typeface="Calibri" panose="020F0502020204030204" pitchFamily="34" charset="0"/>
                <a:ea typeface="Calibri" panose="020F0502020204030204" pitchFamily="34" charset="0"/>
                <a:cs typeface="Arial" panose="020B0604020202020204" pitchFamily="34" charset="0"/>
              </a:rPr>
              <a:t>’</a:t>
            </a:r>
            <a:r>
              <a:rPr lang="en-US" dirty="0">
                <a:latin typeface="Times New Roman" panose="02020603050405020304" pitchFamily="18" charset="0"/>
                <a:ea typeface="Calibri" panose="020F0502020204030204" pitchFamily="34" charset="0"/>
                <a:cs typeface="Arial" panose="020B0604020202020204" pitchFamily="34" charset="0"/>
              </a:rPr>
              <a:t>s cheeks and chin with the left arm and hand to steady.</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0" indent="0" algn="just">
              <a:lnSpc>
                <a:spcPct val="150000"/>
              </a:lnSpc>
              <a:spcAft>
                <a:spcPts val="0"/>
              </a:spcAft>
              <a:buNone/>
            </a:pPr>
            <a:r>
              <a:rPr lang="en-US" dirty="0">
                <a:latin typeface="Times New Roman" panose="02020603050405020304" pitchFamily="18" charset="0"/>
                <a:ea typeface="Calibri" panose="020F0502020204030204" pitchFamily="34" charset="0"/>
                <a:cs typeface="Arial" panose="020B0604020202020204" pitchFamily="34" charset="0"/>
              </a:rPr>
              <a:t>5. Instill drops with the right hand.</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0" indent="0" algn="just">
              <a:lnSpc>
                <a:spcPct val="150000"/>
              </a:lnSpc>
              <a:spcAft>
                <a:spcPts val="0"/>
              </a:spcAft>
              <a:buNone/>
            </a:pPr>
            <a:r>
              <a:rPr lang="en-US" dirty="0">
                <a:latin typeface="Times New Roman" panose="02020603050405020304" pitchFamily="18" charset="0"/>
                <a:ea typeface="Calibri" panose="020F0502020204030204" pitchFamily="34" charset="0"/>
                <a:cs typeface="Arial" panose="020B0604020202020204" pitchFamily="34" charset="0"/>
              </a:rPr>
              <a:t>6. Keep infant in this position for 30 seconds to 1 minute to allow the drops to reach the proper area.</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0" indent="0" algn="just">
              <a:lnSpc>
                <a:spcPct val="150000"/>
              </a:lnSpc>
              <a:spcAft>
                <a:spcPts val="0"/>
              </a:spcAft>
              <a:buNone/>
            </a:pPr>
            <a:r>
              <a:rPr lang="en-US" dirty="0">
                <a:latin typeface="Times New Roman" panose="02020603050405020304" pitchFamily="18" charset="0"/>
                <a:ea typeface="Calibri" panose="020F0502020204030204" pitchFamily="34" charset="0"/>
                <a:cs typeface="Arial" panose="020B0604020202020204" pitchFamily="34" charset="0"/>
              </a:rPr>
              <a:t>7. Remove restraints. Make the infant comfortable.</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0" indent="0">
              <a:lnSpc>
                <a:spcPct val="120000"/>
              </a:lnSpc>
              <a:buNone/>
            </a:pPr>
            <a:r>
              <a:rPr lang="en-US" dirty="0">
                <a:latin typeface="Times New Roman" panose="02020603050405020304" pitchFamily="18" charset="0"/>
                <a:ea typeface="Calibri" panose="020F0502020204030204" pitchFamily="34" charset="0"/>
                <a:cs typeface="Arial" panose="020B0604020202020204" pitchFamily="34" charset="0"/>
              </a:rPr>
              <a:t>8. Remove gloves and perform hand hygiene</a:t>
            </a:r>
          </a:p>
          <a:p>
            <a:pPr marL="0" indent="0">
              <a:lnSpc>
                <a:spcPct val="120000"/>
              </a:lnSpc>
              <a:buNone/>
            </a:pPr>
            <a:r>
              <a:rPr lang="en-US" dirty="0">
                <a:latin typeface="Times New Roman" panose="02020603050405020304" pitchFamily="18" charset="0"/>
                <a:ea typeface="Calibri" panose="020F0502020204030204" pitchFamily="34" charset="0"/>
                <a:cs typeface="Arial" panose="020B0604020202020204" pitchFamily="34" charset="0"/>
              </a:rPr>
              <a:t>9. Record: time, name of nose drops, strength, and number of drops instilled, how the patient tolerated   the procedure, and untoward reactions.</a:t>
            </a:r>
            <a:endParaRPr lang="ar-IQ" dirty="0"/>
          </a:p>
        </p:txBody>
      </p:sp>
    </p:spTree>
    <p:extLst>
      <p:ext uri="{BB962C8B-B14F-4D97-AF65-F5344CB8AC3E}">
        <p14:creationId xmlns:p14="http://schemas.microsoft.com/office/powerpoint/2010/main" val="41888928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0"/>
              </a:spcAft>
            </a:pPr>
            <a:r>
              <a:rPr lang="en-US" b="1" u="sng" dirty="0">
                <a:ln w="9525" cap="rnd" cmpd="sng" algn="ctr">
                  <a:solidFill>
                    <a:srgbClr val="000000"/>
                  </a:solidFill>
                  <a:prstDash val="solid"/>
                  <a:bevel/>
                </a:ln>
                <a:latin typeface="Times New Roman" panose="02020603050405020304" pitchFamily="18" charset="0"/>
                <a:ea typeface="Calibri" panose="020F0502020204030204" pitchFamily="34" charset="0"/>
                <a:cs typeface="Arial" panose="020B0604020202020204" pitchFamily="34" charset="0"/>
              </a:rPr>
              <a:t>Ear drops</a:t>
            </a:r>
            <a:endParaRPr lang="ar-IQ" dirty="0"/>
          </a:p>
        </p:txBody>
      </p:sp>
      <p:pic>
        <p:nvPicPr>
          <p:cNvPr id="4" name="Content Placeholder 3"/>
          <p:cNvPicPr>
            <a:picLocks noGrp="1" noChangeAspect="1"/>
          </p:cNvPicPr>
          <p:nvPr>
            <p:ph idx="1"/>
          </p:nvPr>
        </p:nvPicPr>
        <p:blipFill>
          <a:blip r:embed="rId2"/>
          <a:stretch>
            <a:fillRect/>
          </a:stretch>
        </p:blipFill>
        <p:spPr>
          <a:xfrm>
            <a:off x="5533334" y="1526956"/>
            <a:ext cx="6658666" cy="5273746"/>
          </a:xfrm>
          <a:prstGeom prst="rect">
            <a:avLst/>
          </a:prstGeom>
        </p:spPr>
      </p:pic>
      <p:sp>
        <p:nvSpPr>
          <p:cNvPr id="5" name="Rectangle 4"/>
          <p:cNvSpPr/>
          <p:nvPr/>
        </p:nvSpPr>
        <p:spPr>
          <a:xfrm>
            <a:off x="160020" y="1526957"/>
            <a:ext cx="5373314" cy="4744889"/>
          </a:xfrm>
          <a:prstGeom prst="rect">
            <a:avLst/>
          </a:prstGeom>
        </p:spPr>
        <p:txBody>
          <a:bodyPr wrap="square">
            <a:spAutoFit/>
          </a:bodyPr>
          <a:lstStyle/>
          <a:p>
            <a:pPr lvl="0" algn="just">
              <a:lnSpc>
                <a:spcPct val="150000"/>
              </a:lnSpc>
              <a:spcBef>
                <a:spcPts val="1000"/>
              </a:spcBef>
            </a:pPr>
            <a:r>
              <a:rPr lang="en-US" sz="2800" dirty="0">
                <a:solidFill>
                  <a:prstClr val="black"/>
                </a:solidFill>
                <a:latin typeface="Times New Roman" panose="02020603050405020304" pitchFamily="18" charset="0"/>
                <a:ea typeface="Calibri" panose="020F0502020204030204" pitchFamily="34" charset="0"/>
                <a:cs typeface="Arial" panose="020B0604020202020204" pitchFamily="34" charset="0"/>
              </a:rPr>
              <a:t>A. In children </a:t>
            </a:r>
            <a:r>
              <a:rPr lang="en-US" sz="2800" b="1" dirty="0">
                <a:solidFill>
                  <a:prstClr val="black"/>
                </a:solidFill>
                <a:latin typeface="Times New Roman" panose="02020603050405020304" pitchFamily="18" charset="0"/>
                <a:ea typeface="Calibri" panose="020F0502020204030204" pitchFamily="34" charset="0"/>
                <a:cs typeface="Arial" panose="020B0604020202020204" pitchFamily="34" charset="0"/>
              </a:rPr>
              <a:t>less than 3 years </a:t>
            </a:r>
            <a:r>
              <a:rPr lang="en-US" sz="2800" dirty="0">
                <a:solidFill>
                  <a:prstClr val="black"/>
                </a:solidFill>
                <a:latin typeface="Times New Roman" panose="02020603050405020304" pitchFamily="18" charset="0"/>
                <a:ea typeface="Calibri" panose="020F0502020204030204" pitchFamily="34" charset="0"/>
                <a:cs typeface="Arial" panose="020B0604020202020204" pitchFamily="34" charset="0"/>
              </a:rPr>
              <a:t>of age, pull the pinna (earlobe) of the affected </a:t>
            </a:r>
            <a:r>
              <a:rPr lang="en-US" sz="2800" u="sng" dirty="0">
                <a:solidFill>
                  <a:prstClr val="black"/>
                </a:solidFill>
                <a:latin typeface="Times New Roman" panose="02020603050405020304" pitchFamily="18" charset="0"/>
                <a:ea typeface="Calibri" panose="020F0502020204030204" pitchFamily="34" charset="0"/>
                <a:cs typeface="Arial" panose="020B0604020202020204" pitchFamily="34" charset="0"/>
              </a:rPr>
              <a:t>ear down and back </a:t>
            </a:r>
            <a:r>
              <a:rPr lang="en-US" sz="2800" dirty="0">
                <a:solidFill>
                  <a:prstClr val="black"/>
                </a:solidFill>
                <a:latin typeface="Times New Roman" panose="02020603050405020304" pitchFamily="18" charset="0"/>
                <a:ea typeface="Calibri" panose="020F0502020204030204" pitchFamily="34" charset="0"/>
                <a:cs typeface="Arial" panose="020B0604020202020204" pitchFamily="34" charset="0"/>
              </a:rPr>
              <a:t>to straighten the canal.</a:t>
            </a:r>
            <a:endPar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endParaRPr>
          </a:p>
          <a:p>
            <a:pPr lvl="0" algn="just">
              <a:lnSpc>
                <a:spcPct val="150000"/>
              </a:lnSpc>
              <a:spcBef>
                <a:spcPts val="1000"/>
              </a:spcBef>
            </a:pPr>
            <a:r>
              <a:rPr lang="en-US" sz="2800" dirty="0">
                <a:solidFill>
                  <a:prstClr val="black"/>
                </a:solidFill>
                <a:latin typeface="Times New Roman" panose="02020603050405020304" pitchFamily="18" charset="0"/>
                <a:ea typeface="Calibri" panose="020F0502020204030204" pitchFamily="34" charset="0"/>
                <a:cs typeface="Arial" panose="020B0604020202020204" pitchFamily="34" charset="0"/>
              </a:rPr>
              <a:t>B. In </a:t>
            </a:r>
            <a:r>
              <a:rPr lang="en-US" sz="2800" b="1" dirty="0">
                <a:solidFill>
                  <a:prstClr val="black"/>
                </a:solidFill>
                <a:latin typeface="Times New Roman" panose="02020603050405020304" pitchFamily="18" charset="0"/>
                <a:ea typeface="Calibri" panose="020F0502020204030204" pitchFamily="34" charset="0"/>
                <a:cs typeface="Arial" panose="020B0604020202020204" pitchFamily="34" charset="0"/>
              </a:rPr>
              <a:t>older children</a:t>
            </a:r>
            <a:r>
              <a:rPr lang="en-US" sz="2800" dirty="0">
                <a:solidFill>
                  <a:prstClr val="black"/>
                </a:solidFill>
                <a:latin typeface="Times New Roman" panose="02020603050405020304" pitchFamily="18" charset="0"/>
                <a:ea typeface="Calibri" panose="020F0502020204030204" pitchFamily="34" charset="0"/>
                <a:cs typeface="Arial" panose="020B0604020202020204" pitchFamily="34" charset="0"/>
              </a:rPr>
              <a:t>, pull the upper pinna (auricle) </a:t>
            </a:r>
            <a:r>
              <a:rPr lang="en-US" sz="2800" u="sng" dirty="0">
                <a:solidFill>
                  <a:prstClr val="black"/>
                </a:solidFill>
                <a:latin typeface="Times New Roman" panose="02020603050405020304" pitchFamily="18" charset="0"/>
                <a:ea typeface="Calibri" panose="020F0502020204030204" pitchFamily="34" charset="0"/>
                <a:cs typeface="Arial" panose="020B0604020202020204" pitchFamily="34" charset="0"/>
              </a:rPr>
              <a:t>up and back </a:t>
            </a:r>
            <a:r>
              <a:rPr lang="en-US" sz="2800" dirty="0">
                <a:solidFill>
                  <a:prstClr val="black"/>
                </a:solidFill>
                <a:latin typeface="Times New Roman" panose="02020603050405020304" pitchFamily="18" charset="0"/>
                <a:ea typeface="Calibri" panose="020F0502020204030204" pitchFamily="34" charset="0"/>
                <a:cs typeface="Arial" panose="020B0604020202020204" pitchFamily="34" charset="0"/>
              </a:rPr>
              <a:t>to straighten the</a:t>
            </a: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 </a:t>
            </a:r>
            <a:r>
              <a:rPr lang="en-US" sz="2800" dirty="0">
                <a:solidFill>
                  <a:prstClr val="black"/>
                </a:solidFill>
                <a:latin typeface="Times New Roman" panose="02020603050405020304" pitchFamily="18" charset="0"/>
                <a:ea typeface="Calibri" panose="020F0502020204030204" pitchFamily="34" charset="0"/>
                <a:cs typeface="Arial" panose="020B0604020202020204" pitchFamily="34" charset="0"/>
              </a:rPr>
              <a:t>canal.</a:t>
            </a:r>
            <a:endPar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049719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060" y="1"/>
            <a:ext cx="10873740" cy="1188720"/>
          </a:xfrm>
        </p:spPr>
        <p:txBody>
          <a:bodyPr/>
          <a:lstStyle/>
          <a:p>
            <a:r>
              <a:rPr lang="en-US" b="1" u="sng" dirty="0">
                <a:latin typeface="Times New Roman" panose="02020603050405020304" pitchFamily="18" charset="0"/>
                <a:ea typeface="Calibri" panose="020F0502020204030204" pitchFamily="34" charset="0"/>
                <a:cs typeface="Arial" panose="020B0604020202020204" pitchFamily="34" charset="0"/>
              </a:rPr>
              <a:t>Steps</a:t>
            </a:r>
            <a:endParaRPr lang="ar-IQ" dirty="0"/>
          </a:p>
        </p:txBody>
      </p:sp>
      <p:sp>
        <p:nvSpPr>
          <p:cNvPr id="3" name="Content Placeholder 2"/>
          <p:cNvSpPr>
            <a:spLocks noGrp="1"/>
          </p:cNvSpPr>
          <p:nvPr>
            <p:ph idx="1"/>
          </p:nvPr>
        </p:nvSpPr>
        <p:spPr>
          <a:xfrm>
            <a:off x="182880" y="982980"/>
            <a:ext cx="12009120" cy="5646420"/>
          </a:xfrm>
        </p:spPr>
        <p:txBody>
          <a:bodyPr>
            <a:normAutofit lnSpcReduction="10000"/>
          </a:bodyPr>
          <a:lstStyle/>
          <a:p>
            <a:pPr marL="0" indent="0" algn="just">
              <a:lnSpc>
                <a:spcPct val="150000"/>
              </a:lnSpc>
              <a:spcAft>
                <a:spcPts val="0"/>
              </a:spcAft>
              <a:buNone/>
            </a:pPr>
            <a:r>
              <a:rPr lang="en-US" dirty="0">
                <a:latin typeface="Times New Roman" panose="02020603050405020304" pitchFamily="18" charset="0"/>
                <a:ea typeface="Calibri" panose="020F0502020204030204" pitchFamily="34" charset="0"/>
                <a:cs typeface="Arial" panose="020B0604020202020204" pitchFamily="34" charset="0"/>
              </a:rPr>
              <a:t>1. Place child in supine position with unaffected ear down.</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0" indent="0" algn="just">
              <a:lnSpc>
                <a:spcPct val="150000"/>
              </a:lnSpc>
              <a:spcAft>
                <a:spcPts val="0"/>
              </a:spcAft>
              <a:buNone/>
            </a:pPr>
            <a:r>
              <a:rPr lang="en-US" dirty="0">
                <a:latin typeface="Times New Roman" panose="02020603050405020304" pitchFamily="18" charset="0"/>
                <a:ea typeface="Calibri" panose="020F0502020204030204" pitchFamily="34" charset="0"/>
                <a:cs typeface="Arial" panose="020B0604020202020204" pitchFamily="34" charset="0"/>
              </a:rPr>
              <a:t>2. Instill the ordered number of drops</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0" indent="0" algn="just">
              <a:lnSpc>
                <a:spcPct val="150000"/>
              </a:lnSpc>
              <a:spcAft>
                <a:spcPts val="0"/>
              </a:spcAft>
              <a:buNone/>
            </a:pPr>
            <a:r>
              <a:rPr lang="en-US" dirty="0">
                <a:latin typeface="Times New Roman" panose="02020603050405020304" pitchFamily="18" charset="0"/>
                <a:ea typeface="Calibri" panose="020F0502020204030204" pitchFamily="34" charset="0"/>
                <a:cs typeface="Arial" panose="020B0604020202020204" pitchFamily="34" charset="0"/>
              </a:rPr>
              <a:t>3. Gently massage the area in front of the ear to facilitate entry of the drops.</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0" indent="0" algn="just">
              <a:lnSpc>
                <a:spcPct val="150000"/>
              </a:lnSpc>
              <a:spcAft>
                <a:spcPts val="0"/>
              </a:spcAft>
              <a:buNone/>
            </a:pPr>
            <a:r>
              <a:rPr lang="en-US" dirty="0">
                <a:latin typeface="Times New Roman" panose="02020603050405020304" pitchFamily="18" charset="0"/>
                <a:ea typeface="Calibri" panose="020F0502020204030204" pitchFamily="34" charset="0"/>
                <a:cs typeface="Arial" panose="020B0604020202020204" pitchFamily="34" charset="0"/>
              </a:rPr>
              <a:t>4. Keep the patient in a supine position for a few minutes to permit the fluid to be absorbed.</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0" indent="0" algn="just">
              <a:lnSpc>
                <a:spcPct val="150000"/>
              </a:lnSpc>
              <a:spcAft>
                <a:spcPts val="0"/>
              </a:spcAft>
              <a:buNone/>
            </a:pPr>
            <a:r>
              <a:rPr lang="en-US" dirty="0">
                <a:latin typeface="Times New Roman" panose="02020603050405020304" pitchFamily="18" charset="0"/>
                <a:ea typeface="Calibri" panose="020F0502020204030204" pitchFamily="34" charset="0"/>
                <a:cs typeface="Arial" panose="020B0604020202020204" pitchFamily="34" charset="0"/>
              </a:rPr>
              <a:t>5. Remove gloves and perform hand hygiene.</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0" indent="0" algn="just">
              <a:lnSpc>
                <a:spcPct val="150000"/>
              </a:lnSpc>
              <a:spcAft>
                <a:spcPts val="0"/>
              </a:spcAft>
              <a:buNone/>
            </a:pPr>
            <a:r>
              <a:rPr lang="en-US" dirty="0">
                <a:latin typeface="Times New Roman" panose="02020603050405020304" pitchFamily="18" charset="0"/>
                <a:ea typeface="Calibri" panose="020F0502020204030204" pitchFamily="34" charset="0"/>
                <a:cs typeface="Arial" panose="020B0604020202020204" pitchFamily="34" charset="0"/>
              </a:rPr>
              <a:t>6. Document the time, name of drug, number of drops administered, area (right or left ear), untoward reactions, and whether or not the patient obtained relief.</a:t>
            </a:r>
            <a:endParaRPr lang="en-US" sz="2400" dirty="0">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spTree>
    <p:extLst>
      <p:ext uri="{BB962C8B-B14F-4D97-AF65-F5344CB8AC3E}">
        <p14:creationId xmlns:p14="http://schemas.microsoft.com/office/powerpoint/2010/main" val="1382257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780" y="274321"/>
            <a:ext cx="10828020" cy="1416368"/>
          </a:xfrm>
        </p:spPr>
        <p:txBody>
          <a:bodyPr>
            <a:normAutofit/>
          </a:bodyPr>
          <a:lstStyle/>
          <a:p>
            <a:pPr>
              <a:lnSpc>
                <a:spcPct val="115000"/>
              </a:lnSpc>
              <a:spcAft>
                <a:spcPts val="0"/>
              </a:spcAft>
            </a:pPr>
            <a:r>
              <a:rPr lang="en-US" b="1" u="sng" dirty="0">
                <a:ln w="9525" cap="rnd" cmpd="sng" algn="ctr">
                  <a:solidFill>
                    <a:srgbClr val="000000"/>
                  </a:solidFill>
                  <a:prstDash val="solid"/>
                  <a:bevel/>
                </a:ln>
                <a:latin typeface="Times New Roman" panose="02020603050405020304" pitchFamily="18" charset="0"/>
                <a:ea typeface="Calibri" panose="020F0502020204030204" pitchFamily="34" charset="0"/>
                <a:cs typeface="Arial" panose="020B0604020202020204" pitchFamily="34" charset="0"/>
              </a:rPr>
              <a:t>Eye drops and creams</a:t>
            </a:r>
            <a:endParaRPr lang="ar-IQ" dirty="0"/>
          </a:p>
        </p:txBody>
      </p:sp>
      <p:pic>
        <p:nvPicPr>
          <p:cNvPr id="4" name="Content Placeholder 3"/>
          <p:cNvPicPr>
            <a:picLocks noGrp="1" noChangeAspect="1"/>
          </p:cNvPicPr>
          <p:nvPr>
            <p:ph idx="1"/>
          </p:nvPr>
        </p:nvPicPr>
        <p:blipFill>
          <a:blip r:embed="rId2"/>
          <a:stretch>
            <a:fillRect/>
          </a:stretch>
        </p:blipFill>
        <p:spPr>
          <a:xfrm>
            <a:off x="1920240" y="1807966"/>
            <a:ext cx="8549640" cy="4729994"/>
          </a:xfrm>
          <a:prstGeom prst="rect">
            <a:avLst/>
          </a:prstGeom>
        </p:spPr>
      </p:pic>
    </p:spTree>
    <p:extLst>
      <p:ext uri="{BB962C8B-B14F-4D97-AF65-F5344CB8AC3E}">
        <p14:creationId xmlns:p14="http://schemas.microsoft.com/office/powerpoint/2010/main" val="23922813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060" y="133985"/>
            <a:ext cx="10873740" cy="826135"/>
          </a:xfrm>
        </p:spPr>
        <p:txBody>
          <a:bodyPr/>
          <a:lstStyle/>
          <a:p>
            <a:r>
              <a:rPr lang="en-US" b="1" dirty="0">
                <a:latin typeface="Times New Roman" panose="02020603050405020304" pitchFamily="18" charset="0"/>
                <a:ea typeface="Calibri" panose="020F0502020204030204" pitchFamily="34" charset="0"/>
                <a:cs typeface="Arial" panose="020B0604020202020204" pitchFamily="34" charset="0"/>
              </a:rPr>
              <a:t>Steps:</a:t>
            </a:r>
            <a:endParaRPr lang="ar-IQ" dirty="0"/>
          </a:p>
        </p:txBody>
      </p:sp>
      <p:sp>
        <p:nvSpPr>
          <p:cNvPr id="3" name="Content Placeholder 2"/>
          <p:cNvSpPr>
            <a:spLocks noGrp="1"/>
          </p:cNvSpPr>
          <p:nvPr>
            <p:ph idx="1"/>
          </p:nvPr>
        </p:nvSpPr>
        <p:spPr>
          <a:xfrm>
            <a:off x="228600" y="960120"/>
            <a:ext cx="11963400" cy="5897880"/>
          </a:xfrm>
        </p:spPr>
        <p:txBody>
          <a:bodyPr>
            <a:normAutofit fontScale="77500" lnSpcReduction="20000"/>
          </a:bodyPr>
          <a:lstStyle/>
          <a:p>
            <a:pPr marL="342900" lvl="0" indent="-342900" algn="just">
              <a:lnSpc>
                <a:spcPct val="150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Ophthalmic medication is administered to a child in the same manner as for the adult</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50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The child is informed of the need for the medication.</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50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The patient is identified, and the orders and the label on the bottle are checked for correct medication and concentration.</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50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The nurse ascertains which eye requires treatment.</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50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Hand hygiene is performed before and after the procedure, and clean gloves are worn. With the thumb and index finger, gentle pressure is applied in opposite directions to open the eye.</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50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The older child is instructed to </a:t>
            </a:r>
            <a:r>
              <a:rPr lang="en-US" dirty="0">
                <a:latin typeface="Calibri" panose="020F0502020204030204" pitchFamily="34" charset="0"/>
                <a:ea typeface="Calibri" panose="020F0502020204030204" pitchFamily="34" charset="0"/>
                <a:cs typeface="Arial" panose="020B0604020202020204" pitchFamily="34" charset="0"/>
              </a:rPr>
              <a:t>“</a:t>
            </a:r>
            <a:r>
              <a:rPr lang="en-US" dirty="0">
                <a:latin typeface="Times New Roman" panose="02020603050405020304" pitchFamily="18" charset="0"/>
                <a:ea typeface="Calibri" panose="020F0502020204030204" pitchFamily="34" charset="0"/>
                <a:cs typeface="Arial" panose="020B0604020202020204" pitchFamily="34" charset="0"/>
              </a:rPr>
              <a:t>look up.</a:t>
            </a:r>
            <a:r>
              <a:rPr lang="en-US" dirty="0">
                <a:latin typeface="Calibri" panose="020F0502020204030204" pitchFamily="34" charset="0"/>
                <a:ea typeface="Calibri" panose="020F0502020204030204" pitchFamily="34" charset="0"/>
                <a:cs typeface="Arial" panose="020B0604020202020204" pitchFamily="34" charset="0"/>
              </a:rPr>
              <a:t>”</a:t>
            </a:r>
            <a:r>
              <a:rPr lang="en-US" dirty="0">
                <a:latin typeface="Times New Roman" panose="02020603050405020304" pitchFamily="18" charset="0"/>
                <a:ea typeface="Calibri" panose="020F0502020204030204" pitchFamily="34" charset="0"/>
                <a:cs typeface="Arial" panose="020B0604020202020204" pitchFamily="34" charset="0"/>
              </a:rPr>
              <a:t> The nurse supports his or her hand on the patient</a:t>
            </a:r>
            <a:r>
              <a:rPr lang="en-US" dirty="0">
                <a:latin typeface="Calibri" panose="020F0502020204030204" pitchFamily="34" charset="0"/>
                <a:ea typeface="Calibri" panose="020F0502020204030204" pitchFamily="34" charset="0"/>
                <a:cs typeface="Arial" panose="020B0604020202020204" pitchFamily="34" charset="0"/>
              </a:rPr>
              <a:t>’</a:t>
            </a:r>
            <a:r>
              <a:rPr lang="en-US" dirty="0">
                <a:latin typeface="Times New Roman" panose="02020603050405020304" pitchFamily="18" charset="0"/>
                <a:ea typeface="Calibri" panose="020F0502020204030204" pitchFamily="34" charset="0"/>
                <a:cs typeface="Arial" panose="020B0604020202020204" pitchFamily="34" charset="0"/>
              </a:rPr>
              <a:t>s forehead, and instills the medication into the center of the lower lid (conjunctival sac)</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50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The child is instructed to close the eye but not to squeeze it, because this could expel some of the solution.</a:t>
            </a:r>
            <a:endParaRPr lang="en-US" sz="2400" dirty="0">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sp>
        <p:nvSpPr>
          <p:cNvPr id="4" name="Teardrop 9">
            <a:extLst>
              <a:ext uri="{FF2B5EF4-FFF2-40B4-BE49-F238E27FC236}">
                <a16:creationId xmlns:a16="http://schemas.microsoft.com/office/drawing/2014/main" id="{4408BA9B-C6A7-4C33-9FEA-0E214549F256}"/>
              </a:ext>
            </a:extLst>
          </p:cNvPr>
          <p:cNvSpPr>
            <a:spLocks noChangeAspect="1"/>
          </p:cNvSpPr>
          <p:nvPr/>
        </p:nvSpPr>
        <p:spPr>
          <a:xfrm rot="18900000">
            <a:off x="10517983" y="331188"/>
            <a:ext cx="1448987" cy="1236672"/>
          </a:xfrm>
          <a:custGeom>
            <a:avLst/>
            <a:gdLst/>
            <a:ahLst/>
            <a:cxnLst/>
            <a:rect l="l" t="t" r="r" b="b"/>
            <a:pathLst>
              <a:path w="3552042" h="3031575">
                <a:moveTo>
                  <a:pt x="1499560" y="1284945"/>
                </a:moveTo>
                <a:lnTo>
                  <a:pt x="1272419" y="1057805"/>
                </a:lnTo>
                <a:lnTo>
                  <a:pt x="1054631" y="1275593"/>
                </a:lnTo>
                <a:lnTo>
                  <a:pt x="836843" y="1057805"/>
                </a:lnTo>
                <a:lnTo>
                  <a:pt x="609703" y="1284945"/>
                </a:lnTo>
                <a:lnTo>
                  <a:pt x="827491" y="1502733"/>
                </a:lnTo>
                <a:lnTo>
                  <a:pt x="609703" y="1720522"/>
                </a:lnTo>
                <a:lnTo>
                  <a:pt x="836843" y="1947662"/>
                </a:lnTo>
                <a:lnTo>
                  <a:pt x="1054631" y="1729874"/>
                </a:lnTo>
                <a:lnTo>
                  <a:pt x="1272419" y="1947662"/>
                </a:lnTo>
                <a:lnTo>
                  <a:pt x="1499560" y="1720522"/>
                </a:lnTo>
                <a:lnTo>
                  <a:pt x="1281771" y="1502733"/>
                </a:lnTo>
                <a:close/>
                <a:moveTo>
                  <a:pt x="3552042" y="1021270"/>
                </a:moveTo>
                <a:cubicBezTo>
                  <a:pt x="3346428" y="1488389"/>
                  <a:pt x="3240687" y="1885112"/>
                  <a:pt x="3146822" y="2229032"/>
                </a:cubicBezTo>
                <a:cubicBezTo>
                  <a:pt x="3047091" y="2666397"/>
                  <a:pt x="2787512" y="3031575"/>
                  <a:pt x="2344279" y="3031575"/>
                </a:cubicBezTo>
                <a:cubicBezTo>
                  <a:pt x="1991740" y="3031575"/>
                  <a:pt x="1692293" y="2804263"/>
                  <a:pt x="1587926" y="2487045"/>
                </a:cubicBezTo>
                <a:cubicBezTo>
                  <a:pt x="1859795" y="2308350"/>
                  <a:pt x="2033031" y="1980125"/>
                  <a:pt x="2117061" y="1611614"/>
                </a:cubicBezTo>
                <a:cubicBezTo>
                  <a:pt x="2127904" y="1571883"/>
                  <a:pt x="2138872" y="1531598"/>
                  <a:pt x="2150086" y="1490753"/>
                </a:cubicBezTo>
                <a:cubicBezTo>
                  <a:pt x="2212338" y="1465032"/>
                  <a:pt x="2277652" y="1444164"/>
                  <a:pt x="2344279" y="1426490"/>
                </a:cubicBezTo>
                <a:cubicBezTo>
                  <a:pt x="2764465" y="1315024"/>
                  <a:pt x="3073190" y="1226884"/>
                  <a:pt x="3552042" y="1021270"/>
                </a:cubicBezTo>
                <a:close/>
                <a:moveTo>
                  <a:pt x="2557365" y="0"/>
                </a:moveTo>
                <a:cubicBezTo>
                  <a:pt x="2295797" y="594236"/>
                  <a:pt x="2161281" y="1098917"/>
                  <a:pt x="2041873" y="1536428"/>
                </a:cubicBezTo>
                <a:cubicBezTo>
                  <a:pt x="1915003" y="2092812"/>
                  <a:pt x="1584785" y="2557364"/>
                  <a:pt x="1020937" y="2557364"/>
                </a:cubicBezTo>
                <a:cubicBezTo>
                  <a:pt x="457089" y="2557364"/>
                  <a:pt x="0" y="2100276"/>
                  <a:pt x="0" y="1536428"/>
                </a:cubicBezTo>
                <a:cubicBezTo>
                  <a:pt x="0" y="972580"/>
                  <a:pt x="475939" y="660066"/>
                  <a:pt x="1020937" y="515492"/>
                </a:cubicBezTo>
                <a:cubicBezTo>
                  <a:pt x="1555467" y="373694"/>
                  <a:pt x="1948204" y="261568"/>
                  <a:pt x="2557365"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Tree>
    <p:extLst>
      <p:ext uri="{BB962C8B-B14F-4D97-AF65-F5344CB8AC3E}">
        <p14:creationId xmlns:p14="http://schemas.microsoft.com/office/powerpoint/2010/main" val="33603522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صورة 1"/>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8442960" y="0"/>
            <a:ext cx="3749040" cy="6469380"/>
          </a:xfrm>
          <a:prstGeom prst="rect">
            <a:avLst/>
          </a:prstGeom>
          <a:ln>
            <a:noFill/>
          </a:ln>
          <a:effectLst>
            <a:outerShdw blurRad="292100" dist="139700" dir="2700000" algn="tl" rotWithShape="0">
              <a:srgbClr val="333333">
                <a:alpha val="65000"/>
              </a:srgbClr>
            </a:outerShdw>
          </a:effectLst>
        </p:spPr>
      </p:pic>
      <p:sp>
        <p:nvSpPr>
          <p:cNvPr id="5" name="Rectangle 4"/>
          <p:cNvSpPr/>
          <p:nvPr/>
        </p:nvSpPr>
        <p:spPr>
          <a:xfrm>
            <a:off x="342900" y="0"/>
            <a:ext cx="8100060" cy="5355312"/>
          </a:xfrm>
          <a:prstGeom prst="rect">
            <a:avLst/>
          </a:prstGeom>
        </p:spPr>
        <p:txBody>
          <a:bodyPr wrap="square">
            <a:spAutoFit/>
          </a:bodyPr>
          <a:lstStyle/>
          <a:p>
            <a:pPr algn="just">
              <a:lnSpc>
                <a:spcPct val="150000"/>
              </a:lnSpc>
              <a:spcAft>
                <a:spcPts val="0"/>
              </a:spcAft>
            </a:pPr>
            <a:r>
              <a:rPr lang="en-US" sz="3200" b="1" i="1" u="sng" dirty="0">
                <a:latin typeface="Times New Roman" panose="02020603050405020304" pitchFamily="18" charset="0"/>
                <a:ea typeface="Calibri" panose="020F0502020204030204" pitchFamily="34" charset="0"/>
                <a:cs typeface="Arial" panose="020B0604020202020204" pitchFamily="34" charset="0"/>
              </a:rPr>
              <a:t>Ointment </a:t>
            </a:r>
            <a:endParaRPr lang="en-US" sz="28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50000"/>
              </a:lnSpc>
              <a:spcAft>
                <a:spcPts val="0"/>
              </a:spcAft>
              <a:buFont typeface="Wingdings" panose="05000000000000000000" pitchFamily="2" charset="2"/>
              <a:buChar char=""/>
            </a:pPr>
            <a:r>
              <a:rPr lang="en-US" sz="2800" dirty="0">
                <a:latin typeface="Times New Roman" panose="02020603050405020304" pitchFamily="18" charset="0"/>
                <a:ea typeface="Calibri" panose="020F0502020204030204" pitchFamily="34" charset="0"/>
                <a:cs typeface="Arial" panose="020B0604020202020204" pitchFamily="34" charset="0"/>
              </a:rPr>
              <a:t>Ointment is applied to the </a:t>
            </a:r>
            <a:r>
              <a:rPr lang="en-US" sz="2800" b="1" dirty="0">
                <a:latin typeface="Times New Roman" panose="02020603050405020304" pitchFamily="18" charset="0"/>
                <a:ea typeface="Calibri" panose="020F0502020204030204" pitchFamily="34" charset="0"/>
                <a:cs typeface="Arial" panose="020B0604020202020204" pitchFamily="34" charset="0"/>
              </a:rPr>
              <a:t>same conjunctival sac </a:t>
            </a:r>
            <a:r>
              <a:rPr lang="en-US" sz="2800" dirty="0">
                <a:latin typeface="Times New Roman" panose="02020603050405020304" pitchFamily="18" charset="0"/>
                <a:ea typeface="Calibri" panose="020F0502020204030204" pitchFamily="34" charset="0"/>
                <a:cs typeface="Arial" panose="020B0604020202020204" pitchFamily="34" charset="0"/>
              </a:rPr>
              <a:t>as eye drops. </a:t>
            </a:r>
          </a:p>
          <a:p>
            <a:pPr marL="342900" lvl="0" indent="-342900" algn="just">
              <a:lnSpc>
                <a:spcPct val="150000"/>
              </a:lnSpc>
              <a:spcAft>
                <a:spcPts val="0"/>
              </a:spcAft>
              <a:buFont typeface="Wingdings" panose="05000000000000000000" pitchFamily="2" charset="2"/>
              <a:buChar char=""/>
            </a:pPr>
            <a:r>
              <a:rPr lang="en-US" sz="2800" dirty="0">
                <a:latin typeface="Times New Roman" panose="02020603050405020304" pitchFamily="18" charset="0"/>
                <a:ea typeface="Calibri" panose="020F0502020204030204" pitchFamily="34" charset="0"/>
                <a:cs typeface="Arial" panose="020B0604020202020204" pitchFamily="34" charset="0"/>
              </a:rPr>
              <a:t>The mummy restraint is applied when only one nurse is available and the patient is an infant.</a:t>
            </a:r>
          </a:p>
          <a:p>
            <a:pPr marL="342900" lvl="0" indent="-342900" algn="just">
              <a:lnSpc>
                <a:spcPct val="150000"/>
              </a:lnSpc>
              <a:spcAft>
                <a:spcPts val="0"/>
              </a:spcAft>
              <a:buFont typeface="Wingdings" panose="05000000000000000000" pitchFamily="2" charset="2"/>
              <a:buChar char=""/>
            </a:pPr>
            <a:r>
              <a:rPr lang="en-US" sz="2800" dirty="0">
                <a:latin typeface="Times New Roman" panose="02020603050405020304" pitchFamily="18" charset="0"/>
                <a:ea typeface="Calibri" panose="020F0502020204030204" pitchFamily="34" charset="0"/>
                <a:cs typeface="Arial" panose="020B0604020202020204" pitchFamily="34" charset="0"/>
              </a:rPr>
              <a:t>Occasionally children refuse to open their eyes.</a:t>
            </a:r>
          </a:p>
          <a:p>
            <a:pPr marL="342900" lvl="0" indent="-342900" algn="just">
              <a:lnSpc>
                <a:spcPct val="150000"/>
              </a:lnSpc>
              <a:spcAft>
                <a:spcPts val="0"/>
              </a:spcAft>
              <a:buFont typeface="Wingdings" panose="05000000000000000000" pitchFamily="2" charset="2"/>
              <a:buChar char=""/>
            </a:pPr>
            <a:r>
              <a:rPr lang="en-US" sz="2800" dirty="0">
                <a:latin typeface="Times New Roman" panose="02020603050405020304" pitchFamily="18" charset="0"/>
                <a:ea typeface="Calibri" panose="020F0502020204030204" pitchFamily="34" charset="0"/>
                <a:cs typeface="Arial" panose="020B0604020202020204" pitchFamily="34" charset="0"/>
              </a:rPr>
              <a:t>The nurse must use ingenuity to coax reluctant children. It may help to involve the parents.</a:t>
            </a:r>
            <a:endParaRPr lang="en-US" sz="2800" dirty="0">
              <a:effectLst/>
              <a:latin typeface="Times New Roman" panose="02020603050405020304" pitchFamily="18"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724292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0000"/>
                </a:solidFill>
                <a:latin typeface="Times New Roman" panose="02020603050405020304" pitchFamily="18" charset="0"/>
                <a:ea typeface="Calibri" panose="020F0502020204030204" pitchFamily="34" charset="0"/>
                <a:cs typeface="Arial" panose="020B0604020202020204" pitchFamily="34" charset="0"/>
              </a:rPr>
              <a:t>Inhaled Medication</a:t>
            </a:r>
            <a:endParaRPr lang="ar-IQ" dirty="0"/>
          </a:p>
        </p:txBody>
      </p:sp>
      <p:sp>
        <p:nvSpPr>
          <p:cNvPr id="3" name="Content Placeholder 2"/>
          <p:cNvSpPr>
            <a:spLocks noGrp="1"/>
          </p:cNvSpPr>
          <p:nvPr>
            <p:ph idx="1"/>
          </p:nvPr>
        </p:nvSpPr>
        <p:spPr/>
        <p:txBody>
          <a:bodyPr>
            <a:normAutofit lnSpcReduction="10000"/>
          </a:bodyPr>
          <a:lstStyle/>
          <a:p>
            <a:pPr>
              <a:lnSpc>
                <a:spcPct val="115000"/>
              </a:lnSpc>
              <a:spcAft>
                <a:spcPts val="0"/>
              </a:spcAft>
            </a:pPr>
            <a:r>
              <a:rPr lang="en-US" b="1" u="sng" dirty="0">
                <a:latin typeface="Times New Roman" panose="02020603050405020304" pitchFamily="18" charset="0"/>
                <a:ea typeface="Calibri" panose="020F0502020204030204" pitchFamily="34" charset="0"/>
                <a:cs typeface="Arial" panose="020B0604020202020204" pitchFamily="34" charset="0"/>
              </a:rPr>
              <a:t>Equipment</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algn="just">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A pressurized canister</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algn="just">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A plastic holder</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algn="just">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A cap. </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algn="just">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Often a spacer or special tube that attaches to the inhaler is used to increase the amount of medication delivered to the lungs per spray. A spacer has either </a:t>
            </a:r>
            <a:r>
              <a:rPr lang="en-US" b="1" dirty="0">
                <a:latin typeface="Times New Roman" panose="02020603050405020304" pitchFamily="18" charset="0"/>
                <a:ea typeface="Calibri" panose="020F0502020204030204" pitchFamily="34" charset="0"/>
                <a:cs typeface="Arial" panose="020B0604020202020204" pitchFamily="34" charset="0"/>
              </a:rPr>
              <a:t>a mouthpiece or a mask </a:t>
            </a:r>
            <a:r>
              <a:rPr lang="en-US" dirty="0">
                <a:latin typeface="Times New Roman" panose="02020603050405020304" pitchFamily="18" charset="0"/>
                <a:ea typeface="Calibri" panose="020F0502020204030204" pitchFamily="34" charset="0"/>
                <a:cs typeface="Arial" panose="020B0604020202020204" pitchFamily="34" charset="0"/>
              </a:rPr>
              <a:t>for ease of administration and is specific to the child’s developmental need.</a:t>
            </a:r>
            <a:endParaRPr lang="en-US" sz="2400" dirty="0">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pic>
        <p:nvPicPr>
          <p:cNvPr id="4" name="صورة 29"/>
          <p:cNvPicPr/>
          <p:nvPr/>
        </p:nvPicPr>
        <p:blipFill>
          <a:blip r:embed="rId2">
            <a:extLst>
              <a:ext uri="{28A0092B-C50C-407E-A947-70E740481C1C}">
                <a14:useLocalDpi xmlns:a14="http://schemas.microsoft.com/office/drawing/2010/main" val="0"/>
              </a:ext>
            </a:extLst>
          </a:blip>
          <a:stretch>
            <a:fillRect/>
          </a:stretch>
        </p:blipFill>
        <p:spPr>
          <a:xfrm>
            <a:off x="7498080" y="53816"/>
            <a:ext cx="4693920" cy="3398044"/>
          </a:xfrm>
          <a:prstGeom prst="rect">
            <a:avLst/>
          </a:prstGeom>
        </p:spPr>
      </p:pic>
    </p:spTree>
    <p:extLst>
      <p:ext uri="{BB962C8B-B14F-4D97-AF65-F5344CB8AC3E}">
        <p14:creationId xmlns:p14="http://schemas.microsoft.com/office/powerpoint/2010/main" val="2091301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3900" y="0"/>
            <a:ext cx="10515600" cy="1325563"/>
          </a:xfrm>
        </p:spPr>
        <p:txBody>
          <a:bodyPr>
            <a:normAutofit/>
          </a:bodyPr>
          <a:lstStyle/>
          <a:p>
            <a:pPr>
              <a:lnSpc>
                <a:spcPct val="115000"/>
              </a:lnSpc>
              <a:spcAft>
                <a:spcPts val="0"/>
              </a:spcAft>
            </a:pPr>
            <a:r>
              <a:rPr lang="en-US" b="1" dirty="0">
                <a:solidFill>
                  <a:srgbClr val="000000"/>
                </a:solidFill>
                <a:latin typeface="Times New Roman" panose="02020603050405020304" pitchFamily="18" charset="0"/>
                <a:ea typeface="Calibri" panose="020F0502020204030204" pitchFamily="34" charset="0"/>
                <a:cs typeface="Arial" panose="020B0604020202020204" pitchFamily="34" charset="0"/>
              </a:rPr>
              <a:t>Inhaled Medication</a:t>
            </a:r>
            <a:endParaRPr lang="ar-IQ" dirty="0"/>
          </a:p>
        </p:txBody>
      </p:sp>
      <p:pic>
        <p:nvPicPr>
          <p:cNvPr id="4" name="Content Placeholder 3"/>
          <p:cNvPicPr>
            <a:picLocks noGrp="1" noChangeAspect="1"/>
          </p:cNvPicPr>
          <p:nvPr>
            <p:ph idx="1"/>
          </p:nvPr>
        </p:nvPicPr>
        <p:blipFill>
          <a:blip r:embed="rId2"/>
          <a:stretch>
            <a:fillRect/>
          </a:stretch>
        </p:blipFill>
        <p:spPr>
          <a:xfrm>
            <a:off x="0" y="1608366"/>
            <a:ext cx="5235892" cy="5249634"/>
          </a:xfrm>
          <a:prstGeom prst="rect">
            <a:avLst/>
          </a:prstGeom>
        </p:spPr>
      </p:pic>
      <p:pic>
        <p:nvPicPr>
          <p:cNvPr id="5" name="Picture 4"/>
          <p:cNvPicPr>
            <a:picLocks noChangeAspect="1"/>
          </p:cNvPicPr>
          <p:nvPr/>
        </p:nvPicPr>
        <p:blipFill>
          <a:blip r:embed="rId3"/>
          <a:stretch>
            <a:fillRect/>
          </a:stretch>
        </p:blipFill>
        <p:spPr>
          <a:xfrm>
            <a:off x="5235892" y="1608367"/>
            <a:ext cx="6956108" cy="4198074"/>
          </a:xfrm>
          <a:prstGeom prst="rect">
            <a:avLst/>
          </a:prstGeom>
        </p:spPr>
      </p:pic>
      <p:sp>
        <p:nvSpPr>
          <p:cNvPr id="6" name="Rectangle 5"/>
          <p:cNvSpPr/>
          <p:nvPr/>
        </p:nvSpPr>
        <p:spPr>
          <a:xfrm>
            <a:off x="5402580" y="5806441"/>
            <a:ext cx="6789420" cy="1015663"/>
          </a:xfrm>
          <a:prstGeom prst="rect">
            <a:avLst/>
          </a:prstGeom>
        </p:spPr>
        <p:txBody>
          <a:bodyPr wrap="square">
            <a:spAutoFit/>
          </a:bodyPr>
          <a:lstStyle/>
          <a:p>
            <a:r>
              <a:rPr lang="en-US" sz="2000" dirty="0">
                <a:latin typeface="Times New Roman" panose="02020603050405020304" pitchFamily="18" charset="0"/>
                <a:ea typeface="Calibri" panose="020F0502020204030204" pitchFamily="34" charset="0"/>
                <a:cs typeface="Arial" panose="020B0604020202020204" pitchFamily="34" charset="0"/>
              </a:rPr>
              <a:t>Administering inhaled medication to children through a nebulizer has the advantage of delivering a medication directly to the needed site of action. </a:t>
            </a:r>
            <a:endParaRPr lang="ar-IQ" sz="2400" dirty="0"/>
          </a:p>
        </p:txBody>
      </p:sp>
    </p:spTree>
    <p:extLst>
      <p:ext uri="{BB962C8B-B14F-4D97-AF65-F5344CB8AC3E}">
        <p14:creationId xmlns:p14="http://schemas.microsoft.com/office/powerpoint/2010/main" val="21655085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1"/>
            <a:ext cx="11033760" cy="1394460"/>
          </a:xfrm>
        </p:spPr>
        <p:txBody>
          <a:bodyPr>
            <a:normAutofit/>
          </a:bodyPr>
          <a:lstStyle/>
          <a:p>
            <a:pPr>
              <a:lnSpc>
                <a:spcPct val="115000"/>
              </a:lnSpc>
              <a:spcAft>
                <a:spcPts val="0"/>
              </a:spcAft>
            </a:pPr>
            <a:r>
              <a:rPr lang="en-US" b="1" u="sng" dirty="0">
                <a:ln w="9525" cap="rnd" cmpd="sng" algn="ctr">
                  <a:solidFill>
                    <a:srgbClr val="000000"/>
                  </a:solidFill>
                  <a:prstDash val="solid"/>
                  <a:bevel/>
                </a:ln>
                <a:latin typeface="Times New Roman" panose="02020603050405020304" pitchFamily="18" charset="0"/>
                <a:ea typeface="Calibri" panose="020F0502020204030204" pitchFamily="34" charset="0"/>
                <a:cs typeface="Arial" panose="020B0604020202020204" pitchFamily="34" charset="0"/>
              </a:rPr>
              <a:t>Procedure (steps) </a:t>
            </a:r>
            <a:endParaRPr lang="ar-IQ" dirty="0"/>
          </a:p>
        </p:txBody>
      </p:sp>
      <p:sp>
        <p:nvSpPr>
          <p:cNvPr id="3" name="Content Placeholder 2"/>
          <p:cNvSpPr>
            <a:spLocks noGrp="1"/>
          </p:cNvSpPr>
          <p:nvPr>
            <p:ph idx="1"/>
          </p:nvPr>
        </p:nvSpPr>
        <p:spPr>
          <a:xfrm>
            <a:off x="320040" y="1143000"/>
            <a:ext cx="11871960" cy="5715000"/>
          </a:xfrm>
        </p:spPr>
        <p:txBody>
          <a:bodyPr>
            <a:normAutofit fontScale="85000" lnSpcReduction="20000"/>
          </a:bodyPr>
          <a:lstStyle/>
          <a:p>
            <a:pPr marL="342900" lvl="0" indent="-342900" algn="just">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Placing the mouthpiece fully into the mouth between the teeth</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598805" algn="l"/>
              </a:tabLst>
            </a:pPr>
            <a:r>
              <a:rPr lang="en-US" dirty="0">
                <a:latin typeface="Times New Roman" panose="02020603050405020304" pitchFamily="18" charset="0"/>
                <a:ea typeface="Calibri" panose="020F0502020204030204" pitchFamily="34" charset="0"/>
                <a:cs typeface="Arial" panose="020B0604020202020204" pitchFamily="34" charset="0"/>
              </a:rPr>
              <a:t>Hold the inhaler in the upright position and close the lips around the mouthpiece</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Press down on the canister to dispense the medication into the spacer</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Instruct the patient to breathe deeply for 3–5 seconds through the mouth, and then hold the breath for 10 seconds.</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Remove the spacer from the mouth and breathe out slowly.</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Patient should rinse the mouth out with water after each use of inhaled steroids to help prevent oral infections, and the spacer should routinely be washed with warm soapy water and air dried</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Teach families to consistently use proper technique with their children</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Often young children resist the mask when it is first introduced; however, with consistent practice eventually they will cooperate when they realize the parent is serious about giving their medications effectively.</a:t>
            </a:r>
            <a:endParaRPr lang="en-US" sz="2400" dirty="0">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spTree>
    <p:extLst>
      <p:ext uri="{BB962C8B-B14F-4D97-AF65-F5344CB8AC3E}">
        <p14:creationId xmlns:p14="http://schemas.microsoft.com/office/powerpoint/2010/main" val="32804936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0"/>
              </a:spcAft>
            </a:pPr>
            <a:r>
              <a:rPr lang="en-US" dirty="0">
                <a:solidFill>
                  <a:srgbClr val="000000"/>
                </a:solidFill>
                <a:latin typeface="Times New Roman" panose="02020603050405020304" pitchFamily="18" charset="0"/>
                <a:ea typeface="Calibri" panose="020F0502020204030204" pitchFamily="34" charset="0"/>
                <a:cs typeface="Arial" panose="020B0604020202020204" pitchFamily="34" charset="0"/>
              </a:rPr>
              <a:t>Administering Intramuscular Injections</a:t>
            </a:r>
            <a:endParaRPr lang="ar-IQ" dirty="0"/>
          </a:p>
        </p:txBody>
      </p:sp>
      <p:sp>
        <p:nvSpPr>
          <p:cNvPr id="3" name="Content Placeholder 2"/>
          <p:cNvSpPr>
            <a:spLocks noGrp="1"/>
          </p:cNvSpPr>
          <p:nvPr>
            <p:ph idx="1"/>
          </p:nvPr>
        </p:nvSpPr>
        <p:spPr/>
        <p:txBody>
          <a:bodyPr>
            <a:normAutofit fontScale="92500" lnSpcReduction="10000"/>
          </a:bodyPr>
          <a:lstStyle/>
          <a:p>
            <a:pPr indent="457200">
              <a:lnSpc>
                <a:spcPct val="115000"/>
              </a:lnSpc>
              <a:spcAft>
                <a:spcPts val="0"/>
              </a:spcAft>
              <a:tabLst>
                <a:tab pos="5073015" algn="l"/>
              </a:tabLst>
            </a:pPr>
            <a:r>
              <a:rPr lang="en-US" b="1" u="dbl" dirty="0">
                <a:latin typeface="Times New Roman" panose="02020603050405020304" pitchFamily="18" charset="0"/>
                <a:ea typeface="Calibri" panose="020F0502020204030204" pitchFamily="34" charset="0"/>
                <a:cs typeface="Arial" panose="020B0604020202020204" pitchFamily="34" charset="0"/>
              </a:rPr>
              <a:t>Equipment:</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Prescribed medication </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Appropriately sized syringe and needle</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Alcohol pads or povidone-iodine solution</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Gloves</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Gauze pads</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Cold compresses </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Adhesive bandage.</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sp>
        <p:nvSpPr>
          <p:cNvPr id="4" name="Rounded Rectangle 7">
            <a:extLst>
              <a:ext uri="{FF2B5EF4-FFF2-40B4-BE49-F238E27FC236}">
                <a16:creationId xmlns:a16="http://schemas.microsoft.com/office/drawing/2014/main" id="{EC656316-B78D-4EC1-9C72-547CA566FED0}"/>
              </a:ext>
            </a:extLst>
          </p:cNvPr>
          <p:cNvSpPr>
            <a:spLocks noChangeAspect="1"/>
          </p:cNvSpPr>
          <p:nvPr/>
        </p:nvSpPr>
        <p:spPr>
          <a:xfrm rot="18924894" flipH="1">
            <a:off x="9554724" y="2070821"/>
            <a:ext cx="807180" cy="3156968"/>
          </a:xfrm>
          <a:custGeom>
            <a:avLst/>
            <a:gdLst/>
            <a:ahLst/>
            <a:cxnLst/>
            <a:rect l="l" t="t" r="r" b="b"/>
            <a:pathLst>
              <a:path w="1081111" h="4228323">
                <a:moveTo>
                  <a:pt x="335224" y="1867922"/>
                </a:moveTo>
                <a:cubicBezTo>
                  <a:pt x="355105" y="1839562"/>
                  <a:pt x="441066" y="1818228"/>
                  <a:pt x="544096" y="1818228"/>
                </a:cubicBezTo>
                <a:cubicBezTo>
                  <a:pt x="661845" y="1818228"/>
                  <a:pt x="757300" y="1846093"/>
                  <a:pt x="757300" y="1880465"/>
                </a:cubicBezTo>
                <a:lnTo>
                  <a:pt x="754850" y="1887560"/>
                </a:lnTo>
                <a:lnTo>
                  <a:pt x="757869" y="1887560"/>
                </a:lnTo>
                <a:lnTo>
                  <a:pt x="757869" y="2839818"/>
                </a:lnTo>
                <a:cubicBezTo>
                  <a:pt x="757869" y="2972331"/>
                  <a:pt x="662287" y="3079754"/>
                  <a:pt x="544381" y="3079754"/>
                </a:cubicBezTo>
                <a:cubicBezTo>
                  <a:pt x="426475" y="3079754"/>
                  <a:pt x="330892" y="2972330"/>
                  <a:pt x="330892" y="2839818"/>
                </a:cubicBezTo>
                <a:cubicBezTo>
                  <a:pt x="330892" y="2522399"/>
                  <a:pt x="330893" y="2204979"/>
                  <a:pt x="330893" y="1887560"/>
                </a:cubicBezTo>
                <a:lnTo>
                  <a:pt x="333343" y="1887560"/>
                </a:lnTo>
                <a:cubicBezTo>
                  <a:pt x="331423" y="1885549"/>
                  <a:pt x="330893" y="1883025"/>
                  <a:pt x="330893" y="1880465"/>
                </a:cubicBezTo>
                <a:cubicBezTo>
                  <a:pt x="330893" y="1876168"/>
                  <a:pt x="332384" y="1871973"/>
                  <a:pt x="335224" y="1867922"/>
                </a:cubicBezTo>
                <a:close/>
                <a:moveTo>
                  <a:pt x="40017" y="122059"/>
                </a:moveTo>
                <a:cubicBezTo>
                  <a:pt x="33211" y="132011"/>
                  <a:pt x="29637" y="142314"/>
                  <a:pt x="29637" y="152868"/>
                </a:cubicBezTo>
                <a:cubicBezTo>
                  <a:pt x="29637" y="201406"/>
                  <a:pt x="105246" y="244661"/>
                  <a:pt x="223474" y="271871"/>
                </a:cubicBezTo>
                <a:lnTo>
                  <a:pt x="259635" y="468058"/>
                </a:lnTo>
                <a:cubicBezTo>
                  <a:pt x="103865" y="495856"/>
                  <a:pt x="0" y="547115"/>
                  <a:pt x="0" y="605632"/>
                </a:cubicBezTo>
                <a:cubicBezTo>
                  <a:pt x="0" y="658669"/>
                  <a:pt x="85325" y="705745"/>
                  <a:pt x="217400" y="734580"/>
                </a:cubicBezTo>
                <a:lnTo>
                  <a:pt x="217063" y="737117"/>
                </a:lnTo>
                <a:lnTo>
                  <a:pt x="217063" y="2943282"/>
                </a:lnTo>
                <a:cubicBezTo>
                  <a:pt x="217063" y="3039089"/>
                  <a:pt x="294931" y="3121078"/>
                  <a:pt x="405721" y="3153265"/>
                </a:cubicBezTo>
                <a:cubicBezTo>
                  <a:pt x="400324" y="3160310"/>
                  <a:pt x="397646" y="3168520"/>
                  <a:pt x="397646" y="3177204"/>
                </a:cubicBezTo>
                <a:lnTo>
                  <a:pt x="397646" y="3194256"/>
                </a:lnTo>
                <a:cubicBezTo>
                  <a:pt x="397646" y="3224314"/>
                  <a:pt x="429716" y="3248680"/>
                  <a:pt x="469276" y="3248680"/>
                </a:cubicBezTo>
                <a:lnTo>
                  <a:pt x="496274" y="3248680"/>
                </a:lnTo>
                <a:cubicBezTo>
                  <a:pt x="503831" y="3569617"/>
                  <a:pt x="518631" y="3867052"/>
                  <a:pt x="514761" y="4228323"/>
                </a:cubicBezTo>
                <a:lnTo>
                  <a:pt x="577573" y="4091802"/>
                </a:lnTo>
                <a:cubicBezTo>
                  <a:pt x="580481" y="3794896"/>
                  <a:pt x="583388" y="3537508"/>
                  <a:pt x="586278" y="3248680"/>
                </a:cubicBezTo>
                <a:lnTo>
                  <a:pt x="611834" y="3248680"/>
                </a:lnTo>
                <a:cubicBezTo>
                  <a:pt x="651395" y="3248680"/>
                  <a:pt x="683465" y="3224314"/>
                  <a:pt x="683465" y="3194256"/>
                </a:cubicBezTo>
                <a:lnTo>
                  <a:pt x="683465" y="3177205"/>
                </a:lnTo>
                <a:cubicBezTo>
                  <a:pt x="683465" y="3168518"/>
                  <a:pt x="680787" y="3160307"/>
                  <a:pt x="675388" y="3153262"/>
                </a:cubicBezTo>
                <a:cubicBezTo>
                  <a:pt x="786180" y="3121079"/>
                  <a:pt x="864048" y="3039089"/>
                  <a:pt x="864048" y="2943282"/>
                </a:cubicBezTo>
                <a:lnTo>
                  <a:pt x="864048" y="737117"/>
                </a:lnTo>
                <a:cubicBezTo>
                  <a:pt x="864048" y="736269"/>
                  <a:pt x="864042" y="735422"/>
                  <a:pt x="863712" y="734579"/>
                </a:cubicBezTo>
                <a:cubicBezTo>
                  <a:pt x="995786" y="705744"/>
                  <a:pt x="1081111" y="658669"/>
                  <a:pt x="1081111" y="605632"/>
                </a:cubicBezTo>
                <a:cubicBezTo>
                  <a:pt x="1081111" y="547115"/>
                  <a:pt x="977246" y="495856"/>
                  <a:pt x="821477" y="468058"/>
                </a:cubicBezTo>
                <a:lnTo>
                  <a:pt x="857637" y="271871"/>
                </a:lnTo>
                <a:cubicBezTo>
                  <a:pt x="975865" y="244661"/>
                  <a:pt x="1051474" y="201406"/>
                  <a:pt x="1051474" y="152868"/>
                </a:cubicBezTo>
                <a:cubicBezTo>
                  <a:pt x="1051474" y="68441"/>
                  <a:pt x="822728" y="0"/>
                  <a:pt x="540555" y="0"/>
                </a:cubicBezTo>
                <a:cubicBezTo>
                  <a:pt x="293654" y="0"/>
                  <a:pt x="87658" y="52400"/>
                  <a:pt x="40017" y="122059"/>
                </a:cubicBezTo>
                <a:close/>
              </a:path>
            </a:pathLst>
          </a:custGeom>
          <a:solidFill>
            <a:schemeClr val="accent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Tree>
    <p:extLst>
      <p:ext uri="{BB962C8B-B14F-4D97-AF65-F5344CB8AC3E}">
        <p14:creationId xmlns:p14="http://schemas.microsoft.com/office/powerpoint/2010/main" val="3367147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صورة 31"/>
          <p:cNvPicPr>
            <a:picLocks noGrp="1"/>
          </p:cNvPicPr>
          <p:nvPr>
            <p:ph idx="1"/>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 uri="{28A0092B-C50C-407E-A947-70E740481C1C}">
                <a14:useLocalDpi xmlns:a14="http://schemas.microsoft.com/office/drawing/2010/main" val="0"/>
              </a:ext>
            </a:extLst>
          </a:blip>
          <a:stretch>
            <a:fillRect/>
          </a:stretch>
        </p:blipFill>
        <p:spPr>
          <a:xfrm>
            <a:off x="1188720" y="1851660"/>
            <a:ext cx="9098280" cy="4686299"/>
          </a:xfrm>
          <a:prstGeom prst="rect">
            <a:avLst/>
          </a:prstGeom>
        </p:spPr>
      </p:pic>
    </p:spTree>
    <p:extLst>
      <p:ext uri="{BB962C8B-B14F-4D97-AF65-F5344CB8AC3E}">
        <p14:creationId xmlns:p14="http://schemas.microsoft.com/office/powerpoint/2010/main" val="21761552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ea typeface="Calibri" panose="020F0502020204030204" pitchFamily="34" charset="0"/>
                <a:cs typeface="Arial" panose="020B0604020202020204" pitchFamily="34" charset="0"/>
              </a:rPr>
              <a:t>I.M. INJECTION SITES IN CHILDREN</a:t>
            </a:r>
            <a:br>
              <a:rPr lang="en-US" sz="4000" dirty="0">
                <a:effectLst/>
                <a:latin typeface="Times New Roman" panose="02020603050405020304" pitchFamily="18" charset="0"/>
                <a:ea typeface="Calibri" panose="020F0502020204030204" pitchFamily="34" charset="0"/>
                <a:cs typeface="Arial" panose="020B0604020202020204" pitchFamily="34" charset="0"/>
              </a:rPr>
            </a:br>
            <a:endParaRPr lang="ar-IQ" dirty="0"/>
          </a:p>
        </p:txBody>
      </p:sp>
      <p:sp>
        <p:nvSpPr>
          <p:cNvPr id="3" name="Content Placeholder 2"/>
          <p:cNvSpPr>
            <a:spLocks noGrp="1"/>
          </p:cNvSpPr>
          <p:nvPr>
            <p:ph idx="1"/>
          </p:nvPr>
        </p:nvSpPr>
        <p:spPr/>
        <p:txBody>
          <a:bodyPr/>
          <a:lstStyle/>
          <a:p>
            <a:pPr>
              <a:lnSpc>
                <a:spcPct val="115000"/>
              </a:lnSpc>
              <a:spcAft>
                <a:spcPts val="0"/>
              </a:spcAft>
              <a:tabLst>
                <a:tab pos="751205" algn="l"/>
              </a:tabLst>
            </a:pPr>
            <a:r>
              <a:rPr lang="en-US" dirty="0">
                <a:latin typeface="Times New Roman" panose="02020603050405020304" pitchFamily="18" charset="0"/>
                <a:ea typeface="Calibri" panose="020F0502020204030204" pitchFamily="34" charset="0"/>
                <a:cs typeface="Arial" panose="020B0604020202020204" pitchFamily="34" charset="0"/>
              </a:rPr>
              <a:t>When selecting the best site for a child's I.M. injection, consider:</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Wingdings" panose="05000000000000000000" pitchFamily="2" charset="2"/>
              <a:buChar char=""/>
              <a:tabLst>
                <a:tab pos="751205" algn="l"/>
              </a:tabLst>
            </a:pPr>
            <a:r>
              <a:rPr lang="en-US" dirty="0">
                <a:latin typeface="Times New Roman" panose="02020603050405020304" pitchFamily="18" charset="0"/>
                <a:ea typeface="Calibri" panose="020F0502020204030204" pitchFamily="34" charset="0"/>
                <a:cs typeface="Arial" panose="020B0604020202020204" pitchFamily="34" charset="0"/>
              </a:rPr>
              <a:t>the child's age, weight, and muscular development</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Wingdings" panose="05000000000000000000" pitchFamily="2" charset="2"/>
              <a:buChar char=""/>
              <a:tabLst>
                <a:tab pos="751205" algn="l"/>
              </a:tabLst>
            </a:pPr>
            <a:r>
              <a:rPr lang="en-US" dirty="0">
                <a:latin typeface="Times New Roman" panose="02020603050405020304" pitchFamily="18" charset="0"/>
                <a:ea typeface="Calibri" panose="020F0502020204030204" pitchFamily="34" charset="0"/>
                <a:cs typeface="Arial" panose="020B0604020202020204" pitchFamily="34" charset="0"/>
              </a:rPr>
              <a:t>the amount of subcutaneous fat over the injection site</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Wingdings" panose="05000000000000000000" pitchFamily="2" charset="2"/>
              <a:buChar char=""/>
              <a:tabLst>
                <a:tab pos="751205" algn="l"/>
              </a:tabLst>
            </a:pPr>
            <a:r>
              <a:rPr lang="en-US" dirty="0">
                <a:latin typeface="Times New Roman" panose="02020603050405020304" pitchFamily="18" charset="0"/>
                <a:ea typeface="Calibri" panose="020F0502020204030204" pitchFamily="34" charset="0"/>
                <a:cs typeface="Arial" panose="020B0604020202020204" pitchFamily="34" charset="0"/>
              </a:rPr>
              <a:t>the type of drug you're administering</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r>
              <a:rPr lang="en-US" dirty="0">
                <a:latin typeface="Times New Roman" panose="02020603050405020304" pitchFamily="18" charset="0"/>
                <a:ea typeface="Calibri" panose="020F0502020204030204" pitchFamily="34" charset="0"/>
                <a:cs typeface="Arial" panose="020B0604020202020204" pitchFamily="34" charset="0"/>
              </a:rPr>
              <a:t>the drug's absorption rate</a:t>
            </a:r>
            <a:endParaRPr lang="ar-IQ" dirty="0"/>
          </a:p>
        </p:txBody>
      </p:sp>
    </p:spTree>
    <p:extLst>
      <p:ext uri="{BB962C8B-B14F-4D97-AF65-F5344CB8AC3E}">
        <p14:creationId xmlns:p14="http://schemas.microsoft.com/office/powerpoint/2010/main" val="41849922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2420" y="182245"/>
            <a:ext cx="10515600" cy="1325563"/>
          </a:xfrm>
        </p:spPr>
        <p:txBody>
          <a:bodyPr/>
          <a:lstStyle/>
          <a:p>
            <a:r>
              <a:rPr lang="en-US" b="1" u="dbl" dirty="0" err="1">
                <a:latin typeface="Times New Roman" panose="02020603050405020304" pitchFamily="18" charset="0"/>
                <a:ea typeface="Calibri" panose="020F0502020204030204" pitchFamily="34" charset="0"/>
                <a:cs typeface="Arial" panose="020B0604020202020204" pitchFamily="34" charset="0"/>
              </a:rPr>
              <a:t>Vastus</a:t>
            </a:r>
            <a:r>
              <a:rPr lang="en-US" b="1" u="dbl" dirty="0">
                <a:latin typeface="Times New Roman" panose="02020603050405020304" pitchFamily="18" charset="0"/>
                <a:ea typeface="Calibri" panose="020F0502020204030204" pitchFamily="34" charset="0"/>
                <a:cs typeface="Arial" panose="020B0604020202020204" pitchFamily="34" charset="0"/>
              </a:rPr>
              <a:t> </a:t>
            </a:r>
            <a:r>
              <a:rPr lang="en-US" b="1" u="dbl" dirty="0" err="1">
                <a:latin typeface="Times New Roman" panose="02020603050405020304" pitchFamily="18" charset="0"/>
                <a:ea typeface="Calibri" panose="020F0502020204030204" pitchFamily="34" charset="0"/>
                <a:cs typeface="Arial" panose="020B0604020202020204" pitchFamily="34" charset="0"/>
              </a:rPr>
              <a:t>lateralis</a:t>
            </a:r>
            <a:r>
              <a:rPr lang="en-US" b="1" u="dbl" dirty="0">
                <a:latin typeface="Times New Roman" panose="02020603050405020304" pitchFamily="18" charset="0"/>
                <a:ea typeface="Calibri" panose="020F0502020204030204" pitchFamily="34" charset="0"/>
                <a:cs typeface="Arial" panose="020B0604020202020204" pitchFamily="34" charset="0"/>
              </a:rPr>
              <a:t> and rectus </a:t>
            </a:r>
            <a:r>
              <a:rPr lang="en-US" b="1" u="dbl" dirty="0" err="1">
                <a:latin typeface="Times New Roman" panose="02020603050405020304" pitchFamily="18" charset="0"/>
                <a:ea typeface="Calibri" panose="020F0502020204030204" pitchFamily="34" charset="0"/>
                <a:cs typeface="Arial" panose="020B0604020202020204" pitchFamily="34" charset="0"/>
              </a:rPr>
              <a:t>femoris</a:t>
            </a:r>
            <a:endParaRPr lang="ar-IQ" dirty="0"/>
          </a:p>
        </p:txBody>
      </p:sp>
      <p:sp>
        <p:nvSpPr>
          <p:cNvPr id="3" name="Content Placeholder 2"/>
          <p:cNvSpPr>
            <a:spLocks noGrp="1"/>
          </p:cNvSpPr>
          <p:nvPr>
            <p:ph idx="1"/>
          </p:nvPr>
        </p:nvSpPr>
        <p:spPr>
          <a:xfrm>
            <a:off x="312420" y="1507808"/>
            <a:ext cx="6202680" cy="4915851"/>
          </a:xfrm>
        </p:spPr>
        <p:txBody>
          <a:bodyPr>
            <a:normAutofit/>
          </a:bodyPr>
          <a:lstStyle/>
          <a:p>
            <a:pPr algn="just">
              <a:lnSpc>
                <a:spcPct val="115000"/>
              </a:lnSpc>
              <a:spcAft>
                <a:spcPts val="0"/>
              </a:spcAft>
              <a:tabLst>
                <a:tab pos="751205" algn="l"/>
              </a:tabLst>
            </a:pPr>
            <a:r>
              <a:rPr lang="en-US" dirty="0">
                <a:latin typeface="Times New Roman" panose="02020603050405020304" pitchFamily="18" charset="0"/>
                <a:ea typeface="Calibri" panose="020F0502020204030204" pitchFamily="34" charset="0"/>
                <a:cs typeface="Arial" panose="020B0604020202020204" pitchFamily="34" charset="0"/>
              </a:rPr>
              <a:t>For a child under age 3, you'll typically use the </a:t>
            </a:r>
            <a:r>
              <a:rPr lang="en-US" dirty="0" err="1">
                <a:latin typeface="Times New Roman" panose="02020603050405020304" pitchFamily="18" charset="0"/>
                <a:ea typeface="Calibri" panose="020F0502020204030204" pitchFamily="34" charset="0"/>
                <a:cs typeface="Arial" panose="020B0604020202020204" pitchFamily="34" charset="0"/>
              </a:rPr>
              <a:t>vastus</a:t>
            </a:r>
            <a:r>
              <a:rPr lang="en-US" dirty="0">
                <a:latin typeface="Times New Roman" panose="02020603050405020304" pitchFamily="18" charset="0"/>
                <a:ea typeface="Calibri" panose="020F0502020204030204" pitchFamily="34" charset="0"/>
                <a:cs typeface="Arial" panose="020B0604020202020204" pitchFamily="34" charset="0"/>
              </a:rPr>
              <a:t> </a:t>
            </a:r>
            <a:r>
              <a:rPr lang="en-US" dirty="0" err="1">
                <a:latin typeface="Times New Roman" panose="02020603050405020304" pitchFamily="18" charset="0"/>
                <a:ea typeface="Calibri" panose="020F0502020204030204" pitchFamily="34" charset="0"/>
                <a:cs typeface="Arial" panose="020B0604020202020204" pitchFamily="34" charset="0"/>
              </a:rPr>
              <a:t>lateralis</a:t>
            </a:r>
            <a:r>
              <a:rPr lang="en-US" dirty="0">
                <a:latin typeface="Times New Roman" panose="02020603050405020304" pitchFamily="18" charset="0"/>
                <a:ea typeface="Calibri" panose="020F0502020204030204" pitchFamily="34" charset="0"/>
                <a:cs typeface="Arial" panose="020B0604020202020204" pitchFamily="34" charset="0"/>
              </a:rPr>
              <a:t> or rectus </a:t>
            </a:r>
            <a:r>
              <a:rPr lang="en-US" dirty="0" err="1">
                <a:latin typeface="Times New Roman" panose="02020603050405020304" pitchFamily="18" charset="0"/>
                <a:ea typeface="Calibri" panose="020F0502020204030204" pitchFamily="34" charset="0"/>
                <a:cs typeface="Arial" panose="020B0604020202020204" pitchFamily="34" charset="0"/>
              </a:rPr>
              <a:t>femoris</a:t>
            </a:r>
            <a:r>
              <a:rPr lang="en-US" dirty="0">
                <a:latin typeface="Times New Roman" panose="02020603050405020304" pitchFamily="18" charset="0"/>
                <a:ea typeface="Calibri" panose="020F0502020204030204" pitchFamily="34" charset="0"/>
                <a:cs typeface="Arial" panose="020B0604020202020204" pitchFamily="34" charset="0"/>
              </a:rPr>
              <a:t> muscle for an I.M. injection. Constituting the largest muscle mass in this age-group and have fewer major blood vessels and nerves.</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0" indent="0">
              <a:buNone/>
            </a:pPr>
            <a:endParaRPr lang="ar-IQ"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9273" y="1303021"/>
            <a:ext cx="5652727" cy="4268152"/>
          </a:xfrm>
          <a:prstGeom prst="rect">
            <a:avLst/>
          </a:prstGeom>
        </p:spPr>
      </p:pic>
    </p:spTree>
    <p:extLst>
      <p:ext uri="{BB962C8B-B14F-4D97-AF65-F5344CB8AC3E}">
        <p14:creationId xmlns:p14="http://schemas.microsoft.com/office/powerpoint/2010/main" val="33710240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580" y="205105"/>
            <a:ext cx="10515600" cy="1325563"/>
          </a:xfrm>
        </p:spPr>
        <p:txBody>
          <a:bodyPr/>
          <a:lstStyle/>
          <a:p>
            <a:r>
              <a:rPr lang="en-US" b="1" u="dbl" dirty="0">
                <a:latin typeface="Times New Roman" panose="02020603050405020304" pitchFamily="18" charset="0"/>
                <a:ea typeface="Calibri" panose="020F0502020204030204" pitchFamily="34" charset="0"/>
                <a:cs typeface="Arial" panose="020B0604020202020204" pitchFamily="34" charset="0"/>
              </a:rPr>
              <a:t>Ventrogluteal and dorsogluteal</a:t>
            </a:r>
            <a:endParaRPr lang="ar-IQ" dirty="0"/>
          </a:p>
        </p:txBody>
      </p:sp>
      <p:sp>
        <p:nvSpPr>
          <p:cNvPr id="3" name="Content Placeholder 2"/>
          <p:cNvSpPr>
            <a:spLocks noGrp="1"/>
          </p:cNvSpPr>
          <p:nvPr>
            <p:ph idx="1"/>
          </p:nvPr>
        </p:nvSpPr>
        <p:spPr>
          <a:xfrm>
            <a:off x="205740" y="1530668"/>
            <a:ext cx="11704320" cy="2515552"/>
          </a:xfrm>
        </p:spPr>
        <p:txBody>
          <a:bodyPr>
            <a:normAutofit lnSpcReduction="10000"/>
          </a:bodyPr>
          <a:lstStyle/>
          <a:p>
            <a:pPr algn="just">
              <a:lnSpc>
                <a:spcPct val="115000"/>
              </a:lnSpc>
              <a:spcAft>
                <a:spcPts val="0"/>
              </a:spcAft>
              <a:tabLst>
                <a:tab pos="1186815" algn="l"/>
              </a:tabLst>
            </a:pPr>
            <a:r>
              <a:rPr lang="en-US" dirty="0">
                <a:latin typeface="Times New Roman" panose="02020603050405020304" pitchFamily="18" charset="0"/>
                <a:ea typeface="Calibri" panose="020F0502020204030204" pitchFamily="34" charset="0"/>
                <a:cs typeface="Arial" panose="020B0604020202020204" pitchFamily="34" charset="0"/>
              </a:rPr>
              <a:t>For a child who can walk and is over age 3, use the ventrogluteal and dorsogluteal muscles. Like the </a:t>
            </a:r>
            <a:r>
              <a:rPr lang="en-US" dirty="0" err="1">
                <a:latin typeface="Times New Roman" panose="02020603050405020304" pitchFamily="18" charset="0"/>
                <a:ea typeface="Calibri" panose="020F0502020204030204" pitchFamily="34" charset="0"/>
                <a:cs typeface="Arial" panose="020B0604020202020204" pitchFamily="34" charset="0"/>
              </a:rPr>
              <a:t>vastus</a:t>
            </a:r>
            <a:r>
              <a:rPr lang="en-US" dirty="0">
                <a:latin typeface="Times New Roman" panose="02020603050405020304" pitchFamily="18" charset="0"/>
                <a:ea typeface="Calibri" panose="020F0502020204030204" pitchFamily="34" charset="0"/>
                <a:cs typeface="Arial" panose="020B0604020202020204" pitchFamily="34" charset="0"/>
              </a:rPr>
              <a:t> </a:t>
            </a:r>
            <a:r>
              <a:rPr lang="en-US" dirty="0" err="1">
                <a:latin typeface="Times New Roman" panose="02020603050405020304" pitchFamily="18" charset="0"/>
                <a:ea typeface="Calibri" panose="020F0502020204030204" pitchFamily="34" charset="0"/>
                <a:cs typeface="Arial" panose="020B0604020202020204" pitchFamily="34" charset="0"/>
              </a:rPr>
              <a:t>lateralis</a:t>
            </a:r>
            <a:r>
              <a:rPr lang="en-US" dirty="0">
                <a:latin typeface="Times New Roman" panose="02020603050405020304" pitchFamily="18" charset="0"/>
                <a:ea typeface="Calibri" panose="020F0502020204030204" pitchFamily="34" charset="0"/>
                <a:cs typeface="Arial" panose="020B0604020202020204" pitchFamily="34" charset="0"/>
              </a:rPr>
              <a:t>, the </a:t>
            </a:r>
            <a:r>
              <a:rPr lang="en-US" dirty="0" err="1">
                <a:latin typeface="Times New Roman" panose="02020603050405020304" pitchFamily="18" charset="0"/>
                <a:ea typeface="Calibri" panose="020F0502020204030204" pitchFamily="34" charset="0"/>
                <a:cs typeface="Arial" panose="020B0604020202020204" pitchFamily="34" charset="0"/>
              </a:rPr>
              <a:t>ventrogluteal</a:t>
            </a:r>
            <a:r>
              <a:rPr lang="en-US" dirty="0">
                <a:latin typeface="Times New Roman" panose="02020603050405020304" pitchFamily="18" charset="0"/>
                <a:ea typeface="Calibri" panose="020F0502020204030204" pitchFamily="34" charset="0"/>
                <a:cs typeface="Arial" panose="020B0604020202020204" pitchFamily="34" charset="0"/>
              </a:rPr>
              <a:t> site is relatively free from major blood vessels and nerves. Before you select either site, make sure that the child has been walking for at least 1 year to ensure sufficient muscle development.</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pic>
        <p:nvPicPr>
          <p:cNvPr id="4" name="صورة 18"/>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5030470" y="3434714"/>
            <a:ext cx="6879590" cy="3240406"/>
          </a:xfrm>
          <a:prstGeom prst="rect">
            <a:avLst/>
          </a:prstGeom>
        </p:spPr>
      </p:pic>
      <p:pic>
        <p:nvPicPr>
          <p:cNvPr id="6" name="صورة 5">
            <a:extLst>
              <a:ext uri="{FF2B5EF4-FFF2-40B4-BE49-F238E27FC236}">
                <a16:creationId xmlns:a16="http://schemas.microsoft.com/office/drawing/2014/main" id="{DC366B43-5FE6-4F69-78FC-5D5A48E23EF1}"/>
              </a:ext>
            </a:extLst>
          </p:cNvPr>
          <p:cNvPicPr>
            <a:picLocks noChangeAspect="1"/>
          </p:cNvPicPr>
          <p:nvPr/>
        </p:nvPicPr>
        <p:blipFill>
          <a:blip r:embed="rId4"/>
          <a:stretch>
            <a:fillRect/>
          </a:stretch>
        </p:blipFill>
        <p:spPr>
          <a:xfrm>
            <a:off x="205740" y="4046220"/>
            <a:ext cx="5045133" cy="2474334"/>
          </a:xfrm>
          <a:prstGeom prst="rect">
            <a:avLst/>
          </a:prstGeom>
        </p:spPr>
      </p:pic>
    </p:spTree>
    <p:extLst>
      <p:ext uri="{BB962C8B-B14F-4D97-AF65-F5344CB8AC3E}">
        <p14:creationId xmlns:p14="http://schemas.microsoft.com/office/powerpoint/2010/main" val="37691061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580" y="182245"/>
            <a:ext cx="10515600" cy="1325563"/>
          </a:xfrm>
        </p:spPr>
        <p:txBody>
          <a:bodyPr/>
          <a:lstStyle/>
          <a:p>
            <a:r>
              <a:rPr lang="en-US" b="1" u="dbl" dirty="0">
                <a:latin typeface="Times New Roman" panose="02020603050405020304" pitchFamily="18" charset="0"/>
                <a:ea typeface="Calibri" panose="020F0502020204030204" pitchFamily="34" charset="0"/>
                <a:cs typeface="Arial" panose="020B0604020202020204" pitchFamily="34" charset="0"/>
              </a:rPr>
              <a:t>Deltoid muscle </a:t>
            </a:r>
            <a:endParaRPr lang="ar-IQ" dirty="0"/>
          </a:p>
        </p:txBody>
      </p:sp>
      <p:sp>
        <p:nvSpPr>
          <p:cNvPr id="3" name="Content Placeholder 2"/>
          <p:cNvSpPr>
            <a:spLocks noGrp="1"/>
          </p:cNvSpPr>
          <p:nvPr>
            <p:ph idx="1"/>
          </p:nvPr>
        </p:nvSpPr>
        <p:spPr>
          <a:xfrm>
            <a:off x="205739" y="1151574"/>
            <a:ext cx="11658600" cy="3134995"/>
          </a:xfrm>
        </p:spPr>
        <p:txBody>
          <a:bodyPr/>
          <a:lstStyle/>
          <a:p>
            <a:pPr algn="just">
              <a:lnSpc>
                <a:spcPct val="115000"/>
              </a:lnSpc>
              <a:spcAft>
                <a:spcPts val="0"/>
              </a:spcAft>
              <a:tabLst>
                <a:tab pos="1915795" algn="l"/>
              </a:tabLst>
            </a:pPr>
            <a:r>
              <a:rPr lang="en-US" dirty="0">
                <a:latin typeface="Times New Roman" panose="02020603050405020304" pitchFamily="18" charset="0"/>
                <a:ea typeface="Calibri" panose="020F0502020204030204" pitchFamily="34" charset="0"/>
                <a:cs typeface="Arial" panose="020B0604020202020204" pitchFamily="34" charset="0"/>
              </a:rPr>
              <a:t>For a child older than 18 months who needs rapid medication results, consider using the deltoid muscle for the injection. Because blood flows faster in the deltoid muscle than in other muscles, drug absorption should be faster. However, be careful when using this site because the deltoid doesn't develop fully until adolescence. In a younger child, it's small and close to the radial nerve, which may be injured during needle insertion.</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pic>
        <p:nvPicPr>
          <p:cNvPr id="4" name="صورة 19"/>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tretch>
            <a:fillRect/>
          </a:stretch>
        </p:blipFill>
        <p:spPr>
          <a:xfrm>
            <a:off x="449580" y="4137660"/>
            <a:ext cx="6179820" cy="2720340"/>
          </a:xfrm>
          <a:prstGeom prst="rect">
            <a:avLst/>
          </a:prstGeom>
        </p:spPr>
      </p:pic>
      <p:pic>
        <p:nvPicPr>
          <p:cNvPr id="6" name="Picture 5"/>
          <p:cNvPicPr>
            <a:picLocks noChangeAspect="1"/>
          </p:cNvPicPr>
          <p:nvPr/>
        </p:nvPicPr>
        <p:blipFill>
          <a:blip r:embed="rId4"/>
          <a:stretch>
            <a:fillRect/>
          </a:stretch>
        </p:blipFill>
        <p:spPr>
          <a:xfrm>
            <a:off x="6629399" y="4137660"/>
            <a:ext cx="5234939" cy="2647950"/>
          </a:xfrm>
          <a:prstGeom prst="rect">
            <a:avLst/>
          </a:prstGeom>
        </p:spPr>
      </p:pic>
    </p:spTree>
    <p:extLst>
      <p:ext uri="{BB962C8B-B14F-4D97-AF65-F5344CB8AC3E}">
        <p14:creationId xmlns:p14="http://schemas.microsoft.com/office/powerpoint/2010/main" val="12748400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2440" y="133985"/>
            <a:ext cx="10515600" cy="1347788"/>
          </a:xfrm>
        </p:spPr>
        <p:txBody>
          <a:bodyPr/>
          <a:lstStyle/>
          <a:p>
            <a:r>
              <a:rPr lang="en-US" b="1" u="sng" dirty="0">
                <a:latin typeface="Times New Roman" panose="02020603050405020304" pitchFamily="18" charset="0"/>
                <a:ea typeface="Calibri" panose="020F0502020204030204" pitchFamily="34" charset="0"/>
                <a:cs typeface="Arial" panose="020B0604020202020204" pitchFamily="34" charset="0"/>
              </a:rPr>
              <a:t>Procedure steps</a:t>
            </a:r>
            <a:endParaRPr lang="ar-IQ" dirty="0"/>
          </a:p>
        </p:txBody>
      </p:sp>
      <p:sp>
        <p:nvSpPr>
          <p:cNvPr id="3" name="Content Placeholder 2"/>
          <p:cNvSpPr>
            <a:spLocks noGrp="1"/>
          </p:cNvSpPr>
          <p:nvPr>
            <p:ph idx="1"/>
          </p:nvPr>
        </p:nvSpPr>
        <p:spPr>
          <a:xfrm>
            <a:off x="472439" y="1481772"/>
            <a:ext cx="11564885" cy="5376227"/>
          </a:xfrm>
        </p:spPr>
        <p:txBody>
          <a:bodyPr>
            <a:normAutofit fontScale="85000" lnSpcReduction="10000"/>
          </a:bodyPr>
          <a:lstStyle/>
          <a:p>
            <a:pPr lvl="0" algn="just">
              <a:lnSpc>
                <a:spcPct val="150000"/>
              </a:lnSpc>
            </a:pPr>
            <a:r>
              <a:rPr lang="en-US" sz="3100" dirty="0">
                <a:solidFill>
                  <a:prstClr val="black"/>
                </a:solidFill>
                <a:latin typeface="Times New Roman" panose="02020603050405020304" pitchFamily="18" charset="0"/>
                <a:ea typeface="Calibri" panose="020F0502020204030204" pitchFamily="34" charset="0"/>
                <a:cs typeface="Arial" panose="020B0604020202020204" pitchFamily="34" charset="0"/>
              </a:rPr>
              <a:t>Clean the injection site with an alcohol or povidone-iodine pad. Wipe outward from the center with a spiral motion to avoid contaminating the clean area.</a:t>
            </a:r>
            <a:endParaRPr lang="en-US" sz="2600" dirty="0">
              <a:solidFill>
                <a:prstClr val="black"/>
              </a:solidFill>
              <a:latin typeface="Times New Roman" panose="02020603050405020304" pitchFamily="18" charset="0"/>
              <a:ea typeface="Calibri" panose="020F0502020204030204" pitchFamily="34" charset="0"/>
              <a:cs typeface="Arial" panose="020B0604020202020204" pitchFamily="34" charset="0"/>
            </a:endParaRPr>
          </a:p>
          <a:p>
            <a:pPr algn="just">
              <a:lnSpc>
                <a:spcPct val="150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 Prepare medication for injection. Use a 1mL syringe and in, 25gauge needle to give the injection. </a:t>
            </a:r>
          </a:p>
          <a:p>
            <a:pPr algn="just">
              <a:lnSpc>
                <a:spcPct val="150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Put on gloves. </a:t>
            </a:r>
            <a:r>
              <a:rPr lang="en-US" b="1" dirty="0">
                <a:latin typeface="Times New Roman" panose="02020603050405020304" pitchFamily="18" charset="0"/>
                <a:ea typeface="Calibri" panose="020F0502020204030204" pitchFamily="34" charset="0"/>
                <a:cs typeface="Arial" panose="020B0604020202020204" pitchFamily="34" charset="0"/>
              </a:rPr>
              <a:t>R:</a:t>
            </a:r>
            <a:r>
              <a:rPr lang="en-US" dirty="0">
                <a:latin typeface="Times New Roman" panose="02020603050405020304" pitchFamily="18" charset="0"/>
                <a:ea typeface="Calibri" panose="020F0502020204030204" pitchFamily="34" charset="0"/>
                <a:cs typeface="Arial" panose="020B0604020202020204" pitchFamily="34" charset="0"/>
              </a:rPr>
              <a:t>Gloves protect the nurse from contamination by blood.</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gn="just">
              <a:lnSpc>
                <a:spcPct val="150000"/>
              </a:lnSpc>
              <a:spcAft>
                <a:spcPts val="0"/>
              </a:spcAft>
            </a:pPr>
            <a:r>
              <a:rPr lang="en-US" sz="2600" dirty="0">
                <a:solidFill>
                  <a:prstClr val="black"/>
                </a:solidFill>
                <a:latin typeface="Times New Roman" panose="02020603050405020304" pitchFamily="18" charset="0"/>
                <a:ea typeface="Calibri" panose="020F0502020204030204" pitchFamily="34" charset="0"/>
                <a:cs typeface="Arial" panose="020B0604020202020204" pitchFamily="34" charset="0"/>
              </a:rPr>
              <a:t>Choose an injection site that's appropriate for the child's age and muscle mass</a:t>
            </a:r>
            <a:r>
              <a:rPr lang="en-US" sz="2600" dirty="0">
                <a:latin typeface="Times New Roman" panose="02020603050405020304" pitchFamily="18" charset="0"/>
                <a:ea typeface="Calibri" panose="020F0502020204030204" pitchFamily="34" charset="0"/>
                <a:cs typeface="Arial" panose="020B0604020202020204" pitchFamily="34" charset="0"/>
              </a:rPr>
              <a:t>. The best site for newborn intramuscular injections is the </a:t>
            </a:r>
            <a:r>
              <a:rPr lang="en-US" sz="2600" dirty="0" err="1">
                <a:latin typeface="Times New Roman" panose="02020603050405020304" pitchFamily="18" charset="0"/>
                <a:ea typeface="Calibri" panose="020F0502020204030204" pitchFamily="34" charset="0"/>
                <a:cs typeface="Arial" panose="020B0604020202020204" pitchFamily="34" charset="0"/>
              </a:rPr>
              <a:t>vastus</a:t>
            </a:r>
            <a:r>
              <a:rPr lang="en-US" sz="2600" dirty="0">
                <a:latin typeface="Times New Roman" panose="02020603050405020304" pitchFamily="18" charset="0"/>
                <a:ea typeface="Calibri" panose="020F0502020204030204" pitchFamily="34" charset="0"/>
                <a:cs typeface="Arial" panose="020B0604020202020204" pitchFamily="34" charset="0"/>
              </a:rPr>
              <a:t> </a:t>
            </a:r>
            <a:r>
              <a:rPr lang="en-US" sz="2600" dirty="0" err="1">
                <a:latin typeface="Times New Roman" panose="02020603050405020304" pitchFamily="18" charset="0"/>
                <a:ea typeface="Calibri" panose="020F0502020204030204" pitchFamily="34" charset="0"/>
                <a:cs typeface="Arial" panose="020B0604020202020204" pitchFamily="34" charset="0"/>
              </a:rPr>
              <a:t>lateralis</a:t>
            </a:r>
            <a:r>
              <a:rPr lang="en-US" sz="2600" dirty="0">
                <a:latin typeface="Times New Roman" panose="02020603050405020304" pitchFamily="18" charset="0"/>
                <a:ea typeface="Calibri" panose="020F0502020204030204" pitchFamily="34" charset="0"/>
                <a:cs typeface="Arial" panose="020B0604020202020204" pitchFamily="34" charset="0"/>
              </a:rPr>
              <a:t> muscle. </a:t>
            </a:r>
          </a:p>
          <a:p>
            <a:pPr algn="just">
              <a:lnSpc>
                <a:spcPct val="150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Stabilize the leg firmly while grasping the thigh between the thumb and fingers. </a:t>
            </a:r>
            <a:r>
              <a:rPr lang="en-US" sz="2400" dirty="0">
                <a:latin typeface="Times New Roman" panose="02020603050405020304" pitchFamily="18" charset="0"/>
                <a:ea typeface="Calibri" panose="020F0502020204030204" pitchFamily="34" charset="0"/>
                <a:cs typeface="Arial" panose="020B0604020202020204" pitchFamily="34" charset="0"/>
              </a:rPr>
              <a:t>To </a:t>
            </a:r>
            <a:r>
              <a:rPr lang="en-US" dirty="0">
                <a:latin typeface="Times New Roman" panose="02020603050405020304" pitchFamily="18" charset="0"/>
                <a:ea typeface="Calibri" panose="020F0502020204030204" pitchFamily="34" charset="0"/>
                <a:cs typeface="Arial" panose="020B0604020202020204" pitchFamily="34" charset="0"/>
              </a:rPr>
              <a:t>prevents sudden movement by the infant and possible injury</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gn="just">
              <a:lnSpc>
                <a:spcPct val="150000"/>
              </a:lnSpc>
              <a:spcAft>
                <a:spcPts val="0"/>
              </a:spcAft>
            </a:pPr>
            <a:endParaRPr lang="en-US" dirty="0">
              <a:latin typeface="Times New Roman" panose="02020603050405020304" pitchFamily="18" charset="0"/>
              <a:ea typeface="Calibri" panose="020F0502020204030204" pitchFamily="34" charset="0"/>
              <a:cs typeface="Arial" panose="020B0604020202020204" pitchFamily="34" charset="0"/>
            </a:endParaRPr>
          </a:p>
          <a:p>
            <a:pPr algn="just">
              <a:lnSpc>
                <a:spcPct val="150000"/>
              </a:lnSpc>
              <a:spcAft>
                <a:spcPts val="0"/>
              </a:spcAft>
            </a:pPr>
            <a:endParaRPr lang="ar-IQ" dirty="0"/>
          </a:p>
        </p:txBody>
      </p:sp>
    </p:spTree>
    <p:extLst>
      <p:ext uri="{BB962C8B-B14F-4D97-AF65-F5344CB8AC3E}">
        <p14:creationId xmlns:p14="http://schemas.microsoft.com/office/powerpoint/2010/main" val="2245859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94360" y="0"/>
            <a:ext cx="10675620" cy="6858000"/>
          </a:xfrm>
          <a:prstGeom prst="rect">
            <a:avLst/>
          </a:prstGeom>
        </p:spPr>
      </p:pic>
    </p:spTree>
    <p:extLst>
      <p:ext uri="{BB962C8B-B14F-4D97-AF65-F5344CB8AC3E}">
        <p14:creationId xmlns:p14="http://schemas.microsoft.com/office/powerpoint/2010/main" val="4447647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27797"/>
            <a:ext cx="11641540" cy="6230203"/>
          </a:xfrm>
        </p:spPr>
        <p:txBody>
          <a:bodyPr>
            <a:normAutofit/>
          </a:bodyPr>
          <a:lstStyle/>
          <a:p>
            <a:pPr lvl="0" algn="just">
              <a:lnSpc>
                <a:spcPct val="150000"/>
              </a:lnSpc>
            </a:pPr>
            <a:r>
              <a:rPr lang="en-US" dirty="0">
                <a:solidFill>
                  <a:prstClr val="black"/>
                </a:solidFill>
                <a:latin typeface="Times New Roman" panose="02020603050405020304" pitchFamily="18" charset="0"/>
                <a:ea typeface="Calibri" panose="020F0502020204030204" pitchFamily="34" charset="0"/>
                <a:cs typeface="Arial" panose="020B0604020202020204" pitchFamily="34" charset="0"/>
              </a:rPr>
              <a:t>Insert the needle at a 90—degree angle(IM). Inject the medication. </a:t>
            </a:r>
            <a:endParaRPr lang="en-US" dirty="0">
              <a:latin typeface="Times New Roman" panose="02020603050405020304" pitchFamily="18" charset="0"/>
              <a:ea typeface="Calibri" panose="020F0502020204030204" pitchFamily="34" charset="0"/>
              <a:cs typeface="Arial" panose="020B0604020202020204" pitchFamily="34" charset="0"/>
            </a:endParaRPr>
          </a:p>
          <a:p>
            <a:pPr algn="just">
              <a:lnSpc>
                <a:spcPct val="150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Withdraw the needle and apply gentle pressure to the site with small gauze pad </a:t>
            </a:r>
            <a:r>
              <a:rPr lang="en-US" dirty="0">
                <a:effectLst/>
                <a:latin typeface="Times New Roman" panose="02020603050405020304" pitchFamily="18" charset="0"/>
                <a:ea typeface="Calibri" panose="020F0502020204030204" pitchFamily="34" charset="0"/>
                <a:cs typeface="Arial" panose="020B0604020202020204" pitchFamily="34" charset="0"/>
              </a:rPr>
              <a:t>to stimulate circulation and enhance absorption </a:t>
            </a:r>
          </a:p>
          <a:p>
            <a:pPr algn="just">
              <a:lnSpc>
                <a:spcPct val="150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Insert the needle quickly, using a darting motion. If you're using the </a:t>
            </a:r>
            <a:r>
              <a:rPr lang="en-US" dirty="0" err="1">
                <a:latin typeface="Times New Roman" panose="02020603050405020304" pitchFamily="18" charset="0"/>
                <a:ea typeface="Calibri" panose="020F0502020204030204" pitchFamily="34" charset="0"/>
                <a:cs typeface="Arial" panose="020B0604020202020204" pitchFamily="34" charset="0"/>
              </a:rPr>
              <a:t>ventrogluteal</a:t>
            </a:r>
            <a:r>
              <a:rPr lang="en-US" dirty="0">
                <a:latin typeface="Times New Roman" panose="02020603050405020304" pitchFamily="18" charset="0"/>
                <a:ea typeface="Calibri" panose="020F0502020204030204" pitchFamily="34" charset="0"/>
                <a:cs typeface="Arial" panose="020B0604020202020204" pitchFamily="34" charset="0"/>
              </a:rPr>
              <a:t> site, insert the needle at a 45-degree angle toward the knee.</a:t>
            </a:r>
            <a:endParaRPr lang="en-US" dirty="0">
              <a:effectLst/>
              <a:latin typeface="Times New Roman" panose="02020603050405020304" pitchFamily="18" charset="0"/>
              <a:ea typeface="Calibri" panose="020F0502020204030204" pitchFamily="34" charset="0"/>
              <a:cs typeface="Arial" panose="020B0604020202020204" pitchFamily="34" charset="0"/>
            </a:endParaRPr>
          </a:p>
          <a:p>
            <a:pPr algn="just">
              <a:lnSpc>
                <a:spcPct val="150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Aspirate the plunger to ensure that the needle isn't in a blood vessel. If no blood appears, inject the medication</a:t>
            </a:r>
            <a:endParaRPr lang="ar-IQ" dirty="0"/>
          </a:p>
        </p:txBody>
      </p:sp>
      <p:sp>
        <p:nvSpPr>
          <p:cNvPr id="6" name="Rounded Rectangle 40">
            <a:extLst>
              <a:ext uri="{FF2B5EF4-FFF2-40B4-BE49-F238E27FC236}">
                <a16:creationId xmlns:a16="http://schemas.microsoft.com/office/drawing/2014/main" id="{9EAE5B7B-9157-44FC-AC9D-E519CCFB3F84}"/>
              </a:ext>
            </a:extLst>
          </p:cNvPr>
          <p:cNvSpPr/>
          <p:nvPr/>
        </p:nvSpPr>
        <p:spPr>
          <a:xfrm rot="2942052">
            <a:off x="11092684" y="237481"/>
            <a:ext cx="1097712" cy="1027675"/>
          </a:xfrm>
          <a:custGeom>
            <a:avLst/>
            <a:gdLst/>
            <a:ahLst/>
            <a:cxnLst/>
            <a:rect l="l" t="t" r="r" b="b"/>
            <a:pathLst>
              <a:path w="3011706" h="3204001">
                <a:moveTo>
                  <a:pt x="2432249" y="1011942"/>
                </a:moveTo>
                <a:cubicBezTo>
                  <a:pt x="2423608" y="1019482"/>
                  <a:pt x="2416303" y="1028841"/>
                  <a:pt x="2410966" y="1039800"/>
                </a:cubicBezTo>
                <a:lnTo>
                  <a:pt x="1969837" y="1945620"/>
                </a:lnTo>
                <a:cubicBezTo>
                  <a:pt x="1948488" y="1989457"/>
                  <a:pt x="1966719" y="2042300"/>
                  <a:pt x="2010556" y="2063648"/>
                </a:cubicBezTo>
                <a:cubicBezTo>
                  <a:pt x="2054392" y="2084996"/>
                  <a:pt x="2107235" y="2066766"/>
                  <a:pt x="2128583" y="2022929"/>
                </a:cubicBezTo>
                <a:lnTo>
                  <a:pt x="2569712" y="1117109"/>
                </a:lnTo>
                <a:cubicBezTo>
                  <a:pt x="2591061" y="1073271"/>
                  <a:pt x="2572830" y="1020430"/>
                  <a:pt x="2528993" y="999081"/>
                </a:cubicBezTo>
                <a:cubicBezTo>
                  <a:pt x="2496115" y="983070"/>
                  <a:pt x="2458172" y="989322"/>
                  <a:pt x="2432249" y="1011942"/>
                </a:cubicBezTo>
                <a:close/>
                <a:moveTo>
                  <a:pt x="1709549" y="1044955"/>
                </a:moveTo>
                <a:cubicBezTo>
                  <a:pt x="1978186" y="735551"/>
                  <a:pt x="2446780" y="702502"/>
                  <a:pt x="2756184" y="971139"/>
                </a:cubicBezTo>
                <a:cubicBezTo>
                  <a:pt x="3065588" y="1239776"/>
                  <a:pt x="3098636" y="1708370"/>
                  <a:pt x="2830000" y="2017774"/>
                </a:cubicBezTo>
                <a:cubicBezTo>
                  <a:pt x="2561363" y="2327178"/>
                  <a:pt x="2092769" y="2360227"/>
                  <a:pt x="1783365" y="2091590"/>
                </a:cubicBezTo>
                <a:cubicBezTo>
                  <a:pt x="1473960" y="1822953"/>
                  <a:pt x="1440912" y="1354359"/>
                  <a:pt x="1709549" y="1044955"/>
                </a:cubicBezTo>
                <a:close/>
                <a:moveTo>
                  <a:pt x="208197" y="1872243"/>
                </a:moveTo>
                <a:cubicBezTo>
                  <a:pt x="195168" y="1885273"/>
                  <a:pt x="187109" y="1903273"/>
                  <a:pt x="187109" y="1923155"/>
                </a:cubicBezTo>
                <a:lnTo>
                  <a:pt x="187109" y="2715155"/>
                </a:lnTo>
                <a:cubicBezTo>
                  <a:pt x="187109" y="2754920"/>
                  <a:pt x="219344" y="2787155"/>
                  <a:pt x="259109" y="2787155"/>
                </a:cubicBezTo>
                <a:cubicBezTo>
                  <a:pt x="298874" y="2787155"/>
                  <a:pt x="331109" y="2754920"/>
                  <a:pt x="331109" y="2715155"/>
                </a:cubicBezTo>
                <a:lnTo>
                  <a:pt x="331109" y="1923155"/>
                </a:lnTo>
                <a:cubicBezTo>
                  <a:pt x="331109" y="1883390"/>
                  <a:pt x="298874" y="1851155"/>
                  <a:pt x="259109" y="1851155"/>
                </a:cubicBezTo>
                <a:cubicBezTo>
                  <a:pt x="239226" y="1851156"/>
                  <a:pt x="221226" y="1859214"/>
                  <a:pt x="208197" y="1872243"/>
                </a:cubicBezTo>
                <a:close/>
                <a:moveTo>
                  <a:pt x="0" y="1625202"/>
                </a:moveTo>
                <a:cubicBezTo>
                  <a:pt x="418057" y="1737228"/>
                  <a:pt x="858998" y="1737384"/>
                  <a:pt x="1277606" y="1625336"/>
                </a:cubicBezTo>
                <a:cubicBezTo>
                  <a:pt x="1277605" y="1938624"/>
                  <a:pt x="1277605" y="2251911"/>
                  <a:pt x="1277605" y="2565198"/>
                </a:cubicBezTo>
                <a:cubicBezTo>
                  <a:pt x="1277605" y="2917999"/>
                  <a:pt x="991603" y="3204001"/>
                  <a:pt x="638802" y="3204001"/>
                </a:cubicBezTo>
                <a:lnTo>
                  <a:pt x="638803" y="3204000"/>
                </a:lnTo>
                <a:cubicBezTo>
                  <a:pt x="286002" y="3204000"/>
                  <a:pt x="0" y="2917999"/>
                  <a:pt x="0" y="2565197"/>
                </a:cubicBezTo>
                <a:close/>
                <a:moveTo>
                  <a:pt x="208197" y="459897"/>
                </a:moveTo>
                <a:cubicBezTo>
                  <a:pt x="195167" y="472926"/>
                  <a:pt x="187109" y="490926"/>
                  <a:pt x="187109" y="510808"/>
                </a:cubicBezTo>
                <a:lnTo>
                  <a:pt x="187109" y="1302808"/>
                </a:lnTo>
                <a:cubicBezTo>
                  <a:pt x="187109" y="1342573"/>
                  <a:pt x="219344" y="1374808"/>
                  <a:pt x="259109" y="1374808"/>
                </a:cubicBezTo>
                <a:cubicBezTo>
                  <a:pt x="298874" y="1374808"/>
                  <a:pt x="331109" y="1342573"/>
                  <a:pt x="331109" y="1302808"/>
                </a:cubicBezTo>
                <a:lnTo>
                  <a:pt x="331109" y="510808"/>
                </a:lnTo>
                <a:cubicBezTo>
                  <a:pt x="331109" y="471043"/>
                  <a:pt x="298874" y="438808"/>
                  <a:pt x="259109" y="438808"/>
                </a:cubicBezTo>
                <a:cubicBezTo>
                  <a:pt x="239226" y="438808"/>
                  <a:pt x="221226" y="446867"/>
                  <a:pt x="208197" y="459897"/>
                </a:cubicBezTo>
                <a:close/>
                <a:moveTo>
                  <a:pt x="187101" y="187101"/>
                </a:moveTo>
                <a:cubicBezTo>
                  <a:pt x="302701" y="71501"/>
                  <a:pt x="462402" y="0"/>
                  <a:pt x="638803" y="0"/>
                </a:cubicBezTo>
                <a:cubicBezTo>
                  <a:pt x="991604" y="0"/>
                  <a:pt x="1277606" y="286002"/>
                  <a:pt x="1277606" y="638803"/>
                </a:cubicBezTo>
                <a:lnTo>
                  <a:pt x="1277606" y="1497764"/>
                </a:lnTo>
                <a:cubicBezTo>
                  <a:pt x="859958" y="1616355"/>
                  <a:pt x="417375" y="1616210"/>
                  <a:pt x="0" y="1498771"/>
                </a:cubicBezTo>
                <a:lnTo>
                  <a:pt x="0" y="638803"/>
                </a:lnTo>
                <a:cubicBezTo>
                  <a:pt x="0" y="462403"/>
                  <a:pt x="71500" y="302702"/>
                  <a:pt x="187101" y="187101"/>
                </a:cubicBezTo>
                <a:close/>
              </a:path>
            </a:pathLst>
          </a:custGeom>
          <a:ln/>
        </p:spPr>
        <p:style>
          <a:lnRef idx="3">
            <a:schemeClr val="lt1"/>
          </a:lnRef>
          <a:fillRef idx="1">
            <a:schemeClr val="accent6"/>
          </a:fillRef>
          <a:effectRef idx="1">
            <a:schemeClr val="accent6"/>
          </a:effectRef>
          <a:fontRef idx="minor">
            <a:schemeClr val="lt1"/>
          </a:fontRef>
        </p:style>
        <p:txBody>
          <a:bodyPr rtlCol="0" anchor="ctr"/>
          <a:lstStyle/>
          <a:p>
            <a:pPr algn="ctr"/>
            <a:endParaRPr lang="ko-KR" altLang="en-US" sz="2700"/>
          </a:p>
        </p:txBody>
      </p:sp>
    </p:spTree>
    <p:extLst>
      <p:ext uri="{BB962C8B-B14F-4D97-AF65-F5344CB8AC3E}">
        <p14:creationId xmlns:p14="http://schemas.microsoft.com/office/powerpoint/2010/main" val="11827326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0"/>
            <a:ext cx="10515600" cy="1325563"/>
          </a:xfrm>
        </p:spPr>
        <p:txBody>
          <a:bodyPr>
            <a:normAutofit/>
          </a:bodyPr>
          <a:lstStyle/>
          <a:p>
            <a:pPr>
              <a:lnSpc>
                <a:spcPct val="115000"/>
              </a:lnSpc>
              <a:spcAft>
                <a:spcPts val="0"/>
              </a:spcAft>
            </a:pPr>
            <a:r>
              <a:rPr lang="en-US" b="1" dirty="0">
                <a:solidFill>
                  <a:srgbClr val="000000"/>
                </a:solidFill>
                <a:latin typeface="Times New Roman" panose="02020603050405020304" pitchFamily="18" charset="0"/>
                <a:ea typeface="Calibri" panose="020F0502020204030204" pitchFamily="34" charset="0"/>
                <a:cs typeface="Arial" panose="020B0604020202020204" pitchFamily="34" charset="0"/>
              </a:rPr>
              <a:t>Giving a subcutaneous injection (SC)</a:t>
            </a:r>
            <a:endParaRPr lang="ar-IQ" dirty="0"/>
          </a:p>
        </p:txBody>
      </p:sp>
      <p:sp>
        <p:nvSpPr>
          <p:cNvPr id="3" name="Content Placeholder 2"/>
          <p:cNvSpPr>
            <a:spLocks noGrp="1"/>
          </p:cNvSpPr>
          <p:nvPr>
            <p:ph idx="1"/>
          </p:nvPr>
        </p:nvSpPr>
        <p:spPr>
          <a:xfrm>
            <a:off x="502920" y="1690688"/>
            <a:ext cx="11498580" cy="5167312"/>
          </a:xfrm>
        </p:spPr>
        <p:txBody>
          <a:bodyPr>
            <a:normAutofit fontScale="92500" lnSpcReduction="20000"/>
          </a:bodyPr>
          <a:lstStyle/>
          <a:p>
            <a:pPr marL="342900" lvl="0" indent="-342900" algn="just">
              <a:lnSpc>
                <a:spcPct val="115000"/>
              </a:lnSpc>
              <a:spcAft>
                <a:spcPts val="0"/>
              </a:spcAft>
              <a:buFont typeface="Wingdings" panose="05000000000000000000" pitchFamily="2" charset="2"/>
              <a:buChar char=""/>
              <a:tabLst>
                <a:tab pos="696595" algn="l"/>
              </a:tabLst>
            </a:pPr>
            <a:r>
              <a:rPr lang="en-US" dirty="0">
                <a:latin typeface="Times New Roman" panose="02020603050405020304" pitchFamily="18" charset="0"/>
                <a:ea typeface="Calibri" panose="020F0502020204030204" pitchFamily="34" charset="0"/>
                <a:cs typeface="Arial" panose="020B0604020202020204" pitchFamily="34" charset="0"/>
              </a:rPr>
              <a:t>Put on gloves, and prepare the injection site with alcohol or povidone-iodine solution according to the patient's needs and hospital policy.</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indent="-342900" algn="just">
              <a:lnSpc>
                <a:spcPct val="115000"/>
              </a:lnSpc>
              <a:buFont typeface="Wingdings" panose="05000000000000000000" pitchFamily="2" charset="2"/>
              <a:buChar char=""/>
              <a:tabLst>
                <a:tab pos="696595" algn="l"/>
              </a:tabLst>
            </a:pPr>
            <a:r>
              <a:rPr lang="en-US" dirty="0">
                <a:latin typeface="Times New Roman" panose="02020603050405020304" pitchFamily="18" charset="0"/>
                <a:ea typeface="Calibri" panose="020F0502020204030204" pitchFamily="34" charset="0"/>
                <a:cs typeface="Arial" panose="020B0604020202020204" pitchFamily="34" charset="0"/>
              </a:rPr>
              <a:t>sites: the middle third of the upper outer arm, the middle third of the upper outer thigh, or the abdomen. You may apply a cold compress to the injection site to minimize pain.</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696595" algn="l"/>
              </a:tabLst>
            </a:pPr>
            <a:r>
              <a:rPr lang="en-US" dirty="0">
                <a:latin typeface="Times New Roman" panose="02020603050405020304" pitchFamily="18" charset="0"/>
                <a:ea typeface="Calibri" panose="020F0502020204030204" pitchFamily="34" charset="0"/>
                <a:cs typeface="Arial" panose="020B0604020202020204" pitchFamily="34" charset="0"/>
              </a:rPr>
              <a:t>Pinch the tissue surrounding the site between your index finger and thumb to ensure injection into the subcutaneous tissue. </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696595" algn="l"/>
              </a:tabLst>
            </a:pPr>
            <a:r>
              <a:rPr lang="en-US" dirty="0">
                <a:latin typeface="Times New Roman" panose="02020603050405020304" pitchFamily="18" charset="0"/>
                <a:ea typeface="Calibri" panose="020F0502020204030204" pitchFamily="34" charset="0"/>
                <a:cs typeface="Arial" panose="020B0604020202020204" pitchFamily="34" charset="0"/>
              </a:rPr>
              <a:t>Holding the needle at a </a:t>
            </a:r>
            <a:r>
              <a:rPr lang="en-US" b="1" u="sng" dirty="0">
                <a:latin typeface="Times New Roman" panose="02020603050405020304" pitchFamily="18" charset="0"/>
                <a:ea typeface="Calibri" panose="020F0502020204030204" pitchFamily="34" charset="0"/>
                <a:cs typeface="Arial" panose="020B0604020202020204" pitchFamily="34" charset="0"/>
              </a:rPr>
              <a:t>45- to 90-degree angle</a:t>
            </a:r>
            <a:r>
              <a:rPr lang="en-US" dirty="0">
                <a:latin typeface="Times New Roman" panose="02020603050405020304" pitchFamily="18" charset="0"/>
                <a:ea typeface="Calibri" panose="020F0502020204030204" pitchFamily="34" charset="0"/>
                <a:cs typeface="Arial" panose="020B0604020202020204" pitchFamily="34" charset="0"/>
              </a:rPr>
              <a:t>, quickly insert it into the tissue. </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696595" algn="l"/>
              </a:tabLst>
            </a:pPr>
            <a:r>
              <a:rPr lang="en-US" dirty="0">
                <a:latin typeface="Times New Roman" panose="02020603050405020304" pitchFamily="18" charset="0"/>
                <a:ea typeface="Calibri" panose="020F0502020204030204" pitchFamily="34" charset="0"/>
                <a:cs typeface="Arial" panose="020B0604020202020204" pitchFamily="34" charset="0"/>
              </a:rPr>
              <a:t>Release your grasp on the tissue, and slowly inject the medication.</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696595" algn="l"/>
              </a:tabLst>
            </a:pPr>
            <a:r>
              <a:rPr lang="en-US" dirty="0">
                <a:latin typeface="Times New Roman" panose="02020603050405020304" pitchFamily="18" charset="0"/>
                <a:ea typeface="Calibri" panose="020F0502020204030204" pitchFamily="34" charset="0"/>
                <a:cs typeface="Arial" panose="020B0604020202020204" pitchFamily="34" charset="0"/>
              </a:rPr>
              <a:t>Remove the needle quickly to decrease discomfort. </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696595" algn="l"/>
              </a:tabLst>
            </a:pPr>
            <a:r>
              <a:rPr lang="en-US" dirty="0">
                <a:latin typeface="Times New Roman" panose="02020603050405020304" pitchFamily="18" charset="0"/>
                <a:ea typeface="Calibri" panose="020F0502020204030204" pitchFamily="34" charset="0"/>
                <a:cs typeface="Arial" panose="020B0604020202020204" pitchFamily="34" charset="0"/>
              </a:rPr>
              <a:t>Unless  contraindicated, gently massage the area to facilitate the drug's absorption.</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spTree>
    <p:extLst>
      <p:ext uri="{BB962C8B-B14F-4D97-AF65-F5344CB8AC3E}">
        <p14:creationId xmlns:p14="http://schemas.microsoft.com/office/powerpoint/2010/main" val="39935149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nSpc>
                <a:spcPct val="115000"/>
              </a:lnSpc>
              <a:spcAft>
                <a:spcPts val="0"/>
              </a:spcAft>
            </a:pPr>
            <a:r>
              <a:rPr lang="en-US" b="1" dirty="0">
                <a:solidFill>
                  <a:srgbClr val="000000"/>
                </a:solidFill>
                <a:latin typeface="Times New Roman" panose="02020603050405020304" pitchFamily="18" charset="0"/>
                <a:ea typeface="Calibri" panose="020F0502020204030204" pitchFamily="34" charset="0"/>
                <a:cs typeface="Arial" panose="020B0604020202020204" pitchFamily="34" charset="0"/>
              </a:rPr>
              <a:t>Giving an intradermal injection</a:t>
            </a:r>
            <a:endParaRPr lang="ar-IQ" dirty="0"/>
          </a:p>
        </p:txBody>
      </p:sp>
      <p:sp>
        <p:nvSpPr>
          <p:cNvPr id="3" name="Content Placeholder 2"/>
          <p:cNvSpPr>
            <a:spLocks noGrp="1"/>
          </p:cNvSpPr>
          <p:nvPr>
            <p:ph idx="1"/>
          </p:nvPr>
        </p:nvSpPr>
        <p:spPr>
          <a:xfrm>
            <a:off x="411480" y="1690688"/>
            <a:ext cx="10942320" cy="4486275"/>
          </a:xfrm>
        </p:spPr>
        <p:txBody>
          <a:bodyPr>
            <a:normAutofit/>
          </a:bodyPr>
          <a:lstStyle/>
          <a:p>
            <a:pPr marL="342900" lvl="0" indent="-342900">
              <a:lnSpc>
                <a:spcPct val="115000"/>
              </a:lnSpc>
              <a:buFont typeface="Wingdings" panose="05000000000000000000" pitchFamily="2" charset="2"/>
              <a:buChar char=""/>
              <a:tabLst>
                <a:tab pos="696595" algn="l"/>
              </a:tabLst>
            </a:pPr>
            <a:r>
              <a:rPr lang="en-US" dirty="0">
                <a:latin typeface="Times New Roman" panose="02020603050405020304" pitchFamily="18" charset="0"/>
                <a:ea typeface="Calibri" panose="020F0502020204030204" pitchFamily="34" charset="0"/>
                <a:cs typeface="Arial" panose="020B0604020202020204" pitchFamily="34" charset="0"/>
              </a:rPr>
              <a:t>Put on gloves and pull the patient's skin taut (the site of choice is the inner aspect of the forearm).</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Wingdings" panose="05000000000000000000" pitchFamily="2" charset="2"/>
              <a:buChar char=""/>
              <a:tabLst>
                <a:tab pos="696595" algn="l"/>
              </a:tabLst>
            </a:pPr>
            <a:r>
              <a:rPr lang="en-US" dirty="0">
                <a:latin typeface="Times New Roman" panose="02020603050405020304" pitchFamily="18" charset="0"/>
                <a:ea typeface="Calibri" panose="020F0502020204030204" pitchFamily="34" charset="0"/>
                <a:cs typeface="Arial" panose="020B0604020202020204" pitchFamily="34" charset="0"/>
              </a:rPr>
              <a:t>Insert the needle, bevel up</a:t>
            </a:r>
            <a:r>
              <a:rPr lang="en-US" b="1" u="sng" dirty="0">
                <a:latin typeface="Times New Roman" panose="02020603050405020304" pitchFamily="18" charset="0"/>
                <a:ea typeface="Calibri" panose="020F0502020204030204" pitchFamily="34" charset="0"/>
                <a:cs typeface="Arial" panose="020B0604020202020204" pitchFamily="34" charset="0"/>
              </a:rPr>
              <a:t>, at a 10- to 15-degree </a:t>
            </a:r>
            <a:r>
              <a:rPr lang="en-US" dirty="0">
                <a:latin typeface="Times New Roman" panose="02020603050405020304" pitchFamily="18" charset="0"/>
                <a:ea typeface="Calibri" panose="020F0502020204030204" pitchFamily="34" charset="0"/>
                <a:cs typeface="Arial" panose="020B0604020202020204" pitchFamily="34" charset="0"/>
              </a:rPr>
              <a:t>angle just beneath the outer skin layer.</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Wingdings" panose="05000000000000000000" pitchFamily="2" charset="2"/>
              <a:buChar char=""/>
              <a:tabLst>
                <a:tab pos="696595" algn="l"/>
              </a:tabLst>
            </a:pPr>
            <a:r>
              <a:rPr lang="en-US" dirty="0">
                <a:latin typeface="Times New Roman" panose="02020603050405020304" pitchFamily="18" charset="0"/>
                <a:ea typeface="Calibri" panose="020F0502020204030204" pitchFamily="34" charset="0"/>
                <a:cs typeface="Arial" panose="020B0604020202020204" pitchFamily="34" charset="0"/>
              </a:rPr>
              <a:t>Slowly inject the medication, and watch for a bleb to appear. Quickly remove the needle, being careful to maintain the injection angle. </a:t>
            </a:r>
          </a:p>
          <a:p>
            <a:pPr marL="342900" lvl="0" indent="-342900">
              <a:lnSpc>
                <a:spcPct val="115000"/>
              </a:lnSpc>
              <a:spcAft>
                <a:spcPts val="0"/>
              </a:spcAft>
              <a:buFont typeface="Wingdings" panose="05000000000000000000" pitchFamily="2" charset="2"/>
              <a:buChar char=""/>
              <a:tabLst>
                <a:tab pos="696595" algn="l"/>
              </a:tabLst>
            </a:pPr>
            <a:r>
              <a:rPr lang="en-US" dirty="0">
                <a:latin typeface="Times New Roman" panose="02020603050405020304" pitchFamily="18" charset="0"/>
                <a:ea typeface="Calibri" panose="020F0502020204030204" pitchFamily="34" charset="0"/>
                <a:cs typeface="Arial" panose="020B0604020202020204" pitchFamily="34" charset="0"/>
              </a:rPr>
              <a:t>if the injection is related to allergy testing—draw a circle around the bleb, and avoid massaging the area to avoid interfering with test results.</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spTree>
    <p:extLst>
      <p:ext uri="{BB962C8B-B14F-4D97-AF65-F5344CB8AC3E}">
        <p14:creationId xmlns:p14="http://schemas.microsoft.com/office/powerpoint/2010/main" val="21337991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9580" y="156845"/>
            <a:ext cx="10515600" cy="1325563"/>
          </a:xfrm>
        </p:spPr>
        <p:txBody>
          <a:bodyPr/>
          <a:lstStyle/>
          <a:p>
            <a:r>
              <a:rPr lang="en-US" b="1" dirty="0">
                <a:solidFill>
                  <a:srgbClr val="000000"/>
                </a:solidFill>
                <a:latin typeface="Times New Roman" panose="02020603050405020304" pitchFamily="18" charset="0"/>
                <a:ea typeface="Calibri" panose="020F0502020204030204" pitchFamily="34" charset="0"/>
                <a:cs typeface="Arial" panose="020B0604020202020204" pitchFamily="34" charset="0"/>
              </a:rPr>
              <a:t>I.V. Therapy</a:t>
            </a:r>
            <a:endParaRPr lang="ar-IQ" dirty="0"/>
          </a:p>
        </p:txBody>
      </p:sp>
      <p:sp>
        <p:nvSpPr>
          <p:cNvPr id="3" name="Content Placeholder 2"/>
          <p:cNvSpPr>
            <a:spLocks noGrp="1"/>
          </p:cNvSpPr>
          <p:nvPr>
            <p:ph idx="1"/>
          </p:nvPr>
        </p:nvSpPr>
        <p:spPr>
          <a:xfrm>
            <a:off x="205740" y="1280160"/>
            <a:ext cx="11148060" cy="4896803"/>
          </a:xfrm>
        </p:spPr>
        <p:txBody>
          <a:bodyPr>
            <a:normAutofit lnSpcReduction="10000"/>
          </a:bodyPr>
          <a:lstStyle/>
          <a:p>
            <a:pPr algn="just">
              <a:lnSpc>
                <a:spcPct val="115000"/>
              </a:lnSpc>
              <a:spcAft>
                <a:spcPts val="0"/>
              </a:spcAft>
              <a:tabLst>
                <a:tab pos="685800" algn="l"/>
              </a:tabLst>
            </a:pPr>
            <a:r>
              <a:rPr lang="en-US" b="1" u="dbl" dirty="0">
                <a:effectLst>
                  <a:outerShdw blurRad="50800" dist="38100" dir="2700000" algn="tl">
                    <a:srgbClr val="000000">
                      <a:alpha val="40000"/>
                    </a:srgbClr>
                  </a:outerShdw>
                </a:effectLst>
                <a:latin typeface="Times New Roman" panose="02020603050405020304" pitchFamily="18" charset="0"/>
                <a:ea typeface="Calibri" panose="020F0502020204030204" pitchFamily="34" charset="0"/>
                <a:cs typeface="Arial" panose="020B0604020202020204" pitchFamily="34" charset="0"/>
              </a:rPr>
              <a:t>Introduction</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gn="just">
              <a:lnSpc>
                <a:spcPct val="115000"/>
              </a:lnSpc>
              <a:spcAft>
                <a:spcPts val="0"/>
              </a:spcAft>
              <a:tabLst>
                <a:tab pos="685800" algn="l"/>
              </a:tabLst>
            </a:pPr>
            <a:r>
              <a:rPr lang="en-US" dirty="0">
                <a:latin typeface="Times New Roman" panose="02020603050405020304" pitchFamily="18" charset="0"/>
                <a:ea typeface="Calibri" panose="020F0502020204030204" pitchFamily="34" charset="0"/>
                <a:cs typeface="Arial" panose="020B0604020202020204" pitchFamily="34" charset="0"/>
              </a:rPr>
              <a:t>In children, I.V. therapy may be prescribed to administer medications or to correct a fluid deficit, improve serum electrolyte balance, or provide nourishment. Primary nursing concerns related to pediatric I.V. therapy include correlating the I.V. site and equipment with the reason for therapy and the patient's age, size, and activity level. For example, a foot or scalp vein I.V. site may be used for infants, whereas a peripheral hand or wrist vein may be more suitable for ambulatory older children.</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r>
              <a:rPr lang="en-US" dirty="0">
                <a:latin typeface="Times New Roman" panose="02020603050405020304" pitchFamily="18" charset="0"/>
                <a:ea typeface="Calibri" panose="020F0502020204030204" pitchFamily="34" charset="0"/>
                <a:cs typeface="Arial" panose="020B0604020202020204" pitchFamily="34" charset="0"/>
              </a:rPr>
              <a:t>During I.V. therapy, the nurse must continually assess the patient and the infusion to prevent fluid overload and other complications</a:t>
            </a:r>
            <a:endParaRPr lang="ar-IQ" dirty="0"/>
          </a:p>
        </p:txBody>
      </p:sp>
    </p:spTree>
    <p:extLst>
      <p:ext uri="{BB962C8B-B14F-4D97-AF65-F5344CB8AC3E}">
        <p14:creationId xmlns:p14="http://schemas.microsoft.com/office/powerpoint/2010/main" val="36624649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5300" y="0"/>
            <a:ext cx="10515600" cy="1325563"/>
          </a:xfrm>
        </p:spPr>
        <p:txBody>
          <a:bodyPr/>
          <a:lstStyle/>
          <a:p>
            <a:r>
              <a:rPr lang="en-US" b="1" dirty="0">
                <a:latin typeface="Times New Roman" panose="02020603050405020304" pitchFamily="18" charset="0"/>
                <a:ea typeface="Calibri" panose="020F0502020204030204" pitchFamily="34" charset="0"/>
                <a:cs typeface="Arial" panose="020B0604020202020204" pitchFamily="34" charset="0"/>
              </a:rPr>
              <a:t>Equipment</a:t>
            </a:r>
            <a:endParaRPr lang="ar-IQ" dirty="0"/>
          </a:p>
        </p:txBody>
      </p:sp>
      <p:sp>
        <p:nvSpPr>
          <p:cNvPr id="3" name="Content Placeholder 2"/>
          <p:cNvSpPr>
            <a:spLocks noGrp="1"/>
          </p:cNvSpPr>
          <p:nvPr>
            <p:ph idx="1"/>
          </p:nvPr>
        </p:nvSpPr>
        <p:spPr>
          <a:xfrm>
            <a:off x="495300" y="1097280"/>
            <a:ext cx="11231880" cy="5760720"/>
          </a:xfrm>
        </p:spPr>
        <p:txBody>
          <a:bodyPr>
            <a:normAutofit fontScale="92500" lnSpcReduction="20000"/>
          </a:bodyPr>
          <a:lstStyle/>
          <a:p>
            <a:pPr marL="342900" lvl="0" indent="-342900" algn="just">
              <a:lnSpc>
                <a:spcPct val="115000"/>
              </a:lnSpc>
              <a:spcAft>
                <a:spcPts val="0"/>
              </a:spcAft>
              <a:buFont typeface="Wingdings" panose="05000000000000000000" pitchFamily="2" charset="2"/>
              <a:buChar char=""/>
              <a:tabLst>
                <a:tab pos="685800" algn="l"/>
              </a:tabLst>
            </a:pPr>
            <a:r>
              <a:rPr lang="en-US" dirty="0">
                <a:latin typeface="Times New Roman" panose="02020603050405020304" pitchFamily="18" charset="0"/>
                <a:ea typeface="Calibri" panose="020F0502020204030204" pitchFamily="34" charset="0"/>
                <a:cs typeface="Arial" panose="020B0604020202020204" pitchFamily="34" charset="0"/>
              </a:rPr>
              <a:t>Prescribed I.V. fluid </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685800" algn="l"/>
              </a:tabLst>
            </a:pPr>
            <a:r>
              <a:rPr lang="en-US" dirty="0">
                <a:latin typeface="Times New Roman" panose="02020603050405020304" pitchFamily="18" charset="0"/>
                <a:ea typeface="Calibri" panose="020F0502020204030204" pitchFamily="34" charset="0"/>
                <a:cs typeface="Arial" panose="020B0604020202020204" pitchFamily="34" charset="0"/>
              </a:rPr>
              <a:t>volume-control set with micro drip tubing </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685800" algn="l"/>
              </a:tabLst>
            </a:pPr>
            <a:r>
              <a:rPr lang="en-US" dirty="0">
                <a:latin typeface="Times New Roman" panose="02020603050405020304" pitchFamily="18" charset="0"/>
                <a:ea typeface="Calibri" panose="020F0502020204030204" pitchFamily="34" charset="0"/>
                <a:cs typeface="Arial" panose="020B0604020202020204" pitchFamily="34" charset="0"/>
              </a:rPr>
              <a:t>infusion pump </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685800" algn="l"/>
              </a:tabLst>
            </a:pPr>
            <a:r>
              <a:rPr lang="en-US" dirty="0">
                <a:latin typeface="Times New Roman" panose="02020603050405020304" pitchFamily="18" charset="0"/>
                <a:ea typeface="Calibri" panose="020F0502020204030204" pitchFamily="34" charset="0"/>
                <a:cs typeface="Arial" panose="020B0604020202020204" pitchFamily="34" charset="0"/>
              </a:rPr>
              <a:t>I.V. pole </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685800" algn="l"/>
              </a:tabLst>
            </a:pPr>
            <a:r>
              <a:rPr lang="en-US" dirty="0">
                <a:latin typeface="Times New Roman" panose="02020603050405020304" pitchFamily="18" charset="0"/>
                <a:ea typeface="Calibri" panose="020F0502020204030204" pitchFamily="34" charset="0"/>
                <a:cs typeface="Arial" panose="020B0604020202020204" pitchFamily="34" charset="0"/>
              </a:rPr>
              <a:t>normal saline solution or sterile dextrose 5% in water (D5W) for injection</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685800" algn="l"/>
              </a:tabLst>
            </a:pPr>
            <a:r>
              <a:rPr lang="en-US" dirty="0">
                <a:latin typeface="Times New Roman" panose="02020603050405020304" pitchFamily="18" charset="0"/>
                <a:ea typeface="Calibri" panose="020F0502020204030204" pitchFamily="34" charset="0"/>
                <a:cs typeface="Arial" panose="020B0604020202020204" pitchFamily="34" charset="0"/>
              </a:rPr>
              <a:t>povidone-iodine solution </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685800" algn="l"/>
              </a:tabLst>
            </a:pPr>
            <a:r>
              <a:rPr lang="en-US" dirty="0">
                <a:latin typeface="Times New Roman" panose="02020603050405020304" pitchFamily="18" charset="0"/>
                <a:ea typeface="Calibri" panose="020F0502020204030204" pitchFamily="34" charset="0"/>
                <a:cs typeface="Arial" panose="020B0604020202020204" pitchFamily="34" charset="0"/>
              </a:rPr>
              <a:t>alcohol pads </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685800" algn="l"/>
              </a:tabLst>
            </a:pPr>
            <a:r>
              <a:rPr lang="en-US" dirty="0">
                <a:latin typeface="Times New Roman" panose="02020603050405020304" pitchFamily="18" charset="0"/>
                <a:ea typeface="Calibri" panose="020F0502020204030204" pitchFamily="34" charset="0"/>
                <a:cs typeface="Arial" panose="020B0604020202020204" pitchFamily="34" charset="0"/>
              </a:rPr>
              <a:t>3-ml syringe </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685800" algn="l"/>
              </a:tabLst>
            </a:pPr>
            <a:r>
              <a:rPr lang="en-US" dirty="0">
                <a:latin typeface="Times New Roman" panose="02020603050405020304" pitchFamily="18" charset="0"/>
                <a:ea typeface="Calibri" panose="020F0502020204030204" pitchFamily="34" charset="0"/>
                <a:cs typeface="Arial" panose="020B0604020202020204" pitchFamily="34" charset="0"/>
              </a:rPr>
              <a:t>child-size butterfly needle or I.V. catheter</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685800" algn="l"/>
              </a:tabLst>
            </a:pPr>
            <a:r>
              <a:rPr lang="en-US" dirty="0">
                <a:latin typeface="Times New Roman" panose="02020603050405020304" pitchFamily="18" charset="0"/>
                <a:ea typeface="Calibri" panose="020F0502020204030204" pitchFamily="34" charset="0"/>
                <a:cs typeface="Arial" panose="020B0604020202020204" pitchFamily="34" charset="0"/>
              </a:rPr>
              <a:t>tourniquet • ½″ or 1″</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tabLst>
                <a:tab pos="685800" algn="l"/>
              </a:tabLst>
            </a:pPr>
            <a:r>
              <a:rPr lang="en-US" dirty="0">
                <a:latin typeface="Times New Roman" panose="02020603050405020304" pitchFamily="18" charset="0"/>
                <a:ea typeface="Calibri" panose="020F0502020204030204" pitchFamily="34" charset="0"/>
                <a:cs typeface="Arial" panose="020B0604020202020204" pitchFamily="34" charset="0"/>
              </a:rPr>
              <a:t>sterile tape gloves</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pic>
        <p:nvPicPr>
          <p:cNvPr id="4" name="Picture 3"/>
          <p:cNvPicPr>
            <a:picLocks noChangeAspect="1"/>
          </p:cNvPicPr>
          <p:nvPr/>
        </p:nvPicPr>
        <p:blipFill>
          <a:blip r:embed="rId2"/>
          <a:stretch>
            <a:fillRect/>
          </a:stretch>
        </p:blipFill>
        <p:spPr>
          <a:xfrm>
            <a:off x="10264140" y="-3175"/>
            <a:ext cx="1909763" cy="3152804"/>
          </a:xfrm>
          <a:prstGeom prst="rect">
            <a:avLst/>
          </a:prstGeom>
        </p:spPr>
      </p:pic>
    </p:spTree>
    <p:extLst>
      <p:ext uri="{BB962C8B-B14F-4D97-AF65-F5344CB8AC3E}">
        <p14:creationId xmlns:p14="http://schemas.microsoft.com/office/powerpoint/2010/main" val="31088016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2920" y="0"/>
            <a:ext cx="10515600" cy="1188720"/>
          </a:xfrm>
        </p:spPr>
        <p:txBody>
          <a:bodyPr/>
          <a:lstStyle/>
          <a:p>
            <a:r>
              <a:rPr lang="en-US" b="1" u="dbl" dirty="0">
                <a:latin typeface="Times New Roman" panose="02020603050405020304" pitchFamily="18" charset="0"/>
                <a:ea typeface="Calibri" panose="020F0502020204030204" pitchFamily="34" charset="0"/>
                <a:cs typeface="Arial" panose="020B0604020202020204" pitchFamily="34" charset="0"/>
              </a:rPr>
              <a:t>Common pediatric I.V. sites</a:t>
            </a:r>
            <a:endParaRPr lang="ar-IQ" dirty="0"/>
          </a:p>
        </p:txBody>
      </p:sp>
      <p:sp>
        <p:nvSpPr>
          <p:cNvPr id="3" name="Content Placeholder 2"/>
          <p:cNvSpPr>
            <a:spLocks noGrp="1"/>
          </p:cNvSpPr>
          <p:nvPr>
            <p:ph idx="1"/>
          </p:nvPr>
        </p:nvSpPr>
        <p:spPr>
          <a:xfrm>
            <a:off x="312420" y="1188720"/>
            <a:ext cx="5448300" cy="5189219"/>
          </a:xfrm>
        </p:spPr>
        <p:txBody>
          <a:bodyPr>
            <a:normAutofit/>
          </a:bodyPr>
          <a:lstStyle/>
          <a:p>
            <a:pPr algn="just">
              <a:lnSpc>
                <a:spcPct val="115000"/>
              </a:lnSpc>
              <a:spcAft>
                <a:spcPts val="0"/>
              </a:spcAft>
              <a:tabLst>
                <a:tab pos="685800" algn="l"/>
              </a:tabLst>
            </a:pPr>
            <a:r>
              <a:rPr lang="en-US" dirty="0">
                <a:latin typeface="Times New Roman" panose="02020603050405020304" pitchFamily="18" charset="0"/>
                <a:ea typeface="Calibri" panose="020F0502020204030204" pitchFamily="34" charset="0"/>
                <a:cs typeface="Arial" panose="020B0604020202020204" pitchFamily="34" charset="0"/>
              </a:rPr>
              <a:t>Below are the most common sites for I.V. therapy in infants and children. Peripheral hand, wrist, or foot veins are typically used with older children, whereas scalp veins are used with an infant.</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pic>
        <p:nvPicPr>
          <p:cNvPr id="5" name="Picture 4"/>
          <p:cNvPicPr>
            <a:picLocks noChangeAspect="1"/>
          </p:cNvPicPr>
          <p:nvPr/>
        </p:nvPicPr>
        <p:blipFill>
          <a:blip r:embed="rId2"/>
          <a:stretch>
            <a:fillRect/>
          </a:stretch>
        </p:blipFill>
        <p:spPr>
          <a:xfrm>
            <a:off x="5925502" y="845820"/>
            <a:ext cx="5954078" cy="5829299"/>
          </a:xfrm>
          <a:prstGeom prst="rect">
            <a:avLst/>
          </a:prstGeom>
        </p:spPr>
      </p:pic>
    </p:spTree>
    <p:extLst>
      <p:ext uri="{BB962C8B-B14F-4D97-AF65-F5344CB8AC3E}">
        <p14:creationId xmlns:p14="http://schemas.microsoft.com/office/powerpoint/2010/main" val="32507154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1"/>
            <a:ext cx="11033760" cy="1028700"/>
          </a:xfrm>
        </p:spPr>
        <p:txBody>
          <a:bodyPr>
            <a:normAutofit/>
          </a:bodyPr>
          <a:lstStyle/>
          <a:p>
            <a:r>
              <a:rPr lang="en-US" b="1" u="dbl" dirty="0">
                <a:latin typeface="Times New Roman" panose="02020603050405020304" pitchFamily="18" charset="0"/>
                <a:ea typeface="Calibri" panose="020F0502020204030204" pitchFamily="34" charset="0"/>
                <a:cs typeface="Arial" panose="020B0604020202020204" pitchFamily="34" charset="0"/>
              </a:rPr>
              <a:t>Procedure</a:t>
            </a:r>
            <a:endParaRPr lang="ar-IQ" dirty="0"/>
          </a:p>
        </p:txBody>
      </p:sp>
      <p:sp>
        <p:nvSpPr>
          <p:cNvPr id="3" name="Content Placeholder 2"/>
          <p:cNvSpPr>
            <a:spLocks noGrp="1"/>
          </p:cNvSpPr>
          <p:nvPr>
            <p:ph idx="1"/>
          </p:nvPr>
        </p:nvSpPr>
        <p:spPr>
          <a:xfrm>
            <a:off x="0" y="1028700"/>
            <a:ext cx="12192000" cy="5829299"/>
          </a:xfrm>
        </p:spPr>
        <p:txBody>
          <a:bodyPr>
            <a:normAutofit lnSpcReduction="10000"/>
          </a:bodyPr>
          <a:lstStyle/>
          <a:p>
            <a:pPr marL="342900" lvl="0" indent="-342900" algn="just">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Match the name on the patient's wristband with the name on the physician's order (or on the medication card). Ask the patient (or his parents) whether he's allergic to povidone-iodine solution or to any type of tape.</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Explain the reason for the I.V. therapy. </a:t>
            </a:r>
          </a:p>
          <a:p>
            <a:pPr marL="342900" lvl="0" indent="-342900" algn="just">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Be sure to have a staff member available to assist you.</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Wash your hands and put on gloves.</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Select the insertion site for the butterfly needle or catheter, and avoid placing the I.V. line in the patient's dominant arm or in areas of flexion if possible. Avoid previously used or sclerotic veins.</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spcAft>
                <a:spcPts val="0"/>
              </a:spcAft>
              <a:buFont typeface="Wingdings" panose="05000000000000000000" pitchFamily="2" charset="2"/>
              <a:buChar char=""/>
            </a:pPr>
            <a:r>
              <a:rPr lang="en-US" dirty="0">
                <a:latin typeface="Times New Roman" panose="02020603050405020304" pitchFamily="18" charset="0"/>
                <a:ea typeface="Calibri" panose="020F0502020204030204" pitchFamily="34" charset="0"/>
                <a:cs typeface="Arial" panose="020B0604020202020204" pitchFamily="34" charset="0"/>
              </a:rPr>
              <a:t>To locate an appropriate scalp vein, carefully palpate the site for arterial pulsations. If you feel these pulsations, select another site. </a:t>
            </a:r>
            <a:endParaRPr lang="en-US" sz="2400" dirty="0">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spTree>
    <p:extLst>
      <p:ext uri="{BB962C8B-B14F-4D97-AF65-F5344CB8AC3E}">
        <p14:creationId xmlns:p14="http://schemas.microsoft.com/office/powerpoint/2010/main" val="21390869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320040"/>
            <a:ext cx="12024360" cy="6537960"/>
          </a:xfrm>
        </p:spPr>
        <p:txBody>
          <a:bodyPr>
            <a:noAutofit/>
          </a:bodyPr>
          <a:lstStyle/>
          <a:p>
            <a:pPr marL="342900" lvl="0" indent="-342900" algn="just">
              <a:lnSpc>
                <a:spcPct val="115000"/>
              </a:lnSpc>
              <a:buFont typeface="Wingdings" panose="05000000000000000000" pitchFamily="2" charset="2"/>
              <a:buChar char=""/>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To find an appropriate peripheral site, apply a tourniquet to the patient's arm or leg and palpate a suitable vein.</a:t>
            </a:r>
          </a:p>
          <a:p>
            <a:pPr marL="342900" lvl="0" indent="-342900" algn="just">
              <a:lnSpc>
                <a:spcPct val="115000"/>
              </a:lnSpc>
              <a:buFont typeface="Wingdings" panose="05000000000000000000" pitchFamily="2" charset="2"/>
              <a:buChar char=""/>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If you're inserting a butterfly needle, flush the tubing connected to the butterfly with D5W or normal saline solution.</a:t>
            </a:r>
          </a:p>
          <a:p>
            <a:pPr marL="342900" lvl="0" indent="-342900" algn="just">
              <a:lnSpc>
                <a:spcPct val="115000"/>
              </a:lnSpc>
              <a:buFont typeface="Wingdings" panose="05000000000000000000" pitchFamily="2" charset="2"/>
              <a:buChar char=""/>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Clean the insertion site. Unless contraindicated, use a pad containing povidone-iodine solution. Wipe with a circular motion from the insertion site's center to the outer rim. Let the solution dry.</a:t>
            </a:r>
          </a:p>
          <a:p>
            <a:pPr marL="342900" lvl="0" indent="-342900" algn="just">
              <a:lnSpc>
                <a:spcPct val="115000"/>
              </a:lnSpc>
              <a:buFont typeface="Wingdings" panose="05000000000000000000" pitchFamily="2" charset="2"/>
              <a:buChar char=""/>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Insert the I.V. needle into the vein. Watch for blood to flow backward through the catheter or butterfly tubing, which confirms that the needle is in the vein.</a:t>
            </a:r>
          </a:p>
          <a:p>
            <a:pPr marL="342900" lvl="0" indent="-342900" algn="just">
              <a:lnSpc>
                <a:spcPct val="115000"/>
              </a:lnSpc>
              <a:buFont typeface="Wingdings" panose="05000000000000000000" pitchFamily="2" charset="2"/>
              <a:buChar char=""/>
            </a:pP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Loosen the tourniquet, and attach the I.V. tubing to the hub of the needle or catheter. Begin the infusion.</a:t>
            </a:r>
          </a:p>
          <a:p>
            <a:pPr marL="342900" lvl="0" indent="-342900" algn="just">
              <a:lnSpc>
                <a:spcPct val="115000"/>
              </a:lnSpc>
              <a:buFont typeface="Wingdings" panose="05000000000000000000" pitchFamily="2" charset="2"/>
              <a:buChar char=""/>
            </a:pPr>
            <a:r>
              <a:rPr lang="en-US" sz="2400">
                <a:solidFill>
                  <a:prstClr val="black"/>
                </a:solidFill>
                <a:latin typeface="Times New Roman" panose="02020603050405020304" pitchFamily="18" charset="0"/>
                <a:ea typeface="Calibri" panose="020F0502020204030204" pitchFamily="34" charset="0"/>
                <a:cs typeface="Arial" panose="020B0604020202020204" pitchFamily="34" charset="0"/>
              </a:rPr>
              <a:t>Secure and </a:t>
            </a:r>
            <a:r>
              <a:rPr lang="en-US" sz="2400" dirty="0">
                <a:solidFill>
                  <a:prstClr val="black"/>
                </a:solidFill>
                <a:latin typeface="Times New Roman" panose="02020603050405020304" pitchFamily="18" charset="0"/>
                <a:ea typeface="Calibri" panose="020F0502020204030204" pitchFamily="34" charset="0"/>
                <a:cs typeface="Arial" panose="020B0604020202020204" pitchFamily="34" charset="0"/>
              </a:rPr>
              <a:t>protect the I.V. line as needed. </a:t>
            </a:r>
          </a:p>
        </p:txBody>
      </p:sp>
    </p:spTree>
    <p:extLst>
      <p:ext uri="{BB962C8B-B14F-4D97-AF65-F5344CB8AC3E}">
        <p14:creationId xmlns:p14="http://schemas.microsoft.com/office/powerpoint/2010/main" val="25719764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dbl" dirty="0">
                <a:latin typeface="Times New Roman" panose="02020603050405020304" pitchFamily="18" charset="0"/>
                <a:ea typeface="Calibri" panose="020F0502020204030204" pitchFamily="34" charset="0"/>
                <a:cs typeface="Arial" panose="020B0604020202020204" pitchFamily="34" charset="0"/>
              </a:rPr>
              <a:t>Complications of I.V therapy</a:t>
            </a:r>
            <a:endParaRPr lang="ar-IQ" dirty="0"/>
          </a:p>
        </p:txBody>
      </p:sp>
      <p:sp>
        <p:nvSpPr>
          <p:cNvPr id="3" name="Content Placeholder 2"/>
          <p:cNvSpPr>
            <a:spLocks noGrp="1"/>
          </p:cNvSpPr>
          <p:nvPr>
            <p:ph idx="1"/>
          </p:nvPr>
        </p:nvSpPr>
        <p:spPr/>
        <p:txBody>
          <a:bodyPr/>
          <a:lstStyle/>
          <a:p>
            <a:pPr marL="514350" indent="-514350" algn="just">
              <a:lnSpc>
                <a:spcPct val="115000"/>
              </a:lnSpc>
              <a:spcAft>
                <a:spcPts val="0"/>
              </a:spcAft>
              <a:buFont typeface="+mj-lt"/>
              <a:buAutoNum type="arabicPeriod"/>
              <a:tabLst>
                <a:tab pos="1143000" algn="l"/>
              </a:tabLst>
            </a:pPr>
            <a:r>
              <a:rPr lang="en-US" dirty="0">
                <a:latin typeface="Times New Roman" panose="02020603050405020304" pitchFamily="18" charset="0"/>
                <a:ea typeface="Calibri" panose="020F0502020204030204" pitchFamily="34" charset="0"/>
                <a:cs typeface="Arial" panose="020B0604020202020204" pitchFamily="34" charset="0"/>
              </a:rPr>
              <a:t>Infection</a:t>
            </a:r>
          </a:p>
          <a:p>
            <a:pPr marL="514350" indent="-514350" algn="just">
              <a:lnSpc>
                <a:spcPct val="115000"/>
              </a:lnSpc>
              <a:spcAft>
                <a:spcPts val="0"/>
              </a:spcAft>
              <a:buFont typeface="+mj-lt"/>
              <a:buAutoNum type="arabicPeriod"/>
              <a:tabLst>
                <a:tab pos="1143000" algn="l"/>
              </a:tabLst>
            </a:pPr>
            <a:r>
              <a:rPr lang="en-US" dirty="0">
                <a:latin typeface="Times New Roman" panose="02020603050405020304" pitchFamily="18" charset="0"/>
                <a:ea typeface="Calibri" panose="020F0502020204030204" pitchFamily="34" charset="0"/>
                <a:cs typeface="Arial" panose="020B0604020202020204" pitchFamily="34" charset="0"/>
              </a:rPr>
              <a:t>Fluid Overload</a:t>
            </a:r>
          </a:p>
          <a:p>
            <a:pPr marL="514350" indent="-514350" algn="just">
              <a:lnSpc>
                <a:spcPct val="115000"/>
              </a:lnSpc>
              <a:spcAft>
                <a:spcPts val="0"/>
              </a:spcAft>
              <a:buFont typeface="+mj-lt"/>
              <a:buAutoNum type="arabicPeriod"/>
              <a:tabLst>
                <a:tab pos="1143000" algn="l"/>
              </a:tabLst>
            </a:pPr>
            <a:r>
              <a:rPr lang="en-US" dirty="0">
                <a:latin typeface="Times New Roman" panose="02020603050405020304" pitchFamily="18" charset="0"/>
                <a:ea typeface="Calibri" panose="020F0502020204030204" pitchFamily="34" charset="0"/>
                <a:cs typeface="Arial" panose="020B0604020202020204" pitchFamily="34" charset="0"/>
              </a:rPr>
              <a:t>Electrolyte Imbalance</a:t>
            </a:r>
          </a:p>
          <a:p>
            <a:pPr marL="514350" indent="-514350" algn="just">
              <a:lnSpc>
                <a:spcPct val="115000"/>
              </a:lnSpc>
              <a:spcAft>
                <a:spcPts val="0"/>
              </a:spcAft>
              <a:buFont typeface="+mj-lt"/>
              <a:buAutoNum type="arabicPeriod"/>
              <a:tabLst>
                <a:tab pos="1143000" algn="l"/>
              </a:tabLst>
            </a:pPr>
            <a:r>
              <a:rPr lang="en-US" dirty="0">
                <a:latin typeface="Times New Roman" panose="02020603050405020304" pitchFamily="18" charset="0"/>
                <a:ea typeface="Calibri" panose="020F0502020204030204" pitchFamily="34" charset="0"/>
                <a:cs typeface="Arial" panose="020B0604020202020204" pitchFamily="34" charset="0"/>
              </a:rPr>
              <a:t>Infiltration</a:t>
            </a:r>
          </a:p>
          <a:p>
            <a:pPr marL="514350" indent="-514350" algn="just">
              <a:lnSpc>
                <a:spcPct val="115000"/>
              </a:lnSpc>
              <a:spcAft>
                <a:spcPts val="0"/>
              </a:spcAft>
              <a:buFont typeface="+mj-lt"/>
              <a:buAutoNum type="arabicPeriod"/>
              <a:tabLst>
                <a:tab pos="1143000" algn="l"/>
              </a:tabLst>
            </a:pPr>
            <a:r>
              <a:rPr lang="en-US" dirty="0">
                <a:latin typeface="Times New Roman" panose="02020603050405020304" pitchFamily="18" charset="0"/>
                <a:ea typeface="Calibri" panose="020F0502020204030204" pitchFamily="34" charset="0"/>
                <a:cs typeface="Arial" panose="020B0604020202020204" pitchFamily="34" charset="0"/>
              </a:rPr>
              <a:t>Circulatory Impairment</a:t>
            </a:r>
            <a:endParaRPr lang="ar-IQ" dirty="0"/>
          </a:p>
        </p:txBody>
      </p:sp>
    </p:spTree>
    <p:extLst>
      <p:ext uri="{BB962C8B-B14F-4D97-AF65-F5344CB8AC3E}">
        <p14:creationId xmlns:p14="http://schemas.microsoft.com/office/powerpoint/2010/main" val="14179551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20" y="182245"/>
            <a:ext cx="10515600" cy="1325563"/>
          </a:xfrm>
        </p:spPr>
        <p:txBody>
          <a:bodyPr/>
          <a:lstStyle/>
          <a:p>
            <a:r>
              <a:rPr lang="en-US" b="1" u="sng" dirty="0">
                <a:effectLst>
                  <a:outerShdw blurRad="50800" dist="38100" algn="l">
                    <a:srgbClr val="000000">
                      <a:alpha val="40000"/>
                    </a:srgbClr>
                  </a:outerShdw>
                </a:effectLst>
                <a:latin typeface="Times New Roman" panose="02020603050405020304" pitchFamily="18" charset="0"/>
                <a:ea typeface="Calibri" panose="020F0502020204030204" pitchFamily="34" charset="0"/>
                <a:cs typeface="Arial" panose="020B0604020202020204" pitchFamily="34" charset="0"/>
              </a:rPr>
              <a:t>Administration of safe medication</a:t>
            </a:r>
            <a:r>
              <a:rPr lang="en-US" b="1" dirty="0">
                <a:effectLst>
                  <a:outerShdw blurRad="50800" dist="38100" algn="l">
                    <a:srgbClr val="000000">
                      <a:alpha val="40000"/>
                    </a:srgbClr>
                  </a:outerShdw>
                </a:effectLst>
                <a:latin typeface="Times New Roman" panose="02020603050405020304" pitchFamily="18" charset="0"/>
                <a:ea typeface="Calibri" panose="020F0502020204030204" pitchFamily="34" charset="0"/>
                <a:cs typeface="Arial" panose="020B0604020202020204" pitchFamily="34" charset="0"/>
              </a:rPr>
              <a:t>:</a:t>
            </a:r>
            <a:endParaRPr lang="ar-IQ" dirty="0"/>
          </a:p>
        </p:txBody>
      </p:sp>
      <p:sp>
        <p:nvSpPr>
          <p:cNvPr id="3" name="Content Placeholder 2"/>
          <p:cNvSpPr>
            <a:spLocks noGrp="1"/>
          </p:cNvSpPr>
          <p:nvPr>
            <p:ph idx="1"/>
          </p:nvPr>
        </p:nvSpPr>
        <p:spPr>
          <a:xfrm>
            <a:off x="320040" y="1825625"/>
            <a:ext cx="11871960" cy="4351338"/>
          </a:xfrm>
        </p:spPr>
        <p:txBody>
          <a:bodyPr>
            <a:normAutofit/>
          </a:bodyPr>
          <a:lstStyle/>
          <a:p>
            <a:pPr>
              <a:lnSpc>
                <a:spcPct val="115000"/>
              </a:lnSpc>
              <a:spcAft>
                <a:spcPts val="0"/>
              </a:spcAft>
              <a:tabLst>
                <a:tab pos="1948815" algn="l"/>
              </a:tabLst>
            </a:pPr>
            <a:r>
              <a:rPr lang="en-US" dirty="0">
                <a:latin typeface="Times New Roman" panose="02020603050405020304" pitchFamily="18" charset="0"/>
                <a:ea typeface="Calibri" panose="020F0502020204030204" pitchFamily="34" charset="0"/>
                <a:cs typeface="Arial" panose="020B0604020202020204" pitchFamily="34" charset="0"/>
              </a:rPr>
              <a:t>To administer medications safely, the following actions are necessary:</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mj-lt"/>
              <a:buAutoNum type="arabicPeriod"/>
              <a:tabLst>
                <a:tab pos="457200" algn="l"/>
                <a:tab pos="1948815" algn="l"/>
              </a:tabLst>
            </a:pPr>
            <a:r>
              <a:rPr lang="en-US" dirty="0">
                <a:latin typeface="Times New Roman" panose="02020603050405020304" pitchFamily="18" charset="0"/>
                <a:ea typeface="Calibri" panose="020F0502020204030204" pitchFamily="34" charset="0"/>
                <a:cs typeface="Arial" panose="020B0604020202020204" pitchFamily="34" charset="0"/>
              </a:rPr>
              <a:t>Accurately interpret the doctor's order.</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mj-lt"/>
              <a:buAutoNum type="arabicPeriod"/>
              <a:tabLst>
                <a:tab pos="457200" algn="l"/>
                <a:tab pos="1948815" algn="l"/>
              </a:tabLst>
            </a:pPr>
            <a:r>
              <a:rPr lang="en-US" dirty="0">
                <a:latin typeface="Times New Roman" panose="02020603050405020304" pitchFamily="18" charset="0"/>
                <a:ea typeface="Calibri" panose="020F0502020204030204" pitchFamily="34" charset="0"/>
                <a:cs typeface="Arial" panose="020B0604020202020204" pitchFamily="34" charset="0"/>
              </a:rPr>
              <a:t>Accurately calculate the amount of drug to be given for the prescribed dose.</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mj-lt"/>
              <a:buAutoNum type="arabicPeriod"/>
              <a:tabLst>
                <a:tab pos="457200" algn="l"/>
                <a:tab pos="1948815" algn="l"/>
              </a:tabLst>
            </a:pPr>
            <a:r>
              <a:rPr lang="en-US" dirty="0">
                <a:latin typeface="Times New Roman" panose="02020603050405020304" pitchFamily="18" charset="0"/>
                <a:ea typeface="Calibri" panose="020F0502020204030204" pitchFamily="34" charset="0"/>
                <a:cs typeface="Arial" panose="020B0604020202020204" pitchFamily="34" charset="0"/>
              </a:rPr>
              <a:t>Using the five rights for drug administration such as:</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nSpc>
                <a:spcPct val="115000"/>
              </a:lnSpc>
              <a:spcAft>
                <a:spcPts val="0"/>
              </a:spcAft>
              <a:tabLst>
                <a:tab pos="1948815" algn="l"/>
              </a:tabLst>
            </a:pPr>
            <a:r>
              <a:rPr lang="en-US" dirty="0">
                <a:latin typeface="Times New Roman" panose="02020603050405020304" pitchFamily="18" charset="0"/>
                <a:ea typeface="Calibri" panose="020F0502020204030204" pitchFamily="34" charset="0"/>
                <a:cs typeface="Arial" panose="020B0604020202020204" pitchFamily="34" charset="0"/>
              </a:rPr>
              <a:t>Right medication, Right dose, Right patient, Right time and Right route of administration.</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mj-lt"/>
              <a:buAutoNum type="arabicPeriod"/>
              <a:tabLst>
                <a:tab pos="457200" algn="l"/>
                <a:tab pos="1948815" algn="l"/>
              </a:tabLst>
            </a:pPr>
            <a:r>
              <a:rPr lang="en-US" dirty="0">
                <a:latin typeface="Times New Roman" panose="02020603050405020304" pitchFamily="18" charset="0"/>
                <a:ea typeface="Calibri" panose="020F0502020204030204" pitchFamily="34" charset="0"/>
                <a:cs typeface="Arial" panose="020B0604020202020204" pitchFamily="34" charset="0"/>
              </a:rPr>
              <a:t>Document medication administration according to agency policy.</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spTree>
    <p:extLst>
      <p:ext uri="{BB962C8B-B14F-4D97-AF65-F5344CB8AC3E}">
        <p14:creationId xmlns:p14="http://schemas.microsoft.com/office/powerpoint/2010/main" val="6428212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3206" y="365126"/>
            <a:ext cx="10780594" cy="699400"/>
          </a:xfrm>
        </p:spPr>
        <p:txBody>
          <a:bodyPr>
            <a:normAutofit fontScale="90000"/>
          </a:bodyPr>
          <a:lstStyle/>
          <a:p>
            <a:pPr>
              <a:lnSpc>
                <a:spcPct val="115000"/>
              </a:lnSpc>
              <a:spcAft>
                <a:spcPts val="0"/>
              </a:spcAft>
            </a:pPr>
            <a:r>
              <a:rPr lang="en-US" b="1" dirty="0">
                <a:solidFill>
                  <a:srgbClr val="000000"/>
                </a:solidFill>
                <a:latin typeface="Times New Roman" panose="02020603050405020304" pitchFamily="18" charset="0"/>
                <a:ea typeface="Calibri" panose="020F0502020204030204" pitchFamily="34" charset="0"/>
                <a:cs typeface="Arial" panose="020B0604020202020204" pitchFamily="34" charset="0"/>
              </a:rPr>
              <a:t>Calculating Safe Dosages for Children</a:t>
            </a:r>
            <a:endParaRPr lang="ar-IQ" dirty="0"/>
          </a:p>
        </p:txBody>
      </p:sp>
      <p:sp>
        <p:nvSpPr>
          <p:cNvPr id="3" name="Content Placeholder 2"/>
          <p:cNvSpPr>
            <a:spLocks noGrp="1"/>
          </p:cNvSpPr>
          <p:nvPr>
            <p:ph idx="1"/>
          </p:nvPr>
        </p:nvSpPr>
        <p:spPr>
          <a:xfrm>
            <a:off x="342900" y="1280160"/>
            <a:ext cx="11338560" cy="4896803"/>
          </a:xfrm>
        </p:spPr>
        <p:txBody>
          <a:bodyPr/>
          <a:lstStyle/>
          <a:p>
            <a:pPr>
              <a:lnSpc>
                <a:spcPct val="115000"/>
              </a:lnSpc>
              <a:spcAft>
                <a:spcPts val="0"/>
              </a:spcAft>
              <a:tabLst>
                <a:tab pos="1948815" algn="l"/>
              </a:tabLst>
            </a:pPr>
            <a:r>
              <a:rPr lang="en-US" b="1" u="sng" dirty="0">
                <a:latin typeface="Times New Roman" panose="02020603050405020304" pitchFamily="18" charset="0"/>
                <a:ea typeface="Calibri" panose="020F0502020204030204" pitchFamily="34" charset="0"/>
                <a:cs typeface="Arial" panose="020B0604020202020204" pitchFamily="34" charset="0"/>
              </a:rPr>
              <a:t>STEPS</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a:lnSpc>
                <a:spcPct val="115000"/>
              </a:lnSpc>
              <a:spcAft>
                <a:spcPts val="0"/>
              </a:spcAft>
              <a:tabLst>
                <a:tab pos="1948815" algn="l"/>
              </a:tabLst>
            </a:pPr>
            <a:r>
              <a:rPr lang="en-US" u="dbl" dirty="0">
                <a:latin typeface="Times New Roman" panose="02020603050405020304" pitchFamily="18" charset="0"/>
                <a:ea typeface="Calibri" panose="020F0502020204030204" pitchFamily="34" charset="0"/>
                <a:cs typeface="Arial" panose="020B0604020202020204" pitchFamily="34" charset="0"/>
              </a:rPr>
              <a:t>Dosage based on weight in kilograms</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342900" lvl="0" indent="-342900">
              <a:lnSpc>
                <a:spcPct val="115000"/>
              </a:lnSpc>
              <a:spcAft>
                <a:spcPts val="0"/>
              </a:spcAft>
              <a:buFont typeface="Symbol" panose="05050102010706020507" pitchFamily="18" charset="2"/>
              <a:buBlip>
                <a:blip r:embed="rId2"/>
              </a:buBlip>
              <a:tabLst>
                <a:tab pos="1948815" algn="l"/>
              </a:tabLst>
            </a:pPr>
            <a:r>
              <a:rPr lang="en-US" dirty="0">
                <a:latin typeface="Times New Roman" panose="02020603050405020304" pitchFamily="18" charset="0"/>
                <a:ea typeface="Calibri" panose="020F0502020204030204" pitchFamily="34" charset="0"/>
                <a:cs typeface="Arial" panose="020B0604020202020204" pitchFamily="34" charset="0"/>
              </a:rPr>
              <a:t>Its necessary, convert child’s weight in pounds to kilograms. Child weighs 22 pounds.</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pPr marL="742950" lvl="1" indent="-285750" algn="just">
              <a:lnSpc>
                <a:spcPct val="115000"/>
              </a:lnSpc>
              <a:spcAft>
                <a:spcPts val="0"/>
              </a:spcAft>
              <a:buFont typeface="Courier New" panose="02070309020205020404" pitchFamily="49" charset="0"/>
              <a:buChar char="o"/>
              <a:tabLst>
                <a:tab pos="1948815" algn="l"/>
              </a:tabLst>
            </a:pPr>
            <a:r>
              <a:rPr lang="en-US" dirty="0">
                <a:latin typeface="Times New Roman" panose="02020603050405020304" pitchFamily="18" charset="0"/>
                <a:ea typeface="Calibri" panose="020F0502020204030204" pitchFamily="34" charset="0"/>
                <a:cs typeface="Arial" panose="020B0604020202020204" pitchFamily="34" charset="0"/>
              </a:rPr>
              <a:t>Conversion: 1 kilogram (kg) = 2.2 </a:t>
            </a:r>
            <a:r>
              <a:rPr lang="en-US" dirty="0" err="1">
                <a:latin typeface="Times New Roman" panose="02020603050405020304" pitchFamily="18" charset="0"/>
                <a:ea typeface="Calibri" panose="020F0502020204030204" pitchFamily="34" charset="0"/>
                <a:cs typeface="Arial" panose="020B0604020202020204" pitchFamily="34" charset="0"/>
              </a:rPr>
              <a:t>lb</a:t>
            </a:r>
            <a:endParaRPr lang="en-US" sz="2000" dirty="0">
              <a:effectLst/>
              <a:latin typeface="Times New Roman" panose="02020603050405020304" pitchFamily="18" charset="0"/>
              <a:ea typeface="Calibri" panose="020F0502020204030204" pitchFamily="34" charset="0"/>
              <a:cs typeface="Arial" panose="020B0604020202020204" pitchFamily="34" charset="0"/>
            </a:endParaRPr>
          </a:p>
          <a:p>
            <a:pPr marL="742950" lvl="1" indent="-285750" algn="just">
              <a:lnSpc>
                <a:spcPct val="115000"/>
              </a:lnSpc>
              <a:spcAft>
                <a:spcPts val="0"/>
              </a:spcAft>
              <a:buFont typeface="Courier New" panose="02070309020205020404" pitchFamily="49" charset="0"/>
              <a:buChar char="o"/>
              <a:tabLst>
                <a:tab pos="1948815" algn="l"/>
              </a:tabLst>
            </a:pPr>
            <a:r>
              <a:rPr lang="en-US" dirty="0">
                <a:latin typeface="Times New Roman" panose="02020603050405020304" pitchFamily="18" charset="0"/>
                <a:ea typeface="Calibri" panose="020F0502020204030204" pitchFamily="34" charset="0"/>
                <a:cs typeface="Arial" panose="020B0604020202020204" pitchFamily="34" charset="0"/>
              </a:rPr>
              <a:t>22 </a:t>
            </a:r>
            <a:r>
              <a:rPr lang="en-US" dirty="0" err="1">
                <a:latin typeface="Times New Roman" panose="02020603050405020304" pitchFamily="18" charset="0"/>
                <a:ea typeface="Calibri" panose="020F0502020204030204" pitchFamily="34" charset="0"/>
                <a:cs typeface="Arial" panose="020B0604020202020204" pitchFamily="34" charset="0"/>
              </a:rPr>
              <a:t>lb</a:t>
            </a:r>
            <a:r>
              <a:rPr lang="en-US" dirty="0">
                <a:latin typeface="Times New Roman" panose="02020603050405020304" pitchFamily="18" charset="0"/>
                <a:ea typeface="Calibri" panose="020F0502020204030204" pitchFamily="34" charset="0"/>
                <a:cs typeface="Arial" panose="020B0604020202020204" pitchFamily="34" charset="0"/>
              </a:rPr>
              <a:t>/2.2 = 10 kg</a:t>
            </a:r>
          </a:p>
          <a:p>
            <a:pPr marL="742950" lvl="1" indent="-285750" algn="just">
              <a:lnSpc>
                <a:spcPct val="115000"/>
              </a:lnSpc>
              <a:spcAft>
                <a:spcPts val="0"/>
              </a:spcAft>
              <a:buFont typeface="Courier New" panose="02070309020205020404" pitchFamily="49" charset="0"/>
              <a:buChar char="o"/>
              <a:tabLst>
                <a:tab pos="1948815" algn="l"/>
              </a:tabLst>
            </a:pPr>
            <a:endParaRPr lang="en-US" sz="2000" dirty="0">
              <a:latin typeface="Times New Roman" panose="02020603050405020304" pitchFamily="18" charset="0"/>
              <a:ea typeface="Calibri" panose="020F0502020204030204" pitchFamily="34" charset="0"/>
              <a:cs typeface="Arial" panose="020B0604020202020204" pitchFamily="34" charset="0"/>
            </a:endParaRPr>
          </a:p>
          <a:p>
            <a:pPr marL="342900" lvl="0" indent="-342900" algn="just">
              <a:lnSpc>
                <a:spcPct val="115000"/>
              </a:lnSpc>
              <a:buBlip>
                <a:blip r:embed="rId2"/>
              </a:buBlip>
              <a:tabLst>
                <a:tab pos="1948815" algn="l"/>
              </a:tabLst>
            </a:pPr>
            <a:r>
              <a:rPr lang="en-US" dirty="0">
                <a:latin typeface="Times New Roman" panose="02020603050405020304" pitchFamily="18" charset="0"/>
                <a:ea typeface="Calibri" panose="020F0502020204030204" pitchFamily="34" charset="0"/>
                <a:cs typeface="Arial" panose="020B0604020202020204" pitchFamily="34" charset="0"/>
              </a:rPr>
              <a:t>Review medication reference to determine recommended range in</a:t>
            </a:r>
            <a:endParaRPr lang="en-US" sz="2400" dirty="0">
              <a:effectLst/>
              <a:latin typeface="Times New Roman" panose="02020603050405020304" pitchFamily="18" charset="0"/>
              <a:ea typeface="Calibri" panose="020F0502020204030204" pitchFamily="34" charset="0"/>
              <a:cs typeface="Arial" panose="020B0604020202020204" pitchFamily="34" charset="0"/>
            </a:endParaRPr>
          </a:p>
          <a:p>
            <a:r>
              <a:rPr lang="en-US" dirty="0">
                <a:latin typeface="Times New Roman" panose="02020603050405020304" pitchFamily="18" charset="0"/>
                <a:ea typeface="Calibri" panose="020F0502020204030204" pitchFamily="34" charset="0"/>
                <a:cs typeface="Arial" panose="020B0604020202020204" pitchFamily="34" charset="0"/>
              </a:rPr>
              <a:t>milligrams/kilogram (mg/kg)</a:t>
            </a:r>
          </a:p>
          <a:p>
            <a:endParaRPr lang="en-US" sz="3600" dirty="0">
              <a:latin typeface="Times New Roman" panose="02020603050405020304" pitchFamily="18"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3882048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302" y="0"/>
            <a:ext cx="10515600" cy="1325563"/>
          </a:xfrm>
        </p:spPr>
        <p:txBody>
          <a:bodyPr/>
          <a:lstStyle/>
          <a:p>
            <a:r>
              <a:rPr lang="en-US" b="1" dirty="0"/>
              <a:t>Drug Calculation </a:t>
            </a:r>
            <a:endParaRPr lang="ar-IQ" b="1"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27546" y="1325563"/>
                <a:ext cx="11026254" cy="4851400"/>
              </a:xfrm>
            </p:spPr>
            <p:txBody>
              <a:bodyPr>
                <a:normAutofit fontScale="92500" lnSpcReduction="20000"/>
              </a:bodyPr>
              <a:lstStyle/>
              <a:p>
                <a:r>
                  <a:rPr lang="en-US" dirty="0"/>
                  <a:t> To calculate a fractional drug dose use the formula:</a:t>
                </a:r>
              </a:p>
              <a:p>
                <a:pPr marL="0" indent="0" algn="ctr">
                  <a:buNone/>
                </a:pPr>
                <a14:m>
                  <m:oMath xmlns:m="http://schemas.openxmlformats.org/officeDocument/2006/math">
                    <m:f>
                      <m:fPr>
                        <m:ctrlPr>
                          <a:rPr lang="en-US"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𝐷𝑜𝑠𝑒</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𝑜𝑛</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h</m:t>
                        </m:r>
                        <m:r>
                          <a:rPr lang="en-US" b="0" i="1" smtClean="0">
                            <a:solidFill>
                              <a:srgbClr val="FF0000"/>
                            </a:solidFill>
                            <a:latin typeface="Cambria Math" panose="02040503050406030204" pitchFamily="18" charset="0"/>
                            <a:ea typeface="Cambria Math" panose="02040503050406030204" pitchFamily="18" charset="0"/>
                          </a:rPr>
                          <m:t>𝑎𝑛𝑑</m:t>
                        </m:r>
                        <m:r>
                          <a:rPr lang="en-US" b="0" i="1" smtClean="0">
                            <a:solidFill>
                              <a:srgbClr val="FF0000"/>
                            </a:solidFill>
                            <a:latin typeface="Cambria Math" panose="02040503050406030204" pitchFamily="18" charset="0"/>
                            <a:ea typeface="Cambria Math" panose="02040503050406030204" pitchFamily="18" charset="0"/>
                          </a:rPr>
                          <m:t> </m:t>
                        </m:r>
                      </m:num>
                      <m:den>
                        <m:r>
                          <a:rPr lang="en-US" b="0" i="1" smtClean="0">
                            <a:solidFill>
                              <a:srgbClr val="FF0000"/>
                            </a:solidFill>
                            <a:latin typeface="Cambria Math" panose="02040503050406030204" pitchFamily="18" charset="0"/>
                            <a:ea typeface="Cambria Math" panose="02040503050406030204" pitchFamily="18" charset="0"/>
                          </a:rPr>
                          <m:t>𝑄𝑢𝑎𝑛𝑡𝑖𝑡𝑦</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𝑜𝑛</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h</m:t>
                        </m:r>
                        <m:r>
                          <a:rPr lang="en-US" b="0" i="1" smtClean="0">
                            <a:solidFill>
                              <a:srgbClr val="FF0000"/>
                            </a:solidFill>
                            <a:latin typeface="Cambria Math" panose="02040503050406030204" pitchFamily="18" charset="0"/>
                            <a:ea typeface="Cambria Math" panose="02040503050406030204" pitchFamily="18" charset="0"/>
                          </a:rPr>
                          <m:t>𝑎𝑛𝑑</m:t>
                        </m:r>
                        <m:r>
                          <a:rPr lang="en-US" b="0" i="1" smtClean="0">
                            <a:solidFill>
                              <a:srgbClr val="FF0000"/>
                            </a:solidFill>
                            <a:latin typeface="Cambria Math" panose="02040503050406030204" pitchFamily="18" charset="0"/>
                            <a:ea typeface="Cambria Math" panose="02040503050406030204" pitchFamily="18" charset="0"/>
                          </a:rPr>
                          <m:t> </m:t>
                        </m:r>
                      </m:den>
                    </m:f>
                    <m:r>
                      <a:rPr lang="en-US" i="1" smtClean="0">
                        <a:solidFill>
                          <a:srgbClr val="FF0000"/>
                        </a:solidFill>
                        <a:latin typeface="Cambria Math" panose="02040503050406030204" pitchFamily="18" charset="0"/>
                        <a:ea typeface="Cambria Math" panose="02040503050406030204" pitchFamily="18" charset="0"/>
                      </a:rPr>
                      <m:t>=</m:t>
                    </m:r>
                    <m:f>
                      <m:fPr>
                        <m:ctrlPr>
                          <a:rPr lang="en-US"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𝐷𝑒𝑠𝑖𝑟𝑒</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𝑑𝑜𝑠𝑒</m:t>
                        </m:r>
                        <m:r>
                          <a:rPr lang="en-US" b="0" i="1" smtClean="0">
                            <a:solidFill>
                              <a:srgbClr val="FF0000"/>
                            </a:solidFill>
                            <a:latin typeface="Cambria Math" panose="02040503050406030204" pitchFamily="18" charset="0"/>
                            <a:ea typeface="Cambria Math" panose="02040503050406030204" pitchFamily="18" charset="0"/>
                          </a:rPr>
                          <m:t> </m:t>
                        </m:r>
                      </m:num>
                      <m:den>
                        <m:r>
                          <a:rPr lang="en-US" b="0" i="1" smtClean="0">
                            <a:solidFill>
                              <a:srgbClr val="FF0000"/>
                            </a:solidFill>
                            <a:latin typeface="Cambria Math" panose="02040503050406030204" pitchFamily="18" charset="0"/>
                            <a:ea typeface="Cambria Math" panose="02040503050406030204" pitchFamily="18" charset="0"/>
                          </a:rPr>
                          <m:t>𝑄𝑢𝑎𝑛𝑡𝑖𝑡𝑦</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𝐷𝑒𝑠𝑖𝑟𝑒</m:t>
                        </m:r>
                        <m:r>
                          <a:rPr lang="en-US" b="0" i="1" smtClean="0">
                            <a:solidFill>
                              <a:srgbClr val="FF0000"/>
                            </a:solidFill>
                            <a:latin typeface="Cambria Math" panose="02040503050406030204" pitchFamily="18" charset="0"/>
                            <a:ea typeface="Cambria Math" panose="02040503050406030204" pitchFamily="18" charset="0"/>
                          </a:rPr>
                          <m:t> </m:t>
                        </m:r>
                      </m:den>
                    </m:f>
                  </m:oMath>
                </a14:m>
                <a:r>
                  <a:rPr lang="en-US" dirty="0">
                    <a:solidFill>
                      <a:srgbClr val="FF0000"/>
                    </a:solidFill>
                  </a:rPr>
                  <a:t>   </a:t>
                </a:r>
              </a:p>
              <a:p>
                <a:pPr marL="0" indent="0">
                  <a:buNone/>
                </a:pPr>
                <a:endParaRPr lang="en-US" dirty="0">
                  <a:solidFill>
                    <a:srgbClr val="FF0000"/>
                  </a:solidFill>
                </a:endParaRPr>
              </a:p>
              <a:p>
                <a:pPr marL="0" indent="0">
                  <a:buNone/>
                </a:pPr>
                <a:r>
                  <a:rPr lang="en-US" dirty="0">
                    <a:solidFill>
                      <a:schemeClr val="tx1"/>
                    </a:solidFill>
                  </a:rPr>
                  <a:t>( X= </a:t>
                </a:r>
                <a14:m>
                  <m:oMath xmlns:m="http://schemas.openxmlformats.org/officeDocument/2006/math">
                    <m:f>
                      <m:fPr>
                        <m:ctrlPr>
                          <a:rPr lang="en-US" sz="2400" i="1" smtClean="0">
                            <a:solidFill>
                              <a:schemeClr val="tx1"/>
                            </a:solidFill>
                            <a:latin typeface="Cambria Math" panose="02040503050406030204" pitchFamily="18" charset="0"/>
                          </a:rPr>
                        </m:ctrlPr>
                      </m:fPr>
                      <m:num>
                        <m:r>
                          <a:rPr lang="en-US" sz="2400" i="1">
                            <a:solidFill>
                              <a:schemeClr val="tx1"/>
                            </a:solidFill>
                            <a:latin typeface="Cambria Math" panose="02040503050406030204" pitchFamily="18" charset="0"/>
                            <a:ea typeface="Cambria Math" panose="02040503050406030204" pitchFamily="18" charset="0"/>
                          </a:rPr>
                          <m:t>𝐷𝑒𝑠𝑖𝑟𝑒</m:t>
                        </m:r>
                        <m:r>
                          <a:rPr lang="en-US" sz="2400" i="1">
                            <a:solidFill>
                              <a:schemeClr val="tx1"/>
                            </a:solidFill>
                            <a:latin typeface="Cambria Math" panose="02040503050406030204" pitchFamily="18" charset="0"/>
                            <a:ea typeface="Cambria Math" panose="02040503050406030204" pitchFamily="18" charset="0"/>
                          </a:rPr>
                          <m:t> </m:t>
                        </m:r>
                        <m:r>
                          <a:rPr lang="en-US" sz="2400" i="1">
                            <a:solidFill>
                              <a:schemeClr val="tx1"/>
                            </a:solidFill>
                            <a:latin typeface="Cambria Math" panose="02040503050406030204" pitchFamily="18" charset="0"/>
                            <a:ea typeface="Cambria Math" panose="02040503050406030204" pitchFamily="18" charset="0"/>
                          </a:rPr>
                          <m:t>𝑑𝑜𝑠𝑒</m:t>
                        </m:r>
                      </m:num>
                      <m:den>
                        <m:r>
                          <a:rPr lang="en-US" sz="2400" i="1">
                            <a:solidFill>
                              <a:schemeClr val="tx1"/>
                            </a:solidFill>
                            <a:latin typeface="Cambria Math" panose="02040503050406030204" pitchFamily="18" charset="0"/>
                            <a:ea typeface="Cambria Math" panose="02040503050406030204" pitchFamily="18" charset="0"/>
                          </a:rPr>
                          <m:t>𝐷𝑜𝑠𝑒</m:t>
                        </m:r>
                        <m:r>
                          <a:rPr lang="en-US" sz="2400" i="1">
                            <a:solidFill>
                              <a:schemeClr val="tx1"/>
                            </a:solidFill>
                            <a:latin typeface="Cambria Math" panose="02040503050406030204" pitchFamily="18" charset="0"/>
                            <a:ea typeface="Cambria Math" panose="02040503050406030204" pitchFamily="18" charset="0"/>
                          </a:rPr>
                          <m:t> </m:t>
                        </m:r>
                        <m:r>
                          <a:rPr lang="en-US" sz="2400" i="1">
                            <a:solidFill>
                              <a:schemeClr val="tx1"/>
                            </a:solidFill>
                            <a:latin typeface="Cambria Math" panose="02040503050406030204" pitchFamily="18" charset="0"/>
                            <a:ea typeface="Cambria Math" panose="02040503050406030204" pitchFamily="18" charset="0"/>
                          </a:rPr>
                          <m:t>𝑜𝑛</m:t>
                        </m:r>
                        <m:r>
                          <a:rPr lang="en-US" sz="2400" i="1">
                            <a:solidFill>
                              <a:schemeClr val="tx1"/>
                            </a:solidFill>
                            <a:latin typeface="Cambria Math" panose="02040503050406030204" pitchFamily="18" charset="0"/>
                            <a:ea typeface="Cambria Math" panose="02040503050406030204" pitchFamily="18" charset="0"/>
                          </a:rPr>
                          <m:t> </m:t>
                        </m:r>
                        <m:r>
                          <a:rPr lang="en-US" sz="2400" i="1">
                            <a:solidFill>
                              <a:schemeClr val="tx1"/>
                            </a:solidFill>
                            <a:latin typeface="Cambria Math" panose="02040503050406030204" pitchFamily="18" charset="0"/>
                            <a:ea typeface="Cambria Math" panose="02040503050406030204" pitchFamily="18" charset="0"/>
                          </a:rPr>
                          <m:t>h</m:t>
                        </m:r>
                        <m:r>
                          <a:rPr lang="en-US" sz="2400" i="1">
                            <a:solidFill>
                              <a:schemeClr val="tx1"/>
                            </a:solidFill>
                            <a:latin typeface="Cambria Math" panose="02040503050406030204" pitchFamily="18" charset="0"/>
                            <a:ea typeface="Cambria Math" panose="02040503050406030204" pitchFamily="18" charset="0"/>
                          </a:rPr>
                          <m:t>𝑎𝑛𝑑</m:t>
                        </m:r>
                      </m:den>
                    </m:f>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𝑄𝑢𝑎𝑛𝑡𝑖𝑡𝑦</m:t>
                    </m:r>
                    <m:r>
                      <a:rPr lang="en-US" sz="2400" i="1">
                        <a:solidFill>
                          <a:schemeClr val="tx1"/>
                        </a:solidFill>
                        <a:latin typeface="Cambria Math" panose="02040503050406030204" pitchFamily="18" charset="0"/>
                        <a:ea typeface="Cambria Math" panose="02040503050406030204" pitchFamily="18" charset="0"/>
                      </a:rPr>
                      <m:t> </m:t>
                    </m:r>
                    <m:r>
                      <a:rPr lang="en-US" sz="2400" i="1">
                        <a:solidFill>
                          <a:schemeClr val="tx1"/>
                        </a:solidFill>
                        <a:latin typeface="Cambria Math" panose="02040503050406030204" pitchFamily="18" charset="0"/>
                        <a:ea typeface="Cambria Math" panose="02040503050406030204" pitchFamily="18" charset="0"/>
                      </a:rPr>
                      <m:t>𝑜𝑛</m:t>
                    </m:r>
                    <m:r>
                      <a:rPr lang="en-US" sz="2400" i="1">
                        <a:solidFill>
                          <a:schemeClr val="tx1"/>
                        </a:solidFill>
                        <a:latin typeface="Cambria Math" panose="02040503050406030204" pitchFamily="18" charset="0"/>
                        <a:ea typeface="Cambria Math" panose="02040503050406030204" pitchFamily="18" charset="0"/>
                      </a:rPr>
                      <m:t> </m:t>
                    </m:r>
                    <m:r>
                      <a:rPr lang="en-US" sz="2400" i="1">
                        <a:solidFill>
                          <a:schemeClr val="tx1"/>
                        </a:solidFill>
                        <a:latin typeface="Cambria Math" panose="02040503050406030204" pitchFamily="18" charset="0"/>
                        <a:ea typeface="Cambria Math" panose="02040503050406030204" pitchFamily="18" charset="0"/>
                      </a:rPr>
                      <m:t>h</m:t>
                    </m:r>
                    <m:r>
                      <a:rPr lang="en-US" sz="2400" i="1">
                        <a:solidFill>
                          <a:schemeClr val="tx1"/>
                        </a:solidFill>
                        <a:latin typeface="Cambria Math" panose="02040503050406030204" pitchFamily="18" charset="0"/>
                        <a:ea typeface="Cambria Math" panose="02040503050406030204" pitchFamily="18" charset="0"/>
                      </a:rPr>
                      <m:t>𝑎𝑛𝑑</m:t>
                    </m:r>
                    <m:r>
                      <a:rPr lang="en-US" sz="2400" b="0" i="1" smtClean="0">
                        <a:solidFill>
                          <a:schemeClr val="tx1"/>
                        </a:solidFill>
                        <a:latin typeface="Cambria Math" panose="02040503050406030204" pitchFamily="18" charset="0"/>
                        <a:ea typeface="Cambria Math" panose="02040503050406030204" pitchFamily="18" charset="0"/>
                      </a:rPr>
                      <m:t>)</m:t>
                    </m:r>
                  </m:oMath>
                </a14:m>
                <a:endParaRPr lang="en-US" sz="2400" i="1" dirty="0">
                  <a:solidFill>
                    <a:schemeClr val="tx1"/>
                  </a:solidFill>
                  <a:latin typeface="Cambria Math" panose="02040503050406030204" pitchFamily="18" charset="0"/>
                  <a:ea typeface="Cambria Math" panose="02040503050406030204" pitchFamily="18" charset="0"/>
                </a:endParaRPr>
              </a:p>
              <a:p>
                <a:endParaRPr lang="en-US" dirty="0"/>
              </a:p>
              <a:p>
                <a:r>
                  <a:rPr lang="en-US" dirty="0"/>
                  <a:t>For example, you have a prescription for 90 mg acetaminophen. Acetaminophen is supplied as 125 mg drug in 5 ml liquid. Using the formula:</a:t>
                </a:r>
                <a:r>
                  <a:rPr lang="en-US" dirty="0">
                    <a:solidFill>
                      <a:srgbClr val="FF0000"/>
                    </a:solidFill>
                  </a:rPr>
                  <a:t>   </a:t>
                </a:r>
              </a:p>
              <a:p>
                <a14:m>
                  <m:oMath xmlns:m="http://schemas.openxmlformats.org/officeDocument/2006/math">
                    <m:f>
                      <m:fPr>
                        <m:ctrlPr>
                          <a:rPr lang="en-US"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125</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𝑚𝑔</m:t>
                        </m:r>
                      </m:num>
                      <m:den>
                        <m:r>
                          <a:rPr lang="en-US" b="0" i="1" smtClean="0">
                            <a:solidFill>
                              <a:srgbClr val="FF0000"/>
                            </a:solidFill>
                            <a:latin typeface="Cambria Math" panose="02040503050406030204" pitchFamily="18" charset="0"/>
                          </a:rPr>
                          <m:t>5</m:t>
                        </m:r>
                        <m:r>
                          <a:rPr lang="en-US" b="0"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𝑚𝑙</m:t>
                        </m:r>
                        <m:r>
                          <a:rPr lang="en-US" b="0" i="1" smtClean="0">
                            <a:solidFill>
                              <a:srgbClr val="FF0000"/>
                            </a:solidFill>
                            <a:latin typeface="Cambria Math" panose="02040503050406030204" pitchFamily="18" charset="0"/>
                          </a:rPr>
                          <m:t> </m:t>
                        </m:r>
                      </m:den>
                    </m:f>
                    <m:r>
                      <a:rPr lang="en-US" i="1" smtClean="0">
                        <a:solidFill>
                          <a:srgbClr val="FF0000"/>
                        </a:solidFill>
                        <a:latin typeface="Cambria Math" panose="02040503050406030204" pitchFamily="18" charset="0"/>
                        <a:ea typeface="Cambria Math" panose="02040503050406030204" pitchFamily="18" charset="0"/>
                      </a:rPr>
                      <m:t>=</m:t>
                    </m:r>
                    <m:f>
                      <m:fPr>
                        <m:ctrlPr>
                          <a:rPr lang="en-US" i="1" smtClean="0">
                            <a:solidFill>
                              <a:srgbClr val="FF0000"/>
                            </a:solidFill>
                            <a:latin typeface="Cambria Math" panose="02040503050406030204" pitchFamily="18" charset="0"/>
                            <a:ea typeface="Cambria Math" panose="02040503050406030204" pitchFamily="18" charset="0"/>
                          </a:rPr>
                        </m:ctrlPr>
                      </m:fPr>
                      <m:num>
                        <m:r>
                          <a:rPr lang="en-US" b="0" i="1" smtClean="0">
                            <a:solidFill>
                              <a:srgbClr val="FF0000"/>
                            </a:solidFill>
                            <a:latin typeface="Cambria Math" panose="02040503050406030204" pitchFamily="18" charset="0"/>
                            <a:ea typeface="Cambria Math" panose="02040503050406030204" pitchFamily="18" charset="0"/>
                          </a:rPr>
                          <m:t>90</m:t>
                        </m:r>
                        <m:r>
                          <a:rPr lang="en-US" b="0" i="1" smtClean="0">
                            <a:solidFill>
                              <a:srgbClr val="FF0000"/>
                            </a:solidFill>
                            <a:latin typeface="Cambria Math" panose="02040503050406030204" pitchFamily="18" charset="0"/>
                            <a:ea typeface="Cambria Math" panose="02040503050406030204" pitchFamily="18" charset="0"/>
                          </a:rPr>
                          <m:t> </m:t>
                        </m:r>
                        <m:r>
                          <a:rPr lang="en-US" b="0" i="1" smtClean="0">
                            <a:solidFill>
                              <a:srgbClr val="FF0000"/>
                            </a:solidFill>
                            <a:latin typeface="Cambria Math" panose="02040503050406030204" pitchFamily="18" charset="0"/>
                            <a:ea typeface="Cambria Math" panose="02040503050406030204" pitchFamily="18" charset="0"/>
                          </a:rPr>
                          <m:t>𝑚𝑔</m:t>
                        </m:r>
                      </m:num>
                      <m:den>
                        <m:r>
                          <a:rPr lang="en-US" b="0" i="1" smtClean="0">
                            <a:solidFill>
                              <a:srgbClr val="FF0000"/>
                            </a:solidFill>
                            <a:latin typeface="Cambria Math" panose="02040503050406030204" pitchFamily="18" charset="0"/>
                            <a:ea typeface="Cambria Math" panose="02040503050406030204" pitchFamily="18" charset="0"/>
                          </a:rPr>
                          <m:t>𝑋</m:t>
                        </m:r>
                      </m:den>
                    </m:f>
                  </m:oMath>
                </a14:m>
                <a:endParaRPr lang="en-US" dirty="0"/>
              </a:p>
              <a:p>
                <a:r>
                  <a:rPr lang="en-US" dirty="0"/>
                  <a:t>Cross multiply: X= </a:t>
                </a:r>
                <a14:m>
                  <m:oMath xmlns:m="http://schemas.openxmlformats.org/officeDocument/2006/math">
                    <m:f>
                      <m:fPr>
                        <m:ctrlPr>
                          <a:rPr lang="en-US" i="1" dirty="0" smtClean="0">
                            <a:latin typeface="Cambria Math" panose="02040503050406030204" pitchFamily="18" charset="0"/>
                          </a:rPr>
                        </m:ctrlPr>
                      </m:fPr>
                      <m:num>
                        <m:r>
                          <a:rPr lang="en-US" b="0" i="1" dirty="0" smtClean="0">
                            <a:latin typeface="Cambria Math" panose="02040503050406030204" pitchFamily="18" charset="0"/>
                          </a:rPr>
                          <m:t>90</m:t>
                        </m:r>
                        <m:r>
                          <a:rPr lang="en-US" b="0" i="1" dirty="0" smtClean="0">
                            <a:latin typeface="Cambria Math" panose="02040503050406030204" pitchFamily="18" charset="0"/>
                          </a:rPr>
                          <m:t> </m:t>
                        </m:r>
                        <m:r>
                          <a:rPr lang="en-US" b="0" i="1" dirty="0" smtClean="0">
                            <a:latin typeface="Cambria Math" panose="02040503050406030204" pitchFamily="18" charset="0"/>
                          </a:rPr>
                          <m:t>𝑚𝑔</m:t>
                        </m:r>
                        <m:r>
                          <a:rPr lang="en-US" b="0" i="1" dirty="0" smtClean="0">
                            <a:latin typeface="Cambria Math" panose="02040503050406030204" pitchFamily="18" charset="0"/>
                          </a:rPr>
                          <m:t> ∗</m:t>
                        </m:r>
                        <m:r>
                          <a:rPr lang="en-US" b="0" i="1" dirty="0" smtClean="0">
                            <a:latin typeface="Cambria Math" panose="02040503050406030204" pitchFamily="18" charset="0"/>
                          </a:rPr>
                          <m:t>5</m:t>
                        </m:r>
                        <m:r>
                          <a:rPr lang="en-US" b="0" i="1" dirty="0" smtClean="0">
                            <a:latin typeface="Cambria Math" panose="02040503050406030204" pitchFamily="18" charset="0"/>
                          </a:rPr>
                          <m:t> </m:t>
                        </m:r>
                        <m:r>
                          <a:rPr lang="en-US" b="0" i="1" dirty="0" smtClean="0">
                            <a:latin typeface="Cambria Math" panose="02040503050406030204" pitchFamily="18" charset="0"/>
                          </a:rPr>
                          <m:t>𝑚𝑙</m:t>
                        </m:r>
                      </m:num>
                      <m:den>
                        <m:r>
                          <a:rPr lang="en-US" b="0" i="1" dirty="0" smtClean="0">
                            <a:latin typeface="Cambria Math" panose="02040503050406030204" pitchFamily="18" charset="0"/>
                          </a:rPr>
                          <m:t>125</m:t>
                        </m:r>
                        <m:r>
                          <a:rPr lang="en-US" b="0" i="1" dirty="0" smtClean="0">
                            <a:latin typeface="Cambria Math" panose="02040503050406030204" pitchFamily="18" charset="0"/>
                          </a:rPr>
                          <m:t> </m:t>
                        </m:r>
                        <m:r>
                          <a:rPr lang="en-US" b="0" i="1" dirty="0" smtClean="0">
                            <a:latin typeface="Cambria Math" panose="02040503050406030204" pitchFamily="18" charset="0"/>
                          </a:rPr>
                          <m:t>𝑚𝑔</m:t>
                        </m:r>
                      </m:den>
                    </m:f>
                    <m:r>
                      <a:rPr lang="en-US" b="0" i="1" dirty="0" smtClean="0">
                        <a:latin typeface="Cambria Math" panose="02040503050406030204" pitchFamily="18" charset="0"/>
                      </a:rPr>
                      <m:t> </m:t>
                    </m:r>
                  </m:oMath>
                </a14:m>
                <a:r>
                  <a:rPr lang="en-US" b="0" dirty="0"/>
                  <a:t>=3.6 ml</a:t>
                </a:r>
              </a:p>
              <a:p>
                <a:pPr marL="0" indent="0">
                  <a:buNone/>
                </a:pPr>
                <a:r>
                  <a:rPr lang="en-US" dirty="0"/>
                  <a:t> </a:t>
                </a:r>
              </a:p>
              <a:p>
                <a:endParaRPr lang="ar-IQ"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27546" y="1325563"/>
                <a:ext cx="11026254" cy="4851400"/>
              </a:xfrm>
              <a:blipFill>
                <a:blip r:embed="rId2"/>
                <a:stretch>
                  <a:fillRect l="-995" t="-3141"/>
                </a:stretch>
              </a:blipFill>
            </p:spPr>
            <p:txBody>
              <a:bodyPr/>
              <a:lstStyle/>
              <a:p>
                <a:r>
                  <a:rPr lang="ar-IQ">
                    <a:noFill/>
                  </a:rPr>
                  <a:t> </a:t>
                </a:r>
              </a:p>
            </p:txBody>
          </p:sp>
        </mc:Fallback>
      </mc:AlternateContent>
      <p:pic>
        <p:nvPicPr>
          <p:cNvPr id="18" name="صورة 12"/>
          <p:cNvPicPr/>
          <p:nvPr/>
        </p:nvPicPr>
        <p:blipFill>
          <a:blip r:embed="rId3">
            <a:extLst>
              <a:ext uri="{28A0092B-C50C-407E-A947-70E740481C1C}">
                <a14:useLocalDpi xmlns:a14="http://schemas.microsoft.com/office/drawing/2010/main" val="0"/>
              </a:ext>
            </a:extLst>
          </a:blip>
          <a:stretch>
            <a:fillRect/>
          </a:stretch>
        </p:blipFill>
        <p:spPr>
          <a:xfrm>
            <a:off x="6181867" y="4785587"/>
            <a:ext cx="4054295" cy="1096597"/>
          </a:xfrm>
          <a:prstGeom prst="rect">
            <a:avLst/>
          </a:prstGeom>
        </p:spPr>
      </p:pic>
    </p:spTree>
    <p:extLst>
      <p:ext uri="{BB962C8B-B14F-4D97-AF65-F5344CB8AC3E}">
        <p14:creationId xmlns:p14="http://schemas.microsoft.com/office/powerpoint/2010/main" val="29479008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8364" y="297180"/>
            <a:ext cx="11562156" cy="6560819"/>
          </a:xfrm>
        </p:spPr>
        <p:txBody>
          <a:bodyPr>
            <a:normAutofit lnSpcReduction="10000"/>
          </a:bodyPr>
          <a:lstStyle/>
          <a:p>
            <a:pPr marL="0" lvl="0" indent="0" algn="justLow" eaLnBrk="0" fontAlgn="base" hangingPunct="0">
              <a:lnSpc>
                <a:spcPct val="100000"/>
              </a:lnSpc>
              <a:spcBef>
                <a:spcPct val="0"/>
              </a:spcBef>
              <a:spcAft>
                <a:spcPct val="0"/>
              </a:spcAft>
              <a:buFontTx/>
              <a:buChar char="•"/>
              <a:tabLst>
                <a:tab pos="1949450" algn="l"/>
              </a:tabLst>
            </a:pPr>
            <a:r>
              <a:rPr lang="en-US" altLang="ar-IQ" dirty="0">
                <a:solidFill>
                  <a:prstClr val="black"/>
                </a:solidFill>
                <a:latin typeface="Times New Roman" panose="02020603050405020304" pitchFamily="18" charset="0"/>
                <a:ea typeface="Calibri" panose="020F0502020204030204" pitchFamily="34" charset="0"/>
                <a:cs typeface="+mj-cs"/>
              </a:rPr>
              <a:t>Reference text states recommended dosage range is 30 to 50 mg/kg/day in 4 divided doses.</a:t>
            </a:r>
            <a:endParaRPr lang="en-US" altLang="ar-IQ" dirty="0">
              <a:solidFill>
                <a:prstClr val="black"/>
              </a:solidFill>
              <a:cs typeface="+mj-cs"/>
            </a:endParaRPr>
          </a:p>
          <a:p>
            <a:pPr marL="0" lvl="0" indent="0" algn="justLow" eaLnBrk="0" fontAlgn="base" hangingPunct="0">
              <a:lnSpc>
                <a:spcPct val="100000"/>
              </a:lnSpc>
              <a:spcBef>
                <a:spcPct val="0"/>
              </a:spcBef>
              <a:spcAft>
                <a:spcPct val="0"/>
              </a:spcAft>
              <a:buFontTx/>
              <a:buChar char="•"/>
              <a:tabLst>
                <a:tab pos="1949450" algn="l"/>
              </a:tabLst>
            </a:pPr>
            <a:r>
              <a:rPr lang="en-US" altLang="ar-IQ" dirty="0">
                <a:solidFill>
                  <a:prstClr val="black"/>
                </a:solidFill>
                <a:latin typeface="Times New Roman" panose="02020603050405020304" pitchFamily="18" charset="0"/>
                <a:ea typeface="Calibri" panose="020F0502020204030204" pitchFamily="34" charset="0"/>
                <a:cs typeface="+mj-cs"/>
              </a:rPr>
              <a:t>Multiply child’s weight by the lower and upper limits of the dosage range. </a:t>
            </a:r>
          </a:p>
          <a:p>
            <a:pPr marL="0" lvl="0" indent="0" algn="justLow" eaLnBrk="0" fontAlgn="base" hangingPunct="0">
              <a:lnSpc>
                <a:spcPct val="100000"/>
              </a:lnSpc>
              <a:spcBef>
                <a:spcPct val="0"/>
              </a:spcBef>
              <a:spcAft>
                <a:spcPct val="0"/>
              </a:spcAft>
              <a:buNone/>
              <a:tabLst>
                <a:tab pos="1949450" algn="l"/>
              </a:tabLst>
            </a:pPr>
            <a:r>
              <a:rPr lang="en-US" altLang="ar-IQ" dirty="0">
                <a:solidFill>
                  <a:prstClr val="black"/>
                </a:solidFill>
                <a:latin typeface="Times New Roman" panose="02020603050405020304" pitchFamily="18" charset="0"/>
                <a:ea typeface="Calibri" panose="020F0502020204030204" pitchFamily="34" charset="0"/>
                <a:cs typeface="+mj-cs"/>
              </a:rPr>
              <a:t>• 10 kg × 30 = 300 mg/day</a:t>
            </a:r>
            <a:endParaRPr lang="en-US" altLang="ar-IQ" dirty="0">
              <a:solidFill>
                <a:prstClr val="black"/>
              </a:solidFill>
              <a:cs typeface="+mj-cs"/>
            </a:endParaRPr>
          </a:p>
          <a:p>
            <a:pPr algn="justLow" eaLnBrk="0" fontAlgn="base" hangingPunct="0">
              <a:lnSpc>
                <a:spcPct val="100000"/>
              </a:lnSpc>
              <a:spcBef>
                <a:spcPct val="0"/>
              </a:spcBef>
              <a:spcAft>
                <a:spcPct val="0"/>
              </a:spcAft>
              <a:tabLst>
                <a:tab pos="1949450" algn="l"/>
              </a:tabLst>
            </a:pPr>
            <a:r>
              <a:rPr lang="en-US" altLang="ar-IQ" sz="2800" dirty="0">
                <a:solidFill>
                  <a:prstClr val="black"/>
                </a:solidFill>
                <a:latin typeface="Times New Roman" panose="02020603050405020304" pitchFamily="18" charset="0"/>
                <a:ea typeface="Calibri" panose="020F0502020204030204" pitchFamily="34" charset="0"/>
                <a:cs typeface="+mj-cs"/>
              </a:rPr>
              <a:t>10 kg × 50 = 500 mg/day</a:t>
            </a:r>
            <a:endParaRPr lang="en-US" altLang="ar-IQ" sz="2800" dirty="0">
              <a:solidFill>
                <a:prstClr val="black"/>
              </a:solidFill>
              <a:cs typeface="+mj-cs"/>
            </a:endParaRPr>
          </a:p>
          <a:p>
            <a:pPr marL="0" lvl="0" indent="0" algn="justLow" eaLnBrk="0" fontAlgn="base" hangingPunct="0">
              <a:lnSpc>
                <a:spcPct val="100000"/>
              </a:lnSpc>
              <a:spcBef>
                <a:spcPct val="0"/>
              </a:spcBef>
              <a:spcAft>
                <a:spcPct val="0"/>
              </a:spcAft>
              <a:buFontTx/>
              <a:buChar char="•"/>
              <a:tabLst>
                <a:tab pos="1949450" algn="l"/>
              </a:tabLst>
            </a:pPr>
            <a:r>
              <a:rPr lang="en-US" altLang="ar-IQ" dirty="0">
                <a:solidFill>
                  <a:prstClr val="black"/>
                </a:solidFill>
                <a:latin typeface="Times New Roman" panose="02020603050405020304" pitchFamily="18" charset="0"/>
                <a:ea typeface="Calibri" panose="020F0502020204030204" pitchFamily="34" charset="0"/>
                <a:cs typeface="+mj-cs"/>
              </a:rPr>
              <a:t>Child’s recommended range = 300 to 500 mg/day</a:t>
            </a:r>
            <a:endParaRPr lang="en-US" altLang="ar-IQ" dirty="0">
              <a:solidFill>
                <a:prstClr val="black"/>
              </a:solidFill>
              <a:cs typeface="+mj-cs"/>
            </a:endParaRPr>
          </a:p>
          <a:p>
            <a:pPr marL="0" lvl="0" indent="0" algn="justLow" eaLnBrk="0" fontAlgn="base" hangingPunct="0">
              <a:lnSpc>
                <a:spcPct val="100000"/>
              </a:lnSpc>
              <a:spcBef>
                <a:spcPct val="0"/>
              </a:spcBef>
              <a:spcAft>
                <a:spcPct val="0"/>
              </a:spcAft>
              <a:buFontTx/>
              <a:buChar char="•"/>
              <a:tabLst>
                <a:tab pos="1949450" algn="l"/>
              </a:tabLst>
            </a:pPr>
            <a:r>
              <a:rPr lang="en-US" altLang="ar-IQ" dirty="0">
                <a:solidFill>
                  <a:prstClr val="black"/>
                </a:solidFill>
                <a:latin typeface="Times New Roman" panose="02020603050405020304" pitchFamily="18" charset="0"/>
                <a:ea typeface="Calibri" panose="020F0502020204030204" pitchFamily="34" charset="0"/>
                <a:cs typeface="+mj-cs"/>
              </a:rPr>
              <a:t>Compare physician’s order with dosage range to determine whether medication dosage is safe.</a:t>
            </a:r>
            <a:endParaRPr lang="en-US" altLang="ar-IQ" dirty="0">
              <a:solidFill>
                <a:prstClr val="black"/>
              </a:solidFill>
              <a:cs typeface="+mj-cs"/>
            </a:endParaRPr>
          </a:p>
          <a:p>
            <a:pPr marL="0" lvl="0" indent="0" algn="justLow" eaLnBrk="0" fontAlgn="base" hangingPunct="0">
              <a:lnSpc>
                <a:spcPct val="100000"/>
              </a:lnSpc>
              <a:spcBef>
                <a:spcPct val="0"/>
              </a:spcBef>
              <a:spcAft>
                <a:spcPct val="0"/>
              </a:spcAft>
              <a:buFontTx/>
              <a:buChar char="•"/>
              <a:tabLst>
                <a:tab pos="1949450" algn="l"/>
              </a:tabLst>
            </a:pPr>
            <a:r>
              <a:rPr lang="en-US" altLang="ar-IQ" dirty="0">
                <a:solidFill>
                  <a:prstClr val="black"/>
                </a:solidFill>
                <a:latin typeface="Times New Roman" panose="02020603050405020304" pitchFamily="18" charset="0"/>
                <a:ea typeface="Calibri" panose="020F0502020204030204" pitchFamily="34" charset="0"/>
                <a:cs typeface="+mj-cs"/>
              </a:rPr>
              <a:t>Order reads: Give 500 mg q6h.</a:t>
            </a:r>
            <a:endParaRPr lang="en-US" altLang="ar-IQ" dirty="0">
              <a:solidFill>
                <a:prstClr val="black"/>
              </a:solidFill>
              <a:cs typeface="+mj-cs"/>
            </a:endParaRPr>
          </a:p>
          <a:p>
            <a:pPr marL="457200" lvl="1" indent="0" algn="justLow" eaLnBrk="0" fontAlgn="base" hangingPunct="0">
              <a:lnSpc>
                <a:spcPct val="100000"/>
              </a:lnSpc>
              <a:spcBef>
                <a:spcPct val="0"/>
              </a:spcBef>
              <a:spcAft>
                <a:spcPct val="0"/>
              </a:spcAft>
              <a:buBlip>
                <a:blip r:embed="rId2"/>
              </a:buBlip>
              <a:tabLst>
                <a:tab pos="1949450" algn="l"/>
              </a:tabLst>
            </a:pPr>
            <a:r>
              <a:rPr lang="en-US" altLang="ar-IQ" sz="2800" dirty="0">
                <a:solidFill>
                  <a:prstClr val="black"/>
                </a:solidFill>
                <a:latin typeface="Times New Roman" panose="02020603050405020304" pitchFamily="18" charset="0"/>
                <a:ea typeface="Calibri" panose="020F0502020204030204" pitchFamily="34" charset="0"/>
                <a:cs typeface="+mj-cs"/>
              </a:rPr>
              <a:t>500 mg given q6h = 500 × 4 = 2000 mg/day</a:t>
            </a:r>
            <a:endParaRPr lang="en-US" altLang="ar-IQ" sz="2800" dirty="0">
              <a:solidFill>
                <a:prstClr val="black"/>
              </a:solidFill>
              <a:cs typeface="+mj-cs"/>
            </a:endParaRPr>
          </a:p>
          <a:p>
            <a:pPr marL="0" lvl="0" indent="0" algn="justLow" eaLnBrk="0" fontAlgn="base" hangingPunct="0">
              <a:lnSpc>
                <a:spcPct val="100000"/>
              </a:lnSpc>
              <a:spcBef>
                <a:spcPct val="0"/>
              </a:spcBef>
              <a:spcAft>
                <a:spcPct val="0"/>
              </a:spcAft>
              <a:buFontTx/>
              <a:buChar char="•"/>
              <a:tabLst>
                <a:tab pos="1949450" algn="l"/>
              </a:tabLst>
            </a:pPr>
            <a:r>
              <a:rPr lang="en-US" altLang="ar-IQ" dirty="0">
                <a:solidFill>
                  <a:prstClr val="black"/>
                </a:solidFill>
                <a:latin typeface="Times New Roman" panose="02020603050405020304" pitchFamily="18" charset="0"/>
                <a:ea typeface="Calibri" panose="020F0502020204030204" pitchFamily="34" charset="0"/>
                <a:cs typeface="+mj-cs"/>
              </a:rPr>
              <a:t>Conclusion: Dosage exceeds recommended range.</a:t>
            </a:r>
            <a:endParaRPr lang="en-US" altLang="ar-IQ" dirty="0">
              <a:solidFill>
                <a:prstClr val="black"/>
              </a:solidFill>
              <a:latin typeface="Arial" panose="020B0604020202020204" pitchFamily="34" charset="0"/>
              <a:cs typeface="+mj-cs"/>
            </a:endParaRPr>
          </a:p>
          <a:p>
            <a:pPr marL="0" indent="0">
              <a:buNone/>
            </a:pPr>
            <a:endParaRPr lang="en-US" dirty="0">
              <a:cs typeface="+mj-cs"/>
            </a:endParaRPr>
          </a:p>
          <a:p>
            <a:r>
              <a:rPr lang="en-US" dirty="0">
                <a:latin typeface="Times New Roman" panose="02020603050405020304" pitchFamily="18" charset="0"/>
                <a:ea typeface="Calibri" panose="020F0502020204030204" pitchFamily="34" charset="0"/>
                <a:cs typeface="Arial" panose="020B0604020202020204" pitchFamily="34" charset="0"/>
              </a:rPr>
              <a:t>Dosages outside recommended range should be verified with physician. “Dr. Ahmed, I’ve just reviewed the new medication order for Sara. According to my calculations, the dosage exceeds that  recommended for his weight according to both the formulary and pharmacist.</a:t>
            </a:r>
            <a:endParaRPr lang="en-US" dirty="0">
              <a:cs typeface="+mj-cs"/>
            </a:endParaRPr>
          </a:p>
        </p:txBody>
      </p:sp>
    </p:spTree>
    <p:extLst>
      <p:ext uri="{BB962C8B-B14F-4D97-AF65-F5344CB8AC3E}">
        <p14:creationId xmlns:p14="http://schemas.microsoft.com/office/powerpoint/2010/main" val="28482448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ln w="9525" cap="rnd" cmpd="sng" algn="ctr">
                  <a:solidFill>
                    <a:srgbClr val="000000"/>
                  </a:solidFill>
                  <a:prstDash val="solid"/>
                  <a:bevel/>
                </a:ln>
                <a:latin typeface="Times New Roman" panose="02020603050405020304" pitchFamily="18" charset="0"/>
                <a:ea typeface="Calibri" panose="020F0502020204030204" pitchFamily="34" charset="0"/>
                <a:cs typeface="Arial" panose="020B0604020202020204" pitchFamily="34" charset="0"/>
              </a:rPr>
              <a:t>Dosage Calculation (Home work)</a:t>
            </a:r>
            <a:endParaRPr lang="ar-IQ" dirty="0"/>
          </a:p>
        </p:txBody>
      </p:sp>
      <p:sp>
        <p:nvSpPr>
          <p:cNvPr id="3" name="Content Placeholder 2"/>
          <p:cNvSpPr>
            <a:spLocks noGrp="1"/>
          </p:cNvSpPr>
          <p:nvPr>
            <p:ph idx="1"/>
          </p:nvPr>
        </p:nvSpPr>
        <p:spPr>
          <a:xfrm>
            <a:off x="838199" y="1690688"/>
            <a:ext cx="10666863" cy="4486275"/>
          </a:xfrm>
        </p:spPr>
        <p:txBody>
          <a:bodyPr>
            <a:normAutofit fontScale="92500"/>
          </a:bodyPr>
          <a:lstStyle/>
          <a:p>
            <a:pPr>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Order: </a:t>
            </a:r>
            <a:r>
              <a:rPr lang="en-US" dirty="0" err="1">
                <a:latin typeface="Times New Roman" panose="02020603050405020304" pitchFamily="18" charset="0"/>
                <a:ea typeface="Calibri" panose="020F0502020204030204" pitchFamily="34" charset="0"/>
                <a:cs typeface="Arial" panose="020B0604020202020204" pitchFamily="34" charset="0"/>
              </a:rPr>
              <a:t>Amoxil</a:t>
            </a:r>
            <a:r>
              <a:rPr lang="en-US" dirty="0">
                <a:latin typeface="Times New Roman" panose="02020603050405020304" pitchFamily="18" charset="0"/>
                <a:ea typeface="Calibri" panose="020F0502020204030204" pitchFamily="34" charset="0"/>
                <a:cs typeface="Arial" panose="020B0604020202020204" pitchFamily="34" charset="0"/>
              </a:rPr>
              <a:t> (amoxicillin) 70 mg PO q8h.</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Patient: Child weighs 22 lbs.</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Safe dose is 20–40 mg/kg/day in divided doses q8h.</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Available as: 125 mg/5 mL</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A. Is the dose safe? __________</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B. If safe, how much liquid will you give the child per</a:t>
            </a:r>
            <a:r>
              <a:rPr lang="en-US" sz="2400" dirty="0">
                <a:latin typeface="Times New Roman" panose="02020603050405020304" pitchFamily="18" charset="0"/>
                <a:ea typeface="Calibri" panose="020F0502020204030204" pitchFamily="34" charset="0"/>
                <a:cs typeface="Arial" panose="020B0604020202020204" pitchFamily="34" charset="0"/>
              </a:rPr>
              <a:t> </a:t>
            </a:r>
            <a:r>
              <a:rPr lang="en-US" dirty="0">
                <a:latin typeface="Times New Roman" panose="02020603050405020304" pitchFamily="18" charset="0"/>
                <a:ea typeface="Calibri" panose="020F0502020204030204" pitchFamily="34" charset="0"/>
                <a:cs typeface="Arial" panose="020B0604020202020204" pitchFamily="34" charset="0"/>
              </a:rPr>
              <a:t>dose? _____________</a:t>
            </a:r>
            <a:endParaRPr lang="en-US" sz="2400" dirty="0">
              <a:latin typeface="Times New Roman" panose="02020603050405020304" pitchFamily="18" charset="0"/>
              <a:ea typeface="Calibri" panose="020F0502020204030204" pitchFamily="34" charset="0"/>
              <a:cs typeface="Arial" panose="020B0604020202020204" pitchFamily="34" charset="0"/>
            </a:endParaRPr>
          </a:p>
          <a:p>
            <a:pPr>
              <a:lnSpc>
                <a:spcPct val="115000"/>
              </a:lnSpc>
              <a:spcAft>
                <a:spcPts val="0"/>
              </a:spcAft>
            </a:pPr>
            <a:r>
              <a:rPr lang="en-US" dirty="0">
                <a:latin typeface="Times New Roman" panose="02020603050405020304" pitchFamily="18" charset="0"/>
                <a:ea typeface="Calibri" panose="020F0502020204030204" pitchFamily="34" charset="0"/>
                <a:cs typeface="Arial" panose="020B0604020202020204" pitchFamily="34" charset="0"/>
              </a:rPr>
              <a:t>C. If not safe, what is the range of safe doses for this</a:t>
            </a:r>
            <a:r>
              <a:rPr lang="en-US" sz="2400" dirty="0">
                <a:latin typeface="Times New Roman" panose="02020603050405020304" pitchFamily="18" charset="0"/>
                <a:ea typeface="Calibri" panose="020F0502020204030204" pitchFamily="34" charset="0"/>
                <a:cs typeface="Arial" panose="020B0604020202020204" pitchFamily="34" charset="0"/>
              </a:rPr>
              <a:t> </a:t>
            </a:r>
            <a:r>
              <a:rPr lang="en-US" dirty="0">
                <a:latin typeface="Times New Roman" panose="02020603050405020304" pitchFamily="18" charset="0"/>
                <a:ea typeface="Calibri" panose="020F0502020204030204" pitchFamily="34" charset="0"/>
                <a:cs typeface="Arial" panose="020B0604020202020204" pitchFamily="34" charset="0"/>
              </a:rPr>
              <a:t>child? _____________</a:t>
            </a:r>
            <a:endParaRPr lang="en-US" sz="2400" dirty="0">
              <a:latin typeface="Times New Roman" panose="02020603050405020304" pitchFamily="18" charset="0"/>
              <a:ea typeface="Calibri" panose="020F0502020204030204" pitchFamily="34" charset="0"/>
              <a:cs typeface="Arial" panose="020B0604020202020204" pitchFamily="34" charset="0"/>
            </a:endParaRPr>
          </a:p>
          <a:p>
            <a:endParaRPr lang="ar-IQ" dirty="0"/>
          </a:p>
        </p:txBody>
      </p:sp>
    </p:spTree>
    <p:extLst>
      <p:ext uri="{BB962C8B-B14F-4D97-AF65-F5344CB8AC3E}">
        <p14:creationId xmlns:p14="http://schemas.microsoft.com/office/powerpoint/2010/main" val="24000951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029500" y="2857461"/>
            <a:ext cx="11573197" cy="724247"/>
          </a:xfrm>
        </p:spPr>
        <p:txBody>
          <a:bodyPr>
            <a:normAutofit fontScale="92500" lnSpcReduction="10000"/>
          </a:bodyPr>
          <a:lstStyle/>
          <a:p>
            <a:r>
              <a:rPr lang="en-US" dirty="0">
                <a:latin typeface="Agency FB" panose="020B0503020202020204" pitchFamily="34" charset="0"/>
              </a:rPr>
              <a:t>Thank you for listening </a:t>
            </a:r>
            <a:endParaRPr lang="ar-IQ" dirty="0">
              <a:latin typeface="Agency FB" panose="020B0503020202020204" pitchFamily="34" charset="0"/>
            </a:endParaRPr>
          </a:p>
        </p:txBody>
      </p:sp>
      <p:pic>
        <p:nvPicPr>
          <p:cNvPr id="8" name="Picture Placeholder 7"/>
          <p:cNvPicPr>
            <a:picLocks noGrp="1" noChangeAspect="1"/>
          </p:cNvPicPr>
          <p:nvPr>
            <p:ph type="pic" sz="quarter" idx="42"/>
          </p:nvPr>
        </p:nvPicPr>
        <p:blipFill>
          <a:blip r:embed="rId2">
            <a:extLst>
              <a:ext uri="{28A0092B-C50C-407E-A947-70E740481C1C}">
                <a14:useLocalDpi xmlns:a14="http://schemas.microsoft.com/office/drawing/2010/main" val="0"/>
              </a:ext>
            </a:extLst>
          </a:blip>
          <a:srcRect l="11725" r="11725"/>
          <a:stretch>
            <a:fillRect/>
          </a:stretch>
        </p:blipFill>
        <p:spPr/>
      </p:pic>
      <p:sp>
        <p:nvSpPr>
          <p:cNvPr id="9" name="Smiley Face 14">
            <a:extLst>
              <a:ext uri="{FF2B5EF4-FFF2-40B4-BE49-F238E27FC236}">
                <a16:creationId xmlns:a16="http://schemas.microsoft.com/office/drawing/2014/main" id="{77504E11-68B3-460A-979B-D56E2900C922}"/>
              </a:ext>
            </a:extLst>
          </p:cNvPr>
          <p:cNvSpPr/>
          <p:nvPr/>
        </p:nvSpPr>
        <p:spPr>
          <a:xfrm>
            <a:off x="7342496" y="303479"/>
            <a:ext cx="2280445" cy="1747489"/>
          </a:xfrm>
          <a:custGeom>
            <a:avLst/>
            <a:gdLst/>
            <a:ahLst/>
            <a:cxnLst/>
            <a:rect l="l" t="t" r="r" b="b"/>
            <a:pathLst>
              <a:path w="3240000" h="3240000">
                <a:moveTo>
                  <a:pt x="2026698" y="2215122"/>
                </a:moveTo>
                <a:cubicBezTo>
                  <a:pt x="1959656" y="2378616"/>
                  <a:pt x="1801229" y="2486070"/>
                  <a:pt x="1624533" y="2487892"/>
                </a:cubicBezTo>
                <a:cubicBezTo>
                  <a:pt x="1447837" y="2489714"/>
                  <a:pt x="1287227" y="2385551"/>
                  <a:pt x="1216828" y="2223474"/>
                </a:cubicBezTo>
                <a:lnTo>
                  <a:pt x="1039110" y="2300667"/>
                </a:lnTo>
                <a:cubicBezTo>
                  <a:pt x="1140541" y="2534187"/>
                  <a:pt x="1371947" y="2684266"/>
                  <a:pt x="1626531" y="2681641"/>
                </a:cubicBezTo>
                <a:cubicBezTo>
                  <a:pt x="1881115" y="2679016"/>
                  <a:pt x="2109376" y="2524196"/>
                  <a:pt x="2205970" y="2288634"/>
                </a:cubicBezTo>
                <a:close/>
                <a:moveTo>
                  <a:pt x="937973" y="986566"/>
                </a:moveTo>
                <a:cubicBezTo>
                  <a:pt x="850807" y="983371"/>
                  <a:pt x="762813" y="1002775"/>
                  <a:pt x="683096" y="1045110"/>
                </a:cubicBezTo>
                <a:cubicBezTo>
                  <a:pt x="523662" y="1129780"/>
                  <a:pt x="421680" y="1293248"/>
                  <a:pt x="415731" y="1473672"/>
                </a:cubicBezTo>
                <a:lnTo>
                  <a:pt x="615852" y="1480270"/>
                </a:lnTo>
                <a:cubicBezTo>
                  <a:pt x="619438" y="1371518"/>
                  <a:pt x="680908" y="1272986"/>
                  <a:pt x="777009" y="1221950"/>
                </a:cubicBezTo>
                <a:cubicBezTo>
                  <a:pt x="873110" y="1170914"/>
                  <a:pt x="989166" y="1175167"/>
                  <a:pt x="1081273" y="1233100"/>
                </a:cubicBezTo>
                <a:cubicBezTo>
                  <a:pt x="1173381" y="1291033"/>
                  <a:pt x="1227475" y="1393800"/>
                  <a:pt x="1223091" y="1502523"/>
                </a:cubicBezTo>
                <a:lnTo>
                  <a:pt x="1423160" y="1510590"/>
                </a:lnTo>
                <a:cubicBezTo>
                  <a:pt x="1430433" y="1330214"/>
                  <a:pt x="1340689" y="1159721"/>
                  <a:pt x="1187880" y="1063608"/>
                </a:cubicBezTo>
                <a:cubicBezTo>
                  <a:pt x="1111476" y="1015552"/>
                  <a:pt x="1025138" y="989760"/>
                  <a:pt x="937973" y="986566"/>
                </a:cubicBezTo>
                <a:close/>
                <a:moveTo>
                  <a:pt x="2306124" y="986566"/>
                </a:moveTo>
                <a:cubicBezTo>
                  <a:pt x="2218958" y="983371"/>
                  <a:pt x="2130964" y="1002775"/>
                  <a:pt x="2051247" y="1045110"/>
                </a:cubicBezTo>
                <a:cubicBezTo>
                  <a:pt x="1891813" y="1129780"/>
                  <a:pt x="1789831" y="1293248"/>
                  <a:pt x="1783882" y="1473672"/>
                </a:cubicBezTo>
                <a:lnTo>
                  <a:pt x="1984003" y="1480270"/>
                </a:lnTo>
                <a:cubicBezTo>
                  <a:pt x="1987589" y="1371518"/>
                  <a:pt x="2049059" y="1272986"/>
                  <a:pt x="2145160" y="1221950"/>
                </a:cubicBezTo>
                <a:cubicBezTo>
                  <a:pt x="2241261" y="1170914"/>
                  <a:pt x="2357317" y="1175167"/>
                  <a:pt x="2449424" y="1233100"/>
                </a:cubicBezTo>
                <a:cubicBezTo>
                  <a:pt x="2541532" y="1291033"/>
                  <a:pt x="2595626" y="1393800"/>
                  <a:pt x="2591242" y="1502523"/>
                </a:cubicBezTo>
                <a:lnTo>
                  <a:pt x="2791311" y="1510590"/>
                </a:lnTo>
                <a:cubicBezTo>
                  <a:pt x="2798584" y="1330214"/>
                  <a:pt x="2708840" y="1159721"/>
                  <a:pt x="2556031" y="1063608"/>
                </a:cubicBezTo>
                <a:cubicBezTo>
                  <a:pt x="2479627" y="1015552"/>
                  <a:pt x="2393289" y="989760"/>
                  <a:pt x="2306124" y="986566"/>
                </a:cubicBezTo>
                <a:close/>
                <a:moveTo>
                  <a:pt x="1620000" y="0"/>
                </a:moveTo>
                <a:lnTo>
                  <a:pt x="1785636" y="8364"/>
                </a:lnTo>
                <a:lnTo>
                  <a:pt x="1946487" y="32913"/>
                </a:lnTo>
                <a:lnTo>
                  <a:pt x="2101738" y="72832"/>
                </a:lnTo>
                <a:lnTo>
                  <a:pt x="2250577" y="127308"/>
                </a:lnTo>
                <a:lnTo>
                  <a:pt x="2392188" y="195525"/>
                </a:lnTo>
                <a:lnTo>
                  <a:pt x="2525757" y="276671"/>
                </a:lnTo>
                <a:lnTo>
                  <a:pt x="2650470" y="369929"/>
                </a:lnTo>
                <a:lnTo>
                  <a:pt x="2765513" y="474487"/>
                </a:lnTo>
                <a:lnTo>
                  <a:pt x="2870071" y="589530"/>
                </a:lnTo>
                <a:lnTo>
                  <a:pt x="2963329" y="714243"/>
                </a:lnTo>
                <a:lnTo>
                  <a:pt x="3044475" y="847812"/>
                </a:lnTo>
                <a:lnTo>
                  <a:pt x="3112693" y="989423"/>
                </a:lnTo>
                <a:lnTo>
                  <a:pt x="3167168" y="1138262"/>
                </a:lnTo>
                <a:lnTo>
                  <a:pt x="3207088" y="1293514"/>
                </a:lnTo>
                <a:lnTo>
                  <a:pt x="3231636" y="1454365"/>
                </a:lnTo>
                <a:lnTo>
                  <a:pt x="3240000" y="1620000"/>
                </a:lnTo>
                <a:lnTo>
                  <a:pt x="3231636" y="1785636"/>
                </a:lnTo>
                <a:lnTo>
                  <a:pt x="3207088" y="1946487"/>
                </a:lnTo>
                <a:lnTo>
                  <a:pt x="3167168" y="2101739"/>
                </a:lnTo>
                <a:lnTo>
                  <a:pt x="3112693" y="2250577"/>
                </a:lnTo>
                <a:lnTo>
                  <a:pt x="3044475" y="2392188"/>
                </a:lnTo>
                <a:lnTo>
                  <a:pt x="2963329" y="2525758"/>
                </a:lnTo>
                <a:lnTo>
                  <a:pt x="2870071" y="2650471"/>
                </a:lnTo>
                <a:lnTo>
                  <a:pt x="2765513" y="2765513"/>
                </a:lnTo>
                <a:lnTo>
                  <a:pt x="2650470" y="2870071"/>
                </a:lnTo>
                <a:lnTo>
                  <a:pt x="2525757" y="2963330"/>
                </a:lnTo>
                <a:lnTo>
                  <a:pt x="2392188" y="3044475"/>
                </a:lnTo>
                <a:lnTo>
                  <a:pt x="2250577" y="3112693"/>
                </a:lnTo>
                <a:lnTo>
                  <a:pt x="2101738" y="3167168"/>
                </a:lnTo>
                <a:lnTo>
                  <a:pt x="1946487" y="3207088"/>
                </a:lnTo>
                <a:lnTo>
                  <a:pt x="1785636" y="3231636"/>
                </a:lnTo>
                <a:cubicBezTo>
                  <a:pt x="1731176" y="3237167"/>
                  <a:pt x="1675919" y="3240000"/>
                  <a:pt x="1620000" y="3240000"/>
                </a:cubicBezTo>
                <a:cubicBezTo>
                  <a:pt x="1508162" y="3240000"/>
                  <a:pt x="1398972" y="3228667"/>
                  <a:pt x="1293514" y="3207088"/>
                </a:cubicBezTo>
                <a:cubicBezTo>
                  <a:pt x="1240785" y="3196298"/>
                  <a:pt x="1188989" y="3182946"/>
                  <a:pt x="1138262" y="3167168"/>
                </a:cubicBezTo>
                <a:cubicBezTo>
                  <a:pt x="1087535" y="3151390"/>
                  <a:pt x="1037877" y="3133187"/>
                  <a:pt x="989423" y="3112693"/>
                </a:cubicBezTo>
                <a:cubicBezTo>
                  <a:pt x="940970" y="3092198"/>
                  <a:pt x="893721" y="3069414"/>
                  <a:pt x="847812" y="3044475"/>
                </a:cubicBezTo>
                <a:cubicBezTo>
                  <a:pt x="801903" y="3019536"/>
                  <a:pt x="757335" y="2992442"/>
                  <a:pt x="714243" y="2963330"/>
                </a:cubicBezTo>
                <a:cubicBezTo>
                  <a:pt x="671151" y="2934217"/>
                  <a:pt x="629534" y="2903086"/>
                  <a:pt x="589530" y="2870071"/>
                </a:cubicBezTo>
                <a:cubicBezTo>
                  <a:pt x="549525" y="2837056"/>
                  <a:pt x="511132" y="2802158"/>
                  <a:pt x="474487" y="2765513"/>
                </a:cubicBezTo>
                <a:cubicBezTo>
                  <a:pt x="437842" y="2728868"/>
                  <a:pt x="402944" y="2690475"/>
                  <a:pt x="369929" y="2650471"/>
                </a:cubicBezTo>
                <a:cubicBezTo>
                  <a:pt x="336915" y="2610466"/>
                  <a:pt x="305783" y="2568850"/>
                  <a:pt x="276671" y="2525758"/>
                </a:cubicBezTo>
                <a:cubicBezTo>
                  <a:pt x="247558" y="2482665"/>
                  <a:pt x="220464" y="2438097"/>
                  <a:pt x="195525" y="2392188"/>
                </a:cubicBezTo>
                <a:cubicBezTo>
                  <a:pt x="170586" y="2346280"/>
                  <a:pt x="147802" y="2299031"/>
                  <a:pt x="127308" y="2250577"/>
                </a:cubicBezTo>
                <a:cubicBezTo>
                  <a:pt x="106814" y="2202124"/>
                  <a:pt x="88610" y="2152466"/>
                  <a:pt x="72832" y="2101739"/>
                </a:cubicBezTo>
                <a:cubicBezTo>
                  <a:pt x="57054" y="2051012"/>
                  <a:pt x="43703" y="1999216"/>
                  <a:pt x="32913" y="1946487"/>
                </a:cubicBezTo>
                <a:cubicBezTo>
                  <a:pt x="22123" y="1893758"/>
                  <a:pt x="13895" y="1840095"/>
                  <a:pt x="8364" y="1785636"/>
                </a:cubicBezTo>
                <a:cubicBezTo>
                  <a:pt x="2833" y="1731176"/>
                  <a:pt x="0" y="1675919"/>
                  <a:pt x="0" y="1620000"/>
                </a:cubicBezTo>
                <a:cubicBezTo>
                  <a:pt x="0" y="1508163"/>
                  <a:pt x="11333" y="1398972"/>
                  <a:pt x="32913" y="1293514"/>
                </a:cubicBezTo>
                <a:cubicBezTo>
                  <a:pt x="43703" y="1240785"/>
                  <a:pt x="57054" y="1188989"/>
                  <a:pt x="72832" y="1138262"/>
                </a:cubicBezTo>
                <a:cubicBezTo>
                  <a:pt x="88610" y="1087535"/>
                  <a:pt x="106814" y="1037877"/>
                  <a:pt x="127308" y="989423"/>
                </a:cubicBezTo>
                <a:cubicBezTo>
                  <a:pt x="147802" y="940970"/>
                  <a:pt x="170586" y="893721"/>
                  <a:pt x="195525" y="847812"/>
                </a:cubicBezTo>
                <a:cubicBezTo>
                  <a:pt x="220464" y="801904"/>
                  <a:pt x="247558" y="757335"/>
                  <a:pt x="276671" y="714243"/>
                </a:cubicBezTo>
                <a:cubicBezTo>
                  <a:pt x="305783" y="671151"/>
                  <a:pt x="336915" y="629534"/>
                  <a:pt x="369929" y="589530"/>
                </a:cubicBezTo>
                <a:cubicBezTo>
                  <a:pt x="402944" y="549525"/>
                  <a:pt x="437842" y="511133"/>
                  <a:pt x="474487" y="474487"/>
                </a:cubicBezTo>
                <a:cubicBezTo>
                  <a:pt x="511132" y="437842"/>
                  <a:pt x="549525" y="402944"/>
                  <a:pt x="589530" y="369929"/>
                </a:cubicBezTo>
                <a:cubicBezTo>
                  <a:pt x="629534" y="336915"/>
                  <a:pt x="671151" y="305783"/>
                  <a:pt x="714243" y="276671"/>
                </a:cubicBezTo>
                <a:cubicBezTo>
                  <a:pt x="757335" y="247558"/>
                  <a:pt x="801903" y="220465"/>
                  <a:pt x="847812" y="195525"/>
                </a:cubicBezTo>
                <a:cubicBezTo>
                  <a:pt x="893721" y="170586"/>
                  <a:pt x="940970" y="147802"/>
                  <a:pt x="989423" y="127308"/>
                </a:cubicBezTo>
                <a:cubicBezTo>
                  <a:pt x="1037877" y="106814"/>
                  <a:pt x="1087535" y="88610"/>
                  <a:pt x="1138262" y="72832"/>
                </a:cubicBezTo>
                <a:cubicBezTo>
                  <a:pt x="1188989" y="57054"/>
                  <a:pt x="1240785" y="43703"/>
                  <a:pt x="1293514" y="32913"/>
                </a:cubicBezTo>
                <a:cubicBezTo>
                  <a:pt x="1346243" y="22123"/>
                  <a:pt x="1399905" y="13895"/>
                  <a:pt x="1454365" y="8364"/>
                </a:cubicBezTo>
                <a:cubicBezTo>
                  <a:pt x="1508824" y="2833"/>
                  <a:pt x="1564081" y="0"/>
                  <a:pt x="1620000"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0" name="Rounded Rectangle 6">
            <a:extLst>
              <a:ext uri="{FF2B5EF4-FFF2-40B4-BE49-F238E27FC236}">
                <a16:creationId xmlns:a16="http://schemas.microsoft.com/office/drawing/2014/main" id="{48E90455-C4C4-4792-86FF-218C5EFE04F0}"/>
              </a:ext>
            </a:extLst>
          </p:cNvPr>
          <p:cNvSpPr/>
          <p:nvPr/>
        </p:nvSpPr>
        <p:spPr>
          <a:xfrm>
            <a:off x="6092415" y="3744733"/>
            <a:ext cx="616402" cy="296900"/>
          </a:xfrm>
          <a:custGeom>
            <a:avLst/>
            <a:gdLst/>
            <a:ahLst/>
            <a:cxnLst/>
            <a:rect l="l" t="t" r="r" b="b"/>
            <a:pathLst>
              <a:path w="3215400" h="1548752">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1" name="Rounded Rectangle 6">
            <a:extLst>
              <a:ext uri="{FF2B5EF4-FFF2-40B4-BE49-F238E27FC236}">
                <a16:creationId xmlns:a16="http://schemas.microsoft.com/office/drawing/2014/main" id="{8329069E-6F6C-4466-BEA3-223D7C56FECC}"/>
              </a:ext>
            </a:extLst>
          </p:cNvPr>
          <p:cNvSpPr/>
          <p:nvPr/>
        </p:nvSpPr>
        <p:spPr>
          <a:xfrm>
            <a:off x="6999737" y="3744733"/>
            <a:ext cx="616402" cy="296900"/>
          </a:xfrm>
          <a:custGeom>
            <a:avLst/>
            <a:gdLst/>
            <a:ahLst/>
            <a:cxnLst/>
            <a:rect l="l" t="t" r="r" b="b"/>
            <a:pathLst>
              <a:path w="3215400" h="1548752">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928911" y="234376"/>
                </a:moveTo>
                <a:lnTo>
                  <a:pt x="1432967" y="234376"/>
                </a:lnTo>
                <a:lnTo>
                  <a:pt x="1432967" y="1314376"/>
                </a:lnTo>
                <a:lnTo>
                  <a:pt x="928911" y="1314376"/>
                </a:ln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2" name="Rounded Rectangle 6">
            <a:extLst>
              <a:ext uri="{FF2B5EF4-FFF2-40B4-BE49-F238E27FC236}">
                <a16:creationId xmlns:a16="http://schemas.microsoft.com/office/drawing/2014/main" id="{740CC869-4793-4E41-A92A-FDB14A2B194C}"/>
              </a:ext>
            </a:extLst>
          </p:cNvPr>
          <p:cNvSpPr/>
          <p:nvPr/>
        </p:nvSpPr>
        <p:spPr>
          <a:xfrm>
            <a:off x="7907059" y="3744733"/>
            <a:ext cx="616402" cy="296900"/>
          </a:xfrm>
          <a:custGeom>
            <a:avLst/>
            <a:gdLst/>
            <a:ahLst/>
            <a:cxnLst/>
            <a:rect l="l" t="t" r="r" b="b"/>
            <a:pathLst>
              <a:path w="3215400" h="1548752">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1584648" y="234376"/>
                </a:moveTo>
                <a:lnTo>
                  <a:pt x="2088704" y="234376"/>
                </a:lnTo>
                <a:lnTo>
                  <a:pt x="2088704" y="1314376"/>
                </a:lnTo>
                <a:lnTo>
                  <a:pt x="1584648" y="1314376"/>
                </a:lnTo>
                <a:close/>
                <a:moveTo>
                  <a:pt x="928911" y="234376"/>
                </a:moveTo>
                <a:lnTo>
                  <a:pt x="1432967" y="234376"/>
                </a:lnTo>
                <a:lnTo>
                  <a:pt x="1432967" y="1314376"/>
                </a:lnTo>
                <a:lnTo>
                  <a:pt x="928911" y="1314376"/>
                </a:ln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
        <p:nvSpPr>
          <p:cNvPr id="13" name="Rounded Rectangle 6">
            <a:extLst>
              <a:ext uri="{FF2B5EF4-FFF2-40B4-BE49-F238E27FC236}">
                <a16:creationId xmlns:a16="http://schemas.microsoft.com/office/drawing/2014/main" id="{17C1EAE2-459E-491D-81FC-F8924F353B13}"/>
              </a:ext>
            </a:extLst>
          </p:cNvPr>
          <p:cNvSpPr/>
          <p:nvPr/>
        </p:nvSpPr>
        <p:spPr>
          <a:xfrm>
            <a:off x="8814379" y="3744733"/>
            <a:ext cx="616402" cy="296900"/>
          </a:xfrm>
          <a:custGeom>
            <a:avLst/>
            <a:gdLst/>
            <a:ahLst/>
            <a:cxnLst/>
            <a:rect l="l" t="t" r="r" b="b"/>
            <a:pathLst>
              <a:path w="3215400" h="1548752">
                <a:moveTo>
                  <a:pt x="3026619" y="414336"/>
                </a:moveTo>
                <a:lnTo>
                  <a:pt x="3121009" y="414336"/>
                </a:lnTo>
                <a:cubicBezTo>
                  <a:pt x="3173140" y="414336"/>
                  <a:pt x="3215400" y="456596"/>
                  <a:pt x="3215400" y="508727"/>
                </a:cubicBezTo>
                <a:lnTo>
                  <a:pt x="3215400" y="1040026"/>
                </a:lnTo>
                <a:cubicBezTo>
                  <a:pt x="3215400" y="1092157"/>
                  <a:pt x="3173140" y="1134417"/>
                  <a:pt x="3121009" y="1134417"/>
                </a:cubicBezTo>
                <a:cubicBezTo>
                  <a:pt x="3089546" y="1134417"/>
                  <a:pt x="3058082" y="1134416"/>
                  <a:pt x="3026619" y="1134416"/>
                </a:cubicBezTo>
                <a:close/>
                <a:moveTo>
                  <a:pt x="2240385" y="234376"/>
                </a:moveTo>
                <a:lnTo>
                  <a:pt x="2744441" y="234376"/>
                </a:lnTo>
                <a:lnTo>
                  <a:pt x="2744441" y="1314376"/>
                </a:lnTo>
                <a:lnTo>
                  <a:pt x="2240385" y="1314376"/>
                </a:lnTo>
                <a:close/>
                <a:moveTo>
                  <a:pt x="1584648" y="234376"/>
                </a:moveTo>
                <a:lnTo>
                  <a:pt x="2088704" y="234376"/>
                </a:lnTo>
                <a:lnTo>
                  <a:pt x="2088704" y="1314376"/>
                </a:lnTo>
                <a:lnTo>
                  <a:pt x="1584648" y="1314376"/>
                </a:lnTo>
                <a:close/>
                <a:moveTo>
                  <a:pt x="928911" y="234376"/>
                </a:moveTo>
                <a:lnTo>
                  <a:pt x="1432967" y="234376"/>
                </a:lnTo>
                <a:lnTo>
                  <a:pt x="1432967" y="1314376"/>
                </a:lnTo>
                <a:lnTo>
                  <a:pt x="928911" y="1314376"/>
                </a:lnTo>
                <a:close/>
                <a:moveTo>
                  <a:pt x="273174" y="234376"/>
                </a:moveTo>
                <a:lnTo>
                  <a:pt x="777230" y="234376"/>
                </a:lnTo>
                <a:lnTo>
                  <a:pt x="777230" y="1314376"/>
                </a:lnTo>
                <a:lnTo>
                  <a:pt x="273174" y="1314376"/>
                </a:lnTo>
                <a:close/>
                <a:moveTo>
                  <a:pt x="258244" y="126376"/>
                </a:moveTo>
                <a:cubicBezTo>
                  <a:pt x="182968" y="126376"/>
                  <a:pt x="121944" y="187400"/>
                  <a:pt x="121944" y="262676"/>
                </a:cubicBezTo>
                <a:lnTo>
                  <a:pt x="121944" y="1286076"/>
                </a:lnTo>
                <a:cubicBezTo>
                  <a:pt x="121944" y="1361352"/>
                  <a:pt x="182968" y="1422376"/>
                  <a:pt x="258244" y="1422376"/>
                </a:cubicBezTo>
                <a:lnTo>
                  <a:pt x="2768375" y="1422376"/>
                </a:lnTo>
                <a:cubicBezTo>
                  <a:pt x="2843651" y="1422376"/>
                  <a:pt x="2904675" y="1361352"/>
                  <a:pt x="2904675" y="1286076"/>
                </a:cubicBezTo>
                <a:lnTo>
                  <a:pt x="2904675" y="262676"/>
                </a:lnTo>
                <a:cubicBezTo>
                  <a:pt x="2904675" y="187400"/>
                  <a:pt x="2843651" y="126376"/>
                  <a:pt x="2768375" y="126376"/>
                </a:cubicBezTo>
                <a:close/>
                <a:moveTo>
                  <a:pt x="162882" y="0"/>
                </a:moveTo>
                <a:lnTo>
                  <a:pt x="2863736" y="0"/>
                </a:lnTo>
                <a:cubicBezTo>
                  <a:pt x="2953693" y="0"/>
                  <a:pt x="3026618" y="72925"/>
                  <a:pt x="3026618" y="162882"/>
                </a:cubicBezTo>
                <a:lnTo>
                  <a:pt x="3026618" y="1385870"/>
                </a:lnTo>
                <a:cubicBezTo>
                  <a:pt x="3026618" y="1475827"/>
                  <a:pt x="2953693" y="1548752"/>
                  <a:pt x="2863736" y="1548752"/>
                </a:cubicBezTo>
                <a:lnTo>
                  <a:pt x="162882" y="1548752"/>
                </a:lnTo>
                <a:cubicBezTo>
                  <a:pt x="72925" y="1548752"/>
                  <a:pt x="0" y="1475827"/>
                  <a:pt x="0" y="1385870"/>
                </a:cubicBezTo>
                <a:lnTo>
                  <a:pt x="0" y="162882"/>
                </a:lnTo>
                <a:cubicBezTo>
                  <a:pt x="0" y="72925"/>
                  <a:pt x="72925" y="0"/>
                  <a:pt x="162882" y="0"/>
                </a:cubicBezTo>
                <a:close/>
              </a:path>
            </a:pathLst>
          </a:custGeom>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p>
        </p:txBody>
      </p:sp>
    </p:spTree>
    <p:extLst>
      <p:ext uri="{BB962C8B-B14F-4D97-AF65-F5344CB8AC3E}">
        <p14:creationId xmlns:p14="http://schemas.microsoft.com/office/powerpoint/2010/main" val="39522427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564</TotalTime>
  <Words>3617</Words>
  <Application>Microsoft Office PowerPoint</Application>
  <PresentationFormat>شاشة عريضة</PresentationFormat>
  <Paragraphs>243</Paragraphs>
  <Slides>47</Slides>
  <Notes>1</Notes>
  <HiddenSlides>0</HiddenSlides>
  <MMClips>0</MMClips>
  <ScaleCrop>false</ScaleCrop>
  <HeadingPairs>
    <vt:vector size="8" baseType="variant">
      <vt:variant>
        <vt:lpstr>الخطوط المستخدمة</vt:lpstr>
      </vt:variant>
      <vt:variant>
        <vt:i4>11</vt:i4>
      </vt:variant>
      <vt:variant>
        <vt:lpstr>نسق</vt:lpstr>
      </vt:variant>
      <vt:variant>
        <vt:i4>1</vt:i4>
      </vt:variant>
      <vt:variant>
        <vt:lpstr>خوادم OLE مضمنة</vt:lpstr>
      </vt:variant>
      <vt:variant>
        <vt:i4>1</vt:i4>
      </vt:variant>
      <vt:variant>
        <vt:lpstr>عناوين الشرائح</vt:lpstr>
      </vt:variant>
      <vt:variant>
        <vt:i4>47</vt:i4>
      </vt:variant>
    </vt:vector>
  </HeadingPairs>
  <TitlesOfParts>
    <vt:vector size="60" baseType="lpstr">
      <vt:lpstr>Agency FB</vt:lpstr>
      <vt:lpstr>Aptos</vt:lpstr>
      <vt:lpstr>Arial</vt:lpstr>
      <vt:lpstr>Calibri</vt:lpstr>
      <vt:lpstr>Calibri Light</vt:lpstr>
      <vt:lpstr>Cambria Math</vt:lpstr>
      <vt:lpstr>Courier New</vt:lpstr>
      <vt:lpstr>Symbol</vt:lpstr>
      <vt:lpstr>Times New Roman</vt:lpstr>
      <vt:lpstr>TimesNewRomanPS-BoldMT</vt:lpstr>
      <vt:lpstr>Wingdings</vt:lpstr>
      <vt:lpstr>Office Theme</vt:lpstr>
      <vt:lpstr>MSPhotoEd.3</vt:lpstr>
      <vt:lpstr>عرض تقديمي في PowerPoint</vt:lpstr>
      <vt:lpstr>Objective</vt:lpstr>
      <vt:lpstr>Introduction:</vt:lpstr>
      <vt:lpstr>General steps for administer medication</vt:lpstr>
      <vt:lpstr>Drug Administration Routes </vt:lpstr>
      <vt:lpstr>Six right for administer medication</vt:lpstr>
      <vt:lpstr>Administering Oral Medications</vt:lpstr>
      <vt:lpstr>Equipment for oral medications</vt:lpstr>
      <vt:lpstr>Steps of Oral Administration </vt:lpstr>
      <vt:lpstr>Cont…</vt:lpstr>
      <vt:lpstr>Notices</vt:lpstr>
      <vt:lpstr>عرض تقديمي في PowerPoint</vt:lpstr>
      <vt:lpstr>Administering parenteral medications</vt:lpstr>
      <vt:lpstr>NURSING Tips </vt:lpstr>
      <vt:lpstr>Nose drops</vt:lpstr>
      <vt:lpstr>Steps</vt:lpstr>
      <vt:lpstr>Ear drops</vt:lpstr>
      <vt:lpstr>Steps</vt:lpstr>
      <vt:lpstr>Eye drops and creams</vt:lpstr>
      <vt:lpstr>Steps:</vt:lpstr>
      <vt:lpstr>عرض تقديمي في PowerPoint</vt:lpstr>
      <vt:lpstr>Inhaled Medication</vt:lpstr>
      <vt:lpstr>Inhaled Medication</vt:lpstr>
      <vt:lpstr>Procedure (steps) </vt:lpstr>
      <vt:lpstr>Administering Intramuscular Injections</vt:lpstr>
      <vt:lpstr>عرض تقديمي في PowerPoint</vt:lpstr>
      <vt:lpstr>I.M. INJECTION SITES IN CHILDREN </vt:lpstr>
      <vt:lpstr>Vastus lateralis and rectus femoris</vt:lpstr>
      <vt:lpstr>Ventrogluteal and dorsogluteal</vt:lpstr>
      <vt:lpstr>Deltoid muscle </vt:lpstr>
      <vt:lpstr>Procedure steps</vt:lpstr>
      <vt:lpstr>عرض تقديمي في PowerPoint</vt:lpstr>
      <vt:lpstr>عرض تقديمي في PowerPoint</vt:lpstr>
      <vt:lpstr>Giving a subcutaneous injection (SC)</vt:lpstr>
      <vt:lpstr>Giving an intradermal injection</vt:lpstr>
      <vt:lpstr>I.V. Therapy</vt:lpstr>
      <vt:lpstr>Equipment</vt:lpstr>
      <vt:lpstr>Common pediatric I.V. sites</vt:lpstr>
      <vt:lpstr>Procedure</vt:lpstr>
      <vt:lpstr>عرض تقديمي في PowerPoint</vt:lpstr>
      <vt:lpstr>Complications of I.V therapy</vt:lpstr>
      <vt:lpstr>Administration of safe medication:</vt:lpstr>
      <vt:lpstr>Calculating Safe Dosages for Children</vt:lpstr>
      <vt:lpstr>Drug Calculation </vt:lpstr>
      <vt:lpstr>عرض تقديمي في PowerPoint</vt:lpstr>
      <vt:lpstr>Dosage Calculation (Home work)</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3llli fadhil</dc:creator>
  <cp:lastModifiedBy>green lanter</cp:lastModifiedBy>
  <cp:revision>48</cp:revision>
  <dcterms:created xsi:type="dcterms:W3CDTF">2020-12-26T18:59:38Z</dcterms:created>
  <dcterms:modified xsi:type="dcterms:W3CDTF">2025-02-17T19:03:07Z</dcterms:modified>
</cp:coreProperties>
</file>