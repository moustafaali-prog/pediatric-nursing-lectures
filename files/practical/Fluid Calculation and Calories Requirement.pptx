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1" r:id="rId15"/>
    <p:sldId id="270" r:id="rId16"/>
    <p:sldId id="292" r:id="rId17"/>
    <p:sldId id="295" r:id="rId18"/>
    <p:sldId id="296" r:id="rId19"/>
    <p:sldId id="297" r:id="rId20"/>
    <p:sldId id="291" r:id="rId21"/>
    <p:sldId id="298" r:id="rId22"/>
    <p:sldId id="299" r:id="rId23"/>
    <p:sldId id="300" r:id="rId24"/>
    <p:sldId id="301" r:id="rId25"/>
    <p:sldId id="272" r:id="rId26"/>
    <p:sldId id="273" r:id="rId27"/>
    <p:sldId id="274" r:id="rId28"/>
    <p:sldId id="275" r:id="rId29"/>
    <p:sldId id="293" r:id="rId30"/>
    <p:sldId id="290" r:id="rId31"/>
    <p:sldId id="276" r:id="rId32"/>
    <p:sldId id="289" r:id="rId33"/>
    <p:sldId id="284" r:id="rId34"/>
    <p:sldId id="281" r:id="rId35"/>
    <p:sldId id="294" r:id="rId36"/>
    <p:sldId id="278" r:id="rId37"/>
    <p:sldId id="302" r:id="rId38"/>
    <p:sldId id="303" r:id="rId39"/>
    <p:sldId id="304" r:id="rId40"/>
    <p:sldId id="285" r:id="rId41"/>
  </p:sldIdLst>
  <p:sldSz cx="12192000" cy="6858000"/>
  <p:notesSz cx="6858000" cy="9144000"/>
  <p:defaultTextStyle>
    <a:defPPr>
      <a:defRPr lang="ar-IQ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475" autoAdjust="0"/>
    <p:restoredTop sz="56881" autoAdjust="0"/>
  </p:normalViewPr>
  <p:slideViewPr>
    <p:cSldViewPr snapToGrid="0">
      <p:cViewPr varScale="1">
        <p:scale>
          <a:sx n="43" d="100"/>
          <a:sy n="43" d="100"/>
        </p:scale>
        <p:origin x="173" y="48"/>
      </p:cViewPr>
      <p:guideLst/>
    </p:cSldViewPr>
  </p:slideViewPr>
  <p:outlineViewPr>
    <p:cViewPr>
      <p:scale>
        <a:sx n="33" d="100"/>
        <a:sy n="33" d="100"/>
      </p:scale>
      <p:origin x="0" y="-17515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IQ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7D43FE27-F2D4-41FE-A8C5-3B164C015F15}" type="datetimeFigureOut">
              <a:rPr lang="ar-IQ" smtClean="0"/>
              <a:t>18/09/1446</a:t>
            </a:fld>
            <a:endParaRPr lang="ar-IQ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IQ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IQ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672D4108-D637-4E52-9A84-403A9AED6E1D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832272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D4108-D637-4E52-9A84-403A9AED6E1D}" type="slidenum">
              <a:rPr lang="ar-IQ" smtClean="0"/>
              <a:t>1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4096250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b="1" dirty="0"/>
              <a:t>Tonicity</a:t>
            </a:r>
            <a:r>
              <a:rPr lang="en-US" dirty="0"/>
              <a:t>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Tonicity refers to the relative concentration of solutes in a solution, influencing the direction of water movement across a semi-permeable membrane.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Solutions can be </a:t>
            </a:r>
            <a:r>
              <a:rPr lang="en-US" b="1" dirty="0"/>
              <a:t>isotonic</a:t>
            </a:r>
            <a:r>
              <a:rPr lang="en-US" dirty="0"/>
              <a:t> (equal concentration), </a:t>
            </a:r>
            <a:r>
              <a:rPr lang="en-US" b="1" dirty="0"/>
              <a:t>hypotonic</a:t>
            </a:r>
            <a:r>
              <a:rPr lang="en-US" dirty="0"/>
              <a:t> (lower solute concentration outside the cell, causing water to move into the cell), or </a:t>
            </a:r>
            <a:r>
              <a:rPr lang="en-US" b="1" dirty="0"/>
              <a:t>hypertonic</a:t>
            </a:r>
            <a:r>
              <a:rPr lang="en-US" dirty="0"/>
              <a:t> (higher solute concentration outside, causing water to move out).</a:t>
            </a:r>
          </a:p>
          <a:p>
            <a:pPr algn="l" rtl="0"/>
            <a:r>
              <a:rPr lang="en-US" b="1" dirty="0"/>
              <a:t>Hydrostatic Pressure</a:t>
            </a:r>
            <a:r>
              <a:rPr lang="en-US" dirty="0"/>
              <a:t>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This is the pressure exerted by a fluid in a closed system, such as blood inside blood vessels.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In capillaries, </a:t>
            </a:r>
            <a:r>
              <a:rPr lang="en-US" b="1" dirty="0"/>
              <a:t>hydrostatic pressure</a:t>
            </a:r>
            <a:r>
              <a:rPr lang="en-US" dirty="0"/>
              <a:t> pushes water and small molecules out of the blood into the interstitial space, particularly at the </a:t>
            </a:r>
            <a:r>
              <a:rPr lang="en-US" b="1" dirty="0"/>
              <a:t>arterial end of capillaries</a:t>
            </a:r>
            <a:r>
              <a:rPr lang="en-US" dirty="0"/>
              <a:t>.</a:t>
            </a:r>
          </a:p>
          <a:p>
            <a:pPr algn="l" rtl="0"/>
            <a:r>
              <a:rPr lang="en-US" b="1" dirty="0"/>
              <a:t>Example</a:t>
            </a:r>
            <a:r>
              <a:rPr lang="en-US" dirty="0"/>
              <a:t>: At the arterial end of capillaries, the blood's hydrostatic pressure is higher than the surrounding interstitial fluid, causing water and nutrients to filter out into surrounding tissues.</a:t>
            </a:r>
          </a:p>
          <a:p>
            <a:pPr algn="l" rtl="0"/>
            <a:r>
              <a:rPr lang="en-US" b="1" dirty="0"/>
              <a:t>Colloid Osmotic (Oncotic) Pressure</a:t>
            </a:r>
            <a:r>
              <a:rPr lang="en-US" dirty="0"/>
              <a:t>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This pressure is generated by large proteins (primarily albumin) in the blood plasma, which exert a pulling force, drawing water back into capillaries.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At the </a:t>
            </a:r>
            <a:r>
              <a:rPr lang="en-US" b="1" dirty="0"/>
              <a:t>venous end of capillaries</a:t>
            </a:r>
            <a:r>
              <a:rPr lang="en-US" dirty="0"/>
              <a:t>, colloid osmotic pressure becomes the dominant force, helping to draw water and waste products back into the bloodstream.</a:t>
            </a:r>
          </a:p>
          <a:p>
            <a:pPr algn="l" rtl="0"/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D4108-D637-4E52-9A84-403A9AED6E1D}" type="slidenum">
              <a:rPr lang="ar-IQ" smtClean="0"/>
              <a:t>5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163271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>
              <a:buNone/>
            </a:pPr>
            <a:r>
              <a:rPr lang="en-US" b="1" dirty="0"/>
              <a:t>Plasma Osmolality and Its Role in Homeostasis</a:t>
            </a:r>
          </a:p>
          <a:p>
            <a:pPr algn="l" rtl="0">
              <a:buNone/>
            </a:pPr>
            <a:r>
              <a:rPr lang="en-US" b="1" dirty="0"/>
              <a:t>Plasma osmolality</a:t>
            </a:r>
            <a:r>
              <a:rPr lang="en-US" dirty="0"/>
              <a:t> refers to the concentration of solutes (such as sodium, glucose, and urea) in the blood plasma. It is crucial for maintaining </a:t>
            </a:r>
            <a:r>
              <a:rPr lang="en-US" b="1" dirty="0"/>
              <a:t>fluid balance, cellular function, and overall homeostasis</a:t>
            </a:r>
            <a:r>
              <a:rPr lang="en-US" dirty="0"/>
              <a:t>.</a:t>
            </a:r>
          </a:p>
          <a:p>
            <a:pPr algn="l" rtl="0">
              <a:buNone/>
            </a:pPr>
            <a:r>
              <a:rPr lang="en-US" b="1" dirty="0"/>
              <a:t>1. Normal Plasma Osmolality Range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The normal range is </a:t>
            </a:r>
            <a:r>
              <a:rPr lang="en-US" b="1" dirty="0"/>
              <a:t>285–300 </a:t>
            </a:r>
            <a:r>
              <a:rPr lang="en-US" b="1" dirty="0" err="1"/>
              <a:t>mOsmol</a:t>
            </a:r>
            <a:r>
              <a:rPr lang="en-US" b="1" dirty="0"/>
              <a:t>/kg H₂O</a:t>
            </a:r>
            <a:r>
              <a:rPr lang="en-US" dirty="0"/>
              <a:t>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This balance ensures that cells neither </a:t>
            </a:r>
            <a:r>
              <a:rPr lang="en-US" b="1" dirty="0"/>
              <a:t>shrink (dehydrate)</a:t>
            </a:r>
            <a:r>
              <a:rPr lang="en-US" dirty="0"/>
              <a:t> nor </a:t>
            </a:r>
            <a:r>
              <a:rPr lang="en-US" b="1" dirty="0"/>
              <a:t>swell (overhydrate)</a:t>
            </a:r>
            <a:r>
              <a:rPr lang="en-US" dirty="0"/>
              <a:t> due to fluid movement.</a:t>
            </a:r>
          </a:p>
          <a:p>
            <a:pPr algn="l" rtl="0">
              <a:buNone/>
            </a:pPr>
            <a:r>
              <a:rPr lang="en-US" b="1" dirty="0"/>
              <a:t>2. Factors That Affect Plasma Osmolality</a:t>
            </a:r>
          </a:p>
          <a:p>
            <a:pPr algn="l" rtl="0">
              <a:buNone/>
            </a:pPr>
            <a:r>
              <a:rPr lang="en-US" dirty="0"/>
              <a:t>Plasma osmolality depends on: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Sodium (Na⁺):</a:t>
            </a:r>
            <a:r>
              <a:rPr lang="en-US" dirty="0"/>
              <a:t> The primary determinant, as sodium attracts water and regulates extracellular fluid balance.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Glucose:</a:t>
            </a:r>
            <a:r>
              <a:rPr lang="en-US" dirty="0"/>
              <a:t> Contributes to osmolality, especially in conditions like </a:t>
            </a:r>
            <a:r>
              <a:rPr lang="en-US" b="1" dirty="0"/>
              <a:t>diabetes</a:t>
            </a:r>
            <a:r>
              <a:rPr lang="en-US" dirty="0"/>
              <a:t>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Urea:</a:t>
            </a:r>
            <a:r>
              <a:rPr lang="en-US" dirty="0"/>
              <a:t> A metabolic waste product that influences osmolality but does not drive water movement as strongly as sodium.</a:t>
            </a:r>
          </a:p>
          <a:p>
            <a:pPr algn="l" rtl="0">
              <a:buNone/>
            </a:pPr>
            <a:r>
              <a:rPr lang="en-US" b="1" dirty="0"/>
              <a:t>3. How Plasma Osmolality Regulates Fluid Balance</a:t>
            </a:r>
          </a:p>
          <a:p>
            <a:pPr algn="l" rtl="0">
              <a:buNone/>
            </a:pPr>
            <a:r>
              <a:rPr lang="en-US" dirty="0"/>
              <a:t>To maintain osmolality within the normal range, the body uses </a:t>
            </a:r>
            <a:r>
              <a:rPr lang="en-US" b="1" dirty="0"/>
              <a:t>two key mechanisms</a:t>
            </a:r>
            <a:r>
              <a:rPr lang="en-US" dirty="0"/>
              <a:t>:</a:t>
            </a:r>
          </a:p>
          <a:p>
            <a:pPr algn="l" rtl="0">
              <a:buNone/>
            </a:pPr>
            <a:r>
              <a:rPr lang="ar-IQ" b="1" dirty="0"/>
              <a:t>✅ 1. </a:t>
            </a:r>
            <a:r>
              <a:rPr lang="en-US" b="1" dirty="0"/>
              <a:t>Thirst Mechanism (Water Intake)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When osmolality </a:t>
            </a:r>
            <a:r>
              <a:rPr lang="en-US" b="1" dirty="0"/>
              <a:t>increases (dehydration)</a:t>
            </a:r>
            <a:r>
              <a:rPr lang="en-US" dirty="0"/>
              <a:t>, the brain’s </a:t>
            </a:r>
            <a:r>
              <a:rPr lang="en-US" b="1" dirty="0"/>
              <a:t>hypothalamus</a:t>
            </a:r>
            <a:r>
              <a:rPr lang="en-US" dirty="0"/>
              <a:t> detects the change and triggers thirst.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Drinking water dilutes plasma, restoring normal osmolality.</a:t>
            </a:r>
          </a:p>
          <a:p>
            <a:pPr algn="l" rtl="0">
              <a:buNone/>
            </a:pPr>
            <a:r>
              <a:rPr lang="ar-IQ" b="1" dirty="0"/>
              <a:t>✅ 2. </a:t>
            </a:r>
            <a:r>
              <a:rPr lang="en-US" b="1" dirty="0"/>
              <a:t>Antidiuretic Hormone (ADH) – Water Retention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pituitary gland</a:t>
            </a:r>
            <a:r>
              <a:rPr lang="en-US" dirty="0"/>
              <a:t> releases ADH when osmolality is high.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ADH signals the </a:t>
            </a:r>
            <a:r>
              <a:rPr lang="en-US" b="1" dirty="0"/>
              <a:t>kidneys</a:t>
            </a:r>
            <a:r>
              <a:rPr lang="en-US" dirty="0"/>
              <a:t> to retain water, reducing urine output and diluting plasma.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When osmolality is low (overhydration), ADH secretion </a:t>
            </a:r>
            <a:r>
              <a:rPr lang="en-US" b="1" dirty="0"/>
              <a:t>decreases</a:t>
            </a:r>
            <a:r>
              <a:rPr lang="en-US" dirty="0"/>
              <a:t>, leading to more water excretion.</a:t>
            </a:r>
          </a:p>
          <a:p>
            <a:pPr algn="l" rtl="0"/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D4108-D637-4E52-9A84-403A9AED6E1D}" type="slidenum">
              <a:rPr lang="ar-IQ" smtClean="0"/>
              <a:t>6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969644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D4108-D637-4E52-9A84-403A9AED6E1D}" type="slidenum">
              <a:rPr lang="ar-IQ" smtClean="0"/>
              <a:t>8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1781818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D4108-D637-4E52-9A84-403A9AED6E1D}" type="slidenum">
              <a:rPr lang="ar-IQ" smtClean="0"/>
              <a:t>9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872466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D4108-D637-4E52-9A84-403A9AED6E1D}" type="slidenum">
              <a:rPr lang="ar-IQ" smtClean="0"/>
              <a:t>14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3135159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D4108-D637-4E52-9A84-403A9AED6E1D}" type="slidenum">
              <a:rPr lang="ar-IQ" smtClean="0"/>
              <a:t>15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152191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D4108-D637-4E52-9A84-403A9AED6E1D}" type="slidenum">
              <a:rPr lang="ar-IQ" smtClean="0"/>
              <a:t>16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1055844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D4108-D637-4E52-9A84-403A9AED6E1D}" type="slidenum">
              <a:rPr lang="ar-IQ" smtClean="0"/>
              <a:t>17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3566610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D4108-D637-4E52-9A84-403A9AED6E1D}" type="slidenum">
              <a:rPr lang="ar-IQ" smtClean="0"/>
              <a:t>21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13584856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Isotonic (Common in diarrhea, vomiting)	Equal loss of water and sodium</a:t>
            </a:r>
            <a:endParaRPr lang="ar-IQ" dirty="0"/>
          </a:p>
          <a:p>
            <a:endParaRPr lang="ar-IQ" dirty="0"/>
          </a:p>
          <a:p>
            <a:r>
              <a:rPr lang="en-US" b="1" dirty="0"/>
              <a:t>Hypotonic</a:t>
            </a:r>
            <a:r>
              <a:rPr lang="en-US" dirty="0"/>
              <a:t> (Common in </a:t>
            </a:r>
            <a:r>
              <a:rPr lang="en-US" b="1" dirty="0"/>
              <a:t>excessive free water intake</a:t>
            </a:r>
            <a:r>
              <a:rPr lang="en-US" dirty="0"/>
              <a:t>, vomiting, prolonged diarrhea, diuretics)</a:t>
            </a:r>
            <a:r>
              <a:rPr lang="en-US" b="1" dirty="0"/>
              <a:t>More sodium loss than water</a:t>
            </a:r>
            <a:r>
              <a:rPr lang="en-US" dirty="0"/>
              <a:t> → Water shifts </a:t>
            </a:r>
            <a:r>
              <a:rPr lang="en-US" b="1" dirty="0"/>
              <a:t>into cells</a:t>
            </a:r>
            <a:r>
              <a:rPr lang="en-US" dirty="0"/>
              <a:t>, causing </a:t>
            </a:r>
            <a:r>
              <a:rPr lang="en-US" b="1" dirty="0"/>
              <a:t>cell swelling</a:t>
            </a:r>
          </a:p>
          <a:p>
            <a:r>
              <a:rPr lang="en-US" b="1" dirty="0"/>
              <a:t>Hypertonic</a:t>
            </a:r>
            <a:r>
              <a:rPr lang="en-US" dirty="0"/>
              <a:t> (Common in </a:t>
            </a:r>
            <a:r>
              <a:rPr lang="en-US" b="1" dirty="0"/>
              <a:t>excessive sweating, diabetes insipidus, severe fever, inadequate fluid intake</a:t>
            </a:r>
            <a:r>
              <a:rPr lang="en-US" dirty="0"/>
              <a:t>)</a:t>
            </a:r>
            <a:r>
              <a:rPr lang="en-US" b="1" dirty="0"/>
              <a:t>More water loss than sodium</a:t>
            </a:r>
            <a:r>
              <a:rPr lang="en-US" dirty="0"/>
              <a:t> → Water shifts </a:t>
            </a:r>
            <a:r>
              <a:rPr lang="en-US" b="1" dirty="0"/>
              <a:t>out of cells</a:t>
            </a:r>
            <a:r>
              <a:rPr lang="en-US" dirty="0"/>
              <a:t>, causing </a:t>
            </a:r>
            <a:r>
              <a:rPr lang="en-US" b="1" dirty="0"/>
              <a:t>cell shrinkage</a:t>
            </a:r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D4108-D637-4E52-9A84-403A9AED6E1D}" type="slidenum">
              <a:rPr lang="ar-IQ" smtClean="0"/>
              <a:t>24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13921568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Examples of Colloids: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TypeDescriptionIndicationsAlbumin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(5% and 25%)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natural plasma protein that increases oncotic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pressure.Used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hypovolemia, hypoalbuminemia, burns, and liver disease.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5% albumin is for volume expansion, while 25% is for severe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hypoalbuminemia.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Plasma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Protein Fraction (PPF)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Derived from human plasma; contains albumin and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globulins.Used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shock, burns, and trauma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when rapid plasma volume expansion is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needed.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Dextran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synthetic colloid that expands plasma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volume.Used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hypovolemic shock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but less commonly due to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risk of anaphylaxis and bleeding tendencies.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D4108-D637-4E52-9A84-403A9AED6E1D}" type="slidenum">
              <a:rPr lang="ar-IQ" smtClean="0"/>
              <a:t>28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42373855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D4108-D637-4E52-9A84-403A9AED6E1D}" type="slidenum">
              <a:rPr lang="ar-IQ" smtClean="0"/>
              <a:t>30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1866516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>
              <a:buNone/>
            </a:pPr>
            <a:r>
              <a:rPr lang="en-US" b="1" dirty="0"/>
              <a:t>20 kcal/oz</a:t>
            </a:r>
            <a:r>
              <a:rPr lang="en-US" dirty="0"/>
              <a:t> means that each </a:t>
            </a:r>
            <a:r>
              <a:rPr lang="en-US" b="1" dirty="0"/>
              <a:t>ounce (oz) of breast milk or infant formula provides 20 kilocalories (kcal) of energy.</a:t>
            </a:r>
            <a:endParaRPr lang="en-US" dirty="0"/>
          </a:p>
          <a:p>
            <a:pPr algn="l" rtl="0">
              <a:buNone/>
            </a:pPr>
            <a:r>
              <a:rPr lang="en-US" b="1" dirty="0"/>
              <a:t>Explanation: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Kilocalories (kcal)</a:t>
            </a:r>
            <a:r>
              <a:rPr lang="en-US" dirty="0"/>
              <a:t> measure energy from food.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1 ounce (oz) ≈ 30 mL</a:t>
            </a:r>
            <a:endParaRPr lang="en-US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Breast milk and standard infant formula contain 20 kcal per ounce</a:t>
            </a:r>
            <a:r>
              <a:rPr lang="en-US" dirty="0"/>
              <a:t>, ensuring proper growth and development.</a:t>
            </a:r>
          </a:p>
          <a:p>
            <a:pPr algn="l" rtl="0">
              <a:buNone/>
            </a:pPr>
            <a:r>
              <a:rPr lang="en-US" b="1" dirty="0"/>
              <a:t>Example Calculation:</a:t>
            </a:r>
          </a:p>
          <a:p>
            <a:pPr algn="l" rtl="0">
              <a:buNone/>
            </a:pPr>
            <a:r>
              <a:rPr lang="en-US" dirty="0"/>
              <a:t>A baby consuming </a:t>
            </a:r>
            <a:r>
              <a:rPr lang="en-US" b="1" dirty="0"/>
              <a:t>5 oz per feeding, 6 times a day</a:t>
            </a:r>
            <a:r>
              <a:rPr lang="en-US" dirty="0"/>
              <a:t>:</a:t>
            </a:r>
            <a:br>
              <a:rPr lang="en-US" dirty="0"/>
            </a:br>
            <a:r>
              <a:rPr lang="en-US" b="1" dirty="0"/>
              <a:t>5 oz × 6 feedings × 20 kcal/oz = 600 kcal/day</a:t>
            </a:r>
            <a:endParaRPr lang="en-US" dirty="0"/>
          </a:p>
          <a:p>
            <a:pPr algn="l" rtl="0"/>
            <a:r>
              <a:rPr lang="en-US" dirty="0"/>
              <a:t>This meets the daily </a:t>
            </a:r>
            <a:r>
              <a:rPr lang="en-US" b="1" dirty="0"/>
              <a:t>caloric requirement for infants (110-120 kcal/kg/day)</a:t>
            </a:r>
            <a:r>
              <a:rPr lang="en-US" dirty="0"/>
              <a:t>.</a:t>
            </a:r>
          </a:p>
          <a:p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D4108-D637-4E52-9A84-403A9AED6E1D}" type="slidenum">
              <a:rPr lang="ar-IQ" smtClean="0"/>
              <a:t>35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18987113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D4108-D637-4E52-9A84-403A9AED6E1D}" type="slidenum">
              <a:rPr lang="ar-IQ" smtClean="0"/>
              <a:t>40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4147776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BEBF092-F46D-438C-6DD3-D5AC68A8D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AF1AEAAF-B18C-82DE-85AF-53C5D8012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IQ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088BA16-47EC-52DB-5A2D-5D51D883B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90B8-7578-472C-A9AB-F226019180AB}" type="datetimeFigureOut">
              <a:rPr lang="ar-IQ" smtClean="0"/>
              <a:t>18/09/1446</a:t>
            </a:fld>
            <a:endParaRPr lang="ar-IQ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6359456-BDF1-2900-B652-BCBCA0F20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48012ED-C1E9-51FC-0CB7-225B13E0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08419-C2D6-4B60-A385-21E9D14D2182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420394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B296CF7-B22B-D4A7-18BC-EBCBCEC82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A30AC89-2FB5-A225-B0F3-166EF9806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2D34E25-A608-CF21-6705-32F692627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90B8-7578-472C-A9AB-F226019180AB}" type="datetimeFigureOut">
              <a:rPr lang="ar-IQ" smtClean="0"/>
              <a:t>18/09/1446</a:t>
            </a:fld>
            <a:endParaRPr lang="ar-IQ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4C9B551-3739-8023-11D7-8AD6826C3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294FF2E3-2467-6750-68C5-BF557ABFD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08419-C2D6-4B60-A385-21E9D14D2182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4012091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BDE7EAB-DE16-CB99-D3AE-56D577246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C383F852-2E81-AD01-9325-DB8D2CC96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95C1E6C-5849-A895-5459-C7ECBDDE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90B8-7578-472C-A9AB-F226019180AB}" type="datetimeFigureOut">
              <a:rPr lang="ar-IQ" smtClean="0"/>
              <a:t>18/09/1446</a:t>
            </a:fld>
            <a:endParaRPr lang="ar-IQ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1C628BA-E1FF-6B4B-78EE-841550721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0D90C6FC-328A-1075-E01F-25E5B77F7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08419-C2D6-4B60-A385-21E9D14D2182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1528313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0295495-F7C4-0E78-E668-539D5D2E3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3B31FDC-570C-B310-9057-A282C842BD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CA895161-BD8A-F34B-B2F5-E0602CA5D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F31890C2-2985-0D67-C851-262E9B30A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90B8-7578-472C-A9AB-F226019180AB}" type="datetimeFigureOut">
              <a:rPr lang="ar-IQ" smtClean="0"/>
              <a:t>18/09/1446</a:t>
            </a:fld>
            <a:endParaRPr lang="ar-IQ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87999BCE-ED0F-2AC8-2EA4-486E84CFC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C84E1D75-0D3E-4B7D-7089-3D3AE7794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08419-C2D6-4B60-A385-21E9D14D2182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628235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062AB6E-E7A9-E4D2-0134-9A8F08C2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37532529-13DA-01E5-CA51-5841740D4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EDD4FA9A-841D-C280-4FF9-B91460F4A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13DE5E16-2AB6-A5B7-DE86-43DDD6425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38F4878A-69B0-28CA-D9A9-523726E69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A74C95E9-6C10-D6EF-2622-D27B68A57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90B8-7578-472C-A9AB-F226019180AB}" type="datetimeFigureOut">
              <a:rPr lang="ar-IQ" smtClean="0"/>
              <a:t>18/09/1446</a:t>
            </a:fld>
            <a:endParaRPr lang="ar-IQ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CED9A664-F01F-B37B-7882-0F1C4A63F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945AA6A0-74EA-26C4-6A64-26EFA4752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08419-C2D6-4B60-A385-21E9D14D2182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387230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3FAD6FD-B9F5-078B-E101-66C5F18FF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68839BFC-D72D-9196-4834-73FC2B186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90B8-7578-472C-A9AB-F226019180AB}" type="datetimeFigureOut">
              <a:rPr lang="ar-IQ" smtClean="0"/>
              <a:t>18/09/1446</a:t>
            </a:fld>
            <a:endParaRPr lang="ar-IQ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BDEFC79D-BE50-CB75-8D95-DDB55A609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5FB28A47-EF79-0D79-1C13-7E454F867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08419-C2D6-4B60-A385-21E9D14D2182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710136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2485C040-3AA0-CA4C-2194-98A7D84E7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90B8-7578-472C-A9AB-F226019180AB}" type="datetimeFigureOut">
              <a:rPr lang="ar-IQ" smtClean="0"/>
              <a:t>18/09/1446</a:t>
            </a:fld>
            <a:endParaRPr lang="ar-IQ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F689315B-572F-BCAF-3881-4CDC99CC0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1B7C7F9C-A180-2D2F-06D0-EC1623CD9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08419-C2D6-4B60-A385-21E9D14D2182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1167456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605E004-AC57-493C-6177-1E0412AA6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DE59673E-3223-FB59-255E-B933BB9D1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72A5C35A-AD02-3791-947A-1D3989271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3B8BA6BE-760D-1B0A-EADD-A5B27145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90B8-7578-472C-A9AB-F226019180AB}" type="datetimeFigureOut">
              <a:rPr lang="ar-IQ" smtClean="0"/>
              <a:t>18/09/1446</a:t>
            </a:fld>
            <a:endParaRPr lang="ar-IQ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464F7BB7-03DF-7EBA-74B0-ABD6E2852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6FEB8BCF-F281-ABE5-8BC0-FC0774CFC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08419-C2D6-4B60-A385-21E9D14D2182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668669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1C5A764-BACD-DA49-DD89-97183E997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EC671C64-9369-A10A-77AA-35A8F31CC4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IQ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DDE61B58-1718-8E41-6F41-0CF73266B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463FE1E0-7AAD-9BAD-93BE-35F2E350D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90B8-7578-472C-A9AB-F226019180AB}" type="datetimeFigureOut">
              <a:rPr lang="ar-IQ" smtClean="0"/>
              <a:t>18/09/1446</a:t>
            </a:fld>
            <a:endParaRPr lang="ar-IQ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B052D08E-7718-C126-85C6-F7514AE9C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9FABC055-47C4-656D-9283-EF8D93C9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08419-C2D6-4B60-A385-21E9D14D2182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032955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7930BFD-957A-4BAB-FB60-5273C900F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BE2B290F-54E9-6699-F2A2-76A271944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69C6D90B-5EE9-207A-53A2-DBE65B02D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90B8-7578-472C-A9AB-F226019180AB}" type="datetimeFigureOut">
              <a:rPr lang="ar-IQ" smtClean="0"/>
              <a:t>18/09/1446</a:t>
            </a:fld>
            <a:endParaRPr lang="ar-IQ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BAB5661-1365-F9E6-536C-337FF465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4ACAD06-11FB-D2D6-3D09-2866AA3DE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08419-C2D6-4B60-A385-21E9D14D2182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770620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8B65E5A7-B52B-5D56-EA0C-0DE9D737A6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7550D5A9-9C88-51D7-123E-2CCFD9EBA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4BBD9836-87EA-07B4-5F92-70C98BB94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90B8-7578-472C-A9AB-F226019180AB}" type="datetimeFigureOut">
              <a:rPr lang="ar-IQ" smtClean="0"/>
              <a:t>18/09/1446</a:t>
            </a:fld>
            <a:endParaRPr lang="ar-IQ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B5795475-EB13-FED2-C63A-9FAA8458F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9780164-3913-350A-2AAD-7C99084D2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08419-C2D6-4B60-A385-21E9D14D2182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1734186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60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D3D040A0-2DFC-D405-0937-FAE59F14B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5C1B6721-0911-F691-9ECE-EC8F9E9B0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906EF45-B3E3-342E-2ABD-6AB3CEBB15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2790B8-7578-472C-A9AB-F226019180AB}" type="datetimeFigureOut">
              <a:rPr lang="ar-IQ" smtClean="0"/>
              <a:t>18/09/1446</a:t>
            </a:fld>
            <a:endParaRPr lang="ar-IQ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49A2C96F-D444-97B3-81B2-96BE7AC89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IQ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2D82844-A01F-D1F0-B7C0-5021CFAB2F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D08419-C2D6-4B60-A385-21E9D14D2182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128766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1" r:id="rId12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IQ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2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F4A4E89D-74A4-6B39-79D7-778EE6AEA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rtl="0"/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Body Fluid Composition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57ECE521-1CC7-6339-335D-93F20470C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809" y="953037"/>
            <a:ext cx="4036333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rtl="0"/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Dr. Moustafa Al-Shammari </a:t>
            </a:r>
          </a:p>
        </p:txBody>
      </p:sp>
      <p:grpSp>
        <p:nvGrpSpPr>
          <p:cNvPr id="21" name="Group 1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عنصر نائب للصورة 7" descr="صورة تحتوي على رسم&#10;&#10;قد يكون المحتوى المعد بواسطة الذكاء الاصطناعي غير صحيح.">
            <a:extLst>
              <a:ext uri="{FF2B5EF4-FFF2-40B4-BE49-F238E27FC236}">
                <a16:creationId xmlns:a16="http://schemas.microsoft.com/office/drawing/2014/main" id="{FD21D9B0-15AC-DAD3-990F-07B13D41AD9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4976" b="4976"/>
          <a:stretch>
            <a:fillRect/>
          </a:stretch>
        </p:blipFill>
        <p:spPr>
          <a:xfrm>
            <a:off x="5922492" y="1212429"/>
            <a:ext cx="5536001" cy="437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232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AD9E4A7-1531-EB32-D102-4D7142D9D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>
                <a:cs typeface="+mn-cs"/>
              </a:rPr>
              <a:t>Body fluid composition</a:t>
            </a:r>
            <a:endParaRPr lang="ar-IQ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06F46C6-0116-5893-4599-B00EF7D5B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>
                <a:cs typeface="+mn-cs"/>
              </a:rPr>
              <a:t>Body fluid composition is essential for understanding how fluids are distributed and regulated in the body. Here’s a breakdown:</a:t>
            </a:r>
          </a:p>
          <a:p>
            <a:pPr algn="l" rtl="0"/>
            <a:r>
              <a:rPr lang="en-US" b="1" dirty="0">
                <a:cs typeface="+mn-cs"/>
              </a:rPr>
              <a:t>Main Fluid Compartments</a:t>
            </a:r>
            <a:r>
              <a:rPr lang="en-US" dirty="0">
                <a:cs typeface="+mn-cs"/>
              </a:rPr>
              <a:t>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>
                <a:cs typeface="+mn-cs"/>
              </a:rPr>
              <a:t>Intracellular Fluid (ICF)</a:t>
            </a:r>
            <a:r>
              <a:rPr lang="en-US" dirty="0">
                <a:cs typeface="+mn-cs"/>
              </a:rPr>
              <a:t>: Comprises about 40% of body weight.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>
                <a:cs typeface="+mn-cs"/>
              </a:rPr>
              <a:t>Extracellular Fluid (ECF)</a:t>
            </a:r>
            <a:r>
              <a:rPr lang="en-US" dirty="0">
                <a:cs typeface="+mn-cs"/>
              </a:rPr>
              <a:t>: Divided into: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b="1" dirty="0">
                <a:cs typeface="+mn-cs"/>
              </a:rPr>
              <a:t>Intravascular Fluid</a:t>
            </a:r>
            <a:r>
              <a:rPr lang="en-US" dirty="0">
                <a:cs typeface="+mn-cs"/>
              </a:rPr>
              <a:t> (plasma): Accounts for about 5% of body weight.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b="1" dirty="0">
                <a:cs typeface="+mn-cs"/>
              </a:rPr>
              <a:t>Interstitial Fluid</a:t>
            </a:r>
            <a:r>
              <a:rPr lang="en-US" dirty="0">
                <a:cs typeface="+mn-cs"/>
              </a:rPr>
              <a:t>: Makes up around 25% of body weight.</a:t>
            </a:r>
          </a:p>
          <a:p>
            <a:pPr algn="l" rtl="0"/>
            <a:endParaRPr lang="ar-IQ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1298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BF278-2F1A-CE7A-4927-7616EC198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421245A-AEA2-45D7-B0E3-E8C281BEF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>
                <a:cs typeface="+mn-cs"/>
              </a:rPr>
              <a:t>Body fluid composition</a:t>
            </a:r>
            <a:endParaRPr lang="ar-IQ" dirty="0"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7CACE88-74AF-F377-374A-1EF1F1FF54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66826"/>
            <a:ext cx="11149206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IQ" altLang="ar-IQ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Water </a:t>
            </a:r>
            <a:r>
              <a:rPr kumimoji="0" lang="ar-IQ" altLang="ar-IQ" sz="3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Proportion</a:t>
            </a:r>
            <a:r>
              <a:rPr kumimoji="0" lang="ar-IQ" altLang="ar-IQ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</a:t>
            </a:r>
            <a:r>
              <a:rPr kumimoji="0" lang="ar-IQ" altLang="ar-IQ" sz="3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by</a:t>
            </a:r>
            <a:r>
              <a:rPr kumimoji="0" lang="ar-IQ" altLang="ar-IQ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</a:t>
            </a:r>
            <a:r>
              <a:rPr kumimoji="0" lang="ar-IQ" altLang="ar-IQ" sz="3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Age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In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a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term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newborn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,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water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constitutes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about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78%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of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body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weight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This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decreases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to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approximately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60%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in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adults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IQ" altLang="ar-IQ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Water </a:t>
            </a:r>
            <a:r>
              <a:rPr kumimoji="0" lang="ar-IQ" altLang="ar-IQ" sz="3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Balance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Depends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on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intake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,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output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,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and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metabolic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usage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Water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is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typically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lost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</a:t>
            </a: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via</a:t>
            </a:r>
            <a:r>
              <a:rPr kumimoji="0" lang="ar-IQ" altLang="ar-IQ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Skin</a:t>
            </a:r>
            <a:endParaRPr kumimoji="0" lang="ar-IQ" altLang="ar-IQ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Lungs</a:t>
            </a:r>
            <a:endParaRPr kumimoji="0" lang="ar-IQ" altLang="ar-IQ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Intestine</a:t>
            </a:r>
            <a:endParaRPr kumimoji="0" lang="ar-IQ" altLang="ar-IQ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IQ" altLang="ar-IQ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Kidneys</a:t>
            </a:r>
            <a:endParaRPr kumimoji="0" lang="ar-IQ" altLang="ar-IQ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IQ" altLang="ar-IQ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2314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A55CC-A934-AAF0-C466-27519F70C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B6C182E-178B-C612-41D8-460BF258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>
                <a:cs typeface="+mn-cs"/>
              </a:rPr>
              <a:t>Body fluid composition</a:t>
            </a:r>
            <a:endParaRPr lang="ar-IQ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19ED26B-1240-3B4D-1AC8-34F421572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dirty="0">
                <a:cs typeface="+mn-cs"/>
              </a:rPr>
              <a:t>Cell Membrane Permeability</a:t>
            </a:r>
            <a:r>
              <a:rPr lang="en-US" dirty="0">
                <a:cs typeface="+mn-cs"/>
              </a:rPr>
              <a:t>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>
                <a:cs typeface="+mn-cs"/>
              </a:rPr>
              <a:t>Cell membranes are relatively permeable to </a:t>
            </a:r>
            <a:r>
              <a:rPr lang="en-US" b="1" dirty="0">
                <a:cs typeface="+mn-cs"/>
              </a:rPr>
              <a:t>water</a:t>
            </a:r>
            <a:r>
              <a:rPr lang="en-US" dirty="0">
                <a:cs typeface="+mn-cs"/>
              </a:rPr>
              <a:t>, </a:t>
            </a:r>
            <a:r>
              <a:rPr lang="en-US" b="1" dirty="0">
                <a:cs typeface="+mn-cs"/>
              </a:rPr>
              <a:t>potassium (K⁺)</a:t>
            </a:r>
            <a:r>
              <a:rPr lang="en-US" dirty="0">
                <a:cs typeface="+mn-cs"/>
              </a:rPr>
              <a:t>, and </a:t>
            </a:r>
            <a:r>
              <a:rPr lang="en-US" b="1" dirty="0">
                <a:cs typeface="+mn-cs"/>
              </a:rPr>
              <a:t>chloride (Cl⁻)</a:t>
            </a:r>
            <a:r>
              <a:rPr lang="en-US" dirty="0">
                <a:cs typeface="+mn-cs"/>
              </a:rPr>
              <a:t>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>
                <a:cs typeface="+mn-cs"/>
              </a:rPr>
              <a:t>They are relatively impermeable to </a:t>
            </a:r>
            <a:r>
              <a:rPr lang="en-US" b="1" dirty="0">
                <a:cs typeface="+mn-cs"/>
              </a:rPr>
              <a:t>sodium (Na⁺)</a:t>
            </a:r>
            <a:r>
              <a:rPr lang="en-US" dirty="0">
                <a:cs typeface="+mn-cs"/>
              </a:rPr>
              <a:t>, </a:t>
            </a:r>
            <a:r>
              <a:rPr lang="en-US" b="1" dirty="0">
                <a:cs typeface="+mn-cs"/>
              </a:rPr>
              <a:t>phosphate (PO₄³⁻)</a:t>
            </a:r>
            <a:r>
              <a:rPr lang="en-US" dirty="0">
                <a:cs typeface="+mn-cs"/>
              </a:rPr>
              <a:t>, and </a:t>
            </a:r>
            <a:r>
              <a:rPr lang="en-US" b="1" dirty="0">
                <a:cs typeface="+mn-cs"/>
              </a:rPr>
              <a:t>proteins</a:t>
            </a:r>
            <a:r>
              <a:rPr lang="en-US" dirty="0">
                <a:cs typeface="+mn-cs"/>
              </a:rPr>
              <a:t>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>
                <a:cs typeface="+mn-cs"/>
              </a:rPr>
              <a:t>Sodium (Na⁺) is actively transported out of cells via sodium pumps, which require energy.</a:t>
            </a:r>
          </a:p>
          <a:p>
            <a:pPr algn="l" rtl="0"/>
            <a:endParaRPr lang="ar-IQ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2157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E576B-3869-AA82-1F6D-74A4A47F9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B216A31-DED4-CECF-4EE0-F00716BAC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>
                <a:cs typeface="+mn-cs"/>
              </a:rPr>
              <a:t>Body fluid composition</a:t>
            </a:r>
            <a:endParaRPr lang="ar-IQ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0BC7BED-5E36-22FA-7BF8-C6CBBFB1C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dirty="0">
                <a:cs typeface="+mn-cs"/>
              </a:rPr>
              <a:t>Fluid Movement and Equilibrium</a:t>
            </a:r>
            <a:r>
              <a:rPr lang="en-US" dirty="0">
                <a:cs typeface="+mn-cs"/>
              </a:rPr>
              <a:t>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>
                <a:cs typeface="+mn-cs"/>
              </a:rPr>
              <a:t>Tonicity, hydrostatic pressure, and colloid osmotic pressure between plasma and interstitial fluid help maintain fluid balance.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>
                <a:cs typeface="+mn-cs"/>
              </a:rPr>
              <a:t>At the </a:t>
            </a:r>
            <a:r>
              <a:rPr lang="en-US" b="1" dirty="0">
                <a:cs typeface="+mn-cs"/>
              </a:rPr>
              <a:t>arterial end of capillaries</a:t>
            </a:r>
            <a:r>
              <a:rPr lang="en-US" dirty="0">
                <a:cs typeface="+mn-cs"/>
              </a:rPr>
              <a:t>, water exits under hydrostatic pressure.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>
                <a:cs typeface="+mn-cs"/>
              </a:rPr>
              <a:t>At the </a:t>
            </a:r>
            <a:r>
              <a:rPr lang="en-US" b="1" dirty="0">
                <a:cs typeface="+mn-cs"/>
              </a:rPr>
              <a:t>venous end</a:t>
            </a:r>
            <a:r>
              <a:rPr lang="en-US" dirty="0">
                <a:cs typeface="+mn-cs"/>
              </a:rPr>
              <a:t>, water is drawn back in by plasma oncotic pressure.</a:t>
            </a:r>
          </a:p>
          <a:p>
            <a:pPr algn="l" rtl="0"/>
            <a:endParaRPr lang="ar-IQ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0102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41178-F058-46C8-18BD-B54F36F9B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0D9BF03-89E6-B7F6-F6C6-2B0577379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>
                <a:cs typeface="+mn-cs"/>
              </a:rPr>
              <a:t>Body fluid composition</a:t>
            </a:r>
            <a:endParaRPr lang="ar-IQ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927AD074-48F6-43C1-71EB-5BF356E89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08846"/>
            <a:ext cx="10959353" cy="5396754"/>
          </a:xfrm>
        </p:spPr>
        <p:txBody>
          <a:bodyPr>
            <a:normAutofit fontScale="92500" lnSpcReduction="10000"/>
          </a:bodyPr>
          <a:lstStyle/>
          <a:p>
            <a:pPr algn="l" rtl="0"/>
            <a:r>
              <a:rPr lang="en-US" b="1" dirty="0">
                <a:cs typeface="+mn-cs"/>
              </a:rPr>
              <a:t>Plasma Osmolality</a:t>
            </a:r>
            <a:r>
              <a:rPr lang="en-US" dirty="0">
                <a:cs typeface="+mn-cs"/>
              </a:rPr>
              <a:t>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>
                <a:cs typeface="+mn-cs"/>
              </a:rPr>
              <a:t>Plasma osmolality remains fairly constant, typically between </a:t>
            </a:r>
            <a:r>
              <a:rPr lang="en-US" b="1" dirty="0">
                <a:cs typeface="+mn-cs"/>
              </a:rPr>
              <a:t>285 and 300 </a:t>
            </a:r>
            <a:r>
              <a:rPr lang="en-US" b="1" dirty="0" err="1">
                <a:cs typeface="+mn-cs"/>
              </a:rPr>
              <a:t>mOsmol</a:t>
            </a:r>
            <a:r>
              <a:rPr lang="en-US" b="1" dirty="0">
                <a:cs typeface="+mn-cs"/>
              </a:rPr>
              <a:t>/kg H₂O</a:t>
            </a:r>
            <a:r>
              <a:rPr lang="en-US" dirty="0">
                <a:cs typeface="+mn-cs"/>
              </a:rPr>
              <a:t>, helping maintain cellular homeostasis and fluid balance.</a:t>
            </a:r>
          </a:p>
          <a:p>
            <a:pPr algn="l" rtl="0">
              <a:buNone/>
            </a:pPr>
            <a:r>
              <a:rPr lang="ar-IQ" b="1" dirty="0"/>
              <a:t>🔴 </a:t>
            </a:r>
            <a:r>
              <a:rPr lang="en-US" b="1" dirty="0"/>
              <a:t>High Plasma Osmolality (&gt; 300 </a:t>
            </a:r>
            <a:r>
              <a:rPr lang="en-US" b="1" dirty="0" err="1"/>
              <a:t>mOsm</a:t>
            </a:r>
            <a:r>
              <a:rPr lang="en-US" b="1" dirty="0"/>
              <a:t>/kg H₂O) – Dehydration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Causes:</a:t>
            </a:r>
            <a:r>
              <a:rPr lang="en-US" dirty="0"/>
              <a:t> Excessive sweating, vomiting, diarrhea, uncontrolled diabetes.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Effects:</a:t>
            </a:r>
            <a:r>
              <a:rPr lang="en-US" dirty="0"/>
              <a:t> Cells shrink due to water loss, leading to </a:t>
            </a:r>
            <a:r>
              <a:rPr lang="en-US" b="1" dirty="0"/>
              <a:t>confusion, weakness, and possible coma</a:t>
            </a:r>
            <a:r>
              <a:rPr lang="en-US" dirty="0"/>
              <a:t>.</a:t>
            </a:r>
          </a:p>
          <a:p>
            <a:pPr algn="l" rtl="0">
              <a:buNone/>
            </a:pPr>
            <a:r>
              <a:rPr lang="ar-IQ" b="1" dirty="0"/>
              <a:t>🔵 </a:t>
            </a:r>
            <a:r>
              <a:rPr lang="en-US" b="1" dirty="0"/>
              <a:t>Low Plasma Osmolality (&lt; 285 </a:t>
            </a:r>
            <a:r>
              <a:rPr lang="en-US" b="1" dirty="0" err="1"/>
              <a:t>mOsm</a:t>
            </a:r>
            <a:r>
              <a:rPr lang="en-US" b="1" dirty="0"/>
              <a:t>/kg H₂O) – Overhydration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Causes:</a:t>
            </a:r>
            <a:r>
              <a:rPr lang="en-US" dirty="0"/>
              <a:t> Excessive water intake, kidney disease, SIADH (syndrome of inappropriate ADH secretion).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Effects:</a:t>
            </a:r>
            <a:r>
              <a:rPr lang="en-US" dirty="0"/>
              <a:t> Cells swell, which can lead to </a:t>
            </a:r>
            <a:r>
              <a:rPr lang="en-US" b="1" dirty="0"/>
              <a:t>brain swelling (cerebral edema), headaches, seizures, and coma</a:t>
            </a:r>
            <a:r>
              <a:rPr lang="en-US" dirty="0"/>
              <a:t>.</a:t>
            </a:r>
          </a:p>
          <a:p>
            <a:pPr algn="l" rtl="0">
              <a:buFont typeface="Arial" panose="020B0604020202020204" pitchFamily="34" charset="0"/>
              <a:buChar char="•"/>
            </a:pPr>
            <a:endParaRPr lang="en-US" dirty="0">
              <a:cs typeface="+mn-cs"/>
            </a:endParaRPr>
          </a:p>
          <a:p>
            <a:pPr algn="l" rtl="0"/>
            <a:endParaRPr lang="ar-IQ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785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B8F89-9DA2-7C95-0621-D1C241374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19E9BFF-66EC-A023-506E-5815697EC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>
                <a:cs typeface="+mn-cs"/>
              </a:rPr>
              <a:t>Calculating Pediatric Fluid Needs</a:t>
            </a:r>
            <a:endParaRPr lang="ar-IQ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A25EADC1-0D44-6A27-80DA-71BBB2A1E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>
                <a:cs typeface="+mn-cs"/>
              </a:rPr>
              <a:t>Calculating pediatric fluid needs is essential for ensuring adequate hydration, especially for children in clinical settings. Here’s a summary of the maintenance fluid calculation method based on weight, as adapted from South &amp; Isaacs (2012):</a:t>
            </a:r>
            <a:endParaRPr lang="ar-IQ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5121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C0D4D-5E21-8A7B-F413-1D781C511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64B52E2-84E0-D929-8D71-CF7BB8D36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>
                <a:cs typeface="+mn-cs"/>
              </a:rPr>
              <a:t>Pediatric Maintenance Fluid Calculation</a:t>
            </a:r>
            <a:endParaRPr lang="ar-IQ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273646E-542C-7FA6-EF6A-30689C2B2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3200" b="1" dirty="0">
                <a:solidFill>
                  <a:schemeClr val="accent2"/>
                </a:solidFill>
                <a:cs typeface="+mn-cs"/>
              </a:rPr>
              <a:t>For children under 10 kg</a:t>
            </a:r>
            <a:r>
              <a:rPr lang="en-US" sz="3200" dirty="0">
                <a:solidFill>
                  <a:schemeClr val="accent2"/>
                </a:solidFill>
                <a:cs typeface="+mn-cs"/>
              </a:rPr>
              <a:t>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3200" dirty="0">
                <a:cs typeface="+mn-cs"/>
              </a:rPr>
              <a:t>Fluid requirement: </a:t>
            </a:r>
            <a:r>
              <a:rPr lang="en-US" sz="3200" b="1" dirty="0">
                <a:cs typeface="+mn-cs"/>
              </a:rPr>
              <a:t>100 ml per kilogram of body weight per day</a:t>
            </a:r>
            <a:endParaRPr lang="en-US" sz="3200" dirty="0">
              <a:cs typeface="+mn-cs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3200" dirty="0">
                <a:cs typeface="+mn-cs"/>
              </a:rPr>
              <a:t>Formula: </a:t>
            </a:r>
            <a:r>
              <a:rPr lang="en-US" sz="3200" dirty="0">
                <a:highlight>
                  <a:srgbClr val="FFFF00"/>
                </a:highlight>
                <a:cs typeface="+mn-cs"/>
              </a:rPr>
              <a:t>Fluid needs=Weight in kg×100 ml/kg/day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3200" b="1" dirty="0">
                <a:cs typeface="+mn-cs"/>
              </a:rPr>
              <a:t>Example</a:t>
            </a:r>
            <a:r>
              <a:rPr lang="en-US" sz="3200" dirty="0">
                <a:cs typeface="+mn-cs"/>
              </a:rPr>
              <a:t>: For a child weighing 7 kg: 7 kg×100 ml=700 ml/day</a:t>
            </a:r>
            <a:endParaRPr lang="ar-IQ" sz="320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5380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CF05C-31A7-DDA4-0592-AEA3AE584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BCAF246-B44B-C32B-5BCF-D7554C1CE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endParaRPr lang="ar-IQ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4CFCCA1-5089-A373-3119-371071FE7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3200" b="1" dirty="0">
                <a:solidFill>
                  <a:schemeClr val="accent2"/>
                </a:solidFill>
                <a:cs typeface="+mn-cs"/>
              </a:rPr>
              <a:t>For children weighing 10–20 kg</a:t>
            </a:r>
            <a:r>
              <a:rPr lang="en-US" sz="3200" dirty="0">
                <a:solidFill>
                  <a:schemeClr val="accent2"/>
                </a:solidFill>
                <a:cs typeface="+mn-cs"/>
              </a:rPr>
              <a:t>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3200" dirty="0">
                <a:cs typeface="+mn-cs"/>
              </a:rPr>
              <a:t>Fluid requirement: </a:t>
            </a:r>
            <a:r>
              <a:rPr lang="en-US" sz="3200" b="1" dirty="0">
                <a:cs typeface="+mn-cs"/>
              </a:rPr>
              <a:t>1,000 ml for the first 10 kg + 50 ml per kilogram for every kg over 10</a:t>
            </a:r>
            <a:endParaRPr lang="en-US" sz="3200" dirty="0">
              <a:cs typeface="+mn-cs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3200" dirty="0">
                <a:cs typeface="+mn-cs"/>
              </a:rPr>
              <a:t>Formula: </a:t>
            </a:r>
            <a:r>
              <a:rPr lang="en-US" sz="3200" dirty="0">
                <a:highlight>
                  <a:srgbClr val="FFFF00"/>
                </a:highlight>
                <a:cs typeface="+mn-cs"/>
              </a:rPr>
              <a:t>Fluid needs=1000 ml+(50 ml/kg×(Weight in kg ))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3200" dirty="0">
                <a:cs typeface="+mn-cs"/>
              </a:rPr>
              <a:t>Fluid needs=1000 ml+(50 ml/kg×(Weight in kg ))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3200" b="1" dirty="0">
                <a:cs typeface="+mn-cs"/>
              </a:rPr>
              <a:t>Example</a:t>
            </a:r>
            <a:r>
              <a:rPr lang="en-US" sz="3200" dirty="0">
                <a:cs typeface="+mn-cs"/>
              </a:rPr>
              <a:t>: For a child weighing 15 kg: 1000 ml+(50 ml×5 kg)=1250 ml/day</a:t>
            </a:r>
            <a:endParaRPr lang="ar-IQ" sz="320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622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65B63-BDC2-F98F-2FA0-ABDB37E44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7C3FFB2-943F-A9DB-0EEF-F4992B5F5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endParaRPr lang="ar-IQ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945AB8B0-FC50-51DE-D136-F732D9026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b="1" dirty="0">
                <a:solidFill>
                  <a:schemeClr val="accent2"/>
                </a:solidFill>
                <a:cs typeface="+mn-cs"/>
              </a:rPr>
              <a:t>For children weighing more than 20 kg</a:t>
            </a:r>
            <a:r>
              <a:rPr lang="en-US" dirty="0">
                <a:solidFill>
                  <a:schemeClr val="accent2"/>
                </a:solidFill>
                <a:cs typeface="+mn-cs"/>
              </a:rPr>
              <a:t>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>
                <a:cs typeface="+mn-cs"/>
              </a:rPr>
              <a:t>Fluid requirement: </a:t>
            </a:r>
            <a:r>
              <a:rPr lang="en-US" b="1" dirty="0">
                <a:cs typeface="+mn-cs"/>
              </a:rPr>
              <a:t>1,500 ml for the first 20 kg + 20 ml per kilogram for every kg over 20</a:t>
            </a:r>
            <a:endParaRPr lang="en-US" dirty="0">
              <a:cs typeface="+mn-cs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>
                <a:cs typeface="+mn-cs"/>
              </a:rPr>
              <a:t>Formula: </a:t>
            </a:r>
            <a:r>
              <a:rPr lang="en-US" dirty="0">
                <a:highlight>
                  <a:srgbClr val="FFFF00"/>
                </a:highlight>
                <a:cs typeface="+mn-cs"/>
              </a:rPr>
              <a:t>Fluid needs=1500 ml+(20 ml/kg×(Weight in kg )) </a:t>
            </a:r>
            <a:r>
              <a:rPr lang="en-US" b="1" dirty="0">
                <a:cs typeface="+mn-cs"/>
              </a:rPr>
              <a:t>Example</a:t>
            </a:r>
            <a:r>
              <a:rPr lang="en-US" dirty="0">
                <a:cs typeface="+mn-cs"/>
              </a:rPr>
              <a:t>: For a child weighing 24 kg: 1500 ml+(20 ml×4 kg)=1580 ml/day</a:t>
            </a:r>
            <a:endParaRPr lang="ar-IQ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9272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99FB1-6CB2-EBB5-7CE1-15CCAA61F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4D12740-8DB3-56A0-8D75-D2576D434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>
                <a:cs typeface="+mn-cs"/>
              </a:rPr>
              <a:t>Hourly Maintenance Fluid Calculation</a:t>
            </a:r>
            <a:endParaRPr lang="ar-IQ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FF7CABE-016A-9625-689D-8214B0245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>
                <a:cs typeface="+mn-cs"/>
              </a:rPr>
              <a:t>To calculate the hourly maintenance fluid requirement and fluid deficit for a child, here are the formulas broken down by weight range:</a:t>
            </a:r>
          </a:p>
          <a:p>
            <a:pPr algn="l" rtl="0"/>
            <a:r>
              <a:rPr lang="en-US" b="1" dirty="0">
                <a:cs typeface="+mn-cs"/>
              </a:rPr>
              <a:t>For the first 10 kg of body weight</a:t>
            </a:r>
            <a:r>
              <a:rPr lang="en-US" dirty="0">
                <a:cs typeface="+mn-cs"/>
              </a:rPr>
              <a:t>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>
                <a:cs typeface="+mn-cs"/>
              </a:rPr>
              <a:t>Requirement: </a:t>
            </a:r>
            <a:r>
              <a:rPr lang="en-US" b="1" dirty="0">
                <a:cs typeface="+mn-cs"/>
              </a:rPr>
              <a:t>4 mL/kg per hour</a:t>
            </a:r>
            <a:endParaRPr lang="en-US" dirty="0">
              <a:cs typeface="+mn-cs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>
                <a:cs typeface="+mn-cs"/>
              </a:rPr>
              <a:t>Formula: </a:t>
            </a:r>
            <a:r>
              <a:rPr lang="en-US" dirty="0">
                <a:highlight>
                  <a:srgbClr val="FFFF00"/>
                </a:highlight>
                <a:cs typeface="+mn-cs"/>
              </a:rPr>
              <a:t>Hourly fluid needs=Weight in kg×4 mL/kg</a:t>
            </a:r>
          </a:p>
        </p:txBody>
      </p:sp>
    </p:spTree>
    <p:extLst>
      <p:ext uri="{BB962C8B-B14F-4D97-AF65-F5344CB8AC3E}">
        <p14:creationId xmlns:p14="http://schemas.microsoft.com/office/powerpoint/2010/main" val="53840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6D66D-CC60-2516-9B2A-5932A07C6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425DB81-613B-8FF4-8C9A-C1033A014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endParaRPr lang="ar-IQ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DBD88C9A-588D-3195-7DE0-80D12FB76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dirty="0">
                <a:cs typeface="+mn-cs"/>
              </a:rPr>
              <a:t>For children weighing 11–20 kg:</a:t>
            </a:r>
          </a:p>
          <a:p>
            <a:pPr algn="l" rtl="0"/>
            <a:r>
              <a:rPr lang="en-US" dirty="0">
                <a:cs typeface="+mn-cs"/>
              </a:rPr>
              <a:t>Requirement: </a:t>
            </a:r>
            <a:r>
              <a:rPr lang="en-US" b="1" dirty="0">
                <a:cs typeface="+mn-cs"/>
              </a:rPr>
              <a:t>40 mL/</a:t>
            </a:r>
            <a:r>
              <a:rPr lang="en-US" b="1" dirty="0" err="1">
                <a:cs typeface="+mn-cs"/>
              </a:rPr>
              <a:t>hr</a:t>
            </a:r>
            <a:r>
              <a:rPr lang="en-US" b="1" dirty="0">
                <a:cs typeface="+mn-cs"/>
              </a:rPr>
              <a:t> for the first 10 kg + 2 mL/kg per hour for each kg over </a:t>
            </a:r>
            <a:r>
              <a:rPr lang="en-US" dirty="0">
                <a:cs typeface="+mn-cs"/>
              </a:rPr>
              <a:t>10 </a:t>
            </a:r>
          </a:p>
          <a:p>
            <a:pPr algn="l" rtl="0"/>
            <a:r>
              <a:rPr lang="en-US" b="1" dirty="0">
                <a:cs typeface="+mn-cs"/>
              </a:rPr>
              <a:t>Formula: </a:t>
            </a:r>
            <a:r>
              <a:rPr lang="en-US" dirty="0">
                <a:highlight>
                  <a:srgbClr val="FFFF00"/>
                </a:highlight>
                <a:cs typeface="+mn-cs"/>
              </a:rPr>
              <a:t>Hourly fluid needs=40 mL+(2 mL/kg×(Weight in kg )) </a:t>
            </a:r>
            <a:r>
              <a:rPr lang="en-US" b="1" dirty="0">
                <a:cs typeface="+mn-cs"/>
              </a:rPr>
              <a:t>Example:</a:t>
            </a:r>
            <a:r>
              <a:rPr lang="en-US" dirty="0">
                <a:cs typeface="+mn-cs"/>
              </a:rPr>
              <a:t> For a child weighing 15 kg : 40 mL+(2 mL×5 kg)=50 mL/</a:t>
            </a:r>
            <a:r>
              <a:rPr lang="en-US" dirty="0" err="1">
                <a:cs typeface="+mn-cs"/>
              </a:rPr>
              <a:t>hr</a:t>
            </a:r>
            <a:endParaRPr lang="ar-IQ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5186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9B394-3FBB-D498-1328-142EDA6A0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4F9449E-9A02-A8DA-7477-593DA4E21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endParaRPr lang="ar-IQ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2921D919-7C2A-9DE9-6B13-A6EC29DBC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>
                <a:cs typeface="+mn-cs"/>
              </a:rPr>
              <a:t>For children weighing above 20 kg:</a:t>
            </a:r>
          </a:p>
          <a:p>
            <a:pPr algn="l" rtl="0"/>
            <a:r>
              <a:rPr lang="en-US" dirty="0">
                <a:cs typeface="+mn-cs"/>
              </a:rPr>
              <a:t>Requirement: </a:t>
            </a:r>
            <a:r>
              <a:rPr lang="en-US" b="1" dirty="0">
                <a:cs typeface="+mn-cs"/>
              </a:rPr>
              <a:t>40 mL/</a:t>
            </a:r>
            <a:r>
              <a:rPr lang="en-US" b="1" dirty="0" err="1">
                <a:cs typeface="+mn-cs"/>
              </a:rPr>
              <a:t>hr</a:t>
            </a:r>
            <a:r>
              <a:rPr lang="en-US" b="1" dirty="0">
                <a:cs typeface="+mn-cs"/>
              </a:rPr>
              <a:t> for the first 10 kg + 20 mL/</a:t>
            </a:r>
            <a:r>
              <a:rPr lang="en-US" b="1" dirty="0" err="1">
                <a:cs typeface="+mn-cs"/>
              </a:rPr>
              <a:t>hr</a:t>
            </a:r>
            <a:r>
              <a:rPr lang="en-US" b="1" dirty="0">
                <a:cs typeface="+mn-cs"/>
              </a:rPr>
              <a:t> for the next 10 kg + 1 mL/kg per hour for each kg over 20</a:t>
            </a:r>
          </a:p>
          <a:p>
            <a:pPr algn="l" rtl="0"/>
            <a:r>
              <a:rPr lang="en-US" dirty="0">
                <a:cs typeface="+mn-cs"/>
              </a:rPr>
              <a:t>Formula: </a:t>
            </a:r>
            <a:r>
              <a:rPr lang="en-US" dirty="0">
                <a:highlight>
                  <a:srgbClr val="FFFF00"/>
                </a:highlight>
                <a:cs typeface="+mn-cs"/>
              </a:rPr>
              <a:t>Hourly fluid needs=40 mL+20 mL+(1 mL/kg×(Weight in kg )</a:t>
            </a:r>
          </a:p>
          <a:p>
            <a:pPr algn="l" rtl="0"/>
            <a:r>
              <a:rPr lang="en-US" b="1" dirty="0">
                <a:cs typeface="+mn-cs"/>
              </a:rPr>
              <a:t>Example</a:t>
            </a:r>
            <a:r>
              <a:rPr lang="en-US" dirty="0">
                <a:cs typeface="+mn-cs"/>
              </a:rPr>
              <a:t>: For a child weighing 24 kg: 40 mL+20 mL+(1 mL×4 kg)=64 mL/</a:t>
            </a:r>
            <a:r>
              <a:rPr lang="en-US" dirty="0" err="1">
                <a:cs typeface="+mn-cs"/>
              </a:rPr>
              <a:t>hr</a:t>
            </a:r>
            <a:endParaRPr lang="ar-IQ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7833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A36A8F-5793-E4EA-D021-742EE5E7C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7E0DF372-9E15-CE34-14CE-2F0FCAFB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696133"/>
          </a:xfrm>
        </p:spPr>
        <p:txBody>
          <a:bodyPr anchor="b">
            <a:normAutofit/>
          </a:bodyPr>
          <a:lstStyle/>
          <a:p>
            <a:pPr rtl="0"/>
            <a:r>
              <a:rPr lang="en-US" sz="3700" dirty="0">
                <a:cs typeface="+mn-cs"/>
              </a:rPr>
              <a:t>Daily and Hourly Maintenance Fluid Requirements</a:t>
            </a:r>
            <a:endParaRPr lang="ar-IQ" sz="3700" dirty="0"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5" name="عنصر نائب للمحتوى 14">
            <a:extLst>
              <a:ext uri="{FF2B5EF4-FFF2-40B4-BE49-F238E27FC236}">
                <a16:creationId xmlns:a16="http://schemas.microsoft.com/office/drawing/2014/main" id="{EFC7B657-95B1-9CDC-3FB6-12C955F219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351784"/>
              </p:ext>
            </p:extLst>
          </p:nvPr>
        </p:nvGraphicFramePr>
        <p:xfrm>
          <a:off x="645458" y="923233"/>
          <a:ext cx="11277599" cy="51997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99867">
                  <a:extLst>
                    <a:ext uri="{9D8B030D-6E8A-4147-A177-3AD203B41FA5}">
                      <a16:colId xmlns:a16="http://schemas.microsoft.com/office/drawing/2014/main" val="2259339880"/>
                    </a:ext>
                  </a:extLst>
                </a:gridCol>
                <a:gridCol w="4097404">
                  <a:extLst>
                    <a:ext uri="{9D8B030D-6E8A-4147-A177-3AD203B41FA5}">
                      <a16:colId xmlns:a16="http://schemas.microsoft.com/office/drawing/2014/main" val="1819681316"/>
                    </a:ext>
                  </a:extLst>
                </a:gridCol>
                <a:gridCol w="3980328">
                  <a:extLst>
                    <a:ext uri="{9D8B030D-6E8A-4147-A177-3AD203B41FA5}">
                      <a16:colId xmlns:a16="http://schemas.microsoft.com/office/drawing/2014/main" val="3194716841"/>
                    </a:ext>
                  </a:extLst>
                </a:gridCol>
              </a:tblGrid>
              <a:tr h="1485826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0" dirty="0">
                          <a:effectLst/>
                        </a:rPr>
                        <a:t>Weight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01" marR="25101" marT="25101" marB="25101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0" dirty="0">
                          <a:effectLst/>
                        </a:rPr>
                        <a:t>Daily Maintenance Requirement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01" marR="25101" marT="25101" marB="25101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0" dirty="0">
                          <a:effectLst/>
                        </a:rPr>
                        <a:t>Hourly Maintenance Requirement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01" marR="25101" marT="25101" marB="25101" anchor="ctr"/>
                </a:tc>
                <a:extLst>
                  <a:ext uri="{0D108BD9-81ED-4DB2-BD59-A6C34878D82A}">
                    <a16:rowId xmlns:a16="http://schemas.microsoft.com/office/drawing/2014/main" val="1993072210"/>
                  </a:ext>
                </a:extLst>
              </a:tr>
              <a:tr h="1383084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nn-NO" sz="2800" kern="0" dirty="0">
                          <a:effectLst/>
                        </a:rPr>
                        <a:t>1-10 kg 100 ml/kg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01" marR="25101" marT="25101" marB="25101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0" dirty="0">
                          <a:effectLst/>
                        </a:rPr>
                        <a:t>100 mL/kg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01" marR="25101" marT="25101" marB="25101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0" dirty="0">
                          <a:effectLst/>
                        </a:rPr>
                        <a:t>4 mL/kg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01" marR="25101" marT="25101" marB="25101" anchor="ctr"/>
                </a:tc>
                <a:extLst>
                  <a:ext uri="{0D108BD9-81ED-4DB2-BD59-A6C34878D82A}">
                    <a16:rowId xmlns:a16="http://schemas.microsoft.com/office/drawing/2014/main" val="949730909"/>
                  </a:ext>
                </a:extLst>
              </a:tr>
              <a:tr h="1383084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0" dirty="0">
                          <a:effectLst/>
                        </a:rPr>
                        <a:t>11-20 kg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01" marR="25101" marT="25101" marB="25101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0" dirty="0">
                          <a:effectLst/>
                        </a:rPr>
                        <a:t>1000 ml plus 50 ml/kg for each kg &gt;10 kg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01" marR="25101" marT="25101" marB="25101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0" dirty="0">
                          <a:effectLst/>
                        </a:rPr>
                        <a:t>2 mL/kg + 2 mL/kg  for each kg &gt;10 kg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01" marR="25101" marT="25101" marB="25101" anchor="ctr"/>
                </a:tc>
                <a:extLst>
                  <a:ext uri="{0D108BD9-81ED-4DB2-BD59-A6C34878D82A}">
                    <a16:rowId xmlns:a16="http://schemas.microsoft.com/office/drawing/2014/main" val="2118734776"/>
                  </a:ext>
                </a:extLst>
              </a:tr>
              <a:tr h="822926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0" dirty="0">
                          <a:effectLst/>
                        </a:rPr>
                        <a:t>&gt;20 kg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01" marR="25101" marT="25101" marB="25101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0" dirty="0">
                          <a:effectLst/>
                        </a:rPr>
                        <a:t>1500 ml plus 20 ml/kg for each kg &gt;20 kg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01" marR="25101" marT="25101" marB="25101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0" dirty="0">
                          <a:effectLst/>
                        </a:rPr>
                        <a:t>1 mL/kg + 1ml/kg for each kg &gt;20 kg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01" marR="25101" marT="25101" marB="25101" anchor="ctr"/>
                </a:tc>
                <a:extLst>
                  <a:ext uri="{0D108BD9-81ED-4DB2-BD59-A6C34878D82A}">
                    <a16:rowId xmlns:a16="http://schemas.microsoft.com/office/drawing/2014/main" val="3793705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166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48788-7B08-110E-B792-4152D3443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DA50D45-10D6-E1D7-AE30-29C8FA67B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>
                <a:cs typeface="+mn-cs"/>
              </a:rPr>
              <a:t>Fluid Deficit Calculation</a:t>
            </a:r>
            <a:endParaRPr lang="ar-IQ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DBF4C2C8-3896-FAC3-AE48-B6916B7B0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56576" cy="4351338"/>
          </a:xfrm>
        </p:spPr>
        <p:txBody>
          <a:bodyPr/>
          <a:lstStyle/>
          <a:p>
            <a:pPr algn="l" rtl="0"/>
            <a:r>
              <a:rPr lang="en-US" sz="3200" b="1" dirty="0">
                <a:cs typeface="+mn-cs"/>
              </a:rPr>
              <a:t>The volume of fluid deficit may then be calculated using the following</a:t>
            </a:r>
          </a:p>
          <a:p>
            <a:pPr algn="l" rtl="0"/>
            <a:r>
              <a:rPr lang="en-US" sz="3200" dirty="0">
                <a:cs typeface="+mn-cs"/>
              </a:rPr>
              <a:t>formula:</a:t>
            </a:r>
          </a:p>
          <a:p>
            <a:pPr algn="l" rtl="0"/>
            <a:r>
              <a:rPr lang="en-US" sz="3200" dirty="0">
                <a:highlight>
                  <a:srgbClr val="FFFF00"/>
                </a:highlight>
                <a:cs typeface="+mn-cs"/>
              </a:rPr>
              <a:t>Calculated fluid deficit (mL) = %dehydration ×weight (kg) × 10</a:t>
            </a:r>
          </a:p>
          <a:p>
            <a:pPr algn="l" rtl="0"/>
            <a:endParaRPr lang="ar-IQ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2391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EADAC-3C75-D8E5-6004-B20EC594E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BE73B92-F267-B285-F647-AFE68AB94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>
                <a:cs typeface="+mn-cs"/>
              </a:rPr>
              <a:t>Fluid Deficit Calculation</a:t>
            </a:r>
            <a:endParaRPr lang="ar-IQ" dirty="0">
              <a:cs typeface="+mn-cs"/>
            </a:endParaRPr>
          </a:p>
        </p:txBody>
      </p:sp>
      <p:sp>
        <p:nvSpPr>
          <p:cNvPr id="7" name="عنصر نائب للمحتوى 6">
            <a:extLst>
              <a:ext uri="{FF2B5EF4-FFF2-40B4-BE49-F238E27FC236}">
                <a16:creationId xmlns:a16="http://schemas.microsoft.com/office/drawing/2014/main" id="{9772A264-932C-5A0F-E615-7078C01AB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>
              <a:buNone/>
            </a:pPr>
            <a:r>
              <a:rPr lang="en-US" sz="3600" b="1" dirty="0"/>
              <a:t>% Dehydration</a:t>
            </a:r>
            <a:endParaRPr lang="en-US" sz="3600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3600" dirty="0"/>
              <a:t>This is an estimated percentage based on the </a:t>
            </a:r>
            <a:r>
              <a:rPr lang="en-US" sz="3600" b="1" dirty="0"/>
              <a:t>degree of dehydration</a:t>
            </a:r>
            <a:r>
              <a:rPr lang="en-US" sz="3600" dirty="0"/>
              <a:t> (mild, moderate, or severe).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3600" dirty="0"/>
              <a:t>It is calculated using </a:t>
            </a:r>
            <a:r>
              <a:rPr lang="en-US" sz="3600" dirty="0">
                <a:solidFill>
                  <a:schemeClr val="accent2"/>
                </a:solidFill>
              </a:rPr>
              <a:t>weight loss </a:t>
            </a:r>
            <a:r>
              <a:rPr lang="en-US" sz="3600" dirty="0"/>
              <a:t>or </a:t>
            </a:r>
            <a:r>
              <a:rPr lang="en-US" sz="3600" dirty="0">
                <a:solidFill>
                  <a:schemeClr val="accent2"/>
                </a:solidFill>
              </a:rPr>
              <a:t>clinical signs</a:t>
            </a:r>
            <a:r>
              <a:rPr lang="en-US" sz="3600" dirty="0"/>
              <a:t>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3600" b="1" dirty="0"/>
              <a:t>weight loss Example:</a:t>
            </a:r>
            <a:r>
              <a:rPr lang="en-US" sz="3600" dirty="0"/>
              <a:t> 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sz="3200" dirty="0"/>
              <a:t>If a child’s normal weight is </a:t>
            </a:r>
            <a:r>
              <a:rPr lang="en-US" sz="3200" b="1" dirty="0"/>
              <a:t>12 kg</a:t>
            </a:r>
            <a:r>
              <a:rPr lang="en-US" sz="3200" dirty="0"/>
              <a:t>, but now weighs </a:t>
            </a:r>
            <a:r>
              <a:rPr lang="en-US" sz="3200" b="1" dirty="0"/>
              <a:t>11.2 kg</a:t>
            </a:r>
            <a:r>
              <a:rPr lang="en-US" sz="3200" dirty="0"/>
              <a:t>, the weight loss is </a:t>
            </a:r>
            <a:r>
              <a:rPr lang="en-US" sz="3200" b="1" dirty="0"/>
              <a:t>0.8 kg</a:t>
            </a:r>
            <a:r>
              <a:rPr lang="en-US" sz="3200" dirty="0"/>
              <a:t>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sz="3200" dirty="0"/>
              <a:t>% Dehydration = </a:t>
            </a:r>
            <a:r>
              <a:rPr lang="en-US" sz="3200" b="1" dirty="0"/>
              <a:t>(0.8 kg ÷ 12 kg) × 100 = 6.7% (~7%)</a:t>
            </a:r>
            <a:r>
              <a:rPr lang="en-US" sz="3200" dirty="0"/>
              <a:t>.</a:t>
            </a:r>
          </a:p>
          <a:p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1143865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75471CF-1DD4-0668-3BC5-E390EAC84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clinical signs</a:t>
            </a:r>
            <a:endParaRPr lang="ar-IQ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B3E4C2D-7984-51D8-0751-C91C66EE6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algn="l" rt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3300" kern="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sz="33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3300" b="1" kern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Mild Dehydration </a:t>
            </a:r>
            <a:r>
              <a:rPr lang="en-US" sz="33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(3-5% in infants, 3-4% in children)</a:t>
            </a:r>
            <a:r>
              <a:rPr lang="en-US" sz="33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sz="2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3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Minimal symptoms; </a:t>
            </a:r>
            <a:r>
              <a:rPr lang="en-US" sz="33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normal pulse, breathing, blood pressure, and behavior</a:t>
            </a:r>
            <a:endParaRPr lang="en-US" sz="2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3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Slight </a:t>
            </a:r>
            <a:r>
              <a:rPr lang="en-US" sz="33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thirst</a:t>
            </a:r>
            <a:r>
              <a:rPr lang="en-US" sz="33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; </a:t>
            </a:r>
            <a:r>
              <a:rPr lang="en-US" sz="33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moist mucous membranes</a:t>
            </a:r>
            <a:endParaRPr lang="en-US" sz="2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3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Tears and urine output present</a:t>
            </a:r>
            <a:endParaRPr lang="en-US" sz="2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448041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B665B-ACDD-2E4B-DE46-305040A53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795A807-EACB-8662-044C-4B05A3E09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clinical signs</a:t>
            </a:r>
            <a:endParaRPr lang="ar-IQ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977374F-4888-46E6-0922-18CFBC795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</a:rPr>
              <a:t>Moderate Dehydration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</a:rPr>
              <a:t>(6-9% in infants, 6-8% in children)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kumimoji="0" lang="en-US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</a:rPr>
              <a:t>Increased pulse, faster breathing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</a:rPr>
              <a:t> (tachypnea)</a:t>
            </a:r>
            <a:endParaRPr kumimoji="0" lang="en-US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</a:rPr>
              <a:t>Irritable, more thirsty</a:t>
            </a:r>
            <a:endParaRPr kumimoji="0" lang="en-US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</a:rPr>
              <a:t>Dry mucous membranes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</a:rPr>
              <a:t>decreased tears</a:t>
            </a:r>
            <a:endParaRPr kumimoji="0" lang="en-US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</a:rPr>
              <a:t>Delayed capillary refill (2-4 sec), oliguria (low urine output)</a:t>
            </a:r>
            <a:endParaRPr kumimoji="0" lang="en-US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</a:endParaRPr>
          </a:p>
          <a:p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1619187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6C036-4C42-55FC-7707-4D5861AC5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B14B0FB-FE3F-524C-8D3A-A3705235C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clinical signs</a:t>
            </a:r>
            <a:endParaRPr lang="ar-IQ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9E76876-F387-17AA-D9CF-C868C330F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>
              <a:buNone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3200" b="1" dirty="0">
                <a:solidFill>
                  <a:srgbClr val="FF0000"/>
                </a:solidFill>
              </a:rPr>
              <a:t>Severe Dehydration </a:t>
            </a:r>
            <a:r>
              <a:rPr lang="en-US" sz="3200" b="1" dirty="0"/>
              <a:t>(≥10% in infants, 10% in children)</a:t>
            </a:r>
            <a:r>
              <a:rPr lang="en-US" sz="3200" dirty="0"/>
              <a:t>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3200" b="1" dirty="0"/>
              <a:t>Very increased pulse, deep rapid breathing (hyperpnea), and possible shock</a:t>
            </a:r>
            <a:endParaRPr lang="en-US" sz="3200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3200" b="1" dirty="0"/>
              <a:t>Hyperirritable or lethargic</a:t>
            </a:r>
            <a:endParaRPr lang="en-US" sz="3200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3200" b="1" dirty="0"/>
              <a:t>Absent tears, sunken eyes, sunken fontanel</a:t>
            </a:r>
            <a:endParaRPr lang="en-US" sz="3200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3200" b="1" dirty="0"/>
              <a:t>Very delayed capillary refill (&gt;4 sec), cold/mottled skin</a:t>
            </a:r>
            <a:endParaRPr lang="en-US" sz="3200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3200" b="1" dirty="0"/>
              <a:t>Oliguria or anuria (no urine production)</a:t>
            </a:r>
            <a:endParaRPr lang="en-US" sz="3200" dirty="0"/>
          </a:p>
          <a:p>
            <a:endParaRPr lang="ar-IQ" sz="3200" dirty="0"/>
          </a:p>
        </p:txBody>
      </p:sp>
    </p:spTree>
    <p:extLst>
      <p:ext uri="{BB962C8B-B14F-4D97-AF65-F5344CB8AC3E}">
        <p14:creationId xmlns:p14="http://schemas.microsoft.com/office/powerpoint/2010/main" val="3692481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0508F-85C0-B2B8-9294-B79E3C1F1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78B3F17-371D-5D31-D215-FF1EFF2A1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>
                <a:cs typeface="+mn-cs"/>
              </a:rPr>
              <a:t>Fluid Deficit Calculation</a:t>
            </a:r>
            <a:endParaRPr lang="ar-IQ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F725ED6-CC13-0771-DB00-C7574E912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Calculated fluid deficit (mL) = %dehydration ×weight (kg) × 10</a:t>
            </a:r>
            <a:endParaRPr lang="en-US" sz="3200" dirty="0">
              <a:cs typeface="+mn-cs"/>
            </a:endParaRPr>
          </a:p>
          <a:p>
            <a:pPr algn="l" rtl="0"/>
            <a:r>
              <a:rPr lang="en-US" sz="3600" dirty="0">
                <a:cs typeface="+mn-cs"/>
              </a:rPr>
              <a:t>e.g. </a:t>
            </a:r>
            <a:r>
              <a:rPr lang="en-US" sz="3600" b="1" dirty="0">
                <a:cs typeface="+mn-cs"/>
              </a:rPr>
              <a:t>7% </a:t>
            </a:r>
            <a:r>
              <a:rPr lang="en-US" sz="3600" dirty="0">
                <a:cs typeface="+mn-cs"/>
              </a:rPr>
              <a:t>dehydration in a </a:t>
            </a:r>
            <a:r>
              <a:rPr lang="en-US" sz="3600" b="1" dirty="0">
                <a:cs typeface="+mn-cs"/>
              </a:rPr>
              <a:t>12 kg </a:t>
            </a:r>
            <a:r>
              <a:rPr lang="en-US" sz="3600" dirty="0">
                <a:cs typeface="+mn-cs"/>
              </a:rPr>
              <a:t>child </a:t>
            </a:r>
          </a:p>
          <a:p>
            <a:pPr marL="0" indent="0" algn="l" rtl="0">
              <a:buNone/>
            </a:pPr>
            <a:endParaRPr lang="en-US" sz="3600" dirty="0"/>
          </a:p>
          <a:p>
            <a:pPr marL="0" indent="0" algn="l" rtl="0">
              <a:buNone/>
            </a:pPr>
            <a:r>
              <a:rPr lang="en-US" sz="3600" dirty="0">
                <a:cs typeface="+mn-cs"/>
              </a:rPr>
              <a:t>= 7 × 12 × 10 = 840 mL deficit.</a:t>
            </a:r>
            <a:endParaRPr lang="ar-IQ" sz="360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3235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B67CE3D-AE14-2837-F22F-27F041A22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How to Use This in Clinical Practice</a:t>
            </a:r>
            <a:endParaRPr lang="ar-IQ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0FC0C00-2D98-F85C-BB79-4ADAE926E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Assess the child’s dehydration status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(mild, moderate, or severe).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Determine weight and dehydration percentage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based on clinical signs.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Apply the formula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to estimate fluid deficit.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Plan fluid replacement therapy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based on severity: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Mild: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Oral Rehydration Therapy (ORT)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Moderate/Severe: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IV fluids (e.g., normal saline or Ringer's lactate)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 rtl="0"/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2665593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3057F7F-4D9B-5DB0-5474-957AA5A1F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Oral Rehydration Therapy (ORT) for Mild to Moderate Dehydration</a:t>
            </a:r>
            <a:endParaRPr lang="ar-IQ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A8F81A6-1DEB-2970-22BE-BEC005B4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Guidelines: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Mild dehydration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→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50 mL/kg ORS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over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4–6 hours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Moderate dehydration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→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100 mL/kg ORS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over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4–6 hours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Ongoing losses (e.g., diarrhea)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→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10 mL/kg ORS per stool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 rtl="0"/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195387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168AB-1D22-DDCB-33A0-B9C6A3DD6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ABCEC75-28CE-11A8-ED3F-D82D1719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Oral Rehydration Therapy (ORT) for Mild to Moderate Dehydration</a:t>
            </a:r>
            <a:endParaRPr lang="ar-IQ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CEA8E12-7F58-7737-8051-216D76CC7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marR="0"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Key Considerations: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Administer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small amounts (2–5 mL every 2–3 minutes)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if the child refuses or has nausea.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Ondansetron (Zofran)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may reduce vomiting and improve ORS tolerance.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Use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commercial ORS solutions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(e.g., Pedialyte, WHO ORS) to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enhance sodium and water absorption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For children resistant to drinking fluids,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frozen ORS (popsicles) or flavoring agents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can improve compliance.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 rtl="0"/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35854834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1DBF70D-7F56-497D-1D7F-9D213B9F8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57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2. Parenteral Fluid Therapy for Severe Dehydration</a:t>
            </a:r>
            <a:endParaRPr lang="ar-IQ" sz="4000" dirty="0"/>
          </a:p>
        </p:txBody>
      </p:sp>
      <p:pic>
        <p:nvPicPr>
          <p:cNvPr id="5" name="عنصر نائب للمحتوى 4">
            <a:extLst>
              <a:ext uri="{FF2B5EF4-FFF2-40B4-BE49-F238E27FC236}">
                <a16:creationId xmlns:a16="http://schemas.microsoft.com/office/drawing/2014/main" id="{A23D0CC1-4C42-ADEA-E327-45CB576895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034443"/>
            <a:ext cx="12407153" cy="5952565"/>
          </a:xfrm>
        </p:spPr>
      </p:pic>
    </p:spTree>
    <p:extLst>
      <p:ext uri="{BB962C8B-B14F-4D97-AF65-F5344CB8AC3E}">
        <p14:creationId xmlns:p14="http://schemas.microsoft.com/office/powerpoint/2010/main" val="3689242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0414D-E779-013B-B4A4-C9496D7E7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37048E6-C1B4-B2D9-DD71-763341455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>
                <a:cs typeface="+mn-cs"/>
              </a:rPr>
              <a:t>Types of IV Solutions</a:t>
            </a:r>
            <a:endParaRPr lang="ar-IQ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0B88D66-13D7-6884-29B7-22B179581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algn="l" rtl="0">
              <a:lnSpc>
                <a:spcPct val="107000"/>
              </a:lnSpc>
              <a:spcAft>
                <a:spcPts val="800"/>
              </a:spcAf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1. Crystalloids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Isotonic Solutions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 Expand intravascular compartment. Examples include: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D5W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0.9% NaCl (Normal Saline)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Ringer’s solution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Lactated Ringer’s solution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1018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97C5F-A7EC-22F0-AAF0-DD485D451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C1D7FCE-F702-8A72-354D-5BF812A4D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endParaRPr lang="ar-IQ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9568C534-9CCD-D0D4-9DDD-CCE69DD63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Hypertonic Solutions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 Expand the intravascular compartment more significantly and draw fluid from other areas. Examples include: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D10W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3% NaCl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5% NaCl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D5 0.45% NaCl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D5 0.9% NaCl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algn="l" rtl="0"/>
            <a:endParaRPr lang="ar-IQ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46886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3DCA9-3D40-04DE-1406-EA2A253A6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3EC35A0-42F4-6498-47E4-B4AD2E085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endParaRPr lang="ar-IQ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E3A3052-5CE3-F4DA-EF02-93838EF3F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Hypotonic Solutions</a:t>
            </a: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 Cause fluid to shift from intravascular spaces into cells. Examples include: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D2.5W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0.45% NaCl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0.33% NaCl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algn="l" rtl="0"/>
            <a:endParaRPr lang="ar-IQ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86972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B10F6-8098-1748-4704-A19EFF4D1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FDC2C17-BE79-562D-2793-57D931DB3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endParaRPr lang="ar-IQ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AE3871A3-2DCB-B838-650E-C0164BADA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algn="l" rtl="0">
              <a:lnSpc>
                <a:spcPct val="107000"/>
              </a:lnSpc>
              <a:spcAft>
                <a:spcPts val="800"/>
              </a:spcAf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Colloids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Used if blood volume doesn’t improve with crystalloids. Examples include: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Albumin (5% and 25%)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Plasma protein fraction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Dextran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algn="l" rtl="0"/>
            <a:endParaRPr lang="ar-IQ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38808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032DE33-6067-2E4B-32AC-4FC3A71C5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Energy/Calorie Requirements</a:t>
            </a:r>
            <a:endParaRPr lang="ar-IQ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652D131-B277-735A-C49A-6DC7E9272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Macronutrient Caloric Content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  <a:buClrTx/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Carbohydrates and proteins: 4 kcal/g; Fats: 9 kcal/g</a:t>
            </a:r>
          </a:p>
          <a:p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24909233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DAD3C2A-5161-3B95-DF65-D40F94CA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Energy/Calorie Requirements</a:t>
            </a:r>
            <a:endParaRPr lang="ar-IQ" dirty="0"/>
          </a:p>
        </p:txBody>
      </p:sp>
      <p:sp>
        <p:nvSpPr>
          <p:cNvPr id="5" name="عنصر نائب للمحتوى 4">
            <a:extLst>
              <a:ext uri="{FF2B5EF4-FFF2-40B4-BE49-F238E27FC236}">
                <a16:creationId xmlns:a16="http://schemas.microsoft.com/office/drawing/2014/main" id="{0511BD01-002C-293E-1D01-CE3F55B0151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Caloric Needs by Age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Infants (0-6 months)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110-120 kcal/kg/day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Infants (6 months - 1 year)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~100 kcal/kg/day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Young Children (1-10 years)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~80 kcal/kg/day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Older Children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~60 kcal/kg/day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Adolescent Boys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~2,800 kcal/day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Adolescent Girls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~2,200 kcal/day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6821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FD5E7EC-E9A2-DC70-D3EF-F7954F23D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FE3AE91-AAE0-3A5A-359D-F7D514221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>
                <a:cs typeface="+mn-cs"/>
              </a:rPr>
              <a:t>Energy/Calorie Requirements</a:t>
            </a:r>
            <a:endParaRPr lang="ar-IQ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036165B-6BC1-E78C-9E01-E1473E714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695" y="1463040"/>
            <a:ext cx="11005910" cy="5029835"/>
          </a:xfrm>
        </p:spPr>
        <p:txBody>
          <a:bodyPr>
            <a:normAutofit/>
          </a:bodyPr>
          <a:lstStyle/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Macronutrient Caloric Content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Carbohydrates and proteins: 4 kcal/g; Fats: 9 kcal/g</a:t>
            </a: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Carbohydrates: </a:t>
            </a:r>
            <a:r>
              <a:rPr lang="en-US" sz="2800" kern="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Daily calories * 0.40 / 4 = grams of carbs per day.</a:t>
            </a: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Proteins: </a:t>
            </a:r>
            <a:r>
              <a:rPr lang="en-US" sz="2800" kern="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Daily calories * 0.30 / 4 = grams of proteins per day.</a:t>
            </a: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Fats: </a:t>
            </a:r>
            <a:r>
              <a:rPr lang="en-US" sz="2800" kern="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Daily calories * 0.30 / 9 = grams of fats per day</a:t>
            </a: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32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8089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0D0BF3E-F8DB-5CA8-2EF5-F8E931EA2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12" y="205274"/>
            <a:ext cx="11737910" cy="6307494"/>
          </a:xfrm>
        </p:spPr>
        <p:txBody>
          <a:bodyPr>
            <a:normAutofit/>
          </a:bodyPr>
          <a:lstStyle/>
          <a:p>
            <a:pPr algn="l" rtl="0"/>
            <a:r>
              <a:rPr lang="en-US" dirty="0"/>
              <a:t>Example Calculations:</a:t>
            </a:r>
          </a:p>
          <a:p>
            <a:pPr marL="0" indent="0" algn="l" rtl="0">
              <a:buNone/>
            </a:pPr>
            <a:r>
              <a:rPr lang="en-US" dirty="0"/>
              <a:t>Infants (0-6 months):example the weight of an infant is 5 kg. </a:t>
            </a:r>
          </a:p>
          <a:p>
            <a:pPr algn="l" rtl="0"/>
            <a:r>
              <a:rPr lang="en-US" dirty="0"/>
              <a:t>Caloric needs = 110-120 kcal/kg/day </a:t>
            </a:r>
          </a:p>
          <a:p>
            <a:pPr algn="l" rtl="0"/>
            <a:r>
              <a:rPr lang="en-US" b="1" dirty="0"/>
              <a:t>Total caloric needs = </a:t>
            </a:r>
            <a:r>
              <a:rPr lang="en-US" dirty="0"/>
              <a:t>5 kg × 110 kcal/kg = 550 kcal/day (lower end)</a:t>
            </a:r>
          </a:p>
          <a:p>
            <a:pPr algn="l" rtl="0"/>
            <a:r>
              <a:rPr lang="en-US" b="1" dirty="0"/>
              <a:t>Total caloric needs = </a:t>
            </a:r>
            <a:r>
              <a:rPr lang="en-US" dirty="0"/>
              <a:t>5 kg × 120 kcal/kg = 600 kcal/day (upper end)</a:t>
            </a:r>
          </a:p>
          <a:p>
            <a:pPr algn="l" rtl="0"/>
            <a:r>
              <a:rPr lang="en-US" dirty="0"/>
              <a:t>For macronutrient distribution</a:t>
            </a:r>
            <a:endParaRPr lang="en-US" dirty="0">
              <a:highlight>
                <a:srgbClr val="FFFF00"/>
              </a:highlight>
            </a:endParaRPr>
          </a:p>
          <a:p>
            <a:pPr marL="0" indent="0" algn="l" rtl="0">
              <a:buNone/>
            </a:pPr>
            <a:r>
              <a:rPr lang="en-US" dirty="0"/>
              <a:t>Carbohydrates (40%): </a:t>
            </a:r>
            <a:r>
              <a:rPr lang="en-US" dirty="0">
                <a:sym typeface="Wingdings" panose="05000000000000000000" pitchFamily="2" charset="2"/>
              </a:rPr>
              <a:t>(</a:t>
            </a:r>
            <a:r>
              <a:rPr lang="en-US" dirty="0"/>
              <a:t>550×0.40)/4=55 grams </a:t>
            </a:r>
          </a:p>
          <a:p>
            <a:pPr marL="0" indent="0" algn="l" rtl="0">
              <a:buNone/>
            </a:pPr>
            <a:r>
              <a:rPr lang="en-US" dirty="0"/>
              <a:t>                                           (600×0.40)/4=60 grams </a:t>
            </a:r>
          </a:p>
          <a:p>
            <a:pPr marL="0" indent="0" algn="l" rtl="0">
              <a:buNone/>
            </a:pPr>
            <a:r>
              <a:rPr lang="en-US" dirty="0"/>
              <a:t>Proteins (30%): (550×0.30)/4=41.25 grams </a:t>
            </a:r>
          </a:p>
          <a:p>
            <a:pPr marL="0" indent="0" algn="l" rtl="0">
              <a:buNone/>
            </a:pPr>
            <a:r>
              <a:rPr lang="en-US" dirty="0"/>
              <a:t>                               (600×0.30)/4=45 grams </a:t>
            </a:r>
          </a:p>
          <a:p>
            <a:pPr marL="0" indent="0" algn="l" rtl="0">
              <a:buNone/>
            </a:pPr>
            <a:r>
              <a:rPr lang="en-US" dirty="0"/>
              <a:t>Fats (30%): (550×0.30)/4=18.33 grams </a:t>
            </a:r>
          </a:p>
          <a:p>
            <a:pPr marL="0" indent="0" algn="l" rtl="0">
              <a:buNone/>
            </a:pPr>
            <a:r>
              <a:rPr lang="en-US" dirty="0"/>
              <a:t>                        (600×0.30)/4=20 grams </a:t>
            </a:r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6681232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70104" y="746026"/>
            <a:ext cx="622379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583"/>
              </a:lnSpc>
            </a:pPr>
            <a:r>
              <a:rPr lang="en-US" sz="3667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Milk Types and Caloric Content</a:t>
            </a:r>
            <a:endParaRPr lang="en-US" sz="3667" dirty="0"/>
          </a:p>
        </p:txBody>
      </p:sp>
      <p:sp>
        <p:nvSpPr>
          <p:cNvPr id="4" name="Shape 1"/>
          <p:cNvSpPr/>
          <p:nvPr/>
        </p:nvSpPr>
        <p:spPr>
          <a:xfrm>
            <a:off x="5270104" y="2218532"/>
            <a:ext cx="6223794" cy="3893443"/>
          </a:xfrm>
          <a:prstGeom prst="roundRect">
            <a:avLst>
              <a:gd name="adj" fmla="val 768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ar-IQ" sz="1500"/>
          </a:p>
        </p:txBody>
      </p:sp>
      <p:sp>
        <p:nvSpPr>
          <p:cNvPr id="5" name="Shape 2"/>
          <p:cNvSpPr/>
          <p:nvPr/>
        </p:nvSpPr>
        <p:spPr>
          <a:xfrm>
            <a:off x="5276454" y="2224881"/>
            <a:ext cx="6211093" cy="5712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ar-IQ" sz="1500"/>
          </a:p>
        </p:txBody>
      </p:sp>
      <p:sp>
        <p:nvSpPr>
          <p:cNvPr id="6" name="Text 3"/>
          <p:cNvSpPr/>
          <p:nvPr/>
        </p:nvSpPr>
        <p:spPr>
          <a:xfrm>
            <a:off x="5475883" y="2350889"/>
            <a:ext cx="84018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Milk Type</a:t>
            </a:r>
            <a:endParaRPr lang="en-US" sz="1542" dirty="0"/>
          </a:p>
        </p:txBody>
      </p:sp>
      <p:sp>
        <p:nvSpPr>
          <p:cNvPr id="7" name="Text 4"/>
          <p:cNvSpPr/>
          <p:nvPr/>
        </p:nvSpPr>
        <p:spPr>
          <a:xfrm>
            <a:off x="6721277" y="2350889"/>
            <a:ext cx="83700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Fat</a:t>
            </a:r>
            <a:endParaRPr lang="en-US" sz="1542" dirty="0"/>
          </a:p>
        </p:txBody>
      </p:sp>
      <p:sp>
        <p:nvSpPr>
          <p:cNvPr id="8" name="Text 5"/>
          <p:cNvSpPr/>
          <p:nvPr/>
        </p:nvSpPr>
        <p:spPr>
          <a:xfrm>
            <a:off x="7963496" y="2350889"/>
            <a:ext cx="83700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Carbs</a:t>
            </a:r>
            <a:endParaRPr lang="en-US" sz="1542" dirty="0"/>
          </a:p>
        </p:txBody>
      </p:sp>
      <p:sp>
        <p:nvSpPr>
          <p:cNvPr id="9" name="Text 6"/>
          <p:cNvSpPr/>
          <p:nvPr/>
        </p:nvSpPr>
        <p:spPr>
          <a:xfrm>
            <a:off x="9205715" y="2350889"/>
            <a:ext cx="83700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Protein</a:t>
            </a:r>
            <a:endParaRPr lang="en-US" sz="1542" dirty="0"/>
          </a:p>
        </p:txBody>
      </p:sp>
      <p:sp>
        <p:nvSpPr>
          <p:cNvPr id="10" name="Text 7"/>
          <p:cNvSpPr/>
          <p:nvPr/>
        </p:nvSpPr>
        <p:spPr>
          <a:xfrm>
            <a:off x="10447933" y="2350889"/>
            <a:ext cx="84018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Calories</a:t>
            </a:r>
            <a:endParaRPr lang="en-US" sz="1542" dirty="0"/>
          </a:p>
        </p:txBody>
      </p:sp>
      <p:sp>
        <p:nvSpPr>
          <p:cNvPr id="11" name="Shape 8"/>
          <p:cNvSpPr/>
          <p:nvPr/>
        </p:nvSpPr>
        <p:spPr>
          <a:xfrm>
            <a:off x="5276454" y="2796084"/>
            <a:ext cx="6211093" cy="8903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ar-IQ" sz="1500"/>
          </a:p>
        </p:txBody>
      </p:sp>
      <p:sp>
        <p:nvSpPr>
          <p:cNvPr id="12" name="Text 9"/>
          <p:cNvSpPr/>
          <p:nvPr/>
        </p:nvSpPr>
        <p:spPr>
          <a:xfrm>
            <a:off x="5475883" y="2922092"/>
            <a:ext cx="84018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Whole Fat Milk</a:t>
            </a:r>
            <a:endParaRPr lang="en-US" sz="1542" dirty="0"/>
          </a:p>
        </p:txBody>
      </p:sp>
      <p:sp>
        <p:nvSpPr>
          <p:cNvPr id="13" name="Text 10"/>
          <p:cNvSpPr/>
          <p:nvPr/>
        </p:nvSpPr>
        <p:spPr>
          <a:xfrm>
            <a:off x="6721277" y="2922092"/>
            <a:ext cx="83700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 g</a:t>
            </a:r>
            <a:endParaRPr lang="en-US" sz="1542" dirty="0"/>
          </a:p>
        </p:txBody>
      </p:sp>
      <p:sp>
        <p:nvSpPr>
          <p:cNvPr id="14" name="Text 11"/>
          <p:cNvSpPr/>
          <p:nvPr/>
        </p:nvSpPr>
        <p:spPr>
          <a:xfrm>
            <a:off x="7963496" y="2922092"/>
            <a:ext cx="83700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12 g</a:t>
            </a:r>
            <a:endParaRPr lang="en-US" sz="1542" dirty="0"/>
          </a:p>
        </p:txBody>
      </p:sp>
      <p:sp>
        <p:nvSpPr>
          <p:cNvPr id="15" name="Text 12"/>
          <p:cNvSpPr/>
          <p:nvPr/>
        </p:nvSpPr>
        <p:spPr>
          <a:xfrm>
            <a:off x="9205715" y="2922092"/>
            <a:ext cx="83700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 g</a:t>
            </a:r>
            <a:endParaRPr lang="en-US" sz="1542" dirty="0"/>
          </a:p>
        </p:txBody>
      </p:sp>
      <p:sp>
        <p:nvSpPr>
          <p:cNvPr id="16" name="Text 13"/>
          <p:cNvSpPr/>
          <p:nvPr/>
        </p:nvSpPr>
        <p:spPr>
          <a:xfrm>
            <a:off x="10447933" y="2922092"/>
            <a:ext cx="84018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150 kcal</a:t>
            </a:r>
            <a:endParaRPr lang="en-US" sz="1542" dirty="0"/>
          </a:p>
        </p:txBody>
      </p:sp>
      <p:sp>
        <p:nvSpPr>
          <p:cNvPr id="17" name="Shape 14"/>
          <p:cNvSpPr/>
          <p:nvPr/>
        </p:nvSpPr>
        <p:spPr>
          <a:xfrm>
            <a:off x="5276454" y="3686473"/>
            <a:ext cx="6211093" cy="8903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ar-IQ" sz="1500"/>
          </a:p>
        </p:txBody>
      </p:sp>
      <p:sp>
        <p:nvSpPr>
          <p:cNvPr id="18" name="Text 15"/>
          <p:cNvSpPr/>
          <p:nvPr/>
        </p:nvSpPr>
        <p:spPr>
          <a:xfrm>
            <a:off x="5475883" y="3812481"/>
            <a:ext cx="84018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Low Fat Milk</a:t>
            </a:r>
            <a:endParaRPr lang="en-US" sz="1542" dirty="0"/>
          </a:p>
        </p:txBody>
      </p:sp>
      <p:sp>
        <p:nvSpPr>
          <p:cNvPr id="19" name="Text 16"/>
          <p:cNvSpPr/>
          <p:nvPr/>
        </p:nvSpPr>
        <p:spPr>
          <a:xfrm>
            <a:off x="6721277" y="3812481"/>
            <a:ext cx="83700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 g</a:t>
            </a:r>
            <a:endParaRPr lang="en-US" sz="1542" dirty="0"/>
          </a:p>
        </p:txBody>
      </p:sp>
      <p:sp>
        <p:nvSpPr>
          <p:cNvPr id="20" name="Text 17"/>
          <p:cNvSpPr/>
          <p:nvPr/>
        </p:nvSpPr>
        <p:spPr>
          <a:xfrm>
            <a:off x="7963496" y="3812481"/>
            <a:ext cx="83700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12 g</a:t>
            </a:r>
            <a:endParaRPr lang="en-US" sz="1542" dirty="0"/>
          </a:p>
        </p:txBody>
      </p:sp>
      <p:sp>
        <p:nvSpPr>
          <p:cNvPr id="21" name="Text 18"/>
          <p:cNvSpPr/>
          <p:nvPr/>
        </p:nvSpPr>
        <p:spPr>
          <a:xfrm>
            <a:off x="9205715" y="3812481"/>
            <a:ext cx="83700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 g</a:t>
            </a:r>
            <a:endParaRPr lang="en-US" sz="1542" dirty="0"/>
          </a:p>
        </p:txBody>
      </p:sp>
      <p:sp>
        <p:nvSpPr>
          <p:cNvPr id="22" name="Text 19"/>
          <p:cNvSpPr/>
          <p:nvPr/>
        </p:nvSpPr>
        <p:spPr>
          <a:xfrm>
            <a:off x="10447933" y="3812481"/>
            <a:ext cx="84018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120 kcal</a:t>
            </a:r>
            <a:endParaRPr lang="en-US" sz="1542" dirty="0"/>
          </a:p>
        </p:txBody>
      </p:sp>
      <p:sp>
        <p:nvSpPr>
          <p:cNvPr id="23" name="Shape 20"/>
          <p:cNvSpPr/>
          <p:nvPr/>
        </p:nvSpPr>
        <p:spPr>
          <a:xfrm>
            <a:off x="5276454" y="4576862"/>
            <a:ext cx="6211093" cy="152876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ar-IQ" sz="1500"/>
          </a:p>
        </p:txBody>
      </p:sp>
      <p:sp>
        <p:nvSpPr>
          <p:cNvPr id="24" name="Text 21"/>
          <p:cNvSpPr/>
          <p:nvPr/>
        </p:nvSpPr>
        <p:spPr>
          <a:xfrm>
            <a:off x="5475883" y="4702869"/>
            <a:ext cx="840184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Fat-Free Milk (Skimmed)</a:t>
            </a:r>
            <a:endParaRPr lang="en-US" sz="1542" dirty="0"/>
          </a:p>
        </p:txBody>
      </p:sp>
      <p:sp>
        <p:nvSpPr>
          <p:cNvPr id="25" name="Text 22"/>
          <p:cNvSpPr/>
          <p:nvPr/>
        </p:nvSpPr>
        <p:spPr>
          <a:xfrm>
            <a:off x="6721277" y="4702869"/>
            <a:ext cx="83700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 g</a:t>
            </a:r>
            <a:endParaRPr lang="en-US" sz="1542" dirty="0"/>
          </a:p>
        </p:txBody>
      </p:sp>
      <p:sp>
        <p:nvSpPr>
          <p:cNvPr id="26" name="Text 23"/>
          <p:cNvSpPr/>
          <p:nvPr/>
        </p:nvSpPr>
        <p:spPr>
          <a:xfrm>
            <a:off x="7963496" y="4702869"/>
            <a:ext cx="83700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12 g</a:t>
            </a:r>
            <a:endParaRPr lang="en-US" sz="1542" dirty="0"/>
          </a:p>
        </p:txBody>
      </p:sp>
      <p:sp>
        <p:nvSpPr>
          <p:cNvPr id="27" name="Text 24"/>
          <p:cNvSpPr/>
          <p:nvPr/>
        </p:nvSpPr>
        <p:spPr>
          <a:xfrm>
            <a:off x="9205715" y="4702869"/>
            <a:ext cx="83700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 g</a:t>
            </a:r>
            <a:endParaRPr lang="en-US" sz="1542" dirty="0"/>
          </a:p>
        </p:txBody>
      </p:sp>
      <p:sp>
        <p:nvSpPr>
          <p:cNvPr id="28" name="Text 25"/>
          <p:cNvSpPr/>
          <p:nvPr/>
        </p:nvSpPr>
        <p:spPr>
          <a:xfrm>
            <a:off x="10447933" y="4702869"/>
            <a:ext cx="84018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~90 kcal</a:t>
            </a:r>
            <a:endParaRPr lang="en-US" sz="1542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AC584-2D69-D0BE-71BD-E52514605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E879174-5AC2-261D-5F7A-518422E4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>
                <a:cs typeface="+mn-cs"/>
              </a:rPr>
              <a:t>Recommendations:</a:t>
            </a:r>
            <a:endParaRPr lang="ar-IQ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1BF0E2B-CCB7-617E-C493-78A1EF79B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Whole milk is suitable for children over 12 months.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Low-fat milk (2%) can be given to children over 2 years.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Skim milk is generally not recommended unless there’s a medical need.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algn="l" rtl="0"/>
            <a:endParaRPr lang="ar-IQ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7282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21F899C-C211-1725-296B-996712C97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Breastfeeding vs. Formula Feeding</a:t>
            </a:r>
            <a:endParaRPr lang="ar-IQ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114CAA9-955A-DB9A-4B05-C647947DF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rtl="0">
              <a:buNone/>
            </a:pPr>
            <a:r>
              <a:rPr lang="en-US" dirty="0"/>
              <a:t>✔ </a:t>
            </a:r>
            <a:r>
              <a:rPr lang="en-US" b="1" dirty="0"/>
              <a:t>Breastfeeding</a:t>
            </a:r>
            <a:r>
              <a:rPr lang="en-US" dirty="0"/>
              <a:t>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10-12 times/day</a:t>
            </a:r>
            <a:r>
              <a:rPr lang="en-US" dirty="0"/>
              <a:t> (highly digestible).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20 kcal/oz</a:t>
            </a:r>
            <a:r>
              <a:rPr lang="en-US" dirty="0"/>
              <a:t>.</a:t>
            </a:r>
          </a:p>
          <a:p>
            <a:pPr algn="l" rtl="0">
              <a:buNone/>
            </a:pPr>
            <a:r>
              <a:rPr lang="en-US" dirty="0"/>
              <a:t>✔ </a:t>
            </a:r>
            <a:r>
              <a:rPr lang="en-US" b="1" dirty="0"/>
              <a:t>Formula Feeding</a:t>
            </a:r>
            <a:r>
              <a:rPr lang="en-US" dirty="0"/>
              <a:t>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6 feeds/day</a:t>
            </a:r>
            <a:r>
              <a:rPr lang="en-US" dirty="0"/>
              <a:t>, ~2-3 oz per feed.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20 kcal/oz</a:t>
            </a:r>
            <a:r>
              <a:rPr lang="en-US" dirty="0"/>
              <a:t>, similar to breast milk.</a:t>
            </a:r>
          </a:p>
          <a:p>
            <a:pPr algn="l" rtl="0">
              <a:buNone/>
            </a:pPr>
            <a:r>
              <a:rPr lang="ar-IQ" dirty="0"/>
              <a:t>📌 </a:t>
            </a:r>
            <a:r>
              <a:rPr lang="en-US" i="1" dirty="0"/>
              <a:t>Example Calculation: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3-month-old, 5 kg infant</a:t>
            </a:r>
            <a:r>
              <a:rPr lang="en-US" dirty="0"/>
              <a:t> drinks </a:t>
            </a:r>
            <a:r>
              <a:rPr lang="en-US" b="1" dirty="0"/>
              <a:t>5-6 oz per feeding</a:t>
            </a:r>
            <a:r>
              <a:rPr lang="en-US" dirty="0"/>
              <a:t> (6 times/day):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30 oz/day × 20 kcal/oz = 600 kcal/day</a:t>
            </a:r>
            <a:endParaRPr lang="en-US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Matches </a:t>
            </a:r>
            <a:r>
              <a:rPr lang="en-US" b="1" dirty="0"/>
              <a:t>550-600 kcal/day requirement</a:t>
            </a:r>
            <a:endParaRPr lang="en-US" dirty="0"/>
          </a:p>
          <a:p>
            <a:pPr algn="l" rtl="0"/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5752721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BE598-748B-B662-5E5F-E64FE4B56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CE51E85-7EAE-472D-D70B-0E09AEB55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>
                <a:cs typeface="+mn-cs"/>
              </a:rPr>
              <a:t>Formula Adequacy for Infants</a:t>
            </a:r>
            <a:endParaRPr lang="ar-IQ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1249E2E-1287-B237-0458-FC4122E7C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Quick Estimation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 Infant’s age in months + 2 or 3 = ounces per feeding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l" rtl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E.g., a 3-month-old takes about 5-6 oz per feeding.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Caloric Content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 Both breast milk and commercial formulas contain 20 kcal/oz.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algn="l" rtl="0"/>
            <a:endParaRPr lang="ar-IQ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2284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F071AA7-C06E-721C-79A0-167115794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rtl="0"/>
            <a:r>
              <a:rPr lang="en-US" dirty="0"/>
              <a:t>Daily Fluid Intake for Infants: Explanation and Calculation</a:t>
            </a:r>
            <a:br>
              <a:rPr lang="en-US" dirty="0"/>
            </a:br>
            <a:endParaRPr lang="ar-IQ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AA72516-0273-5660-BA64-4D967DC21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>
              <a:buNone/>
            </a:pPr>
            <a:r>
              <a:rPr lang="en-US" dirty="0"/>
              <a:t>Infants require </a:t>
            </a:r>
            <a:r>
              <a:rPr lang="en-US" b="1" dirty="0"/>
              <a:t>higher fluid intake per body weight</a:t>
            </a:r>
            <a:r>
              <a:rPr lang="en-US" dirty="0"/>
              <a:t> compared to older children and adults due to their </a:t>
            </a:r>
            <a:r>
              <a:rPr lang="en-US" b="1" dirty="0"/>
              <a:t>higher metabolic rate, greater insensible water losses, and immature kidneys</a:t>
            </a:r>
            <a:r>
              <a:rPr lang="en-US" dirty="0"/>
              <a:t>.</a:t>
            </a:r>
          </a:p>
          <a:p>
            <a:pPr algn="l" rtl="0">
              <a:buNone/>
            </a:pPr>
            <a:r>
              <a:rPr lang="en-US" b="1" dirty="0"/>
              <a:t>1. Fluid Requirements Based on Weight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General guideline:</a:t>
            </a:r>
            <a:r>
              <a:rPr lang="en-US" dirty="0"/>
              <a:t> </a:t>
            </a:r>
            <a:r>
              <a:rPr lang="en-US" b="1" dirty="0"/>
              <a:t>75–90 mL per pound (mL/</a:t>
            </a:r>
            <a:r>
              <a:rPr lang="en-US" b="1" dirty="0" err="1"/>
              <a:t>lb</a:t>
            </a:r>
            <a:r>
              <a:rPr lang="en-US" b="1" dirty="0"/>
              <a:t>) per day</a:t>
            </a:r>
            <a:endParaRPr lang="en-US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Alternate conversion:</a:t>
            </a:r>
            <a:r>
              <a:rPr lang="en-US" dirty="0"/>
              <a:t> </a:t>
            </a:r>
            <a:r>
              <a:rPr lang="en-US" b="1" dirty="0"/>
              <a:t>2.5–3 ounces per pound (oz/</a:t>
            </a:r>
            <a:r>
              <a:rPr lang="en-US" b="1" dirty="0" err="1"/>
              <a:t>lb</a:t>
            </a:r>
            <a:r>
              <a:rPr lang="en-US" b="1" dirty="0"/>
              <a:t>) per day</a:t>
            </a:r>
            <a:endParaRPr lang="en-US" dirty="0"/>
          </a:p>
          <a:p>
            <a:pPr algn="l" rtl="0"/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30479111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DA630-9E5F-1886-341B-165E94336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3DBD183-3C1C-197E-DD88-B840DCEA5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rtl="0"/>
            <a:r>
              <a:rPr lang="en-US" dirty="0"/>
              <a:t>Daily Fluid Intake for Infants: Explanation and Calculation</a:t>
            </a:r>
            <a:br>
              <a:rPr lang="en-US" dirty="0"/>
            </a:br>
            <a:endParaRPr lang="ar-IQ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4D00FBA-FE71-2DA3-CD4F-38D7B9174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>
              <a:buNone/>
            </a:pPr>
            <a:r>
              <a:rPr lang="en-US" b="1" dirty="0"/>
              <a:t>2. Example Calculation for a 10 kg (22 </a:t>
            </a:r>
            <a:r>
              <a:rPr lang="en-US" b="1" dirty="0" err="1"/>
              <a:t>lb</a:t>
            </a:r>
            <a:r>
              <a:rPr lang="en-US" b="1" dirty="0"/>
              <a:t>) Infant</a:t>
            </a:r>
          </a:p>
          <a:p>
            <a:pPr algn="l" rtl="0">
              <a:buNone/>
            </a:pPr>
            <a:r>
              <a:rPr lang="en-US" b="1" dirty="0"/>
              <a:t>Step 1: Convert Body Weight to Pounds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10 kg = 22 </a:t>
            </a:r>
            <a:r>
              <a:rPr lang="en-US" b="1" dirty="0" err="1"/>
              <a:t>lb</a:t>
            </a:r>
            <a:endParaRPr lang="en-US" dirty="0"/>
          </a:p>
          <a:p>
            <a:pPr algn="l" rtl="0">
              <a:buNone/>
            </a:pPr>
            <a:r>
              <a:rPr lang="en-US" b="1" dirty="0"/>
              <a:t>Step 2: Determine Fluid Needs in Ounces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Minimum:</a:t>
            </a:r>
            <a:r>
              <a:rPr lang="en-US" dirty="0"/>
              <a:t> 22 lb×2.5 oz/</a:t>
            </a:r>
            <a:r>
              <a:rPr lang="en-US" dirty="0" err="1"/>
              <a:t>lb</a:t>
            </a:r>
            <a:r>
              <a:rPr lang="en-US" dirty="0"/>
              <a:t>=55oz/day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Maximum:</a:t>
            </a:r>
            <a:r>
              <a:rPr lang="en-US" dirty="0"/>
              <a:t> 22 lb×3 oz/</a:t>
            </a:r>
            <a:r>
              <a:rPr lang="en-US" dirty="0" err="1"/>
              <a:t>lb</a:t>
            </a:r>
            <a:r>
              <a:rPr lang="en-US" dirty="0"/>
              <a:t>=66 oz/day</a:t>
            </a:r>
          </a:p>
          <a:p>
            <a:pPr algn="l" rtl="0"/>
            <a:r>
              <a:rPr lang="en-US" dirty="0"/>
              <a:t>Thus, a </a:t>
            </a:r>
            <a:r>
              <a:rPr lang="en-US" b="1" dirty="0"/>
              <a:t>10 kg (22 </a:t>
            </a:r>
            <a:r>
              <a:rPr lang="en-US" b="1" dirty="0" err="1"/>
              <a:t>lb</a:t>
            </a:r>
            <a:r>
              <a:rPr lang="en-US" b="1" dirty="0"/>
              <a:t>) infant needs between 55–66 oz (1,650–1,980 mL) of fluid daily</a:t>
            </a:r>
            <a:r>
              <a:rPr lang="en-US" dirty="0"/>
              <a:t>.</a:t>
            </a:r>
          </a:p>
          <a:p>
            <a:pPr algn="l" rtl="0"/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14251708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B7BD2-61AA-3C87-95E9-7C366F754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9B4495E-A5E5-D1B3-908A-050EFFAEA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rtl="0"/>
            <a:r>
              <a:rPr lang="en-US" dirty="0"/>
              <a:t>Daily Fluid Intake for Infants: Explanation and Calculation</a:t>
            </a:r>
            <a:br>
              <a:rPr lang="en-US" dirty="0"/>
            </a:br>
            <a:endParaRPr lang="ar-IQ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E3D0213-429F-3C21-CA9B-73E9E5F6E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 rtl="0">
              <a:buNone/>
            </a:pPr>
            <a:r>
              <a:rPr lang="en-US" b="1" dirty="0"/>
              <a:t>3. Fluid Intake and Caloric Needs</a:t>
            </a:r>
          </a:p>
          <a:p>
            <a:pPr algn="l" rtl="0">
              <a:buNone/>
            </a:pPr>
            <a:r>
              <a:rPr lang="en-US" dirty="0"/>
              <a:t>Since </a:t>
            </a:r>
            <a:r>
              <a:rPr lang="en-US" b="1" dirty="0"/>
              <a:t>breast milk and infant formula provide both fluids and calories</a:t>
            </a:r>
            <a:r>
              <a:rPr lang="en-US" dirty="0"/>
              <a:t>, we can estimate the energy intake: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Average caloric content of breast milk or formula</a:t>
            </a:r>
            <a:r>
              <a:rPr lang="en-US" dirty="0"/>
              <a:t> = </a:t>
            </a:r>
            <a:r>
              <a:rPr lang="en-US" b="1" dirty="0"/>
              <a:t>20 kcal per ounce</a:t>
            </a:r>
            <a:endParaRPr lang="en-US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Daily energy requirement</a:t>
            </a:r>
            <a:r>
              <a:rPr lang="en-US" dirty="0"/>
              <a:t> = </a:t>
            </a:r>
            <a:r>
              <a:rPr lang="en-US" b="1" dirty="0"/>
              <a:t>fluid intake (oz) × 20 kcal/oz</a:t>
            </a:r>
            <a:endParaRPr lang="en-US" dirty="0"/>
          </a:p>
          <a:p>
            <a:pPr algn="l" rtl="0">
              <a:buNone/>
            </a:pPr>
            <a:r>
              <a:rPr lang="en-US" dirty="0"/>
              <a:t>For our example: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Minimum kcal:</a:t>
            </a:r>
            <a:r>
              <a:rPr lang="en-US" dirty="0"/>
              <a:t> 55×20=1,100 kcal/day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Maximum kcal:</a:t>
            </a:r>
            <a:r>
              <a:rPr lang="en-US" dirty="0"/>
              <a:t> 66×20=1,320 kcal/day</a:t>
            </a:r>
          </a:p>
          <a:p>
            <a:pPr algn="l" rtl="0"/>
            <a:r>
              <a:rPr lang="en-US" dirty="0"/>
              <a:t>Therefore, a </a:t>
            </a:r>
            <a:r>
              <a:rPr lang="en-US" b="1" dirty="0"/>
              <a:t>10 kg (22 </a:t>
            </a:r>
            <a:r>
              <a:rPr lang="en-US" b="1" dirty="0" err="1"/>
              <a:t>lb</a:t>
            </a:r>
            <a:r>
              <a:rPr lang="en-US" b="1" dirty="0"/>
              <a:t>) infant consumes approximately 1,100–1,320 kcal/day</a:t>
            </a:r>
            <a:r>
              <a:rPr lang="en-US" dirty="0"/>
              <a:t> through breast milk or formula.</a:t>
            </a:r>
          </a:p>
          <a:p>
            <a:pPr algn="l" rtl="0"/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27223871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95B0CAE0-5359-2737-8938-FB0BCDC3F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rtl="0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 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1ADB15FC-4D82-C5AE-DB3E-E7EFB1890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5A0BFDB4-245F-4198-90E7-8BD0F2AFD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370080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3119</Words>
  <Application>Microsoft Office PowerPoint</Application>
  <PresentationFormat>شاشة عريضة</PresentationFormat>
  <Paragraphs>304</Paragraphs>
  <Slides>40</Slides>
  <Notes>16</Notes>
  <HiddenSlides>2</HiddenSlides>
  <MMClips>0</MMClips>
  <ScaleCrop>false</ScaleCrop>
  <HeadingPairs>
    <vt:vector size="6" baseType="variant">
      <vt:variant>
        <vt:lpstr>الخطوط المستخدمة</vt:lpstr>
      </vt:variant>
      <vt:variant>
        <vt:i4>10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40</vt:i4>
      </vt:variant>
    </vt:vector>
  </HeadingPairs>
  <TitlesOfParts>
    <vt:vector size="51" baseType="lpstr">
      <vt:lpstr>Aptos</vt:lpstr>
      <vt:lpstr>Aptos Display</vt:lpstr>
      <vt:lpstr>Arial</vt:lpstr>
      <vt:lpstr>Calibri</vt:lpstr>
      <vt:lpstr>Courier New</vt:lpstr>
      <vt:lpstr>Nunito Semi Bold</vt:lpstr>
      <vt:lpstr>PT Sans</vt:lpstr>
      <vt:lpstr>Symbol</vt:lpstr>
      <vt:lpstr>Times New Roman</vt:lpstr>
      <vt:lpstr>Wingdings</vt:lpstr>
      <vt:lpstr>نسق Office</vt:lpstr>
      <vt:lpstr>Body Fluid Composition</vt:lpstr>
      <vt:lpstr>Body fluid composition</vt:lpstr>
      <vt:lpstr>Body fluid composition</vt:lpstr>
      <vt:lpstr>Body fluid composition</vt:lpstr>
      <vt:lpstr>Body fluid composition</vt:lpstr>
      <vt:lpstr>Body fluid composition</vt:lpstr>
      <vt:lpstr>Calculating Pediatric Fluid Needs</vt:lpstr>
      <vt:lpstr>Pediatric Maintenance Fluid Calculation</vt:lpstr>
      <vt:lpstr>عرض تقديمي في PowerPoint</vt:lpstr>
      <vt:lpstr>عرض تقديمي في PowerPoint</vt:lpstr>
      <vt:lpstr>Hourly Maintenance Fluid Calculation</vt:lpstr>
      <vt:lpstr>عرض تقديمي في PowerPoint</vt:lpstr>
      <vt:lpstr>عرض تقديمي في PowerPoint</vt:lpstr>
      <vt:lpstr>Daily and Hourly Maintenance Fluid Requirements</vt:lpstr>
      <vt:lpstr>Fluid Deficit Calculation</vt:lpstr>
      <vt:lpstr>Fluid Deficit Calculation</vt:lpstr>
      <vt:lpstr>clinical signs</vt:lpstr>
      <vt:lpstr>clinical signs</vt:lpstr>
      <vt:lpstr>clinical signs</vt:lpstr>
      <vt:lpstr>Fluid Deficit Calculation</vt:lpstr>
      <vt:lpstr>How to Use This in Clinical Practice</vt:lpstr>
      <vt:lpstr>1. Oral Rehydration Therapy (ORT) for Mild to Moderate Dehydration</vt:lpstr>
      <vt:lpstr>1. Oral Rehydration Therapy (ORT) for Mild to Moderate Dehydration</vt:lpstr>
      <vt:lpstr>2. Parenteral Fluid Therapy for Severe Dehydration</vt:lpstr>
      <vt:lpstr>Types of IV Solutions</vt:lpstr>
      <vt:lpstr>عرض تقديمي في PowerPoint</vt:lpstr>
      <vt:lpstr>عرض تقديمي في PowerPoint</vt:lpstr>
      <vt:lpstr>عرض تقديمي في PowerPoint</vt:lpstr>
      <vt:lpstr>Energy/Calorie Requirements</vt:lpstr>
      <vt:lpstr>Energy/Calorie Requirements</vt:lpstr>
      <vt:lpstr>Energy/Calorie Requirements</vt:lpstr>
      <vt:lpstr>عرض تقديمي في PowerPoint</vt:lpstr>
      <vt:lpstr>عرض تقديمي في PowerPoint</vt:lpstr>
      <vt:lpstr>Recommendations:</vt:lpstr>
      <vt:lpstr>Breastfeeding vs. Formula Feeding</vt:lpstr>
      <vt:lpstr>Formula Adequacy for Infants</vt:lpstr>
      <vt:lpstr>Daily Fluid Intake for Infants: Explanation and Calculation </vt:lpstr>
      <vt:lpstr>Daily Fluid Intake for Infants: Explanation and Calculation </vt:lpstr>
      <vt:lpstr>Daily Fluid Intake for Infants: Explanation and Calculation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 lanter</dc:creator>
  <cp:lastModifiedBy>green lanter</cp:lastModifiedBy>
  <cp:revision>19</cp:revision>
  <dcterms:created xsi:type="dcterms:W3CDTF">2024-11-04T18:30:34Z</dcterms:created>
  <dcterms:modified xsi:type="dcterms:W3CDTF">2025-03-17T21:32:19Z</dcterms:modified>
</cp:coreProperties>
</file>