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256" r:id="rId2"/>
    <p:sldId id="257" r:id="rId3"/>
    <p:sldId id="258" r:id="rId4"/>
    <p:sldId id="259" r:id="rId5"/>
    <p:sldId id="264" r:id="rId6"/>
    <p:sldId id="265" r:id="rId7"/>
    <p:sldId id="266" r:id="rId8"/>
    <p:sldId id="267" r:id="rId9"/>
    <p:sldId id="268" r:id="rId10"/>
    <p:sldId id="306" r:id="rId11"/>
    <p:sldId id="307" r:id="rId12"/>
    <p:sldId id="270" r:id="rId13"/>
    <p:sldId id="271" r:id="rId14"/>
    <p:sldId id="272" r:id="rId15"/>
    <p:sldId id="273" r:id="rId16"/>
    <p:sldId id="274" r:id="rId17"/>
    <p:sldId id="276" r:id="rId18"/>
    <p:sldId id="278" r:id="rId19"/>
    <p:sldId id="281" r:id="rId20"/>
    <p:sldId id="283" r:id="rId21"/>
    <p:sldId id="385" r:id="rId22"/>
    <p:sldId id="363" r:id="rId23"/>
    <p:sldId id="364" r:id="rId24"/>
    <p:sldId id="325" r:id="rId25"/>
    <p:sldId id="326" r:id="rId26"/>
    <p:sldId id="269" r:id="rId27"/>
    <p:sldId id="327" r:id="rId28"/>
    <p:sldId id="328" r:id="rId29"/>
    <p:sldId id="329" r:id="rId30"/>
    <p:sldId id="330" r:id="rId31"/>
    <p:sldId id="331" r:id="rId32"/>
    <p:sldId id="332" r:id="rId33"/>
    <p:sldId id="333" r:id="rId34"/>
    <p:sldId id="334" r:id="rId35"/>
    <p:sldId id="335" r:id="rId36"/>
    <p:sldId id="337" r:id="rId37"/>
    <p:sldId id="338" r:id="rId38"/>
    <p:sldId id="339" r:id="rId39"/>
    <p:sldId id="340" r:id="rId40"/>
    <p:sldId id="341" r:id="rId41"/>
    <p:sldId id="342" r:id="rId42"/>
    <p:sldId id="343" r:id="rId43"/>
    <p:sldId id="286" r:id="rId44"/>
    <p:sldId id="344" r:id="rId45"/>
    <p:sldId id="345" r:id="rId46"/>
    <p:sldId id="346" r:id="rId47"/>
    <p:sldId id="347" r:id="rId48"/>
    <p:sldId id="348" r:id="rId49"/>
    <p:sldId id="349" r:id="rId50"/>
    <p:sldId id="350" r:id="rId51"/>
    <p:sldId id="351" r:id="rId52"/>
    <p:sldId id="352" r:id="rId53"/>
    <p:sldId id="353" r:id="rId54"/>
    <p:sldId id="354" r:id="rId55"/>
    <p:sldId id="355" r:id="rId56"/>
    <p:sldId id="356" r:id="rId57"/>
    <p:sldId id="357" r:id="rId58"/>
    <p:sldId id="359" r:id="rId59"/>
    <p:sldId id="262" r:id="rId60"/>
  </p:sldIdLst>
  <p:sldSz cx="12192000" cy="6858000"/>
  <p:notesSz cx="9388475" cy="7102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قطع بدون عنوان" id="{B36268F6-CAAE-4A11-B785-80A89077552F}">
          <p14:sldIdLst>
            <p14:sldId id="256"/>
            <p14:sldId id="257"/>
            <p14:sldId id="258"/>
            <p14:sldId id="259"/>
            <p14:sldId id="264"/>
            <p14:sldId id="265"/>
            <p14:sldId id="266"/>
            <p14:sldId id="267"/>
            <p14:sldId id="268"/>
            <p14:sldId id="306"/>
            <p14:sldId id="307"/>
            <p14:sldId id="270"/>
            <p14:sldId id="271"/>
            <p14:sldId id="272"/>
            <p14:sldId id="273"/>
            <p14:sldId id="274"/>
            <p14:sldId id="276"/>
            <p14:sldId id="278"/>
            <p14:sldId id="281"/>
            <p14:sldId id="283"/>
            <p14:sldId id="385"/>
            <p14:sldId id="363"/>
            <p14:sldId id="364"/>
            <p14:sldId id="325"/>
            <p14:sldId id="326"/>
            <p14:sldId id="269"/>
            <p14:sldId id="327"/>
            <p14:sldId id="328"/>
            <p14:sldId id="329"/>
            <p14:sldId id="330"/>
            <p14:sldId id="331"/>
            <p14:sldId id="332"/>
            <p14:sldId id="333"/>
            <p14:sldId id="334"/>
            <p14:sldId id="335"/>
            <p14:sldId id="337"/>
            <p14:sldId id="338"/>
            <p14:sldId id="339"/>
            <p14:sldId id="340"/>
            <p14:sldId id="341"/>
            <p14:sldId id="342"/>
            <p14:sldId id="343"/>
            <p14:sldId id="286"/>
            <p14:sldId id="344"/>
            <p14:sldId id="345"/>
            <p14:sldId id="346"/>
            <p14:sldId id="347"/>
            <p14:sldId id="348"/>
            <p14:sldId id="349"/>
            <p14:sldId id="350"/>
            <p14:sldId id="351"/>
            <p14:sldId id="352"/>
            <p14:sldId id="353"/>
            <p14:sldId id="354"/>
            <p14:sldId id="355"/>
            <p14:sldId id="356"/>
            <p14:sldId id="357"/>
            <p14:sldId id="359"/>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82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364" autoAdjust="0"/>
    <p:restoredTop sz="73801" autoAdjust="0"/>
  </p:normalViewPr>
  <p:slideViewPr>
    <p:cSldViewPr snapToGrid="0">
      <p:cViewPr varScale="1">
        <p:scale>
          <a:sx n="57" d="100"/>
          <a:sy n="57" d="100"/>
        </p:scale>
        <p:origin x="6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68339" cy="356357"/>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5317963" y="1"/>
            <a:ext cx="4068339" cy="356357"/>
          </a:xfrm>
          <a:prstGeom prst="rect">
            <a:avLst/>
          </a:prstGeom>
        </p:spPr>
        <p:txBody>
          <a:bodyPr vert="horz" lIns="94229" tIns="47114" rIns="94229" bIns="47114" rtlCol="0"/>
          <a:lstStyle>
            <a:lvl1pPr algn="r">
              <a:defRPr sz="1200"/>
            </a:lvl1pPr>
          </a:lstStyle>
          <a:p>
            <a:fld id="{BA7CE411-5C12-418B-8535-DCB23B0AC56F}" type="datetimeFigureOut">
              <a:rPr lang="en-US" smtClean="0"/>
              <a:t>9/29/2025</a:t>
            </a:fld>
            <a:endParaRPr lang="en-US"/>
          </a:p>
        </p:txBody>
      </p:sp>
      <p:sp>
        <p:nvSpPr>
          <p:cNvPr id="4" name="Slide Image Placeholder 3"/>
          <p:cNvSpPr>
            <a:spLocks noGrp="1" noRot="1" noChangeAspect="1"/>
          </p:cNvSpPr>
          <p:nvPr>
            <p:ph type="sldImg" idx="2"/>
          </p:nvPr>
        </p:nvSpPr>
        <p:spPr>
          <a:xfrm>
            <a:off x="2563813" y="887413"/>
            <a:ext cx="4260850" cy="2397125"/>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938848" y="3418066"/>
            <a:ext cx="7510780" cy="2796600"/>
          </a:xfrm>
          <a:prstGeom prst="rect">
            <a:avLst/>
          </a:prstGeom>
        </p:spPr>
        <p:txBody>
          <a:bodyPr vert="horz" lIns="94229" tIns="47114" rIns="94229" bIns="4711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746119"/>
            <a:ext cx="4068339" cy="356356"/>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5317963" y="6746119"/>
            <a:ext cx="4068339" cy="356356"/>
          </a:xfrm>
          <a:prstGeom prst="rect">
            <a:avLst/>
          </a:prstGeom>
        </p:spPr>
        <p:txBody>
          <a:bodyPr vert="horz" lIns="94229" tIns="47114" rIns="94229" bIns="47114" rtlCol="0" anchor="b"/>
          <a:lstStyle>
            <a:lvl1pPr algn="r">
              <a:defRPr sz="1200"/>
            </a:lvl1pPr>
          </a:lstStyle>
          <a:p>
            <a:fld id="{72642D3A-E1C1-4B16-A576-1BC8DB5D45C2}" type="slidenum">
              <a:rPr lang="en-US" smtClean="0"/>
              <a:t>‹#›</a:t>
            </a:fld>
            <a:endParaRPr lang="en-US"/>
          </a:p>
        </p:txBody>
      </p:sp>
    </p:spTree>
    <p:extLst>
      <p:ext uri="{BB962C8B-B14F-4D97-AF65-F5344CB8AC3E}">
        <p14:creationId xmlns:p14="http://schemas.microsoft.com/office/powerpoint/2010/main" val="3478941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42289">
              <a:defRPr/>
            </a:pPr>
            <a:fld id="{49885154-1C45-4C5D-8B1E-2416BECCE50C}" type="slidenum">
              <a:rPr lang="en-US">
                <a:solidFill>
                  <a:prstClr val="black"/>
                </a:solidFill>
                <a:latin typeface="Calibri" panose="020F0502020204030204"/>
              </a:rPr>
              <a:pPr defTabSz="942289">
                <a:defRPr/>
              </a:pPr>
              <a:t>1</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2734762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4</a:t>
            </a:fld>
            <a:endParaRPr lang="en-US">
              <a:solidFill>
                <a:prstClr val="black"/>
              </a:solidFill>
              <a:latin typeface="Calibri" panose="020F0502020204030204"/>
            </a:endParaRPr>
          </a:p>
        </p:txBody>
      </p:sp>
    </p:spTree>
    <p:extLst>
      <p:ext uri="{BB962C8B-B14F-4D97-AF65-F5344CB8AC3E}">
        <p14:creationId xmlns:p14="http://schemas.microsoft.com/office/powerpoint/2010/main" val="1762214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5"/>
          </p:nvPr>
        </p:nvSpPr>
        <p:spPr/>
        <p:txBody>
          <a:bodyPr/>
          <a:lstStyle/>
          <a:p>
            <a:fld id="{72642D3A-E1C1-4B16-A576-1BC8DB5D45C2}" type="slidenum">
              <a:rPr lang="en-US" smtClean="0"/>
              <a:t>5</a:t>
            </a:fld>
            <a:endParaRPr lang="en-US"/>
          </a:p>
        </p:txBody>
      </p:sp>
    </p:spTree>
    <p:extLst>
      <p:ext uri="{BB962C8B-B14F-4D97-AF65-F5344CB8AC3E}">
        <p14:creationId xmlns:p14="http://schemas.microsoft.com/office/powerpoint/2010/main" val="1137381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6</a:t>
            </a:fld>
            <a:endParaRPr lang="en-US">
              <a:solidFill>
                <a:prstClr val="black"/>
              </a:solidFill>
              <a:latin typeface="Calibri" panose="020F0502020204030204"/>
            </a:endParaRPr>
          </a:p>
        </p:txBody>
      </p:sp>
    </p:spTree>
    <p:extLst>
      <p:ext uri="{BB962C8B-B14F-4D97-AF65-F5344CB8AC3E}">
        <p14:creationId xmlns:p14="http://schemas.microsoft.com/office/powerpoint/2010/main" val="2520846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7</a:t>
            </a:fld>
            <a:endParaRPr lang="en-US">
              <a:solidFill>
                <a:prstClr val="black"/>
              </a:solidFill>
              <a:latin typeface="Calibri" panose="020F0502020204030204"/>
            </a:endParaRPr>
          </a:p>
        </p:txBody>
      </p:sp>
    </p:spTree>
    <p:extLst>
      <p:ext uri="{BB962C8B-B14F-4D97-AF65-F5344CB8AC3E}">
        <p14:creationId xmlns:p14="http://schemas.microsoft.com/office/powerpoint/2010/main" val="1454843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8</a:t>
            </a:fld>
            <a:endParaRPr lang="en-US">
              <a:solidFill>
                <a:prstClr val="black"/>
              </a:solidFill>
              <a:latin typeface="Calibri" panose="020F0502020204030204"/>
            </a:endParaRPr>
          </a:p>
        </p:txBody>
      </p:sp>
    </p:spTree>
    <p:extLst>
      <p:ext uri="{BB962C8B-B14F-4D97-AF65-F5344CB8AC3E}">
        <p14:creationId xmlns:p14="http://schemas.microsoft.com/office/powerpoint/2010/main" val="2968813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9</a:t>
            </a:fld>
            <a:endParaRPr lang="en-US">
              <a:solidFill>
                <a:prstClr val="black"/>
              </a:solidFill>
              <a:latin typeface="Calibri" panose="020F0502020204030204"/>
            </a:endParaRPr>
          </a:p>
        </p:txBody>
      </p:sp>
    </p:spTree>
    <p:extLst>
      <p:ext uri="{BB962C8B-B14F-4D97-AF65-F5344CB8AC3E}">
        <p14:creationId xmlns:p14="http://schemas.microsoft.com/office/powerpoint/2010/main" val="3216198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63813" y="887413"/>
            <a:ext cx="4260850" cy="2397125"/>
          </a:xfrm>
        </p:spPr>
      </p:sp>
      <p:sp>
        <p:nvSpPr>
          <p:cNvPr id="3" name="Notes Placeholder 2"/>
          <p:cNvSpPr>
            <a:spLocks noGrp="1"/>
          </p:cNvSpPr>
          <p:nvPr>
            <p:ph type="body" idx="1"/>
          </p:nvPr>
        </p:nvSpPr>
        <p:spPr/>
        <p:txBody>
          <a:bodyPr/>
          <a:lstStyle/>
          <a:p>
            <a:r>
              <a:rPr lang="en-US" dirty="0"/>
              <a:t>Observation:</a:t>
            </a:r>
          </a:p>
          <a:p>
            <a:r>
              <a:rPr lang="en-US" dirty="0"/>
              <a:t>A- Vision (all appearance).</a:t>
            </a:r>
          </a:p>
          <a:p>
            <a:r>
              <a:rPr lang="en-US" dirty="0"/>
              <a:t>B- Smell (body or breathing odors)</a:t>
            </a:r>
          </a:p>
          <a:p>
            <a:r>
              <a:rPr lang="en-US" dirty="0"/>
              <a:t>C- Hearing (breathing, heart, bowel)</a:t>
            </a:r>
          </a:p>
          <a:p>
            <a:r>
              <a:rPr lang="en-US" dirty="0"/>
              <a:t>D- Touching (temperature, pulse rate) </a:t>
            </a:r>
          </a:p>
          <a:p>
            <a:endParaRPr lang="en-US" dirty="0"/>
          </a:p>
        </p:txBody>
      </p:sp>
      <p:sp>
        <p:nvSpPr>
          <p:cNvPr id="4" name="Slide Number Placeholder 3"/>
          <p:cNvSpPr>
            <a:spLocks noGrp="1"/>
          </p:cNvSpPr>
          <p:nvPr>
            <p:ph type="sldNum" sz="quarter" idx="10"/>
          </p:nvPr>
        </p:nvSpPr>
        <p:spPr/>
        <p:txBody>
          <a:bodyPr/>
          <a:lstStyle/>
          <a:p>
            <a:pPr defTabSz="942289">
              <a:defRPr/>
            </a:pPr>
            <a:fld id="{4BEEF55E-138E-455A-B219-68BE1D7E5E31}" type="slidenum">
              <a:rPr lang="en-US">
                <a:solidFill>
                  <a:prstClr val="black"/>
                </a:solidFill>
                <a:latin typeface="Calibri" panose="020F0502020204030204"/>
              </a:rPr>
              <a:pPr defTabSz="942289">
                <a:defRPr/>
              </a:pPr>
              <a:t>10</a:t>
            </a:fld>
            <a:endParaRPr lang="en-US">
              <a:solidFill>
                <a:prstClr val="black"/>
              </a:solidFill>
              <a:latin typeface="Calibri" panose="020F0502020204030204"/>
            </a:endParaRPr>
          </a:p>
        </p:txBody>
      </p:sp>
    </p:spTree>
    <p:extLst>
      <p:ext uri="{BB962C8B-B14F-4D97-AF65-F5344CB8AC3E}">
        <p14:creationId xmlns:p14="http://schemas.microsoft.com/office/powerpoint/2010/main" val="3631758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5"/>
          </p:nvPr>
        </p:nvSpPr>
        <p:spPr/>
        <p:txBody>
          <a:bodyPr/>
          <a:lstStyle/>
          <a:p>
            <a:fld id="{72642D3A-E1C1-4B16-A576-1BC8DB5D45C2}" type="slidenum">
              <a:rPr lang="en-US" smtClean="0"/>
              <a:t>11</a:t>
            </a:fld>
            <a:endParaRPr lang="en-US"/>
          </a:p>
        </p:txBody>
      </p:sp>
    </p:spTree>
    <p:extLst>
      <p:ext uri="{BB962C8B-B14F-4D97-AF65-F5344CB8AC3E}">
        <p14:creationId xmlns:p14="http://schemas.microsoft.com/office/powerpoint/2010/main" val="1960454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12</a:t>
            </a:fld>
            <a:endParaRPr lang="en-US">
              <a:solidFill>
                <a:prstClr val="black"/>
              </a:solidFill>
              <a:latin typeface="Calibri" panose="020F0502020204030204"/>
            </a:endParaRPr>
          </a:p>
        </p:txBody>
      </p:sp>
    </p:spTree>
    <p:extLst>
      <p:ext uri="{BB962C8B-B14F-4D97-AF65-F5344CB8AC3E}">
        <p14:creationId xmlns:p14="http://schemas.microsoft.com/office/powerpoint/2010/main" val="738763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13</a:t>
            </a:fld>
            <a:endParaRPr lang="en-US">
              <a:solidFill>
                <a:prstClr val="black"/>
              </a:solidFill>
              <a:latin typeface="Calibri" panose="020F0502020204030204"/>
            </a:endParaRPr>
          </a:p>
        </p:txBody>
      </p:sp>
    </p:spTree>
    <p:extLst>
      <p:ext uri="{BB962C8B-B14F-4D97-AF65-F5344CB8AC3E}">
        <p14:creationId xmlns:p14="http://schemas.microsoft.com/office/powerpoint/2010/main" val="541214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14</a:t>
            </a:fld>
            <a:endParaRPr lang="en-US">
              <a:solidFill>
                <a:prstClr val="black"/>
              </a:solidFill>
              <a:latin typeface="Calibri" panose="020F0502020204030204"/>
            </a:endParaRPr>
          </a:p>
        </p:txBody>
      </p:sp>
    </p:spTree>
    <p:extLst>
      <p:ext uri="{BB962C8B-B14F-4D97-AF65-F5344CB8AC3E}">
        <p14:creationId xmlns:p14="http://schemas.microsoft.com/office/powerpoint/2010/main" val="3466631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15</a:t>
            </a:fld>
            <a:endParaRPr lang="en-US">
              <a:solidFill>
                <a:prstClr val="black"/>
              </a:solidFill>
              <a:latin typeface="Calibri" panose="020F0502020204030204"/>
            </a:endParaRPr>
          </a:p>
        </p:txBody>
      </p:sp>
    </p:spTree>
    <p:extLst>
      <p:ext uri="{BB962C8B-B14F-4D97-AF65-F5344CB8AC3E}">
        <p14:creationId xmlns:p14="http://schemas.microsoft.com/office/powerpoint/2010/main" val="508073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16</a:t>
            </a:fld>
            <a:endParaRPr lang="en-US">
              <a:solidFill>
                <a:prstClr val="black"/>
              </a:solidFill>
              <a:latin typeface="Calibri" panose="020F0502020204030204"/>
            </a:endParaRPr>
          </a:p>
        </p:txBody>
      </p:sp>
    </p:spTree>
    <p:extLst>
      <p:ext uri="{BB962C8B-B14F-4D97-AF65-F5344CB8AC3E}">
        <p14:creationId xmlns:p14="http://schemas.microsoft.com/office/powerpoint/2010/main" val="24945347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17</a:t>
            </a:fld>
            <a:endParaRPr lang="en-US">
              <a:solidFill>
                <a:prstClr val="black"/>
              </a:solidFill>
              <a:latin typeface="Calibri" panose="020F0502020204030204"/>
            </a:endParaRPr>
          </a:p>
        </p:txBody>
      </p:sp>
    </p:spTree>
    <p:extLst>
      <p:ext uri="{BB962C8B-B14F-4D97-AF65-F5344CB8AC3E}">
        <p14:creationId xmlns:p14="http://schemas.microsoft.com/office/powerpoint/2010/main" val="1539593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18</a:t>
            </a:fld>
            <a:endParaRPr lang="en-US">
              <a:solidFill>
                <a:prstClr val="black"/>
              </a:solidFill>
              <a:latin typeface="Calibri" panose="020F0502020204030204"/>
            </a:endParaRPr>
          </a:p>
        </p:txBody>
      </p:sp>
    </p:spTree>
    <p:extLst>
      <p:ext uri="{BB962C8B-B14F-4D97-AF65-F5344CB8AC3E}">
        <p14:creationId xmlns:p14="http://schemas.microsoft.com/office/powerpoint/2010/main" val="2145371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19</a:t>
            </a:fld>
            <a:endParaRPr lang="en-US">
              <a:solidFill>
                <a:prstClr val="black"/>
              </a:solidFill>
              <a:latin typeface="Calibri" panose="020F0502020204030204"/>
            </a:endParaRPr>
          </a:p>
        </p:txBody>
      </p:sp>
    </p:spTree>
    <p:extLst>
      <p:ext uri="{BB962C8B-B14F-4D97-AF65-F5344CB8AC3E}">
        <p14:creationId xmlns:p14="http://schemas.microsoft.com/office/powerpoint/2010/main" val="1018262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pPr defTabSz="942289">
              <a:defRPr/>
            </a:pPr>
            <a:fld id="{3EDE5053-3144-403C-A8F1-152CDBE171DF}" type="slidenum">
              <a:rPr lang="en-US">
                <a:solidFill>
                  <a:prstClr val="black"/>
                </a:solidFill>
                <a:latin typeface="Calibri" panose="020F0502020204030204"/>
              </a:rPr>
              <a:pPr defTabSz="942289">
                <a:defRPr/>
              </a:pPr>
              <a:t>20</a:t>
            </a:fld>
            <a:endParaRPr lang="en-US">
              <a:solidFill>
                <a:prstClr val="black"/>
              </a:solidFill>
              <a:latin typeface="Calibri" panose="020F0502020204030204"/>
            </a:endParaRPr>
          </a:p>
        </p:txBody>
      </p:sp>
    </p:spTree>
    <p:extLst>
      <p:ext uri="{BB962C8B-B14F-4D97-AF65-F5344CB8AC3E}">
        <p14:creationId xmlns:p14="http://schemas.microsoft.com/office/powerpoint/2010/main" val="2381562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42289">
              <a:defRPr/>
            </a:pPr>
            <a:fld id="{49885154-1C45-4C5D-8B1E-2416BECCE50C}" type="slidenum">
              <a:rPr lang="en-US">
                <a:solidFill>
                  <a:prstClr val="black"/>
                </a:solidFill>
                <a:latin typeface="Calibri" panose="020F0502020204030204"/>
              </a:rPr>
              <a:pPr defTabSz="942289">
                <a:defRPr/>
              </a:pPr>
              <a:t>21</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41469046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EEF55E-138E-455A-B219-68BE1D7E5E31}" type="slidenum">
              <a:rPr lang="en-US" smtClean="0"/>
              <a:t>23</a:t>
            </a:fld>
            <a:endParaRPr lang="en-US"/>
          </a:p>
        </p:txBody>
      </p:sp>
    </p:spTree>
    <p:extLst>
      <p:ext uri="{BB962C8B-B14F-4D97-AF65-F5344CB8AC3E}">
        <p14:creationId xmlns:p14="http://schemas.microsoft.com/office/powerpoint/2010/main" val="654157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r>
              <a:rPr lang="en-US" dirty="0"/>
              <a:t>The term over-the-counter (OTC) refers to a medication that can be purchased without a medical prescription</a:t>
            </a:r>
          </a:p>
        </p:txBody>
      </p:sp>
      <p:sp>
        <p:nvSpPr>
          <p:cNvPr id="4" name="عنصر نائب لرقم الشريحة 3"/>
          <p:cNvSpPr>
            <a:spLocks noGrp="1"/>
          </p:cNvSpPr>
          <p:nvPr>
            <p:ph type="sldNum" sz="quarter" idx="5"/>
          </p:nvPr>
        </p:nvSpPr>
        <p:spPr/>
        <p:txBody>
          <a:bodyPr/>
          <a:lstStyle/>
          <a:p>
            <a:fld id="{72642D3A-E1C1-4B16-A576-1BC8DB5D45C2}" type="slidenum">
              <a:rPr lang="en-US" smtClean="0"/>
              <a:t>29</a:t>
            </a:fld>
            <a:endParaRPr lang="en-US"/>
          </a:p>
        </p:txBody>
      </p:sp>
    </p:spTree>
    <p:extLst>
      <p:ext uri="{BB962C8B-B14F-4D97-AF65-F5344CB8AC3E}">
        <p14:creationId xmlns:p14="http://schemas.microsoft.com/office/powerpoint/2010/main" val="35599499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en-US" dirty="0"/>
          </a:p>
        </p:txBody>
      </p:sp>
      <p:sp>
        <p:nvSpPr>
          <p:cNvPr id="4" name="عنصر نائب لرقم الشريحة 3"/>
          <p:cNvSpPr>
            <a:spLocks noGrp="1"/>
          </p:cNvSpPr>
          <p:nvPr>
            <p:ph type="sldNum" sz="quarter" idx="5"/>
          </p:nvPr>
        </p:nvSpPr>
        <p:spPr/>
        <p:txBody>
          <a:bodyPr/>
          <a:lstStyle/>
          <a:p>
            <a:fld id="{72642D3A-E1C1-4B16-A576-1BC8DB5D45C2}" type="slidenum">
              <a:rPr lang="en-US" smtClean="0"/>
              <a:t>42</a:t>
            </a:fld>
            <a:endParaRPr lang="en-US"/>
          </a:p>
        </p:txBody>
      </p:sp>
    </p:spTree>
    <p:extLst>
      <p:ext uri="{BB962C8B-B14F-4D97-AF65-F5344CB8AC3E}">
        <p14:creationId xmlns:p14="http://schemas.microsoft.com/office/powerpoint/2010/main" val="1088068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63813" y="887413"/>
            <a:ext cx="4260850" cy="23971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42289">
              <a:defRPr/>
            </a:pPr>
            <a:fld id="{DF61EA0F-A667-4B49-8422-0062BC55E249}" type="slidenum">
              <a:rPr lang="en-US">
                <a:solidFill>
                  <a:prstClr val="black"/>
                </a:solidFill>
                <a:latin typeface="Calibri" panose="020F0502020204030204"/>
              </a:rPr>
              <a:pPr defTabSz="942289">
                <a:defRPr/>
              </a:pPr>
              <a:t>59</a:t>
            </a:fld>
            <a:endParaRPr lang="en-US">
              <a:solidFill>
                <a:prstClr val="black"/>
              </a:solidFill>
              <a:latin typeface="Calibri" panose="020F0502020204030204"/>
            </a:endParaRPr>
          </a:p>
        </p:txBody>
      </p:sp>
    </p:spTree>
    <p:extLst>
      <p:ext uri="{BB962C8B-B14F-4D97-AF65-F5344CB8AC3E}">
        <p14:creationId xmlns:p14="http://schemas.microsoft.com/office/powerpoint/2010/main" val="38901865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3310905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49658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9058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8324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2444422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38509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9250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4638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userDrawn="1"/>
        </p:nvSpPr>
        <p:spPr>
          <a:xfrm flipH="1">
            <a:off x="6480043" y="1508788"/>
            <a:ext cx="5711957" cy="3840427"/>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399"/>
          </a:p>
        </p:txBody>
      </p:sp>
      <p:sp>
        <p:nvSpPr>
          <p:cNvPr id="8" name="Picture Placeholder 2"/>
          <p:cNvSpPr>
            <a:spLocks noGrp="1"/>
          </p:cNvSpPr>
          <p:nvPr>
            <p:ph type="pic" idx="13" hasCustomPrompt="1"/>
          </p:nvPr>
        </p:nvSpPr>
        <p:spPr>
          <a:xfrm>
            <a:off x="7110273" y="0"/>
            <a:ext cx="4451498" cy="685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r>
              <a:rPr lang="en-US" altLang="ko-KR" dirty="0"/>
              <a:t>Your Picture Here</a:t>
            </a:r>
            <a:endParaRPr lang="ko-KR" altLang="en-US" dirty="0"/>
          </a:p>
        </p:txBody>
      </p:sp>
    </p:spTree>
    <p:extLst>
      <p:ext uri="{BB962C8B-B14F-4D97-AF65-F5344CB8AC3E}">
        <p14:creationId xmlns:p14="http://schemas.microsoft.com/office/powerpoint/2010/main" val="3824609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a:lstStyle/>
          <a:p>
            <a:pPr lvl="0"/>
            <a:endParaRPr lang="ar-JO"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dirty="0"/>
          </a:p>
        </p:txBody>
      </p:sp>
      <p:sp>
        <p:nvSpPr>
          <p:cNvPr id="6" name="Rectangle 6"/>
          <p:cNvSpPr>
            <a:spLocks noGrp="1" noChangeArrowheads="1"/>
          </p:cNvSpPr>
          <p:nvPr>
            <p:ph type="sldNum" sz="quarter" idx="12"/>
          </p:nvPr>
        </p:nvSpPr>
        <p:spPr>
          <a:ln/>
        </p:spPr>
        <p:txBody>
          <a:bodyPr/>
          <a:lstStyle>
            <a:lvl1pPr>
              <a:defRPr/>
            </a:lvl1pPr>
          </a:lstStyle>
          <a:p>
            <a:fld id="{93C65A56-3191-4507-AE7B-C8F476156A03}" type="slidenum">
              <a:rPr lang="ar-SA" altLang="en-US"/>
              <a:pPr/>
              <a:t>‹#›</a:t>
            </a:fld>
            <a:endParaRPr lang="en-US" altLang="en-US" dirty="0"/>
          </a:p>
        </p:txBody>
      </p:sp>
    </p:spTree>
    <p:extLst>
      <p:ext uri="{BB962C8B-B14F-4D97-AF65-F5344CB8AC3E}">
        <p14:creationId xmlns:p14="http://schemas.microsoft.com/office/powerpoint/2010/main" val="3843960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العنوان الرئيسي</a:t>
            </a:r>
            <a:endParaRPr lang="en-US"/>
          </a:p>
        </p:txBody>
      </p:sp>
      <p:sp>
        <p:nvSpPr>
          <p:cNvPr id="3" name="Content Placeholder 2"/>
          <p:cNvSpPr>
            <a:spLocks noGrp="1"/>
          </p:cNvSpPr>
          <p:nvPr>
            <p:ph idx="1"/>
          </p:nvPr>
        </p:nvSpPr>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Date Placeholder 3"/>
          <p:cNvSpPr>
            <a:spLocks noGrp="1"/>
          </p:cNvSpPr>
          <p:nvPr>
            <p:ph type="dt" sz="half" idx="10"/>
          </p:nvPr>
        </p:nvSpPr>
        <p:spPr/>
        <p:txBody>
          <a:bodyPr/>
          <a:lstStyle/>
          <a:p>
            <a:fld id="{1B8ABB09-4A1D-463E-8065-109CC2B7EFAA}" type="datetimeFigureOut">
              <a:rPr lang="ar-SA" smtClean="0"/>
              <a:t>07/04/1447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B34F065-1154-456A-91E3-76DE8E75E17B}" type="slidenum">
              <a:rPr lang="ar-SA" smtClean="0"/>
              <a:t>‹#›</a:t>
            </a:fld>
            <a:endParaRPr lang="ar-SA"/>
          </a:p>
        </p:txBody>
      </p:sp>
    </p:spTree>
    <p:extLst>
      <p:ext uri="{BB962C8B-B14F-4D97-AF65-F5344CB8AC3E}">
        <p14:creationId xmlns:p14="http://schemas.microsoft.com/office/powerpoint/2010/main" val="4089978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dirty="0"/>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2538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83" r:id="rId11"/>
  </p:sldLayoutIdLst>
  <p:hf hdr="0" dt="0"/>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hyperlink" Target="https://creativecommons.org/licenses/by/3.0/" TargetMode="External"/><Relationship Id="rId4" Type="http://schemas.openxmlformats.org/officeDocument/2006/relationships/hyperlink" Target="http://edelweisspublications.com/keyword/29/119/Child-ca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22526" y="233086"/>
            <a:ext cx="11720945" cy="6372666"/>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p:txBody>
          <a:bodyPr anchor="ctr"/>
          <a:lstStyle/>
          <a:p>
            <a:r>
              <a:rPr lang="en-US" sz="3200" dirty="0">
                <a:latin typeface="Segoe UI Light" panose="020B0502040204020203" pitchFamily="34" charset="0"/>
                <a:ea typeface="Segoe UI Black" panose="020B0A02040204020203" pitchFamily="34" charset="0"/>
                <a:cs typeface="Segoe UI Light" panose="020B0502040204020203" pitchFamily="34" charset="0"/>
              </a:rPr>
              <a:t>Pediatric Health History</a:t>
            </a:r>
          </a:p>
        </p:txBody>
      </p:sp>
      <p:sp>
        <p:nvSpPr>
          <p:cNvPr id="3" name="Subtitle 2">
            <a:extLst>
              <a:ext uri="{FF2B5EF4-FFF2-40B4-BE49-F238E27FC236}">
                <a16:creationId xmlns:a16="http://schemas.microsoft.com/office/drawing/2014/main" id="{3C322DE6-C2BE-4B53-BC28-C43EBD0052AA}"/>
              </a:ext>
            </a:extLst>
          </p:cNvPr>
          <p:cNvSpPr>
            <a:spLocks noGrp="1"/>
          </p:cNvSpPr>
          <p:nvPr>
            <p:ph type="subTitle" idx="1"/>
          </p:nvPr>
        </p:nvSpPr>
        <p:spPr>
          <a:xfrm>
            <a:off x="1524000" y="3128009"/>
            <a:ext cx="9144000" cy="1159906"/>
          </a:xfrm>
        </p:spPr>
        <p:txBody>
          <a:bodyPr/>
          <a:lstStyle/>
          <a:p>
            <a:endParaRPr lang="en-US" dirty="0"/>
          </a:p>
          <a:p>
            <a:r>
              <a:rPr lang="en-US" dirty="0"/>
              <a:t>Pediatric Health History-PRACTICAL </a:t>
            </a:r>
          </a:p>
        </p:txBody>
      </p:sp>
      <p:pic>
        <p:nvPicPr>
          <p:cNvPr id="7" name="Grid" descr="grid plane">
            <a:extLst>
              <a:ext uri="{FF2B5EF4-FFF2-40B4-BE49-F238E27FC236}">
                <a16:creationId xmlns:a16="http://schemas.microsoft.com/office/drawing/2014/main" id="{71F5A0B2-7584-4034-8919-A5F2C482F463}"/>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t="-307" r="-943" b="64945"/>
          <a:stretch/>
        </p:blipFill>
        <p:spPr>
          <a:xfrm>
            <a:off x="311883" y="5482028"/>
            <a:ext cx="11704320" cy="1075509"/>
          </a:xfrm>
          <a:prstGeom prst="rect">
            <a:avLst/>
          </a:prstGeom>
        </p:spPr>
      </p:pic>
      <p:sp>
        <p:nvSpPr>
          <p:cNvPr id="4" name="Subtitle 2">
            <a:extLst>
              <a:ext uri="{FF2B5EF4-FFF2-40B4-BE49-F238E27FC236}">
                <a16:creationId xmlns:a16="http://schemas.microsoft.com/office/drawing/2014/main" id="{6317018D-BD7F-3118-7326-A7B9FBB660EE}"/>
              </a:ext>
            </a:extLst>
          </p:cNvPr>
          <p:cNvSpPr txBox="1">
            <a:spLocks/>
          </p:cNvSpPr>
          <p:nvPr/>
        </p:nvSpPr>
        <p:spPr>
          <a:xfrm>
            <a:off x="8077762" y="5515029"/>
            <a:ext cx="3760738" cy="1011768"/>
          </a:xfrm>
          <a:prstGeom prst="rect">
            <a:avLst/>
          </a:prstGeom>
        </p:spPr>
        <p:txBody>
          <a:bodyPr numCol="1">
            <a:noAutofit/>
          </a:bodyPr>
          <a:lstStyle>
            <a:defPPr>
              <a:defRPr lang="en-US"/>
            </a:defPPr>
            <a:lvl1pPr marR="0" lvl="0" indent="0" fontAlgn="auto">
              <a:lnSpc>
                <a:spcPct val="100000"/>
              </a:lnSpc>
              <a:spcBef>
                <a:spcPts val="1000"/>
              </a:spcBef>
              <a:spcAft>
                <a:spcPts val="0"/>
              </a:spcAft>
              <a:buClrTx/>
              <a:buSzTx/>
              <a:buFont typeface="Arial" panose="020B0604020202020204" pitchFamily="34" charset="0"/>
              <a:buNone/>
              <a:tabLst/>
              <a:defRPr kumimoji="0" sz="1200" b="0" i="0" u="none" strike="noStrike" cap="none" spc="0" normalizeH="0" baseline="0">
                <a:ln>
                  <a:noFill/>
                </a:ln>
                <a:solidFill>
                  <a:schemeClr val="bg1"/>
                </a:solidFill>
                <a:effectLst/>
                <a:uLnTx/>
                <a:uFillTx/>
                <a:latin typeface="Segoe UI Light" panose="020B0502040204020203" pitchFamily="34" charset="0"/>
                <a:cs typeface="Segoe UI Light" panose="020B0502040204020203" pitchFamily="34" charset="0"/>
              </a:defRPr>
            </a:lvl1pPr>
            <a:lvl2pPr indent="0" algn="ctr">
              <a:lnSpc>
                <a:spcPct val="90000"/>
              </a:lnSpc>
              <a:spcBef>
                <a:spcPts val="500"/>
              </a:spcBef>
              <a:buFont typeface="Arial" panose="020B0604020202020204" pitchFamily="34" charset="0"/>
              <a:buNone/>
              <a:defRPr sz="2000"/>
            </a:lvl2pPr>
            <a:lvl3pPr indent="0" algn="ctr">
              <a:lnSpc>
                <a:spcPct val="90000"/>
              </a:lnSpc>
              <a:spcBef>
                <a:spcPts val="500"/>
              </a:spcBef>
              <a:buFont typeface="Arial" panose="020B0604020202020204" pitchFamily="34" charset="0"/>
              <a:buNone/>
            </a:lvl3pPr>
            <a:lvl4pPr indent="0" algn="ctr">
              <a:lnSpc>
                <a:spcPct val="90000"/>
              </a:lnSpc>
              <a:spcBef>
                <a:spcPts val="500"/>
              </a:spcBef>
              <a:buFont typeface="Arial" panose="020B0604020202020204" pitchFamily="34" charset="0"/>
              <a:buNone/>
              <a:defRPr sz="1600"/>
            </a:lvl4pPr>
            <a:lvl5pPr indent="0" algn="ctr">
              <a:lnSpc>
                <a:spcPct val="90000"/>
              </a:lnSpc>
              <a:spcBef>
                <a:spcPts val="500"/>
              </a:spcBef>
              <a:buFont typeface="Arial" panose="020B0604020202020204" pitchFamily="34" charset="0"/>
              <a:buNone/>
              <a:defRPr sz="1600"/>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pPr marL="0" marR="0" lvl="0" indent="0" defTabSz="45720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prstClr val="white"/>
                </a:solidFill>
                <a:effectLst/>
                <a:uLnTx/>
                <a:uFillTx/>
                <a:latin typeface="Segoe UI Light" panose="020B0502040204020203" pitchFamily="34" charset="0"/>
                <a:cs typeface="Segoe UI Light" panose="020B0502040204020203" pitchFamily="34" charset="0"/>
              </a:rPr>
              <a:t>Third Stage</a:t>
            </a:r>
          </a:p>
          <a:p>
            <a:pPr marL="0" marR="0" lvl="0" indent="0" defTabSz="45720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prstClr val="white"/>
                </a:solidFill>
                <a:effectLst/>
                <a:uLnTx/>
                <a:uFillTx/>
                <a:latin typeface="Segoe UI Light" panose="020B0502040204020203" pitchFamily="34" charset="0"/>
                <a:cs typeface="Segoe UI Light" panose="020B0502040204020203" pitchFamily="34" charset="0"/>
              </a:rPr>
              <a:t>Dr. Moustafa Ali Alshammari</a:t>
            </a:r>
          </a:p>
          <a:p>
            <a:pPr marL="0" marR="0" lvl="0" indent="0" defTabSz="45720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200" b="0" i="0" u="none" strike="noStrike" kern="0" cap="none" spc="0" normalizeH="0" baseline="0" noProof="0" dirty="0">
                <a:ln>
                  <a:noFill/>
                </a:ln>
                <a:solidFill>
                  <a:prstClr val="white"/>
                </a:solidFill>
                <a:effectLst/>
                <a:uLnTx/>
                <a:uFillTx/>
                <a:latin typeface="Segoe UI Light" panose="020B0502040204020203" pitchFamily="34" charset="0"/>
                <a:cs typeface="Segoe UI Light" panose="020B0502040204020203" pitchFamily="34" charset="0"/>
              </a:rPr>
              <a:t>Pediatric Nursing </a:t>
            </a:r>
          </a:p>
          <a:p>
            <a:pPr marL="0" marR="0" lvl="0" indent="0" defTabSz="45720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200" b="0" i="0" u="none" strike="noStrike" kern="0" cap="none" spc="0" normalizeH="0" baseline="0" noProof="0" dirty="0">
              <a:ln>
                <a:noFill/>
              </a:ln>
              <a:solidFill>
                <a:prstClr val="white"/>
              </a:solidFill>
              <a:effectLst/>
              <a:uLnTx/>
              <a:uFillTx/>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006074144"/>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US" sz="2600" dirty="0">
                <a:solidFill>
                  <a:srgbClr val="3F3F3F"/>
                </a:solidFill>
                <a:latin typeface="Segoe UI" panose="020B0502040204020203" pitchFamily="34" charset="0"/>
                <a:cs typeface="Segoe UI" panose="020B0502040204020203" pitchFamily="34" charset="0"/>
              </a:rPr>
              <a:t>1. Define health history</a:t>
            </a:r>
          </a:p>
          <a:p>
            <a:pPr>
              <a:buNone/>
            </a:pPr>
            <a:r>
              <a:rPr lang="en-US" sz="2600" dirty="0">
                <a:solidFill>
                  <a:srgbClr val="3F3F3F"/>
                </a:solidFill>
                <a:latin typeface="Segoe UI" panose="020B0502040204020203" pitchFamily="34" charset="0"/>
                <a:cs typeface="Segoe UI" panose="020B0502040204020203" pitchFamily="34" charset="0"/>
              </a:rPr>
              <a:t>2. Numerate and describe types of Pediatric Health Histories</a:t>
            </a:r>
          </a:p>
          <a:p>
            <a:pPr>
              <a:buNone/>
            </a:pPr>
            <a:r>
              <a:rPr lang="en-US" sz="2600" dirty="0">
                <a:solidFill>
                  <a:srgbClr val="3F3F3F"/>
                </a:solidFill>
                <a:latin typeface="Segoe UI" panose="020B0502040204020203" pitchFamily="34" charset="0"/>
                <a:cs typeface="Segoe UI" panose="020B0502040204020203" pitchFamily="34" charset="0"/>
              </a:rPr>
              <a:t>3. Differentiate between objective and subjective data.</a:t>
            </a:r>
          </a:p>
          <a:p>
            <a:pPr>
              <a:buNone/>
            </a:pPr>
            <a:r>
              <a:rPr lang="en-US" sz="2600" dirty="0">
                <a:solidFill>
                  <a:srgbClr val="3F3F3F"/>
                </a:solidFill>
                <a:latin typeface="Segoe UI" panose="020B0502040204020203" pitchFamily="34" charset="0"/>
                <a:cs typeface="Segoe UI" panose="020B0502040204020203" pitchFamily="34" charset="0"/>
              </a:rPr>
              <a:t>4. Describe Methods of Data Collection.</a:t>
            </a:r>
          </a:p>
          <a:p>
            <a:pPr>
              <a:buNone/>
            </a:pPr>
            <a:r>
              <a:rPr lang="en-US" sz="2600" dirty="0">
                <a:solidFill>
                  <a:srgbClr val="3F3F3F"/>
                </a:solidFill>
                <a:latin typeface="Segoe UI" panose="020B0502040204020203" pitchFamily="34" charset="0"/>
                <a:cs typeface="Segoe UI" panose="020B0502040204020203" pitchFamily="34" charset="0"/>
              </a:rPr>
              <a:t>5. Identify How to Conduct a Pediatric History Interview.</a:t>
            </a:r>
          </a:p>
        </p:txBody>
      </p:sp>
      <p:sp>
        <p:nvSpPr>
          <p:cNvPr id="3" name="Title 2"/>
          <p:cNvSpPr>
            <a:spLocks noGrp="1"/>
          </p:cNvSpPr>
          <p:nvPr>
            <p:ph type="title"/>
          </p:nvPr>
        </p:nvSpPr>
        <p:spPr/>
        <p:txBody>
          <a:bodyPr>
            <a:normAutofit/>
          </a:bodyPr>
          <a:lstStyle/>
          <a:p>
            <a:r>
              <a:rPr lang="pt-BR" sz="3600" dirty="0">
                <a:latin typeface="Segoe UI Semibold" panose="020B0702040204020203" pitchFamily="34" charset="0"/>
                <a:cs typeface="Segoe UI Semibold" panose="020B0702040204020203" pitchFamily="34" charset="0"/>
              </a:rPr>
              <a:t>O B J E C T I V E S</a:t>
            </a:r>
            <a:endParaRPr lang="en-US" sz="3600" dirty="0">
              <a:latin typeface="Segoe UI Semibold" panose="020B0702040204020203" pitchFamily="34" charset="0"/>
              <a:cs typeface="Segoe UI Semibold" panose="020B0702040204020203" pitchFamily="34" charset="0"/>
            </a:endParaRP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4101275"/>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3"/>
          <p:cNvSpPr txBox="1"/>
          <p:nvPr/>
        </p:nvSpPr>
        <p:spPr>
          <a:xfrm>
            <a:off x="244929" y="261258"/>
            <a:ext cx="11691257" cy="2127100"/>
          </a:xfrm>
          <a:prstGeom prst="rect">
            <a:avLst/>
          </a:prstGeom>
          <a:solidFill>
            <a:srgbClr val="548235"/>
          </a:solidFill>
          <a:ln>
            <a:solidFill>
              <a:schemeClr val="accent6">
                <a:lumMod val="75000"/>
              </a:schemeClr>
            </a:solidFill>
          </a:ln>
        </p:spPr>
        <p:txBody>
          <a:bodyPr vert="horz" wrap="square" lIns="91440" tIns="45720" rIns="91440" bIns="45720" rtlCol="0">
            <a:noAutofit/>
          </a:bodyPr>
          <a:lstStyle/>
          <a:p>
            <a:pPr marL="0" marR="0" lvl="0" indent="0" algn="l" defTabSz="914400" rtl="0" eaLnBrk="1" fontAlgn="auto" latinLnBrk="0" hangingPunct="1">
              <a:lnSpc>
                <a:spcPts val="18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endParaRPr>
          </a:p>
        </p:txBody>
      </p:sp>
      <p:sp>
        <p:nvSpPr>
          <p:cNvPr id="6" name="Title 5"/>
          <p:cNvSpPr>
            <a:spLocks noGrp="1"/>
          </p:cNvSpPr>
          <p:nvPr>
            <p:ph type="title"/>
          </p:nvPr>
        </p:nvSpPr>
        <p:spPr>
          <a:xfrm>
            <a:off x="521208" y="745958"/>
            <a:ext cx="6876288" cy="1430314"/>
          </a:xfrm>
        </p:spPr>
        <p:txBody>
          <a:bodyPr>
            <a:noAutofit/>
          </a:bodyPr>
          <a:lstStyle/>
          <a:p>
            <a:r>
              <a:rPr lang="en-US" sz="4400" dirty="0">
                <a:latin typeface="Segoe UI Light" panose="020B0502040204020203" pitchFamily="34" charset="0"/>
                <a:cs typeface="Segoe UI Light" panose="020B0502040204020203" pitchFamily="34" charset="0"/>
              </a:rPr>
              <a:t>Pediatric Health History</a:t>
            </a:r>
          </a:p>
        </p:txBody>
      </p:sp>
      <p:sp>
        <p:nvSpPr>
          <p:cNvPr id="7" name="Content Placeholder 6"/>
          <p:cNvSpPr>
            <a:spLocks noGrp="1"/>
          </p:cNvSpPr>
          <p:nvPr>
            <p:ph sz="quarter" idx="13"/>
          </p:nvPr>
        </p:nvSpPr>
        <p:spPr>
          <a:xfrm>
            <a:off x="539496" y="2560320"/>
            <a:ext cx="11396690" cy="4036422"/>
          </a:xfrm>
        </p:spPr>
        <p:txBody>
          <a:bodyPr>
            <a:normAutofit fontScale="92500" lnSpcReduction="10000"/>
          </a:bodyPr>
          <a:lstStyle/>
          <a:p>
            <a:pPr marL="0" indent="0">
              <a:lnSpc>
                <a:spcPct val="150000"/>
              </a:lnSpc>
              <a:buNone/>
            </a:pPr>
            <a:r>
              <a:rPr lang="en-US" sz="2800" dirty="0">
                <a:solidFill>
                  <a:srgbClr val="3F3F3F"/>
                </a:solidFill>
                <a:latin typeface="+mn-lt"/>
                <a:cs typeface="Segoe UI" panose="020B0502040204020203" pitchFamily="34" charset="0"/>
              </a:rPr>
              <a:t>A health history is a collection of </a:t>
            </a:r>
            <a:r>
              <a:rPr lang="en-US" sz="3000" dirty="0">
                <a:solidFill>
                  <a:srgbClr val="548235"/>
                </a:solidFill>
                <a:latin typeface="+mn-lt"/>
                <a:cs typeface="Segoe UI Semibold" panose="020B0702040204020203" pitchFamily="34" charset="0"/>
              </a:rPr>
              <a:t>subjective data </a:t>
            </a:r>
            <a:r>
              <a:rPr lang="en-US" sz="2800" dirty="0">
                <a:solidFill>
                  <a:srgbClr val="3F3F3F"/>
                </a:solidFill>
                <a:latin typeface="+mn-lt"/>
                <a:cs typeface="Segoe UI" panose="020B0502040204020203" pitchFamily="34" charset="0"/>
              </a:rPr>
              <a:t>that provides a detailed</a:t>
            </a:r>
          </a:p>
          <a:p>
            <a:pPr marL="0" indent="0">
              <a:lnSpc>
                <a:spcPct val="150000"/>
              </a:lnSpc>
              <a:buNone/>
            </a:pPr>
            <a:r>
              <a:rPr lang="en-US" sz="2800" dirty="0">
                <a:solidFill>
                  <a:srgbClr val="3F3F3F"/>
                </a:solidFill>
                <a:latin typeface="+mn-lt"/>
                <a:cs typeface="Segoe UI" panose="020B0502040204020203" pitchFamily="34" charset="0"/>
              </a:rPr>
              <a:t>profile of the </a:t>
            </a:r>
            <a:r>
              <a:rPr lang="en-US" sz="3000" dirty="0">
                <a:solidFill>
                  <a:srgbClr val="548235"/>
                </a:solidFill>
                <a:latin typeface="+mn-lt"/>
                <a:cs typeface="Segoe UI Semibold" panose="020B0702040204020203" pitchFamily="34" charset="0"/>
              </a:rPr>
              <a:t>patient’s health status</a:t>
            </a:r>
            <a:r>
              <a:rPr lang="en-US" sz="2800" dirty="0">
                <a:solidFill>
                  <a:srgbClr val="3F3F3F"/>
                </a:solidFill>
                <a:latin typeface="+mn-lt"/>
                <a:cs typeface="Segoe UI" panose="020B0502040204020203" pitchFamily="34" charset="0"/>
              </a:rPr>
              <a:t>. </a:t>
            </a:r>
          </a:p>
          <a:p>
            <a:pPr marL="0" indent="0">
              <a:lnSpc>
                <a:spcPct val="150000"/>
              </a:lnSpc>
              <a:buNone/>
            </a:pPr>
            <a:r>
              <a:rPr lang="en-US" sz="2800" dirty="0">
                <a:solidFill>
                  <a:srgbClr val="3F3F3F"/>
                </a:solidFill>
                <a:latin typeface="+mn-lt"/>
                <a:cs typeface="Segoe UI" panose="020B0502040204020203" pitchFamily="34" charset="0"/>
              </a:rPr>
              <a:t>Nurses use therapeutic communication skills and </a:t>
            </a:r>
            <a:r>
              <a:rPr lang="en-US" sz="3100" dirty="0">
                <a:solidFill>
                  <a:srgbClr val="548235"/>
                </a:solidFill>
                <a:latin typeface="+mn-lt"/>
                <a:cs typeface="Segoe UI Semibold" panose="020B0702040204020203" pitchFamily="34" charset="0"/>
              </a:rPr>
              <a:t>interviewing</a:t>
            </a:r>
            <a:r>
              <a:rPr lang="en-US" sz="2800" dirty="0">
                <a:solidFill>
                  <a:srgbClr val="3F3F3F"/>
                </a:solidFill>
                <a:latin typeface="+mn-lt"/>
                <a:cs typeface="Segoe UI" panose="020B0502040204020203" pitchFamily="34" charset="0"/>
              </a:rPr>
              <a:t> techniques during the health history to establish an </a:t>
            </a:r>
            <a:r>
              <a:rPr lang="en-US" sz="3100" dirty="0">
                <a:solidFill>
                  <a:srgbClr val="548235"/>
                </a:solidFill>
                <a:latin typeface="+mn-lt"/>
                <a:cs typeface="Segoe UI Semibold" panose="020B0702040204020203" pitchFamily="34" charset="0"/>
              </a:rPr>
              <a:t>effective nurse–patient relationship </a:t>
            </a:r>
            <a:r>
              <a:rPr lang="en-US" sz="2800" dirty="0">
                <a:solidFill>
                  <a:srgbClr val="3F3F3F"/>
                </a:solidFill>
                <a:latin typeface="+mn-lt"/>
                <a:cs typeface="Segoe UI" panose="020B0502040204020203" pitchFamily="34" charset="0"/>
              </a:rPr>
              <a:t>and to gather data to identify actual and potential health problems.</a:t>
            </a:r>
          </a:p>
        </p:txBody>
      </p:sp>
      <p:sp>
        <p:nvSpPr>
          <p:cNvPr id="5" name="TextBox 4"/>
          <p:cNvSpPr txBox="1">
            <a:spLocks noChangeArrowheads="1"/>
          </p:cNvSpPr>
          <p:nvPr/>
        </p:nvSpPr>
        <p:spPr bwMode="auto">
          <a:xfrm>
            <a:off x="10222314" y="6176963"/>
            <a:ext cx="14343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u="sng">
                <a:solidFill>
                  <a:schemeClr val="tx1"/>
                </a:solidFill>
                <a:latin typeface="Times" panose="02020603050405020304" pitchFamily="18" charset="0"/>
                <a:cs typeface="Arial" panose="020B0604020202020204" pitchFamily="34" charset="0"/>
              </a:defRPr>
            </a:lvl1pPr>
            <a:lvl2pPr marL="742950" indent="-285750">
              <a:defRPr sz="5400" u="sng">
                <a:solidFill>
                  <a:schemeClr val="tx1"/>
                </a:solidFill>
                <a:latin typeface="Times" panose="02020603050405020304" pitchFamily="18" charset="0"/>
                <a:cs typeface="Arial" panose="020B0604020202020204" pitchFamily="34" charset="0"/>
              </a:defRPr>
            </a:lvl2pPr>
            <a:lvl3pPr marL="1143000" indent="-228600">
              <a:defRPr sz="5400" u="sng">
                <a:solidFill>
                  <a:schemeClr val="tx1"/>
                </a:solidFill>
                <a:latin typeface="Times" panose="02020603050405020304" pitchFamily="18" charset="0"/>
                <a:cs typeface="Arial" panose="020B0604020202020204" pitchFamily="34" charset="0"/>
              </a:defRPr>
            </a:lvl3pPr>
            <a:lvl4pPr marL="1600200" indent="-228600">
              <a:defRPr sz="5400" u="sng">
                <a:solidFill>
                  <a:schemeClr val="tx1"/>
                </a:solidFill>
                <a:latin typeface="Times" panose="02020603050405020304" pitchFamily="18" charset="0"/>
                <a:cs typeface="Arial" panose="020B0604020202020204" pitchFamily="34" charset="0"/>
              </a:defRPr>
            </a:lvl4pPr>
            <a:lvl5pPr marL="2057400" indent="-228600">
              <a:defRPr sz="5400" u="sng">
                <a:solidFill>
                  <a:schemeClr val="tx1"/>
                </a:solidFill>
                <a:latin typeface="Times" panose="02020603050405020304" pitchFamily="18" charset="0"/>
                <a:cs typeface="Arial" panose="020B0604020202020204" pitchFamily="34" charset="0"/>
              </a:defRPr>
            </a:lvl5pPr>
            <a:lvl6pPr marL="25146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6pPr>
            <a:lvl7pPr marL="29718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7pPr>
            <a:lvl8pPr marL="34290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8pPr>
            <a:lvl9pPr marL="3886200" indent="-228600" eaLnBrk="0" fontAlgn="base" hangingPunct="0">
              <a:spcBef>
                <a:spcPct val="0"/>
              </a:spcBef>
              <a:spcAft>
                <a:spcPct val="0"/>
              </a:spcAft>
              <a:defRPr sz="5400" u="sng">
                <a:solidFill>
                  <a:schemeClr val="tx1"/>
                </a:solidFill>
                <a:latin typeface="Times"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404040"/>
                </a:solidFill>
                <a:effectLst/>
                <a:uLnTx/>
                <a:uFillTx/>
                <a:latin typeface="Segoe UI"/>
                <a:ea typeface="+mn-ea"/>
                <a:cs typeface="Times New Roman" panose="02020603050405020304" pitchFamily="18" charset="0"/>
              </a:rPr>
              <a:t>(continued)</a:t>
            </a:r>
          </a:p>
        </p:txBody>
      </p:sp>
    </p:spTree>
    <p:extLst>
      <p:ext uri="{BB962C8B-B14F-4D97-AF65-F5344CB8AC3E}">
        <p14:creationId xmlns:p14="http://schemas.microsoft.com/office/powerpoint/2010/main" val="324884807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44013" y="1836620"/>
            <a:ext cx="10983131" cy="4572752"/>
          </a:xfrm>
        </p:spPr>
        <p:txBody>
          <a:bodyPr>
            <a:normAutofit lnSpcReduction="10000"/>
          </a:bodyPr>
          <a:lstStyle/>
          <a:p>
            <a:pPr marL="514350" indent="-514350">
              <a:buClr>
                <a:srgbClr val="548235"/>
              </a:buClr>
              <a:buSzPct val="100000"/>
              <a:buFont typeface="+mj-lt"/>
              <a:buAutoNum type="arabicPeriod"/>
            </a:pPr>
            <a:r>
              <a:rPr lang="en-US" sz="3600" b="1" dirty="0">
                <a:solidFill>
                  <a:srgbClr val="548235"/>
                </a:solidFill>
                <a:cs typeface="Segoe UI Semibold" panose="020B0702040204020203" pitchFamily="34" charset="0"/>
              </a:rPr>
              <a:t>Initial (comprehensive) health history</a:t>
            </a:r>
            <a:r>
              <a:rPr lang="en-US" sz="3600" dirty="0">
                <a:solidFill>
                  <a:schemeClr val="bg1">
                    <a:lumMod val="50000"/>
                  </a:schemeClr>
                </a:solidFill>
                <a:cs typeface="Segoe UI Semibold" panose="020B0702040204020203" pitchFamily="34" charset="0"/>
              </a:rPr>
              <a:t>:</a:t>
            </a:r>
            <a:endParaRPr lang="ar-IQ" sz="3600" dirty="0">
              <a:solidFill>
                <a:schemeClr val="bg1">
                  <a:lumMod val="50000"/>
                </a:schemeClr>
              </a:solidFill>
              <a:cs typeface="Segoe UI Semibold" panose="020B0702040204020203" pitchFamily="34" charset="0"/>
            </a:endParaRPr>
          </a:p>
          <a:p>
            <a:pPr>
              <a:lnSpc>
                <a:spcPct val="100000"/>
              </a:lnSpc>
              <a:buClr>
                <a:srgbClr val="548235"/>
              </a:buClr>
              <a:buSzPct val="100000"/>
              <a:buNone/>
            </a:pPr>
            <a:r>
              <a:rPr lang="en-US" sz="3600" dirty="0">
                <a:solidFill>
                  <a:schemeClr val="bg1">
                    <a:lumMod val="50000"/>
                  </a:schemeClr>
                </a:solidFill>
                <a:cs typeface="Segoe UI Semibold" panose="020B0702040204020203" pitchFamily="34" charset="0"/>
              </a:rPr>
              <a:t>An initial health care visit requires a comprehensive health history, which creates a database of information for the child who is new to the provider’s practice. The data collected in this history focus not just on past or current illnesses, but also on wellness, health patterns, health knowledge, and activities of daily living (ADL). </a:t>
            </a:r>
            <a:endParaRPr lang="en-US" sz="3600" b="1" dirty="0">
              <a:solidFill>
                <a:schemeClr val="bg1">
                  <a:lumMod val="50000"/>
                </a:schemeClr>
              </a:solidFill>
              <a:cs typeface="Segoe UI Semibold" panose="020B0702040204020203" pitchFamily="34" charset="0"/>
            </a:endParaRPr>
          </a:p>
          <a:p>
            <a:pPr>
              <a:buClr>
                <a:srgbClr val="006699"/>
              </a:buClr>
              <a:buSzPct val="100000"/>
              <a:buNone/>
            </a:pPr>
            <a:endParaRPr lang="en-US" sz="2600" dirty="0">
              <a:solidFill>
                <a:schemeClr val="bg1">
                  <a:lumMod val="50000"/>
                </a:schemeClr>
              </a:solidFill>
              <a:cs typeface="Segoe UI" panose="020B0502040204020203" pitchFamily="34" charset="0"/>
            </a:endParaRPr>
          </a:p>
        </p:txBody>
      </p:sp>
      <p:sp>
        <p:nvSpPr>
          <p:cNvPr id="3" name="Title 2"/>
          <p:cNvSpPr>
            <a:spLocks noGrp="1"/>
          </p:cNvSpPr>
          <p:nvPr>
            <p:ph type="title"/>
          </p:nvPr>
        </p:nvSpPr>
        <p:spPr/>
        <p:txBody>
          <a:bodyPr>
            <a:noAutofit/>
          </a:bodyPr>
          <a:lstStyle/>
          <a:p>
            <a:r>
              <a:rPr lang="en-US" sz="4000" dirty="0">
                <a:latin typeface="Segoe UI Light" panose="020B0502040204020203" pitchFamily="34" charset="0"/>
                <a:cs typeface="Segoe UI Light" panose="020B0502040204020203" pitchFamily="34" charset="0"/>
              </a:rPr>
              <a:t>Types of Pediatric Health Histories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7620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915988" lvl="1" indent="-514350">
              <a:spcBef>
                <a:spcPts val="1200"/>
              </a:spcBef>
              <a:spcAft>
                <a:spcPts val="600"/>
              </a:spcAft>
              <a:buClr>
                <a:schemeClr val="accent6">
                  <a:lumMod val="75000"/>
                </a:schemeClr>
              </a:buClr>
              <a:buSzPct val="150000"/>
              <a:buFont typeface="+mj-lt"/>
              <a:buAutoNum type="arabicPeriod" startAt="3"/>
            </a:pPr>
            <a:r>
              <a:rPr lang="en-US" sz="3600" b="1" dirty="0">
                <a:solidFill>
                  <a:srgbClr val="548235"/>
                </a:solidFill>
                <a:cs typeface="Segoe UI" panose="020B0502040204020203" pitchFamily="34" charset="0"/>
              </a:rPr>
              <a:t>Focused (episodic) health history:</a:t>
            </a:r>
            <a:endParaRPr lang="ar-IQ" sz="3600" b="1" dirty="0">
              <a:solidFill>
                <a:srgbClr val="548235"/>
              </a:solidFill>
              <a:cs typeface="Segoe UI" panose="020B0502040204020203" pitchFamily="34" charset="0"/>
            </a:endParaRPr>
          </a:p>
          <a:p>
            <a:pPr lvl="1" indent="0">
              <a:spcBef>
                <a:spcPts val="1200"/>
              </a:spcBef>
              <a:spcAft>
                <a:spcPts val="600"/>
              </a:spcAft>
              <a:buClr>
                <a:schemeClr val="accent6">
                  <a:lumMod val="75000"/>
                </a:schemeClr>
              </a:buClr>
              <a:buSzPct val="150000"/>
              <a:buNone/>
            </a:pPr>
            <a:r>
              <a:rPr lang="en-US" sz="3600" dirty="0">
                <a:solidFill>
                  <a:schemeClr val="bg1">
                    <a:lumMod val="50000"/>
                  </a:schemeClr>
                </a:solidFill>
                <a:cs typeface="Segoe UI" panose="020B0502040204020203" pitchFamily="34" charset="0"/>
              </a:rPr>
              <a:t>This history is problem-centered, </a:t>
            </a:r>
            <a:r>
              <a:rPr lang="en-US" sz="4000" dirty="0">
                <a:solidFill>
                  <a:schemeClr val="bg1">
                    <a:lumMod val="50000"/>
                  </a:schemeClr>
                </a:solidFill>
                <a:cs typeface="Segoe UI" panose="020B0502040204020203" pitchFamily="34" charset="0"/>
              </a:rPr>
              <a:t>focusing</a:t>
            </a:r>
            <a:r>
              <a:rPr lang="en-US" sz="3600" dirty="0">
                <a:solidFill>
                  <a:schemeClr val="bg1">
                    <a:lumMod val="50000"/>
                  </a:schemeClr>
                </a:solidFill>
                <a:cs typeface="Segoe UI" panose="020B0502040204020203" pitchFamily="34" charset="0"/>
              </a:rPr>
              <a:t> on the present illness or problem. A focused health history is all that is necessary when the child presents with an acute problem or the exacerbation of a chronic condition.</a:t>
            </a:r>
          </a:p>
          <a:p>
            <a:pPr marL="915988" lvl="1" indent="-514350">
              <a:spcBef>
                <a:spcPts val="1200"/>
              </a:spcBef>
              <a:spcAft>
                <a:spcPts val="600"/>
              </a:spcAft>
              <a:buClr>
                <a:schemeClr val="accent6">
                  <a:lumMod val="75000"/>
                </a:schemeClr>
              </a:buClr>
              <a:buSzPct val="150000"/>
              <a:buFont typeface="+mj-lt"/>
              <a:buAutoNum type="arabicPeriod" startAt="3"/>
            </a:pPr>
            <a:endParaRPr lang="ar-IQ" sz="3600" b="1" dirty="0">
              <a:solidFill>
                <a:srgbClr val="548235"/>
              </a:solidFill>
              <a:cs typeface="Segoe UI" panose="020B0502040204020203" pitchFamily="34" charset="0"/>
            </a:endParaRPr>
          </a:p>
        </p:txBody>
      </p:sp>
      <p:sp>
        <p:nvSpPr>
          <p:cNvPr id="3" name="Title 2"/>
          <p:cNvSpPr>
            <a:spLocks noGrp="1"/>
          </p:cNvSpPr>
          <p:nvPr>
            <p:ph type="title"/>
          </p:nvPr>
        </p:nvSpPr>
        <p:spPr/>
        <p:txBody>
          <a:bodyPr>
            <a:normAutofit/>
          </a:bodyPr>
          <a:lstStyle/>
          <a:p>
            <a:r>
              <a:rPr lang="en-US" sz="3600" dirty="0">
                <a:cs typeface="Segoe UI Semibold" panose="020B0702040204020203" pitchFamily="34" charset="0"/>
              </a:rPr>
              <a:t>Types of Pediatric Health Histories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5485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a:bodyPr>
          <a:lstStyle/>
          <a:p>
            <a:pPr marL="514350" indent="-514350">
              <a:buClr>
                <a:srgbClr val="548235"/>
              </a:buClr>
              <a:buSzPct val="100000"/>
              <a:buFont typeface="+mj-lt"/>
              <a:buAutoNum type="arabicPeriod" startAt="4"/>
            </a:pPr>
            <a:r>
              <a:rPr lang="en-US" sz="3600" b="1" dirty="0">
                <a:solidFill>
                  <a:srgbClr val="548235"/>
                </a:solidFill>
                <a:latin typeface="Segoe UI" panose="020B0502040204020203" pitchFamily="34" charset="0"/>
                <a:cs typeface="Segoe UI" panose="020B0502040204020203" pitchFamily="34" charset="0"/>
              </a:rPr>
              <a:t>Follow-up health history:</a:t>
            </a:r>
          </a:p>
          <a:p>
            <a:pPr marL="0" lvl="1" indent="0">
              <a:spcBef>
                <a:spcPts val="1000"/>
              </a:spcBef>
              <a:buClr>
                <a:srgbClr val="006699"/>
              </a:buClr>
              <a:buSzPct val="100000"/>
              <a:buNone/>
            </a:pPr>
            <a:r>
              <a:rPr lang="en-US" sz="3200" dirty="0">
                <a:solidFill>
                  <a:srgbClr val="3F3F3F"/>
                </a:solidFill>
                <a:latin typeface="Segoe UI" panose="020B0502040204020203" pitchFamily="34" charset="0"/>
                <a:cs typeface="Segoe UI" panose="020B0502040204020203" pitchFamily="34" charset="0"/>
              </a:rPr>
              <a:t>When the child returns to the office after an illness or injury, a follow-up</a:t>
            </a:r>
          </a:p>
          <a:p>
            <a:pPr marL="0" lvl="1" indent="0">
              <a:spcBef>
                <a:spcPts val="1000"/>
              </a:spcBef>
              <a:buClr>
                <a:srgbClr val="006699"/>
              </a:buClr>
              <a:buSzPct val="100000"/>
              <a:buNone/>
            </a:pPr>
            <a:r>
              <a:rPr lang="en-US" sz="3200" dirty="0">
                <a:solidFill>
                  <a:srgbClr val="3F3F3F"/>
                </a:solidFill>
                <a:latin typeface="Segoe UI" panose="020B0502040204020203" pitchFamily="34" charset="0"/>
                <a:cs typeface="Segoe UI" panose="020B0502040204020203" pitchFamily="34" charset="0"/>
              </a:rPr>
              <a:t> history is taken to assess whether the problem is the same, better, or worse.</a:t>
            </a:r>
          </a:p>
        </p:txBody>
      </p:sp>
      <p:sp>
        <p:nvSpPr>
          <p:cNvPr id="3" name="Title 2"/>
          <p:cNvSpPr>
            <a:spLocks noGrp="1"/>
          </p:cNvSpPr>
          <p:nvPr>
            <p:ph type="title"/>
          </p:nvPr>
        </p:nvSpPr>
        <p:spPr/>
        <p:txBody>
          <a:bodyPr>
            <a:noAutofit/>
          </a:bodyPr>
          <a:lstStyle/>
          <a:p>
            <a:r>
              <a:rPr lang="en-US" sz="3600" dirty="0">
                <a:cs typeface="Segoe UI Semibold" panose="020B0702040204020203" pitchFamily="34" charset="0"/>
              </a:rPr>
              <a:t>Types of Pediatric Health Histories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2463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fontScale="92500" lnSpcReduction="20000"/>
          </a:bodyPr>
          <a:lstStyle/>
          <a:p>
            <a:pPr marL="514350" indent="-514350">
              <a:buClr>
                <a:srgbClr val="548235"/>
              </a:buClr>
              <a:buSzPct val="100000"/>
              <a:buFont typeface="+mj-lt"/>
              <a:buAutoNum type="arabicPeriod" startAt="5"/>
            </a:pPr>
            <a:r>
              <a:rPr lang="en-US" sz="3600" b="1" dirty="0">
                <a:solidFill>
                  <a:srgbClr val="548235"/>
                </a:solidFill>
                <a:latin typeface="+mj-lt"/>
                <a:cs typeface="Segoe UI" panose="020B0502040204020203" pitchFamily="34" charset="0"/>
              </a:rPr>
              <a:t>Emergency health history</a:t>
            </a:r>
            <a:r>
              <a:rPr lang="en-US" sz="3600" b="1" dirty="0">
                <a:solidFill>
                  <a:schemeClr val="accent3"/>
                </a:solidFill>
                <a:latin typeface="+mj-lt"/>
                <a:cs typeface="Segoe UI" panose="020B0502040204020203" pitchFamily="34" charset="0"/>
              </a:rPr>
              <a:t>:</a:t>
            </a:r>
          </a:p>
          <a:p>
            <a:pPr>
              <a:buClr>
                <a:srgbClr val="006699"/>
              </a:buClr>
              <a:buSzPct val="100000"/>
              <a:buNone/>
            </a:pPr>
            <a:r>
              <a:rPr lang="en-US" sz="3600" dirty="0">
                <a:solidFill>
                  <a:srgbClr val="3B3838"/>
                </a:solidFill>
                <a:latin typeface="+mj-lt"/>
                <a:cs typeface="Segoe UI" panose="020B0502040204020203" pitchFamily="34" charset="0"/>
              </a:rPr>
              <a:t>An emergency health history involves the quick collection of data in</a:t>
            </a:r>
          </a:p>
          <a:p>
            <a:pPr>
              <a:buClr>
                <a:srgbClr val="006699"/>
              </a:buClr>
              <a:buSzPct val="100000"/>
              <a:buNone/>
            </a:pPr>
            <a:r>
              <a:rPr lang="en-US" sz="3600" dirty="0">
                <a:solidFill>
                  <a:srgbClr val="3B3838"/>
                </a:solidFill>
                <a:latin typeface="+mj-lt"/>
                <a:cs typeface="Segoe UI" panose="020B0502040204020203" pitchFamily="34" charset="0"/>
              </a:rPr>
              <a:t>an acute situation. While this history resembles a focused history, it</a:t>
            </a:r>
          </a:p>
          <a:p>
            <a:pPr>
              <a:buClr>
                <a:srgbClr val="006699"/>
              </a:buClr>
              <a:buSzPct val="100000"/>
              <a:buNone/>
            </a:pPr>
            <a:r>
              <a:rPr lang="en-US" sz="3600" dirty="0">
                <a:solidFill>
                  <a:srgbClr val="3B3838"/>
                </a:solidFill>
                <a:latin typeface="+mj-lt"/>
                <a:cs typeface="Segoe UI" panose="020B0502040204020203" pitchFamily="34" charset="0"/>
              </a:rPr>
              <a:t>needs to be obtained rapidly, usually simultaneously with</a:t>
            </a:r>
          </a:p>
          <a:p>
            <a:pPr>
              <a:buClr>
                <a:srgbClr val="006699"/>
              </a:buClr>
              <a:buSzPct val="100000"/>
              <a:buNone/>
            </a:pPr>
            <a:r>
              <a:rPr lang="en-US" sz="3600" dirty="0">
                <a:solidFill>
                  <a:srgbClr val="3B3838"/>
                </a:solidFill>
                <a:latin typeface="+mj-lt"/>
                <a:cs typeface="Segoe UI" panose="020B0502040204020203" pitchFamily="34" charset="0"/>
              </a:rPr>
              <a:t> interventions, such as the administration of medications or respiratory treatments.</a:t>
            </a:r>
          </a:p>
          <a:p>
            <a:pPr>
              <a:buClr>
                <a:srgbClr val="006699"/>
              </a:buClr>
              <a:buSzPct val="100000"/>
              <a:buNone/>
            </a:pPr>
            <a:endParaRPr lang="en-US" sz="3600" dirty="0">
              <a:solidFill>
                <a:srgbClr val="3B3838"/>
              </a:solidFill>
              <a:latin typeface="+mj-lt"/>
              <a:cs typeface="Segoe UI" panose="020B0502040204020203" pitchFamily="34" charset="0"/>
            </a:endParaRPr>
          </a:p>
          <a:p>
            <a:pPr>
              <a:buClr>
                <a:srgbClr val="006699"/>
              </a:buClr>
              <a:buSzPct val="100000"/>
              <a:buNone/>
            </a:pPr>
            <a:endParaRPr lang="en-US" sz="3600" dirty="0">
              <a:solidFill>
                <a:srgbClr val="3B3838"/>
              </a:solidFill>
              <a:latin typeface="+mj-lt"/>
              <a:cs typeface="Segoe UI" panose="020B0502040204020203" pitchFamily="34" charset="0"/>
            </a:endParaRPr>
          </a:p>
          <a:p>
            <a:pPr>
              <a:buClr>
                <a:srgbClr val="006699"/>
              </a:buClr>
              <a:buSzPct val="100000"/>
              <a:buNone/>
            </a:pPr>
            <a:endParaRPr lang="en-US" sz="3600" dirty="0">
              <a:solidFill>
                <a:srgbClr val="3B3838"/>
              </a:solidFill>
              <a:latin typeface="+mj-lt"/>
              <a:cs typeface="Segoe UI" panose="020B0502040204020203" pitchFamily="34" charset="0"/>
            </a:endParaRPr>
          </a:p>
          <a:p>
            <a:pPr>
              <a:buClr>
                <a:srgbClr val="006699"/>
              </a:buClr>
              <a:buSzPct val="100000"/>
              <a:buNone/>
            </a:pPr>
            <a:endParaRPr lang="en-US" sz="3600" dirty="0">
              <a:solidFill>
                <a:srgbClr val="3B3838"/>
              </a:solidFill>
              <a:latin typeface="+mj-lt"/>
              <a:cs typeface="Segoe UI" panose="020B0502040204020203" pitchFamily="34" charset="0"/>
            </a:endParaRPr>
          </a:p>
        </p:txBody>
      </p:sp>
      <p:sp>
        <p:nvSpPr>
          <p:cNvPr id="3" name="Title 2"/>
          <p:cNvSpPr>
            <a:spLocks noGrp="1"/>
          </p:cNvSpPr>
          <p:nvPr>
            <p:ph type="title"/>
          </p:nvPr>
        </p:nvSpPr>
        <p:spPr/>
        <p:txBody>
          <a:bodyPr>
            <a:noAutofit/>
          </a:bodyPr>
          <a:lstStyle/>
          <a:p>
            <a:r>
              <a:rPr lang="en-US" sz="3600" dirty="0">
                <a:cs typeface="Segoe UI Semibold" panose="020B0702040204020203" pitchFamily="34" charset="0"/>
              </a:rPr>
              <a:t>Types of Pediatric Health Histories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3922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a:bodyPr>
          <a:lstStyle/>
          <a:p>
            <a:pPr marL="971536" lvl="1" indent="-514350" fontAlgn="base">
              <a:lnSpc>
                <a:spcPct val="100000"/>
              </a:lnSpc>
              <a:spcBef>
                <a:spcPct val="20000"/>
              </a:spcBef>
              <a:spcAft>
                <a:spcPct val="0"/>
              </a:spcAft>
              <a:buClr>
                <a:srgbClr val="548235"/>
              </a:buClr>
              <a:buFont typeface="+mj-lt"/>
              <a:buAutoNum type="arabicPeriod"/>
            </a:pPr>
            <a:r>
              <a:rPr lang="en-US" sz="2800" dirty="0">
                <a:solidFill>
                  <a:srgbClr val="548235"/>
                </a:solidFill>
                <a:cs typeface="Segoe UI" panose="020B0502040204020203" pitchFamily="34" charset="0"/>
              </a:rPr>
              <a:t>Subjective data</a:t>
            </a:r>
            <a:r>
              <a:rPr lang="en-US" sz="2800" dirty="0">
                <a:solidFill>
                  <a:schemeClr val="accent3"/>
                </a:solidFill>
                <a:cs typeface="Segoe UI" panose="020B0502040204020203" pitchFamily="34" charset="0"/>
              </a:rPr>
              <a:t>:</a:t>
            </a:r>
          </a:p>
          <a:p>
            <a:pPr marL="457186" lvl="1" indent="0" fontAlgn="base">
              <a:lnSpc>
                <a:spcPct val="100000"/>
              </a:lnSpc>
              <a:spcBef>
                <a:spcPct val="20000"/>
              </a:spcBef>
              <a:spcAft>
                <a:spcPct val="0"/>
              </a:spcAft>
              <a:buClr>
                <a:srgbClr val="548235"/>
              </a:buClr>
              <a:buNone/>
            </a:pPr>
            <a:r>
              <a:rPr lang="en-US" altLang="en-US" sz="2800" kern="0" dirty="0">
                <a:solidFill>
                  <a:srgbClr val="404040"/>
                </a:solidFill>
                <a:cs typeface="Segoe UI Semibold" panose="020B0702040204020203" pitchFamily="34" charset="0"/>
              </a:rPr>
              <a:t>are information perceived only by the affected</a:t>
            </a:r>
          </a:p>
          <a:p>
            <a:pPr marL="457186" lvl="1" indent="0" fontAlgn="base">
              <a:lnSpc>
                <a:spcPct val="100000"/>
              </a:lnSpc>
              <a:spcBef>
                <a:spcPct val="20000"/>
              </a:spcBef>
              <a:spcAft>
                <a:spcPct val="0"/>
              </a:spcAft>
              <a:buClr>
                <a:srgbClr val="548235"/>
              </a:buClr>
              <a:buNone/>
            </a:pPr>
            <a:r>
              <a:rPr lang="en-US" altLang="en-US" sz="2800" kern="0" dirty="0">
                <a:solidFill>
                  <a:srgbClr val="404040"/>
                </a:solidFill>
                <a:cs typeface="Segoe UI Semibold" panose="020B0702040204020203" pitchFamily="34" charset="0"/>
              </a:rPr>
              <a:t>person; these data cannot be perceived or verified by another person.</a:t>
            </a:r>
          </a:p>
          <a:p>
            <a:pPr marL="514350" indent="-514350">
              <a:buClr>
                <a:srgbClr val="006699"/>
              </a:buClr>
              <a:buSzPct val="100000"/>
              <a:buFont typeface="+mj-lt"/>
              <a:buAutoNum type="arabicPeriod"/>
            </a:pPr>
            <a:endParaRPr lang="en-US" sz="2800" dirty="0">
              <a:solidFill>
                <a:srgbClr val="3B3838"/>
              </a:solidFill>
              <a:cs typeface="Segoe UI" panose="020B0502040204020203" pitchFamily="34" charset="0"/>
            </a:endParaRPr>
          </a:p>
        </p:txBody>
      </p:sp>
      <p:sp>
        <p:nvSpPr>
          <p:cNvPr id="3" name="Title 2"/>
          <p:cNvSpPr>
            <a:spLocks noGrp="1"/>
          </p:cNvSpPr>
          <p:nvPr>
            <p:ph type="title"/>
          </p:nvPr>
        </p:nvSpPr>
        <p:spPr/>
        <p:txBody>
          <a:bodyPr>
            <a:noAutofit/>
          </a:bodyPr>
          <a:lstStyle/>
          <a:p>
            <a:r>
              <a:rPr lang="en-US" sz="3600" dirty="0">
                <a:cs typeface="Segoe UI Semibold" panose="020B0702040204020203" pitchFamily="34" charset="0"/>
              </a:rPr>
              <a:t>Data Collection</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3349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a:bodyPr>
          <a:lstStyle/>
          <a:p>
            <a:pPr marL="514350" indent="-514350">
              <a:buClr>
                <a:srgbClr val="548235"/>
              </a:buClr>
              <a:buSzPct val="100000"/>
              <a:buFont typeface="+mj-lt"/>
              <a:buAutoNum type="arabicPeriod" startAt="2"/>
            </a:pPr>
            <a:r>
              <a:rPr lang="en-US" sz="2800" dirty="0">
                <a:solidFill>
                  <a:srgbClr val="3B3838"/>
                </a:solidFill>
                <a:cs typeface="Segoe UI" panose="020B0502040204020203" pitchFamily="34" charset="0"/>
              </a:rPr>
              <a:t> </a:t>
            </a:r>
            <a:r>
              <a:rPr lang="en-US" sz="2800" dirty="0">
                <a:solidFill>
                  <a:srgbClr val="548235"/>
                </a:solidFill>
                <a:cs typeface="Segoe UI" panose="020B0502040204020203" pitchFamily="34" charset="0"/>
              </a:rPr>
              <a:t>Objective data</a:t>
            </a:r>
            <a:r>
              <a:rPr lang="en-US" sz="2800" dirty="0">
                <a:solidFill>
                  <a:schemeClr val="accent3"/>
                </a:solidFill>
                <a:cs typeface="Segoe UI" panose="020B0502040204020203" pitchFamily="34" charset="0"/>
              </a:rPr>
              <a:t>:</a:t>
            </a:r>
          </a:p>
          <a:p>
            <a:pPr>
              <a:buClr>
                <a:srgbClr val="548235"/>
              </a:buClr>
              <a:buSzPct val="100000"/>
              <a:buNone/>
            </a:pPr>
            <a:r>
              <a:rPr lang="en-US" sz="2800" dirty="0">
                <a:solidFill>
                  <a:srgbClr val="3B3838"/>
                </a:solidFill>
                <a:cs typeface="Segoe UI" panose="020B0502040204020203" pitchFamily="34" charset="0"/>
              </a:rPr>
              <a:t>are observable and measurable data that can be seen, heard, or felt by someone other than the person experiencing them. </a:t>
            </a:r>
          </a:p>
        </p:txBody>
      </p:sp>
      <p:sp>
        <p:nvSpPr>
          <p:cNvPr id="3" name="Title 2"/>
          <p:cNvSpPr>
            <a:spLocks noGrp="1"/>
          </p:cNvSpPr>
          <p:nvPr>
            <p:ph type="title"/>
          </p:nvPr>
        </p:nvSpPr>
        <p:spPr/>
        <p:txBody>
          <a:bodyPr>
            <a:noAutofit/>
          </a:bodyPr>
          <a:lstStyle/>
          <a:p>
            <a:r>
              <a:rPr lang="en-US" sz="4000" dirty="0"/>
              <a:t> </a:t>
            </a:r>
            <a:r>
              <a:rPr lang="en-US" sz="3600" dirty="0">
                <a:cs typeface="Segoe UI Semibold" panose="020B0702040204020203" pitchFamily="34" charset="0"/>
              </a:rPr>
              <a:t>DATA COLLECTION</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7243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cs typeface="Segoe UI Semibold" panose="020B0702040204020203" pitchFamily="34" charset="0"/>
              </a:rPr>
              <a:t>Methods of Data Collection</a:t>
            </a:r>
          </a:p>
        </p:txBody>
      </p:sp>
      <p:sp>
        <p:nvSpPr>
          <p:cNvPr id="5" name="Rectangle 3"/>
          <p:cNvSpPr txBox="1">
            <a:spLocks noChangeArrowheads="1"/>
          </p:cNvSpPr>
          <p:nvPr/>
        </p:nvSpPr>
        <p:spPr bwMode="auto">
          <a:xfrm>
            <a:off x="1524000" y="1524000"/>
            <a:ext cx="4299285" cy="4495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19" rIns="91440" bIns="45719" numCol="1" anchor="t" anchorCtr="0" compatLnSpc="1">
            <a:prstTxWarp prst="textNoShape">
              <a:avLst/>
            </a:prstTxWarp>
          </a:bodyPr>
          <a:lstStyle>
            <a:lvl1pPr marL="342900" indent="-342900" algn="l" rtl="0" fontAlgn="base">
              <a:spcBef>
                <a:spcPct val="20000"/>
              </a:spcBef>
              <a:spcAft>
                <a:spcPct val="0"/>
              </a:spcAft>
              <a:buChar char="•"/>
              <a:defRPr sz="2800">
                <a:solidFill>
                  <a:schemeClr val="tx1"/>
                </a:solidFill>
                <a:latin typeface="Times New Roman" pitchFamily="18" charset="0"/>
                <a:ea typeface="+mn-ea"/>
                <a:cs typeface="Times New Roman" pitchFamily="18" charset="0"/>
              </a:defRPr>
            </a:lvl1pPr>
            <a:lvl2pPr marL="742950" indent="-285750" algn="l" rtl="0" fontAlgn="base">
              <a:spcBef>
                <a:spcPct val="20000"/>
              </a:spcBef>
              <a:spcAft>
                <a:spcPct val="0"/>
              </a:spcAft>
              <a:buChar char="–"/>
              <a:defRPr sz="2400">
                <a:solidFill>
                  <a:schemeClr val="tx1"/>
                </a:solidFill>
                <a:latin typeface="Times New Roman" pitchFamily="18" charset="0"/>
                <a:cs typeface="Times New Roman" pitchFamily="18" charset="0"/>
              </a:defRPr>
            </a:lvl2pPr>
            <a:lvl3pPr marL="1143000" indent="-228600" algn="l" rtl="0" fontAlgn="base">
              <a:spcBef>
                <a:spcPct val="20000"/>
              </a:spcBef>
              <a:spcAft>
                <a:spcPct val="0"/>
              </a:spcAft>
              <a:buChar char="•"/>
              <a:defRPr sz="2000">
                <a:solidFill>
                  <a:schemeClr val="tx1"/>
                </a:solidFill>
                <a:latin typeface="Times New Roman" pitchFamily="18" charset="0"/>
                <a:cs typeface="Times New Roman" pitchFamily="18" charset="0"/>
              </a:defRPr>
            </a:lvl3pPr>
            <a:lvl4pPr marL="1600200" indent="-228600" algn="l" rtl="0" fontAlgn="base">
              <a:spcBef>
                <a:spcPct val="20000"/>
              </a:spcBef>
              <a:spcAft>
                <a:spcPct val="0"/>
              </a:spcAft>
              <a:buChar char="–"/>
              <a:defRPr sz="1800">
                <a:solidFill>
                  <a:schemeClr val="tx1"/>
                </a:solidFill>
                <a:latin typeface="Times New Roman" pitchFamily="18" charset="0"/>
                <a:cs typeface="Times New Roman" pitchFamily="18" charset="0"/>
              </a:defRPr>
            </a:lvl4pPr>
            <a:lvl5pPr marL="2057400" indent="-228600" algn="l" rtl="0" fontAlgn="base">
              <a:spcBef>
                <a:spcPct val="20000"/>
              </a:spcBef>
              <a:spcAft>
                <a:spcPct val="0"/>
              </a:spcAft>
              <a:buChar char="»"/>
              <a:defRPr sz="1800">
                <a:solidFill>
                  <a:schemeClr val="tx1"/>
                </a:solidFill>
                <a:latin typeface="Times New Roman" pitchFamily="18" charset="0"/>
                <a:cs typeface="Times New Roman" pitchFamily="18" charset="0"/>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pPr marL="514335" marR="0" lvl="0" indent="-514335" algn="l" defTabSz="914400" rtl="0" eaLnBrk="1" fontAlgn="base" latinLnBrk="0" hangingPunct="1">
              <a:lnSpc>
                <a:spcPct val="90000"/>
              </a:lnSpc>
              <a:spcBef>
                <a:spcPts val="1001"/>
              </a:spcBef>
              <a:spcAft>
                <a:spcPts val="1200"/>
              </a:spcAft>
              <a:buClr>
                <a:srgbClr val="008272"/>
              </a:buClr>
              <a:buSzPct val="100000"/>
              <a:buFont typeface="+mj-lt"/>
              <a:buAutoNum type="arabicPeriod"/>
              <a:tabLst/>
              <a:defRPr/>
            </a:pPr>
            <a:r>
              <a:rPr kumimoji="0" lang="en-US" altLang="en-US" sz="3200" b="0" i="0" u="none" strike="noStrike" kern="1200" cap="none" spc="0" normalizeH="0" baseline="0" noProof="0" dirty="0">
                <a:ln>
                  <a:noFill/>
                </a:ln>
                <a:solidFill>
                  <a:srgbClr val="548235"/>
                </a:solidFill>
                <a:effectLst/>
                <a:uLnTx/>
                <a:uFillTx/>
                <a:latin typeface="Segoe UI Semibold" panose="020B0702040204020203" pitchFamily="34" charset="0"/>
                <a:ea typeface="+mn-ea"/>
                <a:cs typeface="Segoe UI Semibold" panose="020B0702040204020203" pitchFamily="34" charset="0"/>
              </a:rPr>
              <a:t>Observation</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rPr>
              <a:t>Notes the </a:t>
            </a:r>
            <a:r>
              <a:rPr kumimoji="0" lang="en-US" altLang="en-US" sz="2400" b="0" i="0" u="none" strike="noStrike" kern="0" cap="none" spc="0" normalizeH="0" baseline="0" noProof="0" dirty="0">
                <a:ln>
                  <a:noFill/>
                </a:ln>
                <a:solidFill>
                  <a:srgbClr val="008272"/>
                </a:solidFill>
                <a:effectLst/>
                <a:uLnTx/>
                <a:uFillTx/>
                <a:latin typeface="Segoe UI Semibold" panose="020B0702040204020203" pitchFamily="34" charset="0"/>
                <a:ea typeface="+mn-ea"/>
                <a:cs typeface="Segoe UI Semibold" panose="020B0702040204020203" pitchFamily="34" charset="0"/>
              </a:rPr>
              <a:t>general appearance </a:t>
            </a:r>
            <a:r>
              <a:rPr kumimoji="0" lang="en-US"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rPr>
              <a:t>and </a:t>
            </a:r>
            <a:r>
              <a:rPr kumimoji="0" lang="en-US" altLang="en-US" sz="2400" b="0" i="0" u="none" strike="noStrike" kern="0" cap="none" spc="0" normalizeH="0" baseline="0" noProof="0" dirty="0">
                <a:ln>
                  <a:noFill/>
                </a:ln>
                <a:solidFill>
                  <a:srgbClr val="008272"/>
                </a:solidFill>
                <a:effectLst/>
                <a:uLnTx/>
                <a:uFillTx/>
                <a:latin typeface="Segoe UI Semibold" panose="020B0702040204020203" pitchFamily="34" charset="0"/>
                <a:ea typeface="+mn-ea"/>
                <a:cs typeface="Segoe UI Semibold" panose="020B0702040204020203" pitchFamily="34" charset="0"/>
              </a:rPr>
              <a:t>behavior</a:t>
            </a:r>
            <a:r>
              <a:rPr kumimoji="0" lang="en-US"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rPr>
              <a:t> of the client</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rPr>
              <a:t>Helps to determine the </a:t>
            </a:r>
            <a:r>
              <a:rPr kumimoji="0" lang="en-US" altLang="en-US" sz="2400" b="0" i="0" u="none" strike="noStrike" kern="0" cap="none" spc="0" normalizeH="0" baseline="0" noProof="0" dirty="0">
                <a:ln>
                  <a:noFill/>
                </a:ln>
                <a:solidFill>
                  <a:srgbClr val="008272"/>
                </a:solidFill>
                <a:effectLst/>
                <a:uLnTx/>
                <a:uFillTx/>
                <a:latin typeface="Segoe UI Semibold" panose="020B0702040204020203" pitchFamily="34" charset="0"/>
                <a:ea typeface="+mn-ea"/>
                <a:cs typeface="Segoe UI Semibold" panose="020B0702040204020203" pitchFamily="34" charset="0"/>
              </a:rPr>
              <a:t>client’s status</a:t>
            </a:r>
            <a:r>
              <a:rPr kumimoji="0" lang="en-US"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rPr>
              <a:t>, both </a:t>
            </a:r>
            <a:r>
              <a:rPr kumimoji="0" lang="en-US" altLang="en-US" sz="2400" b="0" i="0" u="none" strike="noStrike" kern="0" cap="none" spc="0" normalizeH="0" baseline="0" noProof="0" dirty="0">
                <a:ln>
                  <a:noFill/>
                </a:ln>
                <a:solidFill>
                  <a:srgbClr val="008272"/>
                </a:solidFill>
                <a:effectLst/>
                <a:uLnTx/>
                <a:uFillTx/>
                <a:latin typeface="Segoe UI Semibold" panose="020B0702040204020203" pitchFamily="34" charset="0"/>
                <a:ea typeface="+mn-ea"/>
                <a:cs typeface="Segoe UI Semibold" panose="020B0702040204020203" pitchFamily="34" charset="0"/>
              </a:rPr>
              <a:t>physical</a:t>
            </a:r>
            <a:r>
              <a:rPr kumimoji="0" lang="en-US"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rPr>
              <a:t> and </a:t>
            </a:r>
            <a:r>
              <a:rPr kumimoji="0" lang="en-US" altLang="en-US" sz="2400" b="0" i="0" u="none" strike="noStrike" kern="0" cap="none" spc="0" normalizeH="0" baseline="0" noProof="0" dirty="0">
                <a:ln>
                  <a:noFill/>
                </a:ln>
                <a:solidFill>
                  <a:srgbClr val="008272"/>
                </a:solidFill>
                <a:effectLst/>
                <a:uLnTx/>
                <a:uFillTx/>
                <a:latin typeface="Segoe UI Semibold" panose="020B0702040204020203" pitchFamily="34" charset="0"/>
                <a:ea typeface="+mn-ea"/>
                <a:cs typeface="Segoe UI Semibold" panose="020B0702040204020203" pitchFamily="34" charset="0"/>
              </a:rPr>
              <a:t>mental</a:t>
            </a:r>
            <a:r>
              <a:rPr kumimoji="0" lang="en-US"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rPr>
              <a:t> </a:t>
            </a:r>
          </a:p>
        </p:txBody>
      </p:sp>
      <p:sp>
        <p:nvSpPr>
          <p:cNvPr id="7" name="Rectangle 6"/>
          <p:cNvSpPr/>
          <p:nvPr/>
        </p:nvSpPr>
        <p:spPr>
          <a:xfrm>
            <a:off x="6702746" y="1523999"/>
            <a:ext cx="4884820" cy="2499530"/>
          </a:xfrm>
          <a:prstGeom prst="rect">
            <a:avLst/>
          </a:prstGeom>
        </p:spPr>
        <p:txBody>
          <a:bodyPr wrap="square">
            <a:spAutoFit/>
          </a:bodyPr>
          <a:lstStyle/>
          <a:p>
            <a:pPr marL="514335" marR="0" lvl="0" indent="-514335" algn="l" defTabSz="914400" rtl="0" eaLnBrk="1" fontAlgn="auto" latinLnBrk="0" hangingPunct="1">
              <a:lnSpc>
                <a:spcPct val="90000"/>
              </a:lnSpc>
              <a:spcBef>
                <a:spcPts val="1001"/>
              </a:spcBef>
              <a:spcAft>
                <a:spcPts val="1200"/>
              </a:spcAft>
              <a:buClr>
                <a:srgbClr val="008272"/>
              </a:buClr>
              <a:buSzPct val="100000"/>
              <a:buFont typeface="+mj-lt"/>
              <a:buAutoNum type="arabicPeriod" startAt="2"/>
              <a:tabLst/>
              <a:defRPr/>
            </a:pPr>
            <a:r>
              <a:rPr kumimoji="0" lang="en-US" altLang="en-US" sz="3200" b="0" i="0" u="none" strike="noStrike" kern="1200" cap="none" spc="0" normalizeH="0" baseline="0" noProof="0" dirty="0">
                <a:ln>
                  <a:noFill/>
                </a:ln>
                <a:solidFill>
                  <a:srgbClr val="548235"/>
                </a:solidFill>
                <a:effectLst/>
                <a:uLnTx/>
                <a:uFillTx/>
                <a:latin typeface="Segoe UI Semibold" panose="020B0702040204020203" pitchFamily="34" charset="0"/>
                <a:ea typeface="+mn-ea"/>
                <a:cs typeface="Segoe UI Semibold" panose="020B0702040204020203" pitchFamily="34" charset="0"/>
              </a:rPr>
              <a:t>Interview</a:t>
            </a:r>
          </a:p>
          <a:p>
            <a:pPr marL="742928" marR="0" lvl="1" indent="-285742" algn="l" defTabSz="914400" rtl="0" eaLnBrk="1" fontAlgn="base" latinLnBrk="0" hangingPunct="1">
              <a:lnSpc>
                <a:spcPct val="100000"/>
              </a:lnSpc>
              <a:spcBef>
                <a:spcPct val="20000"/>
              </a:spcBef>
              <a:spcAft>
                <a:spcPct val="0"/>
              </a:spcAft>
              <a:buClrTx/>
              <a:buSzTx/>
              <a:buFontTx/>
              <a:buChar char="–"/>
              <a:tabLst/>
              <a:defRPr/>
            </a:pPr>
            <a:r>
              <a:rPr kumimoji="0" lang="en-US"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rPr>
              <a:t>Preparation</a:t>
            </a:r>
          </a:p>
          <a:p>
            <a:pPr marL="742928" marR="0" lvl="1" indent="-285742" algn="l" defTabSz="914400" rtl="0" eaLnBrk="1" fontAlgn="base" latinLnBrk="0" hangingPunct="1">
              <a:lnSpc>
                <a:spcPct val="100000"/>
              </a:lnSpc>
              <a:spcBef>
                <a:spcPct val="20000"/>
              </a:spcBef>
              <a:spcAft>
                <a:spcPct val="0"/>
              </a:spcAft>
              <a:buClrTx/>
              <a:buSzTx/>
              <a:buFontTx/>
              <a:buChar char="–"/>
              <a:tabLst/>
              <a:defRPr/>
            </a:pPr>
            <a:r>
              <a:rPr kumimoji="0" lang="en-US" altLang="en-US" sz="1801" b="0" i="0" u="none" strike="noStrike" kern="0" cap="none" spc="0" normalizeH="0" baseline="0" noProof="0" dirty="0">
                <a:ln>
                  <a:noFill/>
                </a:ln>
                <a:solidFill>
                  <a:srgbClr val="404040"/>
                </a:solidFill>
                <a:effectLst/>
                <a:uLnTx/>
                <a:uFillTx/>
                <a:latin typeface="Segoe UI"/>
                <a:ea typeface="+mn-ea"/>
                <a:cs typeface="+mn-cs"/>
              </a:rPr>
              <a:t>Stages</a:t>
            </a:r>
          </a:p>
          <a:p>
            <a:pPr marL="1142965" marR="0" lvl="2" indent="-228593"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404040"/>
                </a:solidFill>
                <a:effectLst/>
                <a:uLnTx/>
                <a:uFillTx/>
                <a:latin typeface="Segoe UI"/>
                <a:ea typeface="+mn-ea"/>
                <a:cs typeface="Times New Roman" pitchFamily="18" charset="0"/>
              </a:rPr>
              <a:t>Introduction</a:t>
            </a:r>
          </a:p>
          <a:p>
            <a:pPr marL="1142965" marR="0" lvl="2" indent="-228593" algn="l" defTabSz="914400" rtl="0" eaLnBrk="1" fontAlgn="base" latinLnBrk="0" hangingPunct="1">
              <a:lnSpc>
                <a:spcPct val="100000"/>
              </a:lnSpc>
              <a:spcBef>
                <a:spcPct val="20000"/>
              </a:spcBef>
              <a:spcAft>
                <a:spcPct val="0"/>
              </a:spcAft>
              <a:buClrTx/>
              <a:buSzTx/>
              <a:buFontTx/>
              <a:buChar char="•"/>
              <a:tabLst/>
              <a:defRPr/>
            </a:pPr>
            <a:r>
              <a:rPr kumimoji="0" lang="en-US" altLang="en-US" sz="1801" b="0" i="0" u="none" strike="noStrike" kern="0" cap="none" spc="0" normalizeH="0" baseline="0" noProof="0" dirty="0">
                <a:ln>
                  <a:noFill/>
                </a:ln>
                <a:solidFill>
                  <a:srgbClr val="404040"/>
                </a:solidFill>
                <a:effectLst/>
                <a:uLnTx/>
                <a:uFillTx/>
                <a:latin typeface="Segoe UI"/>
                <a:ea typeface="+mn-ea"/>
                <a:cs typeface="+mn-cs"/>
              </a:rPr>
              <a:t>Working</a:t>
            </a:r>
          </a:p>
          <a:p>
            <a:pPr marL="1142965" marR="0" lvl="2" indent="-228593" algn="l" defTabSz="914400" rtl="0" eaLnBrk="1" fontAlgn="base" latinLnBrk="0" hangingPunct="1">
              <a:lnSpc>
                <a:spcPct val="100000"/>
              </a:lnSpc>
              <a:spcBef>
                <a:spcPct val="20000"/>
              </a:spcBef>
              <a:spcAft>
                <a:spcPct val="0"/>
              </a:spcAft>
              <a:buClrTx/>
              <a:buSzTx/>
              <a:buFontTx/>
              <a:buChar char="•"/>
              <a:tabLst/>
              <a:defRPr/>
            </a:pPr>
            <a:r>
              <a:rPr kumimoji="0" lang="en-US" altLang="en-US" sz="1801" b="0" i="0" u="none" strike="noStrike" kern="0" cap="none" spc="0" normalizeH="0" baseline="0" noProof="0" dirty="0">
                <a:ln>
                  <a:noFill/>
                </a:ln>
                <a:solidFill>
                  <a:srgbClr val="404040"/>
                </a:solidFill>
                <a:effectLst/>
                <a:uLnTx/>
                <a:uFillTx/>
                <a:latin typeface="Segoe UI"/>
                <a:ea typeface="+mn-ea"/>
                <a:cs typeface="+mn-cs"/>
              </a:rPr>
              <a:t>Closure</a:t>
            </a:r>
          </a:p>
        </p:txBody>
      </p:sp>
      <p:sp>
        <p:nvSpPr>
          <p:cNvPr id="8" name="TextBox 3"/>
          <p:cNvSpPr txBox="1">
            <a:spLocks noChangeArrowheads="1"/>
          </p:cNvSpPr>
          <p:nvPr/>
        </p:nvSpPr>
        <p:spPr bwMode="auto">
          <a:xfrm>
            <a:off x="10222314" y="6176964"/>
            <a:ext cx="14366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000000"/>
                </a:solidFill>
                <a:effectLst/>
                <a:uLnTx/>
                <a:uFillTx/>
                <a:latin typeface="Segoe UI"/>
                <a:ea typeface="+mn-ea"/>
                <a:cs typeface="Times New Roman" panose="02020603050405020304" pitchFamily="18" charset="0"/>
              </a:rPr>
              <a:t>(</a:t>
            </a:r>
            <a:r>
              <a:rPr kumimoji="0" lang="en-US" altLang="en-US" sz="2000" b="0" i="1" u="none" strike="noStrike" kern="0" cap="none" spc="0" normalizeH="0" baseline="0" noProof="0" dirty="0">
                <a:ln>
                  <a:noFill/>
                </a:ln>
                <a:solidFill>
                  <a:srgbClr val="000000"/>
                </a:solidFill>
                <a:effectLst/>
                <a:uLnTx/>
                <a:uFillTx/>
                <a:latin typeface="Segoe UI"/>
                <a:ea typeface="+mn-ea"/>
                <a:cs typeface="Times New Roman" pitchFamily="18" charset="0"/>
              </a:rPr>
              <a:t>continued)</a:t>
            </a:r>
          </a:p>
        </p:txBody>
      </p:sp>
      <p:cxnSp>
        <p:nvCxnSpPr>
          <p:cNvPr id="9" name="Straight Connector 8"/>
          <p:cNvCxnSpPr/>
          <p:nvPr/>
        </p:nvCxnSpPr>
        <p:spPr>
          <a:xfrm>
            <a:off x="604437" y="1196391"/>
            <a:ext cx="10983133" cy="0"/>
          </a:xfrm>
          <a:prstGeom prst="line">
            <a:avLst/>
          </a:prstGeom>
          <a:ln w="28575">
            <a:solidFill>
              <a:srgbClr val="0082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3328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45808" y="327435"/>
            <a:ext cx="10983133" cy="747763"/>
          </a:xfrm>
        </p:spPr>
        <p:txBody>
          <a:bodyPr>
            <a:normAutofit/>
          </a:bodyPr>
          <a:lstStyle/>
          <a:p>
            <a:r>
              <a:rPr lang="en-US" sz="4000" dirty="0"/>
              <a:t>Methods of Data Collection</a:t>
            </a:r>
          </a:p>
        </p:txBody>
      </p:sp>
      <p:sp>
        <p:nvSpPr>
          <p:cNvPr id="6" name="Rectangle 4"/>
          <p:cNvSpPr txBox="1">
            <a:spLocks noChangeArrowheads="1"/>
          </p:cNvSpPr>
          <p:nvPr/>
        </p:nvSpPr>
        <p:spPr bwMode="auto">
          <a:xfrm>
            <a:off x="808121" y="1438778"/>
            <a:ext cx="6073944" cy="4495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19" rIns="91440" bIns="45719" numCol="1" anchor="t" anchorCtr="0" compatLnSpc="1">
            <a:prstTxWarp prst="textNoShape">
              <a:avLst/>
            </a:prstTxWarp>
          </a:bodyPr>
          <a:lstStyle>
            <a:lvl1pPr marL="342900" indent="-342900" algn="l" rtl="0" fontAlgn="base">
              <a:spcBef>
                <a:spcPct val="20000"/>
              </a:spcBef>
              <a:spcAft>
                <a:spcPct val="0"/>
              </a:spcAft>
              <a:buChar char="•"/>
              <a:defRPr sz="2800">
                <a:solidFill>
                  <a:schemeClr val="tx1"/>
                </a:solidFill>
                <a:latin typeface="Times New Roman" pitchFamily="18" charset="0"/>
                <a:ea typeface="+mn-ea"/>
                <a:cs typeface="Times New Roman" pitchFamily="18" charset="0"/>
              </a:defRPr>
            </a:lvl1pPr>
            <a:lvl2pPr marL="742950" indent="-285750" algn="l" rtl="0" fontAlgn="base">
              <a:spcBef>
                <a:spcPct val="20000"/>
              </a:spcBef>
              <a:spcAft>
                <a:spcPct val="0"/>
              </a:spcAft>
              <a:buChar char="–"/>
              <a:defRPr sz="2400">
                <a:solidFill>
                  <a:schemeClr val="tx1"/>
                </a:solidFill>
                <a:latin typeface="Times New Roman" pitchFamily="18" charset="0"/>
                <a:cs typeface="Times New Roman" pitchFamily="18" charset="0"/>
              </a:defRPr>
            </a:lvl2pPr>
            <a:lvl3pPr marL="1143000" indent="-228600" algn="l" rtl="0" fontAlgn="base">
              <a:spcBef>
                <a:spcPct val="20000"/>
              </a:spcBef>
              <a:spcAft>
                <a:spcPct val="0"/>
              </a:spcAft>
              <a:buChar char="•"/>
              <a:defRPr sz="2000">
                <a:solidFill>
                  <a:schemeClr val="tx1"/>
                </a:solidFill>
                <a:latin typeface="Times New Roman" pitchFamily="18" charset="0"/>
                <a:cs typeface="Times New Roman" pitchFamily="18" charset="0"/>
              </a:defRPr>
            </a:lvl3pPr>
            <a:lvl4pPr marL="1600200" indent="-228600" algn="l" rtl="0" fontAlgn="base">
              <a:spcBef>
                <a:spcPct val="20000"/>
              </a:spcBef>
              <a:spcAft>
                <a:spcPct val="0"/>
              </a:spcAft>
              <a:buChar char="–"/>
              <a:defRPr sz="1800">
                <a:solidFill>
                  <a:schemeClr val="tx1"/>
                </a:solidFill>
                <a:latin typeface="Times New Roman" pitchFamily="18" charset="0"/>
                <a:cs typeface="Times New Roman" pitchFamily="18" charset="0"/>
              </a:defRPr>
            </a:lvl4pPr>
            <a:lvl5pPr marL="2057400" indent="-228600" algn="l" rtl="0" fontAlgn="base">
              <a:spcBef>
                <a:spcPct val="20000"/>
              </a:spcBef>
              <a:spcAft>
                <a:spcPct val="0"/>
              </a:spcAft>
              <a:buChar char="»"/>
              <a:defRPr sz="1800">
                <a:solidFill>
                  <a:schemeClr val="tx1"/>
                </a:solidFill>
                <a:latin typeface="Times New Roman" pitchFamily="18" charset="0"/>
                <a:cs typeface="Times New Roman" pitchFamily="18" charset="0"/>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pPr marL="0" marR="0" lvl="0" indent="0" algn="l" defTabSz="914400" rtl="0" eaLnBrk="1" fontAlgn="base" latinLnBrk="0" hangingPunct="1">
              <a:lnSpc>
                <a:spcPct val="90000"/>
              </a:lnSpc>
              <a:spcBef>
                <a:spcPts val="1001"/>
              </a:spcBef>
              <a:spcAft>
                <a:spcPts val="1200"/>
              </a:spcAft>
              <a:buClr>
                <a:srgbClr val="008272"/>
              </a:buClr>
              <a:buSzPct val="100000"/>
              <a:buFontTx/>
              <a:buNone/>
              <a:tabLst/>
              <a:defRPr/>
            </a:pPr>
            <a:endParaRPr kumimoji="0" lang="en-US" altLang="en-US" sz="2800" b="0" i="0" u="none" strike="noStrike" kern="1200" cap="none" spc="0" normalizeH="0" baseline="0" noProof="0" dirty="0">
              <a:ln>
                <a:noFill/>
              </a:ln>
              <a:solidFill>
                <a:srgbClr val="404040"/>
              </a:solidFill>
              <a:effectLst/>
              <a:uLnTx/>
              <a:uFillTx/>
              <a:latin typeface="Segoe UI Semibold" panose="020B0702040204020203" pitchFamily="34" charset="0"/>
              <a:ea typeface="+mn-ea"/>
              <a:cs typeface="Segoe UI Semibold" panose="020B0702040204020203" pitchFamily="34" charset="0"/>
            </a:endParaRPr>
          </a:p>
          <a:p>
            <a:pPr marL="514335" marR="0" lvl="0" indent="-514335" algn="l" defTabSz="914400" rtl="0" eaLnBrk="1" fontAlgn="base" latinLnBrk="0" hangingPunct="1">
              <a:lnSpc>
                <a:spcPct val="90000"/>
              </a:lnSpc>
              <a:spcBef>
                <a:spcPts val="1001"/>
              </a:spcBef>
              <a:spcAft>
                <a:spcPts val="1200"/>
              </a:spcAft>
              <a:buClr>
                <a:srgbClr val="008272"/>
              </a:buClr>
              <a:buSzPct val="100000"/>
              <a:buFont typeface="+mj-lt"/>
              <a:buAutoNum type="arabicPeriod" startAt="4"/>
              <a:tabLst/>
              <a:defRPr/>
            </a:pPr>
            <a:r>
              <a:rPr kumimoji="0" lang="en-US" altLang="en-US" sz="3200" b="0" i="0" u="none" strike="noStrike" kern="1200" cap="none" spc="0" normalizeH="0" baseline="0" noProof="0" dirty="0">
                <a:ln>
                  <a:noFill/>
                </a:ln>
                <a:solidFill>
                  <a:srgbClr val="548235"/>
                </a:solidFill>
                <a:effectLst/>
                <a:uLnTx/>
                <a:uFillTx/>
                <a:latin typeface="Segoe UI Semibold" panose="020B0702040204020203" pitchFamily="34" charset="0"/>
                <a:ea typeface="+mn-ea"/>
                <a:cs typeface="Segoe UI Semibold" panose="020B0702040204020203" pitchFamily="34" charset="0"/>
              </a:rPr>
              <a:t>Physical examination</a:t>
            </a:r>
          </a:p>
          <a:p>
            <a:pPr marL="746103" marR="0" lvl="0" indent="-342900" algn="l" defTabSz="914400" rtl="0" eaLnBrk="1" fontAlgn="base" latinLnBrk="0" hangingPunct="1">
              <a:lnSpc>
                <a:spcPct val="90000"/>
              </a:lnSpc>
              <a:spcBef>
                <a:spcPts val="1001"/>
              </a:spcBef>
              <a:spcAft>
                <a:spcPts val="1200"/>
              </a:spcAft>
              <a:buClr>
                <a:srgbClr val="008272"/>
              </a:buClr>
              <a:buSzPct val="100000"/>
              <a:buFont typeface="Arial" panose="020B0604020202020204" pitchFamily="34" charset="0"/>
              <a:buChar char="•"/>
              <a:tabLst/>
              <a:defRPr/>
            </a:pPr>
            <a:r>
              <a:rPr kumimoji="0" lang="fr-FR" altLang="en-US" sz="2400" b="0" i="0" u="none" strike="noStrike" kern="1200" cap="none" spc="0" normalizeH="0" baseline="0" noProof="0" dirty="0" err="1">
                <a:ln>
                  <a:noFill/>
                </a:ln>
                <a:solidFill>
                  <a:srgbClr val="548235"/>
                </a:solidFill>
                <a:effectLst/>
                <a:uLnTx/>
                <a:uFillTx/>
                <a:latin typeface="Segoe UI Semibold" panose="020B0702040204020203" pitchFamily="34" charset="0"/>
                <a:ea typeface="+mn-ea"/>
                <a:cs typeface="Segoe UI Semibold" panose="020B0702040204020203" pitchFamily="34" charset="0"/>
              </a:rPr>
              <a:t>Assessment</a:t>
            </a:r>
            <a:r>
              <a:rPr kumimoji="0" lang="fr-FR" altLang="en-US" sz="2400" b="0" i="0" u="none" strike="noStrike" kern="1200" cap="none" spc="0" normalizeH="0" baseline="0" noProof="0" dirty="0">
                <a:ln>
                  <a:noFill/>
                </a:ln>
                <a:solidFill>
                  <a:srgbClr val="548235"/>
                </a:solidFill>
                <a:effectLst/>
                <a:uLnTx/>
                <a:uFillTx/>
                <a:latin typeface="Segoe UI Semibold" panose="020B0702040204020203" pitchFamily="34" charset="0"/>
                <a:ea typeface="+mn-ea"/>
                <a:cs typeface="Segoe UI Semibold" panose="020B0702040204020203" pitchFamily="34" charset="0"/>
              </a:rPr>
              <a:t> techniques</a:t>
            </a:r>
          </a:p>
          <a:p>
            <a:pPr marL="1155667" marR="0" lvl="1" indent="-285750" algn="l" defTabSz="914400" rtl="0" eaLnBrk="1" fontAlgn="base" latinLnBrk="0" hangingPunct="1">
              <a:lnSpc>
                <a:spcPct val="90000"/>
              </a:lnSpc>
              <a:spcBef>
                <a:spcPct val="20000"/>
              </a:spcBef>
              <a:spcAft>
                <a:spcPct val="0"/>
              </a:spcAft>
              <a:buClr>
                <a:srgbClr val="008272"/>
              </a:buClr>
              <a:buSzPct val="100000"/>
              <a:buFont typeface="+mj-lt"/>
              <a:buChar char="–"/>
              <a:tabLst/>
              <a:defRPr/>
            </a:pPr>
            <a:r>
              <a:rPr kumimoji="0" lang="fr-FR" altLang="en-US" sz="3200" b="0" i="0" u="none" strike="noStrike" kern="1200" cap="none" spc="0" normalizeH="0" baseline="0" noProof="0" dirty="0">
                <a:ln>
                  <a:noFill/>
                </a:ln>
                <a:solidFill>
                  <a:srgbClr val="404040"/>
                </a:solidFill>
                <a:effectLst/>
                <a:uLnTx/>
                <a:uFillTx/>
                <a:latin typeface="Segoe UI Semibold" panose="020B0702040204020203" pitchFamily="34" charset="0"/>
                <a:ea typeface="+mn-ea"/>
                <a:cs typeface="Segoe UI Semibold" panose="020B0702040204020203" pitchFamily="34" charset="0"/>
              </a:rPr>
              <a:t>    </a:t>
            </a:r>
            <a:r>
              <a:rPr kumimoji="0" lang="fr-FR"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rPr>
              <a:t>Inspection</a:t>
            </a:r>
          </a:p>
          <a:p>
            <a:pPr marL="1155667" marR="0" lvl="1" indent="-285750" algn="l" defTabSz="914400" rtl="0" eaLnBrk="1" fontAlgn="base" latinLnBrk="0" hangingPunct="1">
              <a:lnSpc>
                <a:spcPct val="90000"/>
              </a:lnSpc>
              <a:spcBef>
                <a:spcPct val="20000"/>
              </a:spcBef>
              <a:spcAft>
                <a:spcPct val="0"/>
              </a:spcAft>
              <a:buClr>
                <a:srgbClr val="008272"/>
              </a:buClr>
              <a:buSzPct val="100000"/>
              <a:buFont typeface="+mj-lt"/>
              <a:buChar char="–"/>
              <a:tabLst/>
              <a:defRPr/>
            </a:pPr>
            <a:r>
              <a:rPr kumimoji="0" lang="fr-FR"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rPr>
              <a:t>     Palpation</a:t>
            </a:r>
          </a:p>
          <a:p>
            <a:pPr marL="1155667" marR="0" lvl="1" indent="-285750" algn="l" defTabSz="914400" rtl="0" eaLnBrk="1" fontAlgn="base" latinLnBrk="0" hangingPunct="1">
              <a:lnSpc>
                <a:spcPct val="90000"/>
              </a:lnSpc>
              <a:spcBef>
                <a:spcPct val="20000"/>
              </a:spcBef>
              <a:spcAft>
                <a:spcPct val="0"/>
              </a:spcAft>
              <a:buClr>
                <a:srgbClr val="008272"/>
              </a:buClr>
              <a:buSzPct val="100000"/>
              <a:buFont typeface="+mj-lt"/>
              <a:buChar char="–"/>
              <a:tabLst/>
              <a:defRPr/>
            </a:pPr>
            <a:r>
              <a:rPr kumimoji="0" lang="fr-FR"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rPr>
              <a:t>     Percussion</a:t>
            </a:r>
          </a:p>
          <a:p>
            <a:pPr marL="1155667" marR="0" lvl="1" indent="-285750" algn="l" defTabSz="914400" rtl="0" eaLnBrk="1" fontAlgn="base" latinLnBrk="0" hangingPunct="1">
              <a:lnSpc>
                <a:spcPct val="90000"/>
              </a:lnSpc>
              <a:spcBef>
                <a:spcPct val="20000"/>
              </a:spcBef>
              <a:spcAft>
                <a:spcPct val="0"/>
              </a:spcAft>
              <a:buClr>
                <a:srgbClr val="008272"/>
              </a:buClr>
              <a:buSzPct val="100000"/>
              <a:buFont typeface="+mj-lt"/>
              <a:buChar char="–"/>
              <a:tabLst/>
              <a:defRPr/>
            </a:pPr>
            <a:r>
              <a:rPr kumimoji="0" lang="fr-FR"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rPr>
              <a:t>     Auscultation</a:t>
            </a:r>
            <a:endParaRPr kumimoji="0" lang="en-US" altLang="en-US" sz="2400" b="0" i="0" u="none" strike="noStrike" kern="0" cap="none" spc="0" normalizeH="0" baseline="0" noProof="0" dirty="0">
              <a:ln>
                <a:noFill/>
              </a:ln>
              <a:solidFill>
                <a:srgbClr val="404040"/>
              </a:solidFill>
              <a:effectLst/>
              <a:uLnTx/>
              <a:uFillTx/>
              <a:latin typeface="Segoe UI"/>
              <a:ea typeface="+mn-ea"/>
              <a:cs typeface="Times New Roman" pitchFamily="18" charset="0"/>
            </a:endParaRPr>
          </a:p>
          <a:p>
            <a:pPr marL="514335" marR="0" lvl="0" indent="-514335" algn="l" defTabSz="914400" rtl="0" eaLnBrk="1" fontAlgn="base" latinLnBrk="0" hangingPunct="1">
              <a:lnSpc>
                <a:spcPct val="90000"/>
              </a:lnSpc>
              <a:spcBef>
                <a:spcPts val="1001"/>
              </a:spcBef>
              <a:spcAft>
                <a:spcPts val="1200"/>
              </a:spcAft>
              <a:buClr>
                <a:srgbClr val="008272"/>
              </a:buClr>
              <a:buSzPct val="100000"/>
              <a:buFont typeface="+mj-lt"/>
              <a:buAutoNum type="arabicPeriod" startAt="5"/>
              <a:tabLst/>
              <a:defRPr/>
            </a:pPr>
            <a:r>
              <a:rPr kumimoji="0" lang="en-US" altLang="en-US" sz="3200" b="0" i="0" u="none" strike="noStrike" kern="1200" cap="none" spc="0" normalizeH="0" baseline="0" noProof="0" dirty="0">
                <a:ln>
                  <a:noFill/>
                </a:ln>
                <a:solidFill>
                  <a:srgbClr val="548235"/>
                </a:solidFill>
                <a:effectLst/>
                <a:uLnTx/>
                <a:uFillTx/>
                <a:latin typeface="Segoe UI Semibold" panose="020B0702040204020203" pitchFamily="34" charset="0"/>
                <a:ea typeface="+mn-ea"/>
                <a:cs typeface="Segoe UI Semibold" panose="020B0702040204020203" pitchFamily="34" charset="0"/>
              </a:rPr>
              <a:t>Laboratory and diagnostic data</a:t>
            </a:r>
          </a:p>
        </p:txBody>
      </p:sp>
      <p:cxnSp>
        <p:nvCxnSpPr>
          <p:cNvPr id="5" name="Straight Connector 8"/>
          <p:cNvCxnSpPr/>
          <p:nvPr/>
        </p:nvCxnSpPr>
        <p:spPr>
          <a:xfrm>
            <a:off x="604437" y="1196391"/>
            <a:ext cx="10983133" cy="0"/>
          </a:xfrm>
          <a:prstGeom prst="line">
            <a:avLst/>
          </a:prstGeom>
          <a:ln w="28575">
            <a:solidFill>
              <a:srgbClr val="0082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1436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a:bodyPr>
          <a:lstStyle/>
          <a:p>
            <a:pPr>
              <a:buClr>
                <a:srgbClr val="006699"/>
              </a:buClr>
              <a:buSzPct val="100000"/>
              <a:buNone/>
            </a:pPr>
            <a:r>
              <a:rPr lang="en-US" sz="2800" dirty="0">
                <a:solidFill>
                  <a:srgbClr val="3B3838"/>
                </a:solidFill>
                <a:cs typeface="Segoe UI" panose="020B0502040204020203" pitchFamily="34" charset="0"/>
              </a:rPr>
              <a:t>Obtaining an accurate and complete pediatric health history is essential when providing health care to children. </a:t>
            </a:r>
          </a:p>
          <a:p>
            <a:pPr>
              <a:buClr>
                <a:srgbClr val="006699"/>
              </a:buClr>
              <a:buSzPct val="100000"/>
              <a:buNone/>
            </a:pPr>
            <a:r>
              <a:rPr lang="en-US" sz="2800" dirty="0">
                <a:solidFill>
                  <a:srgbClr val="3B3838"/>
                </a:solidFill>
                <a:cs typeface="Segoe UI" panose="020B0502040204020203" pitchFamily="34" charset="0"/>
              </a:rPr>
              <a:t>The pediatric health care provider must possess </a:t>
            </a:r>
            <a:r>
              <a:rPr lang="en-US" sz="3200" dirty="0">
                <a:solidFill>
                  <a:srgbClr val="548235"/>
                </a:solidFill>
                <a:cs typeface="Segoe UI Semibold" panose="020B0702040204020203" pitchFamily="34" charset="0"/>
              </a:rPr>
              <a:t>excellent communication skills</a:t>
            </a:r>
            <a:r>
              <a:rPr lang="en-US" sz="2800" dirty="0">
                <a:solidFill>
                  <a:srgbClr val="3B3838"/>
                </a:solidFill>
                <a:cs typeface="Segoe UI" panose="020B0502040204020203" pitchFamily="34" charset="0"/>
              </a:rPr>
              <a:t> when working with children and families in order to elicit the most accurate and complete health history while maintaining provider– patient trust.</a:t>
            </a:r>
          </a:p>
        </p:txBody>
      </p:sp>
      <p:sp>
        <p:nvSpPr>
          <p:cNvPr id="3" name="Title 2"/>
          <p:cNvSpPr>
            <a:spLocks noGrp="1"/>
          </p:cNvSpPr>
          <p:nvPr>
            <p:ph type="title"/>
          </p:nvPr>
        </p:nvSpPr>
        <p:spPr/>
        <p:txBody>
          <a:bodyPr>
            <a:noAutofit/>
          </a:bodyPr>
          <a:lstStyle/>
          <a:p>
            <a:pPr defTabSz="914372"/>
            <a:r>
              <a:rPr lang="en-US" sz="4000" dirty="0"/>
              <a:t>How to Conduct a Pediatric History Interview</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297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a:bodyPr>
          <a:lstStyle/>
          <a:p>
            <a:pPr>
              <a:buClr>
                <a:srgbClr val="006699"/>
              </a:buClr>
              <a:buSzPct val="100000"/>
              <a:buNone/>
            </a:pPr>
            <a:endParaRPr lang="en-US" sz="2800" b="1" dirty="0">
              <a:solidFill>
                <a:srgbClr val="3B3838"/>
              </a:solidFill>
              <a:cs typeface="Segoe UI Semibold" panose="020B0702040204020203" pitchFamily="34" charset="0"/>
            </a:endParaRPr>
          </a:p>
          <a:p>
            <a:pPr>
              <a:buClr>
                <a:srgbClr val="006699"/>
              </a:buClr>
              <a:buSzPct val="100000"/>
              <a:buNone/>
            </a:pPr>
            <a:r>
              <a:rPr lang="en-US" sz="2800" b="1" dirty="0">
                <a:solidFill>
                  <a:srgbClr val="3B3838"/>
                </a:solidFill>
                <a:cs typeface="Segoe UI Semibold" panose="020B0702040204020203" pitchFamily="34" charset="0"/>
              </a:rPr>
              <a:t>• </a:t>
            </a:r>
            <a:r>
              <a:rPr lang="en-US" sz="2800" b="1" dirty="0">
                <a:solidFill>
                  <a:srgbClr val="548235"/>
                </a:solidFill>
                <a:cs typeface="Segoe UI Semibold" panose="020B0702040204020203" pitchFamily="34" charset="0"/>
              </a:rPr>
              <a:t>For infants and preverbal children</a:t>
            </a:r>
            <a:r>
              <a:rPr lang="en-US" sz="2800" dirty="0">
                <a:solidFill>
                  <a:srgbClr val="3B3838"/>
                </a:solidFill>
                <a:cs typeface="Segoe UI Semibold" panose="020B0702040204020203" pitchFamily="34" charset="0"/>
              </a:rPr>
              <a:t>, the primary source of historical  information is the parent or primary caregiver.</a:t>
            </a:r>
          </a:p>
          <a:p>
            <a:pPr marL="457200" indent="-457200">
              <a:buClr>
                <a:srgbClr val="548235"/>
              </a:buClr>
              <a:buSzPct val="100000"/>
              <a:buFont typeface="Arial" panose="020B0604020202020204" pitchFamily="34" charset="0"/>
              <a:buChar char="•"/>
            </a:pPr>
            <a:r>
              <a:rPr lang="en-US" sz="2800" b="1" dirty="0">
                <a:solidFill>
                  <a:srgbClr val="548235"/>
                </a:solidFill>
                <a:cs typeface="Segoe UI Semibold" panose="020B0702040204020203" pitchFamily="34" charset="0"/>
              </a:rPr>
              <a:t>For older infants and toddlers</a:t>
            </a:r>
            <a:r>
              <a:rPr lang="en-US" sz="2800" dirty="0">
                <a:solidFill>
                  <a:srgbClr val="3B3838"/>
                </a:solidFill>
                <a:cs typeface="Segoe UI Semibold" panose="020B0702040204020203" pitchFamily="34" charset="0"/>
              </a:rPr>
              <a:t>, it is important that the parent remain  within eyesight of the child to minimize stranger anxiety. </a:t>
            </a:r>
          </a:p>
        </p:txBody>
      </p:sp>
      <p:sp>
        <p:nvSpPr>
          <p:cNvPr id="3" name="Title 2"/>
          <p:cNvSpPr>
            <a:spLocks noGrp="1"/>
          </p:cNvSpPr>
          <p:nvPr>
            <p:ph type="title"/>
          </p:nvPr>
        </p:nvSpPr>
        <p:spPr/>
        <p:txBody>
          <a:bodyPr>
            <a:noAutofit/>
          </a:bodyPr>
          <a:lstStyle/>
          <a:p>
            <a:r>
              <a:rPr lang="en-US" sz="4000" b="1" dirty="0">
                <a:latin typeface="Segoe UI Semibold" panose="020B0702040204020203" pitchFamily="34" charset="0"/>
                <a:cs typeface="Segoe UI Semibold" panose="020B0702040204020203" pitchFamily="34" charset="0"/>
              </a:rPr>
              <a:t>Pediatric Health History</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8665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a:bodyPr>
          <a:lstStyle/>
          <a:p>
            <a:pPr marL="457200" indent="-457200">
              <a:buClr>
                <a:srgbClr val="548235"/>
              </a:buClr>
              <a:buSzPct val="100000"/>
              <a:buFont typeface="Arial" panose="020B0604020202020204" pitchFamily="34" charset="0"/>
              <a:buChar char="•"/>
            </a:pPr>
            <a:endParaRPr lang="en-US" sz="2800" b="1" dirty="0">
              <a:solidFill>
                <a:srgbClr val="548235"/>
              </a:solidFill>
              <a:latin typeface="+mj-lt"/>
              <a:cs typeface="Segoe UI Semibold" panose="020B0702040204020203" pitchFamily="34" charset="0"/>
            </a:endParaRPr>
          </a:p>
          <a:p>
            <a:pPr marL="457200" indent="-457200">
              <a:buClr>
                <a:srgbClr val="548235"/>
              </a:buClr>
              <a:buSzPct val="100000"/>
              <a:buFont typeface="Arial" panose="020B0604020202020204" pitchFamily="34" charset="0"/>
              <a:buChar char="•"/>
            </a:pPr>
            <a:r>
              <a:rPr lang="en-US" sz="3600" b="1" dirty="0">
                <a:solidFill>
                  <a:srgbClr val="548235"/>
                </a:solidFill>
                <a:latin typeface="+mj-lt"/>
                <a:cs typeface="Segoe UI Semibold" panose="020B0702040204020203" pitchFamily="34" charset="0"/>
              </a:rPr>
              <a:t>Some preschoolers </a:t>
            </a:r>
            <a:r>
              <a:rPr lang="en-US" sz="3600" dirty="0">
                <a:solidFill>
                  <a:srgbClr val="3B3838"/>
                </a:solidFill>
                <a:latin typeface="+mj-lt"/>
                <a:cs typeface="Segoe UI Semibold" panose="020B0702040204020203" pitchFamily="34" charset="0"/>
              </a:rPr>
              <a:t>can answer questions during the history, depending on their language abilities, developmental level, and temperament. </a:t>
            </a:r>
          </a:p>
          <a:p>
            <a:pPr marL="457200" indent="-457200">
              <a:buClr>
                <a:srgbClr val="548235"/>
              </a:buClr>
              <a:buSzPct val="100000"/>
              <a:buFont typeface="Arial" panose="020B0604020202020204" pitchFamily="34" charset="0"/>
              <a:buChar char="•"/>
            </a:pPr>
            <a:r>
              <a:rPr lang="en-US" sz="3600" b="1" dirty="0">
                <a:solidFill>
                  <a:srgbClr val="548235"/>
                </a:solidFill>
                <a:latin typeface="+mj-lt"/>
                <a:cs typeface="Segoe UI Semibold" panose="020B0702040204020203" pitchFamily="34" charset="0"/>
              </a:rPr>
              <a:t>Young children </a:t>
            </a:r>
            <a:r>
              <a:rPr lang="en-US" sz="3600" dirty="0">
                <a:solidFill>
                  <a:srgbClr val="3B3838"/>
                </a:solidFill>
                <a:latin typeface="+mj-lt"/>
                <a:cs typeface="Segoe UI Semibold" panose="020B0702040204020203" pitchFamily="34" charset="0"/>
              </a:rPr>
              <a:t>who are very shy should not be forced to participate in the interview, and children should not be overwhelmed with too many questions..</a:t>
            </a:r>
          </a:p>
        </p:txBody>
      </p:sp>
      <p:sp>
        <p:nvSpPr>
          <p:cNvPr id="3" name="Title 2"/>
          <p:cNvSpPr>
            <a:spLocks noGrp="1"/>
          </p:cNvSpPr>
          <p:nvPr>
            <p:ph type="title"/>
          </p:nvPr>
        </p:nvSpPr>
        <p:spPr/>
        <p:txBody>
          <a:bodyPr>
            <a:noAutofit/>
          </a:bodyPr>
          <a:lstStyle/>
          <a:p>
            <a:pPr defTabSz="914372"/>
            <a:r>
              <a:rPr lang="en-US" sz="4000" b="1" dirty="0"/>
              <a:t>Pediatric Health History</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7133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a:bodyPr>
          <a:lstStyle/>
          <a:p>
            <a:pPr>
              <a:buClr>
                <a:srgbClr val="006699"/>
              </a:buClr>
              <a:buSzPct val="100000"/>
              <a:buNone/>
            </a:pPr>
            <a:r>
              <a:rPr lang="en-US" sz="3600" dirty="0">
                <a:solidFill>
                  <a:srgbClr val="3B3838"/>
                </a:solidFill>
                <a:cs typeface="Segoe UI Semibold" panose="020B0702040204020203" pitchFamily="34" charset="0"/>
              </a:rPr>
              <a:t>. </a:t>
            </a:r>
          </a:p>
          <a:p>
            <a:pPr>
              <a:buClr>
                <a:srgbClr val="006699"/>
              </a:buClr>
              <a:buSzPct val="100000"/>
              <a:buNone/>
            </a:pPr>
            <a:r>
              <a:rPr lang="en-US" sz="3600" dirty="0">
                <a:solidFill>
                  <a:schemeClr val="accent3"/>
                </a:solidFill>
                <a:cs typeface="Segoe UI Semibold" panose="020B0702040204020203" pitchFamily="34" charset="0"/>
              </a:rPr>
              <a:t>• </a:t>
            </a:r>
            <a:r>
              <a:rPr lang="en-US" sz="3600" b="1" dirty="0">
                <a:solidFill>
                  <a:srgbClr val="548235"/>
                </a:solidFill>
                <a:cs typeface="Segoe UI Semibold" panose="020B0702040204020203" pitchFamily="34" charset="0"/>
              </a:rPr>
              <a:t>Children who are school-aged and older </a:t>
            </a:r>
            <a:r>
              <a:rPr lang="en-US" sz="3600" dirty="0">
                <a:solidFill>
                  <a:srgbClr val="3B3838"/>
                </a:solidFill>
                <a:cs typeface="Segoe UI Semibold" panose="020B0702040204020203" pitchFamily="34" charset="0"/>
              </a:rPr>
              <a:t>can provide their own health history with verification from the parent or caregiver as needed.</a:t>
            </a:r>
          </a:p>
          <a:p>
            <a:pPr>
              <a:buClr>
                <a:srgbClr val="006699"/>
              </a:buClr>
              <a:buSzPct val="100000"/>
              <a:buNone/>
            </a:pPr>
            <a:r>
              <a:rPr lang="en-US" sz="3600" dirty="0">
                <a:solidFill>
                  <a:srgbClr val="3B3838"/>
                </a:solidFill>
                <a:cs typeface="Segoe UI Semibold" panose="020B0702040204020203" pitchFamily="34" charset="0"/>
              </a:rPr>
              <a:t> </a:t>
            </a:r>
            <a:r>
              <a:rPr lang="en-US" sz="3600" b="1" dirty="0">
                <a:solidFill>
                  <a:srgbClr val="548235"/>
                </a:solidFill>
                <a:cs typeface="Segoe UI Semibold" panose="020B0702040204020203" pitchFamily="34" charset="0"/>
              </a:rPr>
              <a:t>Older school-aged children and adolescents </a:t>
            </a:r>
            <a:r>
              <a:rPr lang="en-US" sz="3600" dirty="0">
                <a:solidFill>
                  <a:srgbClr val="3B3838"/>
                </a:solidFill>
                <a:cs typeface="Segoe UI Semibold" panose="020B0702040204020203" pitchFamily="34" charset="0"/>
              </a:rPr>
              <a:t>have a heightened need for privacy..</a:t>
            </a:r>
          </a:p>
        </p:txBody>
      </p:sp>
      <p:sp>
        <p:nvSpPr>
          <p:cNvPr id="3" name="Title 2"/>
          <p:cNvSpPr>
            <a:spLocks noGrp="1"/>
          </p:cNvSpPr>
          <p:nvPr>
            <p:ph type="title"/>
          </p:nvPr>
        </p:nvSpPr>
        <p:spPr/>
        <p:txBody>
          <a:bodyPr>
            <a:noAutofit/>
          </a:bodyPr>
          <a:lstStyle/>
          <a:p>
            <a:r>
              <a:rPr lang="en-US" sz="4000" b="1" dirty="0">
                <a:latin typeface="Segoe UI Light" panose="020B0502040204020203" pitchFamily="34" charset="0"/>
                <a:cs typeface="Segoe UI Light" panose="020B0502040204020203" pitchFamily="34" charset="0"/>
              </a:rPr>
              <a:t>Pediatric Health History</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9856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a:bodyPr>
          <a:lstStyle/>
          <a:p>
            <a:pPr>
              <a:buClr>
                <a:srgbClr val="006699"/>
              </a:buClr>
              <a:buSzPct val="100000"/>
              <a:buNone/>
            </a:pPr>
            <a:r>
              <a:rPr lang="en-US" sz="2800" b="1" dirty="0">
                <a:solidFill>
                  <a:srgbClr val="548235"/>
                </a:solidFill>
                <a:cs typeface="Segoe UI Semibold" panose="020B0702040204020203" pitchFamily="34" charset="0"/>
              </a:rPr>
              <a:t>Infant</a:t>
            </a:r>
          </a:p>
          <a:p>
            <a:pPr>
              <a:buClr>
                <a:srgbClr val="006699"/>
              </a:buClr>
              <a:buSzPct val="100000"/>
              <a:buNone/>
            </a:pPr>
            <a:r>
              <a:rPr lang="en-US" sz="2800" dirty="0">
                <a:solidFill>
                  <a:srgbClr val="3B3838"/>
                </a:solidFill>
                <a:cs typeface="Segoe UI Semibold" panose="020B0702040204020203" pitchFamily="34" charset="0"/>
              </a:rPr>
              <a:t>• Before performing a procedure,</a:t>
            </a:r>
          </a:p>
          <a:p>
            <a:pPr>
              <a:buClr>
                <a:srgbClr val="006699"/>
              </a:buClr>
              <a:buSzPct val="100000"/>
              <a:buNone/>
            </a:pPr>
            <a:r>
              <a:rPr lang="en-US" sz="2800" dirty="0">
                <a:solidFill>
                  <a:srgbClr val="3B3838"/>
                </a:solidFill>
                <a:cs typeface="Segoe UI Semibold" panose="020B0702040204020203" pitchFamily="34" charset="0"/>
              </a:rPr>
              <a:t> talk to and touch the infant.</a:t>
            </a:r>
          </a:p>
          <a:p>
            <a:pPr>
              <a:buClr>
                <a:srgbClr val="006699"/>
              </a:buClr>
              <a:buSzPct val="100000"/>
              <a:buNone/>
            </a:pPr>
            <a:r>
              <a:rPr lang="en-US" sz="2800" dirty="0">
                <a:solidFill>
                  <a:srgbClr val="3B3838"/>
                </a:solidFill>
                <a:cs typeface="Segoe UI Semibold" panose="020B0702040204020203" pitchFamily="34" charset="0"/>
              </a:rPr>
              <a:t>• Use a gentle touch.</a:t>
            </a:r>
          </a:p>
          <a:p>
            <a:pPr>
              <a:buClr>
                <a:srgbClr val="006699"/>
              </a:buClr>
              <a:buSzPct val="100000"/>
              <a:buNone/>
            </a:pPr>
            <a:r>
              <a:rPr lang="en-US" sz="2800" dirty="0">
                <a:solidFill>
                  <a:srgbClr val="3B3838"/>
                </a:solidFill>
                <a:cs typeface="Segoe UI Semibold" panose="020B0702040204020203" pitchFamily="34" charset="0"/>
              </a:rPr>
              <a:t>• Speak softly.</a:t>
            </a:r>
          </a:p>
          <a:p>
            <a:pPr>
              <a:buClr>
                <a:srgbClr val="006699"/>
              </a:buClr>
              <a:buSzPct val="100000"/>
              <a:buNone/>
            </a:pPr>
            <a:r>
              <a:rPr lang="en-US" sz="2800" dirty="0">
                <a:solidFill>
                  <a:srgbClr val="3B3838"/>
                </a:solidFill>
                <a:cs typeface="Segoe UI Semibold" panose="020B0702040204020203" pitchFamily="34" charset="0"/>
              </a:rPr>
              <a:t>• Allow the infant to hold a favorite toy during the assessment.</a:t>
            </a:r>
          </a:p>
        </p:txBody>
      </p:sp>
      <p:sp>
        <p:nvSpPr>
          <p:cNvPr id="3" name="Title 2"/>
          <p:cNvSpPr>
            <a:spLocks noGrp="1"/>
          </p:cNvSpPr>
          <p:nvPr>
            <p:ph type="title"/>
          </p:nvPr>
        </p:nvSpPr>
        <p:spPr>
          <a:xfrm>
            <a:off x="604433" y="341094"/>
            <a:ext cx="10983132" cy="747763"/>
          </a:xfrm>
        </p:spPr>
        <p:txBody>
          <a:bodyPr>
            <a:noAutofit/>
          </a:bodyPr>
          <a:lstStyle/>
          <a:p>
            <a:r>
              <a:rPr lang="en-US" sz="4000" dirty="0">
                <a:latin typeface="Segoe UI Light" panose="020B0502040204020203" pitchFamily="34" charset="0"/>
                <a:cs typeface="Segoe UI Light" panose="020B0502040204020203" pitchFamily="34" charset="0"/>
              </a:rPr>
              <a:t>Age-specific interview and assessment tips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C8C0B543-D502-4A72-B003-AA61D43DE1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38968" y="1836620"/>
            <a:ext cx="2148597" cy="14323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E4608E5-540A-4F13-A396-791331DF7F7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70332" y="3246814"/>
            <a:ext cx="2711087" cy="16120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8352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a:bodyPr>
          <a:lstStyle/>
          <a:p>
            <a:pPr>
              <a:buClr>
                <a:srgbClr val="006699"/>
              </a:buClr>
              <a:buSzPct val="100000"/>
              <a:buNone/>
            </a:pPr>
            <a:r>
              <a:rPr lang="en-US" sz="2800" b="1" dirty="0">
                <a:solidFill>
                  <a:srgbClr val="548235"/>
                </a:solidFill>
                <a:cs typeface="Segoe UI Semibold" panose="020B0702040204020203" pitchFamily="34" charset="0"/>
              </a:rPr>
              <a:t>Toddler</a:t>
            </a:r>
          </a:p>
          <a:p>
            <a:pPr>
              <a:buClr>
                <a:srgbClr val="006699"/>
              </a:buClr>
              <a:buSzPct val="100000"/>
              <a:buNone/>
            </a:pPr>
            <a:r>
              <a:rPr lang="en-US" sz="2800" dirty="0">
                <a:solidFill>
                  <a:srgbClr val="3B3838"/>
                </a:solidFill>
                <a:cs typeface="Segoe UI Semibold" panose="020B0702040204020203" pitchFamily="34" charset="0"/>
              </a:rPr>
              <a:t>• Encourage the parents to be with you during the interview.</a:t>
            </a:r>
          </a:p>
          <a:p>
            <a:pPr>
              <a:buClr>
                <a:srgbClr val="006699"/>
              </a:buClr>
              <a:buSzPct val="100000"/>
              <a:buNone/>
            </a:pPr>
            <a:r>
              <a:rPr lang="en-US" sz="2800" dirty="0">
                <a:solidFill>
                  <a:srgbClr val="3B3838"/>
                </a:solidFill>
                <a:cs typeface="Segoe UI Semibold" panose="020B0702040204020203" pitchFamily="34" charset="0"/>
              </a:rPr>
              <a:t>• Allow the toddler to be close to his parents.</a:t>
            </a:r>
          </a:p>
          <a:p>
            <a:pPr>
              <a:buClr>
                <a:srgbClr val="006699"/>
              </a:buClr>
              <a:buSzPct val="100000"/>
              <a:buNone/>
            </a:pPr>
            <a:r>
              <a:rPr lang="en-US" sz="2800" dirty="0">
                <a:solidFill>
                  <a:srgbClr val="3B3838"/>
                </a:solidFill>
                <a:cs typeface="Segoe UI Semibold" panose="020B0702040204020203" pitchFamily="34" charset="0"/>
              </a:rPr>
              <a:t>• Provide simple explanations and use simple language.</a:t>
            </a:r>
          </a:p>
          <a:p>
            <a:pPr>
              <a:buClr>
                <a:srgbClr val="006699"/>
              </a:buClr>
              <a:buSzPct val="100000"/>
              <a:buNone/>
            </a:pPr>
            <a:endParaRPr lang="en-US" sz="2800" dirty="0">
              <a:solidFill>
                <a:srgbClr val="3B3838"/>
              </a:solidFill>
              <a:cs typeface="Segoe UI Semibold" panose="020B0702040204020203" pitchFamily="34" charset="0"/>
            </a:endParaRPr>
          </a:p>
        </p:txBody>
      </p:sp>
      <p:sp>
        <p:nvSpPr>
          <p:cNvPr id="3" name="Title 2"/>
          <p:cNvSpPr>
            <a:spLocks noGrp="1"/>
          </p:cNvSpPr>
          <p:nvPr>
            <p:ph type="title"/>
          </p:nvPr>
        </p:nvSpPr>
        <p:spPr/>
        <p:txBody>
          <a:bodyPr>
            <a:noAutofit/>
          </a:bodyPr>
          <a:lstStyle/>
          <a:p>
            <a:r>
              <a:rPr lang="en-US" sz="4000" dirty="0">
                <a:latin typeface="Segoe UI Light" panose="020B0502040204020203" pitchFamily="34" charset="0"/>
                <a:cs typeface="Segoe UI Light" panose="020B0502040204020203" pitchFamily="34" charset="0"/>
              </a:rPr>
              <a:t>Age-specific interview and assessment tips.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7931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a:bodyPr>
          <a:lstStyle/>
          <a:p>
            <a:pPr>
              <a:buClr>
                <a:srgbClr val="006699"/>
              </a:buClr>
              <a:buSzPct val="100000"/>
              <a:buNone/>
            </a:pPr>
            <a:r>
              <a:rPr lang="en-US" sz="2800" b="1" dirty="0">
                <a:solidFill>
                  <a:srgbClr val="548235"/>
                </a:solidFill>
                <a:cs typeface="Segoe UI Semibold" panose="020B0702040204020203" pitchFamily="34" charset="0"/>
              </a:rPr>
              <a:t>Preschool child</a:t>
            </a:r>
          </a:p>
          <a:p>
            <a:pPr>
              <a:buClr>
                <a:srgbClr val="006699"/>
              </a:buClr>
              <a:buSzPct val="100000"/>
              <a:buNone/>
            </a:pPr>
            <a:r>
              <a:rPr lang="en-US" sz="2800" dirty="0">
                <a:solidFill>
                  <a:srgbClr val="3B3838"/>
                </a:solidFill>
                <a:cs typeface="Segoe UI Semibold" panose="020B0702040204020203" pitchFamily="34" charset="0"/>
              </a:rPr>
              <a:t>• Ask simple questions.</a:t>
            </a:r>
          </a:p>
          <a:p>
            <a:pPr>
              <a:buClr>
                <a:srgbClr val="006699"/>
              </a:buClr>
              <a:buSzPct val="100000"/>
              <a:buNone/>
            </a:pPr>
            <a:r>
              <a:rPr lang="en-US" sz="2800" dirty="0">
                <a:solidFill>
                  <a:srgbClr val="3B3838"/>
                </a:solidFill>
                <a:cs typeface="Segoe UI Semibold" panose="020B0702040204020203" pitchFamily="34" charset="0"/>
              </a:rPr>
              <a:t>• Allow the child to ask questions.</a:t>
            </a:r>
          </a:p>
          <a:p>
            <a:pPr>
              <a:buClr>
                <a:srgbClr val="006699"/>
              </a:buClr>
              <a:buSzPct val="100000"/>
              <a:buNone/>
            </a:pPr>
            <a:r>
              <a:rPr lang="en-US" sz="2800" dirty="0">
                <a:solidFill>
                  <a:srgbClr val="3B3838"/>
                </a:solidFill>
                <a:cs typeface="Segoe UI Semibold" panose="020B0702040204020203" pitchFamily="34" charset="0"/>
              </a:rPr>
              <a:t>• Provide simple explanations.</a:t>
            </a:r>
          </a:p>
          <a:p>
            <a:pPr>
              <a:buClr>
                <a:srgbClr val="006699"/>
              </a:buClr>
              <a:buSzPct val="100000"/>
              <a:buNone/>
            </a:pPr>
            <a:r>
              <a:rPr lang="en-US" sz="2800" dirty="0">
                <a:solidFill>
                  <a:srgbClr val="3B3838"/>
                </a:solidFill>
                <a:cs typeface="Segoe UI Semibold" panose="020B0702040204020203" pitchFamily="34" charset="0"/>
              </a:rPr>
              <a:t>• Avoid using words that sound threatening or have double meanings.</a:t>
            </a:r>
          </a:p>
          <a:p>
            <a:pPr>
              <a:buClr>
                <a:srgbClr val="006699"/>
              </a:buClr>
              <a:buSzPct val="100000"/>
              <a:buNone/>
            </a:pPr>
            <a:r>
              <a:rPr lang="en-US" sz="2800" dirty="0">
                <a:solidFill>
                  <a:srgbClr val="3B3838"/>
                </a:solidFill>
                <a:cs typeface="Segoe UI Semibold" panose="020B0702040204020203" pitchFamily="34" charset="0"/>
              </a:rPr>
              <a:t>.</a:t>
            </a:r>
          </a:p>
        </p:txBody>
      </p:sp>
      <p:sp>
        <p:nvSpPr>
          <p:cNvPr id="3" name="Title 2"/>
          <p:cNvSpPr>
            <a:spLocks noGrp="1"/>
          </p:cNvSpPr>
          <p:nvPr>
            <p:ph type="title"/>
          </p:nvPr>
        </p:nvSpPr>
        <p:spPr/>
        <p:txBody>
          <a:bodyPr>
            <a:noAutofit/>
          </a:bodyPr>
          <a:lstStyle/>
          <a:p>
            <a:r>
              <a:rPr lang="en-US" sz="4000" dirty="0">
                <a:latin typeface="Segoe UI Light" panose="020B0502040204020203" pitchFamily="34" charset="0"/>
                <a:cs typeface="Segoe UI Light" panose="020B0502040204020203" pitchFamily="34" charset="0"/>
              </a:rPr>
              <a:t>Age-specific interview and assessment tips.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5035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a:bodyPr>
          <a:lstStyle/>
          <a:p>
            <a:pPr>
              <a:buClr>
                <a:srgbClr val="006699"/>
              </a:buClr>
              <a:buSzPct val="100000"/>
              <a:buNone/>
            </a:pPr>
            <a:r>
              <a:rPr lang="en-US" sz="2800" b="1" dirty="0">
                <a:solidFill>
                  <a:srgbClr val="548235"/>
                </a:solidFill>
                <a:cs typeface="Segoe UI Semibold" panose="020B0702040204020203" pitchFamily="34" charset="0"/>
              </a:rPr>
              <a:t>School-age child</a:t>
            </a:r>
          </a:p>
          <a:p>
            <a:pPr>
              <a:buClr>
                <a:srgbClr val="006699"/>
              </a:buClr>
              <a:buSzPct val="100000"/>
              <a:buNone/>
            </a:pPr>
            <a:r>
              <a:rPr lang="en-US" sz="2800" dirty="0">
                <a:solidFill>
                  <a:srgbClr val="3B3838"/>
                </a:solidFill>
                <a:cs typeface="Segoe UI Semibold" panose="020B0702040204020203" pitchFamily="34" charset="0"/>
              </a:rPr>
              <a:t>• Provide explanations for procedures.</a:t>
            </a:r>
          </a:p>
          <a:p>
            <a:pPr>
              <a:buClr>
                <a:srgbClr val="006699"/>
              </a:buClr>
              <a:buSzPct val="100000"/>
              <a:buNone/>
            </a:pPr>
            <a:r>
              <a:rPr lang="en-US" sz="2800" dirty="0">
                <a:solidFill>
                  <a:srgbClr val="3B3838"/>
                </a:solidFill>
                <a:cs typeface="Segoe UI Semibold" panose="020B0702040204020203" pitchFamily="34" charset="0"/>
              </a:rPr>
              <a:t>• Explain the purpose of equipment, such as an ophthalmoscope to see inside the eye.</a:t>
            </a:r>
          </a:p>
          <a:p>
            <a:pPr>
              <a:buClr>
                <a:srgbClr val="006699"/>
              </a:buClr>
              <a:buSzPct val="100000"/>
              <a:buNone/>
            </a:pPr>
            <a:r>
              <a:rPr lang="en-US" sz="2800" dirty="0">
                <a:solidFill>
                  <a:srgbClr val="3B3838"/>
                </a:solidFill>
                <a:cs typeface="Segoe UI Semibold" panose="020B0702040204020203" pitchFamily="34" charset="0"/>
              </a:rPr>
              <a:t>.</a:t>
            </a:r>
          </a:p>
        </p:txBody>
      </p:sp>
      <p:sp>
        <p:nvSpPr>
          <p:cNvPr id="3" name="Title 2"/>
          <p:cNvSpPr>
            <a:spLocks noGrp="1"/>
          </p:cNvSpPr>
          <p:nvPr>
            <p:ph type="title"/>
          </p:nvPr>
        </p:nvSpPr>
        <p:spPr/>
        <p:txBody>
          <a:bodyPr>
            <a:noAutofit/>
          </a:bodyPr>
          <a:lstStyle/>
          <a:p>
            <a:r>
              <a:rPr lang="en-US" sz="4000" dirty="0">
                <a:latin typeface="Segoe UI Light" panose="020B0502040204020203" pitchFamily="34" charset="0"/>
                <a:cs typeface="Segoe UI Light" panose="020B0502040204020203" pitchFamily="34" charset="0"/>
              </a:rPr>
              <a:t>Age-specific interview and assessment tips.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3625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4434" y="1836620"/>
            <a:ext cx="10983131" cy="4572752"/>
          </a:xfrm>
        </p:spPr>
        <p:txBody>
          <a:bodyPr>
            <a:normAutofit/>
          </a:bodyPr>
          <a:lstStyle/>
          <a:p>
            <a:pPr>
              <a:buClr>
                <a:srgbClr val="006699"/>
              </a:buClr>
              <a:buSzPct val="100000"/>
              <a:buNone/>
            </a:pPr>
            <a:r>
              <a:rPr lang="en-US" sz="2800" b="1" dirty="0">
                <a:solidFill>
                  <a:srgbClr val="548235"/>
                </a:solidFill>
                <a:cs typeface="Segoe UI Semibold" panose="020B0702040204020203" pitchFamily="34" charset="0"/>
              </a:rPr>
              <a:t>Adolescent</a:t>
            </a:r>
          </a:p>
          <a:p>
            <a:pPr>
              <a:buClr>
                <a:srgbClr val="006699"/>
              </a:buClr>
              <a:buSzPct val="100000"/>
              <a:buNone/>
            </a:pPr>
            <a:r>
              <a:rPr lang="en-US" sz="2800" dirty="0">
                <a:solidFill>
                  <a:srgbClr val="3B3838"/>
                </a:solidFill>
                <a:cs typeface="Segoe UI Semibold" panose="020B0702040204020203" pitchFamily="34" charset="0"/>
              </a:rPr>
              <a:t>• Give the adolescent control whenever possible.</a:t>
            </a:r>
          </a:p>
          <a:p>
            <a:pPr>
              <a:buClr>
                <a:srgbClr val="006699"/>
              </a:buClr>
              <a:buSzPct val="100000"/>
              <a:buNone/>
            </a:pPr>
            <a:r>
              <a:rPr lang="en-US" sz="2800" dirty="0">
                <a:solidFill>
                  <a:srgbClr val="3B3838"/>
                </a:solidFill>
                <a:cs typeface="Segoe UI Semibold" panose="020B0702040204020203" pitchFamily="34" charset="0"/>
              </a:rPr>
              <a:t>• Facilitate trust and stress confidentiality.</a:t>
            </a:r>
          </a:p>
          <a:p>
            <a:pPr>
              <a:buClr>
                <a:srgbClr val="006699"/>
              </a:buClr>
              <a:buSzPct val="100000"/>
              <a:buNone/>
            </a:pPr>
            <a:r>
              <a:rPr lang="en-US" sz="2800" dirty="0">
                <a:solidFill>
                  <a:srgbClr val="3B3838"/>
                </a:solidFill>
                <a:cs typeface="Segoe UI Semibold" panose="020B0702040204020203" pitchFamily="34" charset="0"/>
              </a:rPr>
              <a:t>• Encourage honest and open communication.</a:t>
            </a:r>
          </a:p>
          <a:p>
            <a:pPr>
              <a:buClr>
                <a:srgbClr val="006699"/>
              </a:buClr>
              <a:buSzPct val="100000"/>
              <a:buNone/>
            </a:pPr>
            <a:r>
              <a:rPr lang="en-US" sz="2800" dirty="0">
                <a:solidFill>
                  <a:srgbClr val="3B3838"/>
                </a:solidFill>
                <a:cs typeface="Segoe UI Semibold" panose="020B0702040204020203" pitchFamily="34" charset="0"/>
              </a:rPr>
              <a:t>• Be nonjudgmental.</a:t>
            </a:r>
          </a:p>
          <a:p>
            <a:pPr>
              <a:buClr>
                <a:srgbClr val="006699"/>
              </a:buClr>
              <a:buSzPct val="100000"/>
              <a:buNone/>
            </a:pPr>
            <a:r>
              <a:rPr lang="en-US" sz="2800" dirty="0">
                <a:solidFill>
                  <a:srgbClr val="3B3838"/>
                </a:solidFill>
                <a:cs typeface="Segoe UI Semibold" panose="020B0702040204020203" pitchFamily="34" charset="0"/>
              </a:rPr>
              <a:t>.</a:t>
            </a:r>
          </a:p>
        </p:txBody>
      </p:sp>
      <p:sp>
        <p:nvSpPr>
          <p:cNvPr id="3" name="Title 2"/>
          <p:cNvSpPr>
            <a:spLocks noGrp="1"/>
          </p:cNvSpPr>
          <p:nvPr>
            <p:ph type="title"/>
          </p:nvPr>
        </p:nvSpPr>
        <p:spPr/>
        <p:txBody>
          <a:bodyPr>
            <a:noAutofit/>
          </a:bodyPr>
          <a:lstStyle/>
          <a:p>
            <a:r>
              <a:rPr lang="en-US" sz="4000" dirty="0">
                <a:latin typeface="Segoe UI Light" panose="020B0502040204020203" pitchFamily="34" charset="0"/>
                <a:cs typeface="Segoe UI Light" panose="020B0502040204020203" pitchFamily="34" charset="0"/>
              </a:rPr>
              <a:t>Age-specific interview and assessment tips.</a:t>
            </a:r>
          </a:p>
        </p:txBody>
      </p:sp>
      <p:cxnSp>
        <p:nvCxnSpPr>
          <p:cNvPr id="4" name="Straight Connector 3"/>
          <p:cNvCxnSpPr/>
          <p:nvPr/>
        </p:nvCxnSpPr>
        <p:spPr>
          <a:xfrm flipH="1">
            <a:off x="618501" y="1196391"/>
            <a:ext cx="1097280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889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35527" y="242667"/>
            <a:ext cx="11720945" cy="6372666"/>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p:txBody>
          <a:bodyPr anchor="ctr"/>
          <a:lstStyle/>
          <a:p>
            <a:r>
              <a:rPr lang="en-US" sz="6000" dirty="0"/>
              <a:t>Subjective Data</a:t>
            </a:r>
            <a:endParaRPr lang="ar-IQ" sz="6000" dirty="0">
              <a:ea typeface="Segoe UI Black" panose="020B0A02040204020203" pitchFamily="34" charset="0"/>
              <a:cs typeface="Segoe UI Light" panose="020B0502040204020203" pitchFamily="34" charset="0"/>
            </a:endParaRPr>
          </a:p>
        </p:txBody>
      </p:sp>
      <p:pic>
        <p:nvPicPr>
          <p:cNvPr id="7" name="Grid" descr="grid plane">
            <a:extLst>
              <a:ext uri="{FF2B5EF4-FFF2-40B4-BE49-F238E27FC236}">
                <a16:creationId xmlns:a16="http://schemas.microsoft.com/office/drawing/2014/main" id="{71F5A0B2-7584-4034-8919-A5F2C482F463}"/>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t="-307" r="-943" b="64945"/>
          <a:stretch/>
        </p:blipFill>
        <p:spPr>
          <a:xfrm>
            <a:off x="311883" y="5482028"/>
            <a:ext cx="11704320" cy="1075509"/>
          </a:xfrm>
          <a:prstGeom prst="rect">
            <a:avLst/>
          </a:prstGeom>
        </p:spPr>
      </p:pic>
      <p:sp>
        <p:nvSpPr>
          <p:cNvPr id="9" name="Subtitle 2">
            <a:extLst>
              <a:ext uri="{FF2B5EF4-FFF2-40B4-BE49-F238E27FC236}">
                <a16:creationId xmlns:a16="http://schemas.microsoft.com/office/drawing/2014/main" id="{0FE0F52F-ADF1-4011-A51B-92383D0AB7F8}"/>
              </a:ext>
            </a:extLst>
          </p:cNvPr>
          <p:cNvSpPr txBox="1">
            <a:spLocks/>
          </p:cNvSpPr>
          <p:nvPr/>
        </p:nvSpPr>
        <p:spPr>
          <a:xfrm>
            <a:off x="7223760" y="4318313"/>
            <a:ext cx="4498847" cy="2082337"/>
          </a:xfrm>
          <a:prstGeom prst="rect">
            <a:avLst/>
          </a:prstGeom>
        </p:spPr>
        <p:txBody>
          <a:bodyPr numCol="1">
            <a:noAutofit/>
          </a:bodyPr>
          <a:lstStyle>
            <a:lvl1pPr marL="0" indent="0" algn="l" defTabSz="914400" rtl="0" eaLnBrk="1" latinLnBrk="0" hangingPunct="1">
              <a:lnSpc>
                <a:spcPct val="110000"/>
              </a:lnSpc>
              <a:spcBef>
                <a:spcPts val="1000"/>
              </a:spcBef>
              <a:buFont typeface="Arial" panose="020B0604020202020204" pitchFamily="34" charset="0"/>
              <a:buNone/>
              <a:defRPr sz="1300" kern="1200">
                <a:solidFill>
                  <a:schemeClr val="bg1"/>
                </a:solidFill>
                <a:latin typeface="Segoe UI Light" panose="020B0502040204020203" pitchFamily="34" charset="0"/>
                <a:ea typeface="+mn-ea"/>
                <a:cs typeface="Segoe UI Light"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300000"/>
              </a:lnSpc>
              <a:spcBef>
                <a:spcPts val="1800"/>
              </a:spcBef>
              <a:spcAft>
                <a:spcPts val="0"/>
              </a:spcAft>
              <a:buClrTx/>
              <a:buSzTx/>
              <a:buFont typeface="Arial" panose="020B0604020202020204" pitchFamily="34" charset="0"/>
              <a:buNone/>
              <a:tabLst/>
              <a:defRPr/>
            </a:pPr>
            <a:endParaRPr lang="ar-IQ" sz="1400" dirty="0">
              <a:solidFill>
                <a:prstClr val="white"/>
              </a:solidFill>
            </a:endParaRPr>
          </a:p>
        </p:txBody>
      </p:sp>
    </p:spTree>
    <p:extLst>
      <p:ext uri="{BB962C8B-B14F-4D97-AF65-F5344CB8AC3E}">
        <p14:creationId xmlns:p14="http://schemas.microsoft.com/office/powerpoint/2010/main" val="3845030818"/>
      </p:ext>
    </p:extLst>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t>Subjective Data</a:t>
            </a:r>
          </a:p>
        </p:txBody>
      </p:sp>
      <p:sp>
        <p:nvSpPr>
          <p:cNvPr id="6" name="Rectangle 4"/>
          <p:cNvSpPr txBox="1">
            <a:spLocks noChangeArrowheads="1"/>
          </p:cNvSpPr>
          <p:nvPr/>
        </p:nvSpPr>
        <p:spPr bwMode="auto">
          <a:xfrm>
            <a:off x="1024690" y="1884947"/>
            <a:ext cx="4999592" cy="4495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19" rIns="91440" bIns="45719" numCol="1" anchor="t" anchorCtr="0" compatLnSpc="1">
            <a:prstTxWarp prst="textNoShape">
              <a:avLst/>
            </a:prstTxWarp>
          </a:bodyPr>
          <a:lstStyle>
            <a:lvl1pPr marL="342900" indent="-342900" algn="l" rtl="0" fontAlgn="base">
              <a:spcBef>
                <a:spcPct val="20000"/>
              </a:spcBef>
              <a:spcAft>
                <a:spcPct val="0"/>
              </a:spcAft>
              <a:buChar char="•"/>
              <a:defRPr sz="2800">
                <a:solidFill>
                  <a:schemeClr val="tx1"/>
                </a:solidFill>
                <a:latin typeface="Times New Roman" pitchFamily="18" charset="0"/>
                <a:ea typeface="+mn-ea"/>
                <a:cs typeface="Times New Roman" pitchFamily="18" charset="0"/>
              </a:defRPr>
            </a:lvl1pPr>
            <a:lvl2pPr marL="742950" indent="-285750" algn="l" rtl="0" fontAlgn="base">
              <a:spcBef>
                <a:spcPct val="20000"/>
              </a:spcBef>
              <a:spcAft>
                <a:spcPct val="0"/>
              </a:spcAft>
              <a:buChar char="–"/>
              <a:defRPr sz="2400">
                <a:solidFill>
                  <a:schemeClr val="tx1"/>
                </a:solidFill>
                <a:latin typeface="Times New Roman" pitchFamily="18" charset="0"/>
                <a:cs typeface="Times New Roman" pitchFamily="18" charset="0"/>
              </a:defRPr>
            </a:lvl2pPr>
            <a:lvl3pPr marL="1143000" indent="-228600" algn="l" rtl="0" fontAlgn="base">
              <a:spcBef>
                <a:spcPct val="20000"/>
              </a:spcBef>
              <a:spcAft>
                <a:spcPct val="0"/>
              </a:spcAft>
              <a:buChar char="•"/>
              <a:defRPr sz="2000">
                <a:solidFill>
                  <a:schemeClr val="tx1"/>
                </a:solidFill>
                <a:latin typeface="Times New Roman" pitchFamily="18" charset="0"/>
                <a:cs typeface="Times New Roman" pitchFamily="18" charset="0"/>
              </a:defRPr>
            </a:lvl3pPr>
            <a:lvl4pPr marL="1600200" indent="-228600" algn="l" rtl="0" fontAlgn="base">
              <a:spcBef>
                <a:spcPct val="20000"/>
              </a:spcBef>
              <a:spcAft>
                <a:spcPct val="0"/>
              </a:spcAft>
              <a:buChar char="–"/>
              <a:defRPr sz="1800">
                <a:solidFill>
                  <a:schemeClr val="tx1"/>
                </a:solidFill>
                <a:latin typeface="Times New Roman" pitchFamily="18" charset="0"/>
                <a:cs typeface="Times New Roman" pitchFamily="18" charset="0"/>
              </a:defRPr>
            </a:lvl4pPr>
            <a:lvl5pPr marL="2057400" indent="-228600" algn="l" rtl="0" fontAlgn="base">
              <a:spcBef>
                <a:spcPct val="20000"/>
              </a:spcBef>
              <a:spcAft>
                <a:spcPct val="0"/>
              </a:spcAft>
              <a:buChar char="»"/>
              <a:defRPr sz="1800">
                <a:solidFill>
                  <a:schemeClr val="tx1"/>
                </a:solidFill>
                <a:latin typeface="Times New Roman" pitchFamily="18" charset="0"/>
                <a:cs typeface="Times New Roman" pitchFamily="18" charset="0"/>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pPr marL="514350" indent="-514350">
              <a:lnSpc>
                <a:spcPct val="90000"/>
              </a:lnSpc>
              <a:spcBef>
                <a:spcPts val="1001"/>
              </a:spcBef>
              <a:spcAft>
                <a:spcPts val="1200"/>
              </a:spcAft>
              <a:buClr>
                <a:srgbClr val="008272"/>
              </a:buClr>
              <a:buSzPct val="100000"/>
              <a:buFont typeface="+mj-lt"/>
              <a:buAutoNum type="alphaUcPeriod"/>
            </a:pPr>
            <a:r>
              <a:rPr lang="en-US" altLang="en-US" sz="3200" dirty="0">
                <a:solidFill>
                  <a:srgbClr val="404040"/>
                </a:solidFill>
                <a:latin typeface="Segoe UI Semibold" panose="020B0702040204020203" pitchFamily="34" charset="0"/>
                <a:cs typeface="Segoe UI Semibold" panose="020B0702040204020203" pitchFamily="34" charset="0"/>
              </a:rPr>
              <a:t>Biographical data (demographical data) (ID)</a:t>
            </a:r>
          </a:p>
          <a:p>
            <a:pPr marL="914400" lvl="1" indent="-457200">
              <a:lnSpc>
                <a:spcPct val="90000"/>
              </a:lnSpc>
              <a:buClr>
                <a:srgbClr val="008272"/>
              </a:buClr>
              <a:buSzPct val="100000"/>
              <a:buFont typeface="+mj-lt"/>
              <a:buAutoNum type="arabicPeriod"/>
              <a:defRPr/>
            </a:pPr>
            <a:r>
              <a:rPr lang="en-US" altLang="en-US" kern="0" dirty="0">
                <a:solidFill>
                  <a:srgbClr val="008272"/>
                </a:solidFill>
                <a:latin typeface="Segoe UI Semibold" panose="020B0702040204020203" pitchFamily="34" charset="0"/>
                <a:cs typeface="Segoe UI Semibold" panose="020B0702040204020203" pitchFamily="34" charset="0"/>
              </a:rPr>
              <a:t>Name</a:t>
            </a:r>
          </a:p>
          <a:p>
            <a:pPr marL="914400" lvl="1" indent="-457200">
              <a:lnSpc>
                <a:spcPct val="90000"/>
              </a:lnSpc>
              <a:buClr>
                <a:srgbClr val="008272"/>
              </a:buClr>
              <a:buSzPct val="100000"/>
              <a:buFont typeface="+mj-lt"/>
              <a:buAutoNum type="arabicPeriod"/>
              <a:defRPr/>
            </a:pPr>
            <a:r>
              <a:rPr lang="en-US" altLang="en-US" kern="0" dirty="0">
                <a:solidFill>
                  <a:srgbClr val="008272"/>
                </a:solidFill>
                <a:latin typeface="Segoe UI Semibold" panose="020B0702040204020203" pitchFamily="34" charset="0"/>
                <a:cs typeface="Segoe UI Semibold" panose="020B0702040204020203" pitchFamily="34" charset="0"/>
              </a:rPr>
              <a:t>Age</a:t>
            </a:r>
          </a:p>
          <a:p>
            <a:pPr marL="914400" lvl="1" indent="-457200">
              <a:lnSpc>
                <a:spcPct val="90000"/>
              </a:lnSpc>
              <a:buClr>
                <a:srgbClr val="008272"/>
              </a:buClr>
              <a:buSzPct val="100000"/>
              <a:buFont typeface="+mj-lt"/>
              <a:buAutoNum type="arabicPeriod"/>
              <a:defRPr/>
            </a:pPr>
            <a:r>
              <a:rPr lang="en-US" altLang="en-US" kern="0" dirty="0">
                <a:solidFill>
                  <a:srgbClr val="008272"/>
                </a:solidFill>
                <a:latin typeface="Segoe UI Semibold" panose="020B0702040204020203" pitchFamily="34" charset="0"/>
                <a:cs typeface="Segoe UI Semibold" panose="020B0702040204020203" pitchFamily="34" charset="0"/>
              </a:rPr>
              <a:t>Gender</a:t>
            </a:r>
            <a:r>
              <a:rPr lang="en-US" altLang="en-US" kern="0" dirty="0">
                <a:solidFill>
                  <a:srgbClr val="404040"/>
                </a:solidFill>
                <a:latin typeface="+mn-lt"/>
              </a:rPr>
              <a:t> (male-or-female)</a:t>
            </a:r>
          </a:p>
          <a:p>
            <a:pPr marL="914400" lvl="1" indent="-457200">
              <a:lnSpc>
                <a:spcPct val="90000"/>
              </a:lnSpc>
              <a:buClr>
                <a:srgbClr val="008272"/>
              </a:buClr>
              <a:buSzPct val="100000"/>
              <a:buFont typeface="+mj-lt"/>
              <a:buAutoNum type="arabicPeriod"/>
              <a:defRPr/>
            </a:pPr>
            <a:r>
              <a:rPr lang="en-US" altLang="en-US" kern="0" dirty="0">
                <a:solidFill>
                  <a:srgbClr val="008272"/>
                </a:solidFill>
                <a:latin typeface="Segoe UI Semibold" panose="020B0702040204020203" pitchFamily="34" charset="0"/>
                <a:cs typeface="Segoe UI Semibold" panose="020B0702040204020203" pitchFamily="34" charset="0"/>
              </a:rPr>
              <a:t>Marital status </a:t>
            </a:r>
            <a:r>
              <a:rPr lang="en-US" altLang="en-US" kern="0" dirty="0">
                <a:solidFill>
                  <a:srgbClr val="404040"/>
                </a:solidFill>
                <a:latin typeface="+mn-lt"/>
              </a:rPr>
              <a:t>(married, single, divorce)</a:t>
            </a:r>
          </a:p>
          <a:p>
            <a:pPr marL="914400" lvl="1" indent="-457200">
              <a:lnSpc>
                <a:spcPct val="90000"/>
              </a:lnSpc>
              <a:buClr>
                <a:srgbClr val="008272"/>
              </a:buClr>
              <a:buSzPct val="100000"/>
              <a:buFont typeface="+mj-lt"/>
              <a:buAutoNum type="arabicPeriod"/>
              <a:defRPr/>
            </a:pPr>
            <a:r>
              <a:rPr lang="en-US" altLang="en-US" kern="0" dirty="0">
                <a:solidFill>
                  <a:srgbClr val="008272"/>
                </a:solidFill>
                <a:latin typeface="Segoe UI Semibold" panose="020B0702040204020203" pitchFamily="34" charset="0"/>
                <a:cs typeface="Segoe UI Semibold" panose="020B0702040204020203" pitchFamily="34" charset="0"/>
              </a:rPr>
              <a:t>Educational level </a:t>
            </a:r>
            <a:r>
              <a:rPr lang="en-US" altLang="en-US" kern="0" dirty="0">
                <a:solidFill>
                  <a:srgbClr val="404040"/>
                </a:solidFill>
                <a:latin typeface="+mn-lt"/>
              </a:rPr>
              <a:t>( primary, secondary, diploma,….)</a:t>
            </a:r>
          </a:p>
          <a:p>
            <a:pPr lvl="1">
              <a:lnSpc>
                <a:spcPct val="90000"/>
              </a:lnSpc>
              <a:buClr>
                <a:srgbClr val="008272"/>
              </a:buClr>
              <a:buSzPct val="100000"/>
              <a:defRPr/>
            </a:pPr>
            <a:endParaRPr lang="en-US" altLang="en-US" kern="0" dirty="0">
              <a:solidFill>
                <a:srgbClr val="404040"/>
              </a:solidFill>
              <a:latin typeface="+mn-lt"/>
            </a:endParaRPr>
          </a:p>
          <a:p>
            <a:pPr lvl="1">
              <a:lnSpc>
                <a:spcPct val="90000"/>
              </a:lnSpc>
              <a:buClr>
                <a:srgbClr val="008272"/>
              </a:buClr>
              <a:buSzPct val="100000"/>
              <a:defRPr/>
            </a:pPr>
            <a:endParaRPr lang="en-US" altLang="en-US" kern="0" dirty="0">
              <a:solidFill>
                <a:srgbClr val="404040"/>
              </a:solidFill>
              <a:latin typeface="+mn-lt"/>
            </a:endParaRPr>
          </a:p>
          <a:p>
            <a:pPr marL="514335" indent="-514335">
              <a:lnSpc>
                <a:spcPct val="90000"/>
              </a:lnSpc>
              <a:spcBef>
                <a:spcPts val="1001"/>
              </a:spcBef>
              <a:spcAft>
                <a:spcPts val="1200"/>
              </a:spcAft>
              <a:buClr>
                <a:srgbClr val="008272"/>
              </a:buClr>
              <a:buSzPct val="100000"/>
              <a:buFont typeface="+mj-lt"/>
              <a:buAutoNum type="alphaUcPeriod"/>
            </a:pPr>
            <a:endParaRPr lang="en-US" altLang="en-US" dirty="0">
              <a:solidFill>
                <a:srgbClr val="404040"/>
              </a:solidFill>
              <a:latin typeface="Segoe UI Semibold" panose="020B0702040204020203" pitchFamily="34" charset="0"/>
              <a:cs typeface="Segoe UI Semibold" panose="020B0702040204020203" pitchFamily="34" charset="0"/>
            </a:endParaRPr>
          </a:p>
        </p:txBody>
      </p:sp>
      <p:sp>
        <p:nvSpPr>
          <p:cNvPr id="2" name="Rectangle 1"/>
          <p:cNvSpPr/>
          <p:nvPr/>
        </p:nvSpPr>
        <p:spPr>
          <a:xfrm>
            <a:off x="6436660" y="2563189"/>
            <a:ext cx="5150908" cy="4265783"/>
          </a:xfrm>
          <a:prstGeom prst="rect">
            <a:avLst/>
          </a:prstGeom>
        </p:spPr>
        <p:txBody>
          <a:bodyPr wrap="square">
            <a:spAutoFit/>
          </a:bodyPr>
          <a:lstStyle/>
          <a:p>
            <a:pPr marL="914386" lvl="1" indent="-457200" fontAlgn="base">
              <a:lnSpc>
                <a:spcPct val="90000"/>
              </a:lnSpc>
              <a:spcBef>
                <a:spcPct val="20000"/>
              </a:spcBef>
              <a:spcAft>
                <a:spcPct val="0"/>
              </a:spcAft>
              <a:buClr>
                <a:srgbClr val="008272"/>
              </a:buClr>
              <a:buSzPct val="100000"/>
              <a:buFont typeface="+mj-lt"/>
              <a:buAutoNum type="arabicPeriod" startAt="6"/>
              <a:defRPr/>
            </a:pPr>
            <a:r>
              <a:rPr lang="en-US" sz="2400" kern="0" dirty="0">
                <a:solidFill>
                  <a:srgbClr val="008272"/>
                </a:solidFill>
                <a:latin typeface="Segoe UI Semibold" panose="020B0702040204020203" pitchFamily="34" charset="0"/>
                <a:cs typeface="Segoe UI Semibold" panose="020B0702040204020203" pitchFamily="34" charset="0"/>
              </a:rPr>
              <a:t>Occupation</a:t>
            </a:r>
            <a:r>
              <a:rPr lang="en-US" sz="2400" kern="0" dirty="0">
                <a:solidFill>
                  <a:srgbClr val="404040"/>
                </a:solidFill>
                <a:cs typeface="Times New Roman" pitchFamily="18" charset="0"/>
              </a:rPr>
              <a:t> (worker, officer, gainer</a:t>
            </a:r>
            <a:r>
              <a:rPr lang="ar-IQ" sz="2400" kern="0" dirty="0">
                <a:solidFill>
                  <a:srgbClr val="404040"/>
                </a:solidFill>
                <a:cs typeface="Times New Roman" pitchFamily="18" charset="0"/>
              </a:rPr>
              <a:t>(</a:t>
            </a:r>
            <a:r>
              <a:rPr lang="en-US" sz="2400" kern="0" dirty="0">
                <a:solidFill>
                  <a:srgbClr val="404040"/>
                </a:solidFill>
                <a:cs typeface="Times New Roman" pitchFamily="18" charset="0"/>
              </a:rPr>
              <a:t> </a:t>
            </a:r>
          </a:p>
          <a:p>
            <a:pPr marL="914386" lvl="1" indent="-457200" fontAlgn="base">
              <a:lnSpc>
                <a:spcPct val="90000"/>
              </a:lnSpc>
              <a:spcBef>
                <a:spcPct val="20000"/>
              </a:spcBef>
              <a:spcAft>
                <a:spcPct val="0"/>
              </a:spcAft>
              <a:buClr>
                <a:srgbClr val="008272"/>
              </a:buClr>
              <a:buSzPct val="100000"/>
              <a:buFont typeface="+mj-lt"/>
              <a:buAutoNum type="arabicPeriod" startAt="6"/>
              <a:defRPr/>
            </a:pPr>
            <a:r>
              <a:rPr lang="en-US" sz="2400" kern="0" dirty="0">
                <a:solidFill>
                  <a:srgbClr val="008272"/>
                </a:solidFill>
                <a:latin typeface="Segoe UI Semibold" panose="020B0702040204020203" pitchFamily="34" charset="0"/>
                <a:cs typeface="Segoe UI Semibold" panose="020B0702040204020203" pitchFamily="34" charset="0"/>
              </a:rPr>
              <a:t>Religion</a:t>
            </a:r>
            <a:r>
              <a:rPr lang="ar-IQ" sz="2400" kern="0" dirty="0">
                <a:solidFill>
                  <a:srgbClr val="404040"/>
                </a:solidFill>
                <a:cs typeface="Times New Roman" pitchFamily="18" charset="0"/>
              </a:rPr>
              <a:t> </a:t>
            </a:r>
            <a:r>
              <a:rPr lang="en-US" sz="2400" kern="0" dirty="0">
                <a:solidFill>
                  <a:srgbClr val="404040"/>
                </a:solidFill>
                <a:cs typeface="Times New Roman" pitchFamily="18" charset="0"/>
              </a:rPr>
              <a:t>(Muslimism, Jewish, Christian </a:t>
            </a:r>
          </a:p>
          <a:p>
            <a:pPr marL="914386" lvl="1" indent="-457200" fontAlgn="base">
              <a:lnSpc>
                <a:spcPct val="90000"/>
              </a:lnSpc>
              <a:spcBef>
                <a:spcPct val="20000"/>
              </a:spcBef>
              <a:spcAft>
                <a:spcPct val="0"/>
              </a:spcAft>
              <a:buClr>
                <a:srgbClr val="008272"/>
              </a:buClr>
              <a:buSzPct val="100000"/>
              <a:buFont typeface="+mj-lt"/>
              <a:buAutoNum type="arabicPeriod" startAt="6"/>
              <a:defRPr/>
            </a:pPr>
            <a:r>
              <a:rPr lang="en-US" sz="2400" kern="0" dirty="0">
                <a:solidFill>
                  <a:srgbClr val="008272"/>
                </a:solidFill>
                <a:latin typeface="Segoe UI Semibold" panose="020B0702040204020203" pitchFamily="34" charset="0"/>
                <a:cs typeface="Segoe UI Semibold" panose="020B0702040204020203" pitchFamily="34" charset="0"/>
              </a:rPr>
              <a:t>Birth date</a:t>
            </a:r>
          </a:p>
          <a:p>
            <a:pPr marL="914386" lvl="1" indent="-457200" fontAlgn="base">
              <a:lnSpc>
                <a:spcPct val="90000"/>
              </a:lnSpc>
              <a:spcBef>
                <a:spcPct val="20000"/>
              </a:spcBef>
              <a:spcAft>
                <a:spcPct val="0"/>
              </a:spcAft>
              <a:buClr>
                <a:srgbClr val="008272"/>
              </a:buClr>
              <a:buSzPct val="100000"/>
              <a:buFont typeface="+mj-lt"/>
              <a:buAutoNum type="arabicPeriod" startAt="6"/>
              <a:defRPr/>
            </a:pPr>
            <a:r>
              <a:rPr lang="en-US" sz="2400" kern="0" dirty="0">
                <a:solidFill>
                  <a:srgbClr val="008272"/>
                </a:solidFill>
                <a:latin typeface="Segoe UI Semibold" panose="020B0702040204020203" pitchFamily="34" charset="0"/>
                <a:cs typeface="Segoe UI Semibold" panose="020B0702040204020203" pitchFamily="34" charset="0"/>
              </a:rPr>
              <a:t>Birth place</a:t>
            </a:r>
          </a:p>
          <a:p>
            <a:pPr marL="914386" lvl="1" indent="-457200" fontAlgn="base">
              <a:lnSpc>
                <a:spcPct val="90000"/>
              </a:lnSpc>
              <a:spcBef>
                <a:spcPct val="20000"/>
              </a:spcBef>
              <a:spcAft>
                <a:spcPct val="0"/>
              </a:spcAft>
              <a:buClr>
                <a:srgbClr val="008272"/>
              </a:buClr>
              <a:buSzPct val="100000"/>
              <a:buFont typeface="+mj-lt"/>
              <a:buAutoNum type="arabicPeriod" startAt="6"/>
              <a:defRPr/>
            </a:pPr>
            <a:r>
              <a:rPr lang="en-US" sz="2400" kern="0" dirty="0">
                <a:solidFill>
                  <a:srgbClr val="008272"/>
                </a:solidFill>
                <a:latin typeface="Segoe UI Semibold" panose="020B0702040204020203" pitchFamily="34" charset="0"/>
                <a:cs typeface="Segoe UI Semibold" panose="020B0702040204020203" pitchFamily="34" charset="0"/>
              </a:rPr>
              <a:t>Phone number </a:t>
            </a:r>
          </a:p>
          <a:p>
            <a:pPr marL="914386" lvl="1" indent="-457200" fontAlgn="base">
              <a:lnSpc>
                <a:spcPct val="90000"/>
              </a:lnSpc>
              <a:spcBef>
                <a:spcPct val="20000"/>
              </a:spcBef>
              <a:spcAft>
                <a:spcPct val="0"/>
              </a:spcAft>
              <a:buClr>
                <a:srgbClr val="008272"/>
              </a:buClr>
              <a:buSzPct val="100000"/>
              <a:buFont typeface="+mj-lt"/>
              <a:buAutoNum type="arabicPeriod" startAt="6"/>
              <a:defRPr/>
            </a:pPr>
            <a:r>
              <a:rPr lang="en-US" sz="2400" kern="0" dirty="0">
                <a:solidFill>
                  <a:srgbClr val="008272"/>
                </a:solidFill>
                <a:latin typeface="Segoe UI Semibold" panose="020B0702040204020203" pitchFamily="34" charset="0"/>
                <a:cs typeface="Segoe UI Semibold" panose="020B0702040204020203" pitchFamily="34" charset="0"/>
              </a:rPr>
              <a:t>Phone number of significant person</a:t>
            </a:r>
          </a:p>
          <a:p>
            <a:pPr marL="914386" lvl="1" indent="-457200" fontAlgn="base">
              <a:lnSpc>
                <a:spcPct val="90000"/>
              </a:lnSpc>
              <a:spcBef>
                <a:spcPct val="20000"/>
              </a:spcBef>
              <a:spcAft>
                <a:spcPct val="0"/>
              </a:spcAft>
              <a:buClr>
                <a:srgbClr val="008272"/>
              </a:buClr>
              <a:buSzPct val="100000"/>
              <a:buFont typeface="+mj-lt"/>
              <a:buAutoNum type="arabicPeriod" startAt="6"/>
              <a:defRPr/>
            </a:pPr>
            <a:r>
              <a:rPr lang="en-US" sz="2400" kern="0" dirty="0">
                <a:solidFill>
                  <a:srgbClr val="008272"/>
                </a:solidFill>
                <a:latin typeface="Segoe UI Semibold" panose="020B0702040204020203" pitchFamily="34" charset="0"/>
                <a:cs typeface="Segoe UI Semibold" panose="020B0702040204020203" pitchFamily="34" charset="0"/>
              </a:rPr>
              <a:t>Address</a:t>
            </a:r>
            <a:r>
              <a:rPr lang="en-US" sz="2400" kern="0" dirty="0">
                <a:solidFill>
                  <a:srgbClr val="404040"/>
                </a:solidFill>
                <a:cs typeface="Times New Roman" pitchFamily="18" charset="0"/>
              </a:rPr>
              <a:t> </a:t>
            </a:r>
          </a:p>
          <a:p>
            <a:pPr marL="742928" lvl="1" indent="-285742" fontAlgn="base">
              <a:lnSpc>
                <a:spcPct val="90000"/>
              </a:lnSpc>
              <a:spcBef>
                <a:spcPct val="20000"/>
              </a:spcBef>
              <a:spcAft>
                <a:spcPct val="0"/>
              </a:spcAft>
              <a:buClr>
                <a:srgbClr val="008272"/>
              </a:buClr>
              <a:buSzPct val="100000"/>
              <a:buChar char="–"/>
              <a:defRPr/>
            </a:pPr>
            <a:endParaRPr lang="en-US" sz="2400" kern="0" dirty="0">
              <a:solidFill>
                <a:srgbClr val="008272"/>
              </a:solidFill>
              <a:latin typeface="Segoe UI Semibold" panose="020B0702040204020203" pitchFamily="34" charset="0"/>
              <a:cs typeface="Segoe UI Semibold" panose="020B0702040204020203" pitchFamily="34" charset="0"/>
            </a:endParaRPr>
          </a:p>
        </p:txBody>
      </p:sp>
      <p:cxnSp>
        <p:nvCxnSpPr>
          <p:cNvPr id="8" name="Straight Connector 8"/>
          <p:cNvCxnSpPr/>
          <p:nvPr/>
        </p:nvCxnSpPr>
        <p:spPr>
          <a:xfrm>
            <a:off x="604437" y="1196391"/>
            <a:ext cx="10983133" cy="0"/>
          </a:xfrm>
          <a:prstGeom prst="line">
            <a:avLst/>
          </a:prstGeom>
          <a:ln w="28575">
            <a:solidFill>
              <a:srgbClr val="0082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65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t>Subjective Data</a:t>
            </a:r>
          </a:p>
        </p:txBody>
      </p:sp>
      <p:sp>
        <p:nvSpPr>
          <p:cNvPr id="7" name="TextBox 3"/>
          <p:cNvSpPr txBox="1">
            <a:spLocks noChangeArrowheads="1"/>
          </p:cNvSpPr>
          <p:nvPr/>
        </p:nvSpPr>
        <p:spPr bwMode="auto">
          <a:xfrm>
            <a:off x="10222314" y="6176964"/>
            <a:ext cx="14366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fontAlgn="base" hangingPunct="1">
              <a:spcBef>
                <a:spcPct val="0"/>
              </a:spcBef>
              <a:spcAft>
                <a:spcPct val="0"/>
              </a:spcAft>
            </a:pPr>
            <a:r>
              <a:rPr lang="en-US" altLang="en-US" sz="2000" i="1" dirty="0">
                <a:solidFill>
                  <a:srgbClr val="000000"/>
                </a:solidFill>
                <a:latin typeface="+mn-lt"/>
                <a:cs typeface="Times New Roman" panose="02020603050405020304" pitchFamily="18" charset="0"/>
              </a:rPr>
              <a:t>(</a:t>
            </a:r>
            <a:r>
              <a:rPr lang="en-US" altLang="en-US" sz="2000" i="1" kern="0" dirty="0">
                <a:solidFill>
                  <a:srgbClr val="000000"/>
                </a:solidFill>
                <a:latin typeface="+mn-lt"/>
                <a:cs typeface="Times New Roman" pitchFamily="18" charset="0"/>
              </a:rPr>
              <a:t>continued)</a:t>
            </a:r>
          </a:p>
        </p:txBody>
      </p:sp>
      <p:cxnSp>
        <p:nvCxnSpPr>
          <p:cNvPr id="8" name="Straight Connector 8"/>
          <p:cNvCxnSpPr/>
          <p:nvPr/>
        </p:nvCxnSpPr>
        <p:spPr>
          <a:xfrm>
            <a:off x="604437" y="1196391"/>
            <a:ext cx="10983133" cy="0"/>
          </a:xfrm>
          <a:prstGeom prst="line">
            <a:avLst/>
          </a:prstGeom>
          <a:ln w="28575">
            <a:solidFill>
              <a:srgbClr val="008272"/>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604435" y="1438778"/>
            <a:ext cx="7396565" cy="444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19" rIns="91440" bIns="45719" numCol="1" anchor="t" anchorCtr="0" compatLnSpc="1">
            <a:prstTxWarp prst="textNoShape">
              <a:avLst/>
            </a:prstTxWarp>
          </a:bodyPr>
          <a:lstStyle>
            <a:lvl1pPr marL="342900" indent="-342900" algn="l" rtl="0" fontAlgn="base">
              <a:spcBef>
                <a:spcPct val="20000"/>
              </a:spcBef>
              <a:spcAft>
                <a:spcPct val="0"/>
              </a:spcAft>
              <a:buChar char="•"/>
              <a:defRPr sz="2800">
                <a:solidFill>
                  <a:schemeClr val="tx1"/>
                </a:solidFill>
                <a:latin typeface="Times New Roman" pitchFamily="18" charset="0"/>
                <a:ea typeface="+mn-ea"/>
                <a:cs typeface="Times New Roman" pitchFamily="18" charset="0"/>
              </a:defRPr>
            </a:lvl1pPr>
            <a:lvl2pPr marL="742950" indent="-285750" algn="l" rtl="0" fontAlgn="base">
              <a:spcBef>
                <a:spcPct val="20000"/>
              </a:spcBef>
              <a:spcAft>
                <a:spcPct val="0"/>
              </a:spcAft>
              <a:buChar char="–"/>
              <a:defRPr sz="2400">
                <a:solidFill>
                  <a:schemeClr val="tx1"/>
                </a:solidFill>
                <a:latin typeface="Times New Roman" pitchFamily="18" charset="0"/>
                <a:cs typeface="Times New Roman" pitchFamily="18" charset="0"/>
              </a:defRPr>
            </a:lvl2pPr>
            <a:lvl3pPr marL="1143000" indent="-228600" algn="l" rtl="0" fontAlgn="base">
              <a:spcBef>
                <a:spcPct val="20000"/>
              </a:spcBef>
              <a:spcAft>
                <a:spcPct val="0"/>
              </a:spcAft>
              <a:buChar char="•"/>
              <a:defRPr sz="2000">
                <a:solidFill>
                  <a:schemeClr val="tx1"/>
                </a:solidFill>
                <a:latin typeface="Times New Roman" pitchFamily="18" charset="0"/>
                <a:cs typeface="Times New Roman" pitchFamily="18" charset="0"/>
              </a:defRPr>
            </a:lvl3pPr>
            <a:lvl4pPr marL="1600200" indent="-228600" algn="l" rtl="0" fontAlgn="base">
              <a:spcBef>
                <a:spcPct val="20000"/>
              </a:spcBef>
              <a:spcAft>
                <a:spcPct val="0"/>
              </a:spcAft>
              <a:buChar char="–"/>
              <a:defRPr sz="1800">
                <a:solidFill>
                  <a:schemeClr val="tx1"/>
                </a:solidFill>
                <a:latin typeface="Times New Roman" pitchFamily="18" charset="0"/>
                <a:cs typeface="Times New Roman" pitchFamily="18" charset="0"/>
              </a:defRPr>
            </a:lvl4pPr>
            <a:lvl5pPr marL="2057400" indent="-228600" algn="l" rtl="0" fontAlgn="base">
              <a:spcBef>
                <a:spcPct val="20000"/>
              </a:spcBef>
              <a:spcAft>
                <a:spcPct val="0"/>
              </a:spcAft>
              <a:buChar char="»"/>
              <a:defRPr sz="1800">
                <a:solidFill>
                  <a:schemeClr val="tx1"/>
                </a:solidFill>
                <a:latin typeface="Times New Roman" pitchFamily="18" charset="0"/>
                <a:cs typeface="Times New Roman" pitchFamily="18" charset="0"/>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pPr marL="514350" indent="-514350">
              <a:lnSpc>
                <a:spcPct val="90000"/>
              </a:lnSpc>
              <a:spcBef>
                <a:spcPts val="1001"/>
              </a:spcBef>
              <a:spcAft>
                <a:spcPts val="1200"/>
              </a:spcAft>
              <a:buClr>
                <a:srgbClr val="008272"/>
              </a:buClr>
              <a:buSzPct val="100000"/>
              <a:buFont typeface="+mj-lt"/>
              <a:buAutoNum type="alphaUcPeriod" startAt="2"/>
            </a:pPr>
            <a:r>
              <a:rPr lang="en-US" altLang="en-US" sz="3200" dirty="0">
                <a:solidFill>
                  <a:srgbClr val="404040"/>
                </a:solidFill>
                <a:latin typeface="Segoe UI Semibold" panose="020B0702040204020203" pitchFamily="34" charset="0"/>
                <a:cs typeface="Segoe UI Semibold" panose="020B0702040204020203" pitchFamily="34" charset="0"/>
              </a:rPr>
              <a:t>Present history (Chief Complaint (CC))</a:t>
            </a:r>
          </a:p>
          <a:p>
            <a:pPr marL="914400" lvl="1" indent="-457200">
              <a:lnSpc>
                <a:spcPct val="90000"/>
              </a:lnSpc>
              <a:buClr>
                <a:srgbClr val="008272"/>
              </a:buClr>
              <a:buSzPct val="100000"/>
              <a:buFont typeface="+mj-lt"/>
              <a:buAutoNum type="arabicPeriod"/>
              <a:defRPr/>
            </a:pPr>
            <a:r>
              <a:rPr lang="en-US" altLang="en-US" kern="0" dirty="0">
                <a:solidFill>
                  <a:srgbClr val="008272"/>
                </a:solidFill>
                <a:latin typeface="Segoe UI Semibold" panose="020B0702040204020203" pitchFamily="34" charset="0"/>
                <a:cs typeface="Segoe UI Semibold" panose="020B0702040204020203" pitchFamily="34" charset="0"/>
              </a:rPr>
              <a:t>C: Characteristics </a:t>
            </a:r>
          </a:p>
          <a:p>
            <a:pPr marL="914400" lvl="1" indent="-457200">
              <a:lnSpc>
                <a:spcPct val="90000"/>
              </a:lnSpc>
              <a:buClr>
                <a:srgbClr val="008272"/>
              </a:buClr>
              <a:buSzPct val="100000"/>
              <a:buFont typeface="+mj-lt"/>
              <a:buAutoNum type="arabicPeriod"/>
              <a:defRPr/>
            </a:pPr>
            <a:r>
              <a:rPr lang="en-US" altLang="en-US" kern="0" dirty="0">
                <a:solidFill>
                  <a:srgbClr val="008272"/>
                </a:solidFill>
                <a:latin typeface="Segoe UI Semibold" panose="020B0702040204020203" pitchFamily="34" charset="0"/>
                <a:cs typeface="Segoe UI Semibold" panose="020B0702040204020203" pitchFamily="34" charset="0"/>
              </a:rPr>
              <a:t>O: Onset</a:t>
            </a:r>
          </a:p>
          <a:p>
            <a:pPr marL="914400" lvl="1" indent="-457200">
              <a:lnSpc>
                <a:spcPct val="90000"/>
              </a:lnSpc>
              <a:buClr>
                <a:srgbClr val="008272"/>
              </a:buClr>
              <a:buSzPct val="100000"/>
              <a:buFont typeface="+mj-lt"/>
              <a:buAutoNum type="arabicPeriod"/>
              <a:defRPr/>
            </a:pPr>
            <a:r>
              <a:rPr lang="en-US" altLang="en-US" kern="0" dirty="0">
                <a:solidFill>
                  <a:srgbClr val="008272"/>
                </a:solidFill>
                <a:latin typeface="Segoe UI Semibold" panose="020B0702040204020203" pitchFamily="34" charset="0"/>
                <a:cs typeface="Segoe UI Semibold" panose="020B0702040204020203" pitchFamily="34" charset="0"/>
              </a:rPr>
              <a:t>L: Location + Radiation </a:t>
            </a:r>
          </a:p>
          <a:p>
            <a:pPr marL="914400" lvl="1" indent="-457200">
              <a:lnSpc>
                <a:spcPct val="90000"/>
              </a:lnSpc>
              <a:buClr>
                <a:srgbClr val="008272"/>
              </a:buClr>
              <a:buSzPct val="100000"/>
              <a:buFont typeface="+mj-lt"/>
              <a:buAutoNum type="arabicPeriod"/>
              <a:defRPr/>
            </a:pPr>
            <a:r>
              <a:rPr lang="en-US" altLang="en-US" kern="0" dirty="0">
                <a:solidFill>
                  <a:srgbClr val="008272"/>
                </a:solidFill>
                <a:latin typeface="Segoe UI Semibold" panose="020B0702040204020203" pitchFamily="34" charset="0"/>
                <a:cs typeface="Segoe UI Semibold" panose="020B0702040204020203" pitchFamily="34" charset="0"/>
              </a:rPr>
              <a:t>S: Severity </a:t>
            </a:r>
            <a:r>
              <a:rPr lang="en-US" altLang="en-US" kern="0" dirty="0">
                <a:solidFill>
                  <a:srgbClr val="404040"/>
                </a:solidFill>
                <a:latin typeface="+mn-lt"/>
              </a:rPr>
              <a:t>(0-10 scale) </a:t>
            </a:r>
          </a:p>
          <a:p>
            <a:pPr marL="457200" lvl="1" indent="0">
              <a:lnSpc>
                <a:spcPct val="90000"/>
              </a:lnSpc>
              <a:buClr>
                <a:srgbClr val="008272"/>
              </a:buClr>
              <a:buSzPct val="100000"/>
              <a:buNone/>
              <a:defRPr/>
            </a:pPr>
            <a:r>
              <a:rPr lang="en-US" altLang="en-US" kern="0" dirty="0">
                <a:solidFill>
                  <a:srgbClr val="404040"/>
                </a:solidFill>
                <a:latin typeface="+mn-lt"/>
              </a:rPr>
              <a:t>0-4 mild\ 5-6 moderate\ 7-10 sever</a:t>
            </a:r>
            <a:endParaRPr lang="en-US" altLang="en-US" kern="0" dirty="0">
              <a:solidFill>
                <a:srgbClr val="008272"/>
              </a:solidFill>
              <a:latin typeface="Segoe UI Semibold" panose="020B0702040204020203" pitchFamily="34" charset="0"/>
              <a:cs typeface="Segoe UI Semibold" panose="020B0702040204020203" pitchFamily="34" charset="0"/>
            </a:endParaRPr>
          </a:p>
          <a:p>
            <a:pPr marL="914400" lvl="1" indent="-457200">
              <a:lnSpc>
                <a:spcPct val="90000"/>
              </a:lnSpc>
              <a:buClr>
                <a:srgbClr val="008272"/>
              </a:buClr>
              <a:buSzPct val="100000"/>
              <a:buFont typeface="+mj-lt"/>
              <a:buAutoNum type="arabicPeriod" startAt="5"/>
              <a:defRPr/>
            </a:pPr>
            <a:r>
              <a:rPr lang="en-US" altLang="en-US" kern="0" dirty="0">
                <a:solidFill>
                  <a:srgbClr val="008272"/>
                </a:solidFill>
                <a:latin typeface="Segoe UI Semibold" panose="020B0702040204020203" pitchFamily="34" charset="0"/>
                <a:cs typeface="Segoe UI Semibold" panose="020B0702040204020203" pitchFamily="34" charset="0"/>
              </a:rPr>
              <a:t>D: Duration</a:t>
            </a:r>
          </a:p>
          <a:p>
            <a:pPr marL="914400" lvl="1" indent="-457200">
              <a:lnSpc>
                <a:spcPct val="90000"/>
              </a:lnSpc>
              <a:buClr>
                <a:srgbClr val="008272"/>
              </a:buClr>
              <a:buSzPct val="100000"/>
              <a:buFont typeface="+mj-lt"/>
              <a:buAutoNum type="arabicPeriod" startAt="5"/>
              <a:defRPr/>
            </a:pPr>
            <a:r>
              <a:rPr lang="en-US" altLang="en-US" kern="0" dirty="0">
                <a:solidFill>
                  <a:srgbClr val="008272"/>
                </a:solidFill>
                <a:latin typeface="Segoe UI Semibold" panose="020B0702040204020203" pitchFamily="34" charset="0"/>
                <a:cs typeface="Segoe UI Semibold" panose="020B0702040204020203" pitchFamily="34" charset="0"/>
              </a:rPr>
              <a:t>P: Pattern </a:t>
            </a:r>
          </a:p>
          <a:p>
            <a:pPr marL="914400" lvl="1" indent="-457200">
              <a:lnSpc>
                <a:spcPct val="90000"/>
              </a:lnSpc>
              <a:buClr>
                <a:srgbClr val="008272"/>
              </a:buClr>
              <a:buSzPct val="100000"/>
              <a:buFont typeface="+mj-lt"/>
              <a:buAutoNum type="arabicPeriod" startAt="5"/>
              <a:defRPr/>
            </a:pPr>
            <a:r>
              <a:rPr lang="en-US" altLang="en-US" kern="0" dirty="0">
                <a:solidFill>
                  <a:srgbClr val="008272"/>
                </a:solidFill>
                <a:latin typeface="Segoe UI Semibold" panose="020B0702040204020203" pitchFamily="34" charset="0"/>
                <a:cs typeface="Segoe UI Semibold" panose="020B0702040204020203" pitchFamily="34" charset="0"/>
              </a:rPr>
              <a:t>A: Association sign and symptom </a:t>
            </a:r>
          </a:p>
          <a:p>
            <a:pPr marL="457200" lvl="1" indent="0">
              <a:lnSpc>
                <a:spcPct val="90000"/>
              </a:lnSpc>
              <a:buClr>
                <a:srgbClr val="008272"/>
              </a:buClr>
              <a:buSzPct val="100000"/>
              <a:buNone/>
              <a:defRPr/>
            </a:pPr>
            <a:endParaRPr lang="en-US" altLang="en-US" kern="0" dirty="0">
              <a:solidFill>
                <a:srgbClr val="404040"/>
              </a:solidFill>
              <a:latin typeface="+mn-lt"/>
            </a:endParaRPr>
          </a:p>
        </p:txBody>
      </p:sp>
      <p:cxnSp>
        <p:nvCxnSpPr>
          <p:cNvPr id="14" name="Straight Arrow Connector 13"/>
          <p:cNvCxnSpPr/>
          <p:nvPr/>
        </p:nvCxnSpPr>
        <p:spPr>
          <a:xfrm flipH="1" flipV="1">
            <a:off x="3151735" y="4933796"/>
            <a:ext cx="0" cy="365760"/>
          </a:xfrm>
          <a:prstGeom prst="straightConnector1">
            <a:avLst/>
          </a:prstGeom>
          <a:ln w="952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p:cNvCxnSpPr/>
          <p:nvPr/>
        </p:nvCxnSpPr>
        <p:spPr>
          <a:xfrm>
            <a:off x="3348959" y="4933796"/>
            <a:ext cx="0" cy="365760"/>
          </a:xfrm>
          <a:prstGeom prst="straightConnector1">
            <a:avLst/>
          </a:prstGeom>
          <a:ln w="952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45262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640438" y="381000"/>
            <a:ext cx="10983132" cy="747763"/>
          </a:xfrm>
        </p:spPr>
        <p:txBody>
          <a:bodyPr>
            <a:normAutofit/>
          </a:bodyPr>
          <a:lstStyle/>
          <a:p>
            <a:r>
              <a:rPr lang="en-US" sz="4000" dirty="0"/>
              <a:t>Subjective Data</a:t>
            </a:r>
            <a:endParaRPr lang="ar-IQ" sz="4000" dirty="0"/>
          </a:p>
        </p:txBody>
      </p:sp>
      <p:sp>
        <p:nvSpPr>
          <p:cNvPr id="3" name="عنصر نائب للمحتوى 2"/>
          <p:cNvSpPr>
            <a:spLocks noGrp="1"/>
          </p:cNvSpPr>
          <p:nvPr>
            <p:ph idx="1"/>
          </p:nvPr>
        </p:nvSpPr>
        <p:spPr>
          <a:xfrm>
            <a:off x="640438" y="1600200"/>
            <a:ext cx="9848050" cy="4876800"/>
          </a:xfrm>
        </p:spPr>
        <p:txBody>
          <a:bodyPr/>
          <a:lstStyle/>
          <a:p>
            <a:pPr marL="514350" indent="-514350" algn="l" rtl="0">
              <a:buFont typeface="+mj-lt"/>
              <a:buAutoNum type="alphaUcPeriod" startAt="3"/>
            </a:pPr>
            <a:r>
              <a:rPr lang="en-US" i="1" dirty="0"/>
              <a:t>Past Medical History</a:t>
            </a:r>
            <a:endParaRPr lang="ar-IQ" dirty="0"/>
          </a:p>
          <a:p>
            <a:pPr algn="l" rtl="0"/>
            <a:r>
              <a:rPr lang="en-US" dirty="0"/>
              <a:t>Prenatal, Birth, and Neonatal History •  </a:t>
            </a:r>
          </a:p>
          <a:p>
            <a:pPr marL="0" indent="0">
              <a:buNone/>
            </a:pPr>
            <a:r>
              <a:rPr lang="en-US" dirty="0"/>
              <a:t> The depth of this history-taking depends on the </a:t>
            </a:r>
            <a:r>
              <a:rPr lang="en-US" dirty="0">
                <a:solidFill>
                  <a:srgbClr val="548235"/>
                </a:solidFill>
              </a:rPr>
              <a:t>child’s age.  </a:t>
            </a:r>
            <a:r>
              <a:rPr lang="en-US" dirty="0"/>
              <a:t>The younger the child, the more important this information is, as prenatal, birth, and neonatal events are crucial to a child’s future </a:t>
            </a:r>
            <a:r>
              <a:rPr lang="en-US" dirty="0">
                <a:solidFill>
                  <a:srgbClr val="548235"/>
                </a:solidFill>
              </a:rPr>
              <a:t>physical and psychosocial growth and development</a:t>
            </a:r>
            <a:r>
              <a:rPr lang="en-US" dirty="0">
                <a:solidFill>
                  <a:srgbClr val="FF0000"/>
                </a:solidFill>
              </a:rPr>
              <a:t> </a:t>
            </a:r>
            <a:r>
              <a:rPr lang="en-US" dirty="0"/>
              <a:t>and may explain any neurologic or developmental problems.</a:t>
            </a:r>
          </a:p>
          <a:p>
            <a:pPr algn="l" rtl="0"/>
            <a:endParaRPr lang="ar-IQ" dirty="0"/>
          </a:p>
        </p:txBody>
      </p:sp>
    </p:spTree>
    <p:extLst>
      <p:ext uri="{BB962C8B-B14F-4D97-AF65-F5344CB8AC3E}">
        <p14:creationId xmlns:p14="http://schemas.microsoft.com/office/powerpoint/2010/main" val="1455724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pic>
        <p:nvPicPr>
          <p:cNvPr id="2050" name="Picture 2" descr="C:\Users\Said Mahdi\Desktop\pediatric\Capture.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5850" y="152400"/>
            <a:ext cx="8305800" cy="670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3806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algn="l" rtl="0"/>
            <a:r>
              <a:rPr lang="en-US" b="1" dirty="0"/>
              <a:t>Acute and Chronic Illnesses </a:t>
            </a:r>
            <a:r>
              <a:rPr lang="en-US" dirty="0"/>
              <a:t>• </a:t>
            </a:r>
          </a:p>
          <a:p>
            <a:pPr marL="0" indent="0">
              <a:buNone/>
            </a:pPr>
            <a:r>
              <a:rPr lang="en-US" dirty="0"/>
              <a:t>This component of the history comprises the child’s </a:t>
            </a:r>
            <a:r>
              <a:rPr lang="en-US" b="1" dirty="0">
                <a:solidFill>
                  <a:srgbClr val="548235"/>
                </a:solidFill>
              </a:rPr>
              <a:t>current health status.</a:t>
            </a:r>
          </a:p>
          <a:p>
            <a:pPr marL="0" indent="0">
              <a:buNone/>
            </a:pPr>
            <a:endParaRPr lang="en-US" b="1" dirty="0">
              <a:solidFill>
                <a:srgbClr val="FF0000"/>
              </a:solidFill>
            </a:endParaRPr>
          </a:p>
          <a:p>
            <a:pPr algn="l" rtl="0"/>
            <a:endParaRPr lang="ar-IQ" dirty="0"/>
          </a:p>
        </p:txBody>
      </p:sp>
      <p:graphicFrame>
        <p:nvGraphicFramePr>
          <p:cNvPr id="4" name="جدول 3"/>
          <p:cNvGraphicFramePr>
            <a:graphicFrameLocks noGrp="1"/>
          </p:cNvGraphicFramePr>
          <p:nvPr/>
        </p:nvGraphicFramePr>
        <p:xfrm>
          <a:off x="2279576" y="3068960"/>
          <a:ext cx="7416824" cy="3108960"/>
        </p:xfrm>
        <a:graphic>
          <a:graphicData uri="http://schemas.openxmlformats.org/drawingml/2006/table">
            <a:tbl>
              <a:tblPr rtl="1" firstRow="1" bandRow="1">
                <a:tableStyleId>{2D5ABB26-0587-4C30-8999-92F81FD0307C}</a:tableStyleId>
              </a:tblPr>
              <a:tblGrid>
                <a:gridCol w="3571372">
                  <a:extLst>
                    <a:ext uri="{9D8B030D-6E8A-4147-A177-3AD203B41FA5}">
                      <a16:colId xmlns:a16="http://schemas.microsoft.com/office/drawing/2014/main" val="20000"/>
                    </a:ext>
                  </a:extLst>
                </a:gridCol>
                <a:gridCol w="3845452">
                  <a:extLst>
                    <a:ext uri="{9D8B030D-6E8A-4147-A177-3AD203B41FA5}">
                      <a16:colId xmlns:a16="http://schemas.microsoft.com/office/drawing/2014/main" val="20001"/>
                    </a:ext>
                  </a:extLst>
                </a:gridCol>
              </a:tblGrid>
              <a:tr h="370840">
                <a:tc>
                  <a:txBody>
                    <a:bodyPr/>
                    <a:lstStyle/>
                    <a:p>
                      <a:pPr algn="l" rtl="0"/>
                      <a:r>
                        <a:rPr lang="en-US" sz="1800" b="1" dirty="0"/>
                        <a:t>Chronic Illnesses </a:t>
                      </a:r>
                    </a:p>
                    <a:p>
                      <a:pPr algn="l" rtl="0"/>
                      <a:r>
                        <a:rPr lang="en-US" dirty="0"/>
                        <a:t>congenital anomalies, genetic disorders, cancer,</a:t>
                      </a:r>
                    </a:p>
                    <a:p>
                      <a:pPr algn="l" rtl="0"/>
                      <a:r>
                        <a:rPr lang="en-US" dirty="0"/>
                        <a:t>rheumatic fever, heart disease, hypertension, obesity,</a:t>
                      </a:r>
                    </a:p>
                    <a:p>
                      <a:pPr algn="l" rtl="0"/>
                      <a:r>
                        <a:rPr lang="en-US" dirty="0"/>
                        <a:t>diabetes, sickle cell disease, cystic fibrosis, asthma, allergies,</a:t>
                      </a:r>
                    </a:p>
                    <a:p>
                      <a:pPr algn="l" rtl="0"/>
                      <a:r>
                        <a:rPr lang="en-US" dirty="0"/>
                        <a:t>eczema, seizure disorders, neurologic infections,</a:t>
                      </a:r>
                    </a:p>
                    <a:p>
                      <a:pPr algn="l" rtl="0"/>
                      <a:r>
                        <a:rPr lang="en-US" dirty="0"/>
                        <a:t>tuberculosis, renal disease, depression, and anxiety disorders</a:t>
                      </a:r>
                      <a:endParaRPr lang="ar-IQ" dirty="0"/>
                    </a:p>
                  </a:txBody>
                  <a:tcPr/>
                </a:tc>
                <a:tc>
                  <a:txBody>
                    <a:bodyPr/>
                    <a:lstStyle/>
                    <a:p>
                      <a:pPr algn="l" rtl="0"/>
                      <a:r>
                        <a:rPr lang="en-US" sz="1800" b="1" dirty="0"/>
                        <a:t>Acute</a:t>
                      </a:r>
                      <a:r>
                        <a:rPr lang="en-US" sz="1800" b="1" baseline="0" dirty="0"/>
                        <a:t> </a:t>
                      </a:r>
                      <a:r>
                        <a:rPr lang="en-US" sz="1800" b="1" dirty="0"/>
                        <a:t>Illnesses</a:t>
                      </a:r>
                    </a:p>
                    <a:p>
                      <a:pPr algn="l" rtl="0"/>
                      <a:r>
                        <a:rPr lang="en-US" dirty="0"/>
                        <a:t>respiratory infections</a:t>
                      </a:r>
                    </a:p>
                    <a:p>
                      <a:pPr algn="l" rtl="0"/>
                      <a:r>
                        <a:rPr lang="en-US" dirty="0"/>
                        <a:t> ear</a:t>
                      </a:r>
                      <a:r>
                        <a:rPr lang="en-US" baseline="0" dirty="0"/>
                        <a:t> </a:t>
                      </a:r>
                      <a:r>
                        <a:rPr lang="en-US" dirty="0"/>
                        <a:t>infections</a:t>
                      </a:r>
                    </a:p>
                    <a:p>
                      <a:pPr algn="l" rtl="0"/>
                      <a:r>
                        <a:rPr lang="en-US" dirty="0"/>
                        <a:t> diarrhea</a:t>
                      </a:r>
                    </a:p>
                    <a:p>
                      <a:pPr algn="l" rtl="0"/>
                      <a:r>
                        <a:rPr lang="en-US" dirty="0"/>
                        <a:t>Vomiting</a:t>
                      </a:r>
                    </a:p>
                    <a:p>
                      <a:pPr algn="l" rtl="0"/>
                      <a:r>
                        <a:rPr lang="en-US" dirty="0"/>
                        <a:t>dehydration.</a:t>
                      </a:r>
                      <a:endParaRPr lang="ar-IQ"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101220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algn="l" rtl="0"/>
            <a:r>
              <a:rPr lang="en-US" b="1" dirty="0"/>
              <a:t>Childhood Infectious Diseases </a:t>
            </a:r>
            <a:r>
              <a:rPr lang="en-US" dirty="0"/>
              <a:t>• </a:t>
            </a:r>
          </a:p>
          <a:p>
            <a:pPr marL="0" indent="0">
              <a:buNone/>
            </a:pPr>
            <a:r>
              <a:rPr lang="en-US" dirty="0"/>
              <a:t>The provider should determine if the child has had </a:t>
            </a:r>
            <a:r>
              <a:rPr lang="en-US" b="1" dirty="0">
                <a:solidFill>
                  <a:srgbClr val="548235"/>
                </a:solidFill>
              </a:rPr>
              <a:t>measles, mumps, rubella, varicella, pertussis, streptococcal infections</a:t>
            </a:r>
            <a:r>
              <a:rPr lang="en-US" dirty="0"/>
              <a:t>, or has recently been exposed to these illnesses</a:t>
            </a:r>
          </a:p>
          <a:p>
            <a:pPr algn="l" rtl="0"/>
            <a:endParaRPr lang="ar-IQ" dirty="0"/>
          </a:p>
        </p:txBody>
      </p:sp>
    </p:spTree>
    <p:extLst>
      <p:ext uri="{BB962C8B-B14F-4D97-AF65-F5344CB8AC3E}">
        <p14:creationId xmlns:p14="http://schemas.microsoft.com/office/powerpoint/2010/main" val="14695905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marL="0" indent="0">
              <a:buNone/>
            </a:pPr>
            <a:r>
              <a:rPr lang="en-US" b="1" dirty="0"/>
              <a:t>Allergies</a:t>
            </a:r>
            <a:r>
              <a:rPr lang="en-US" dirty="0"/>
              <a:t> • </a:t>
            </a:r>
          </a:p>
          <a:p>
            <a:pPr marL="0" indent="0">
              <a:buNone/>
            </a:pPr>
            <a:r>
              <a:rPr lang="en-US" dirty="0"/>
              <a:t>All allergies to </a:t>
            </a:r>
            <a:r>
              <a:rPr lang="en-US" b="1" dirty="0">
                <a:solidFill>
                  <a:srgbClr val="548235"/>
                </a:solidFill>
              </a:rPr>
              <a:t>medications, food, animals, and insect bites; environmental allergies; and a history of eczema, allergic rhinitis, contact dermatitis.</a:t>
            </a:r>
            <a:r>
              <a:rPr lang="en-US" dirty="0"/>
              <a:t> </a:t>
            </a:r>
            <a:endParaRPr lang="ar-IQ" dirty="0"/>
          </a:p>
        </p:txBody>
      </p:sp>
    </p:spTree>
    <p:extLst>
      <p:ext uri="{BB962C8B-B14F-4D97-AF65-F5344CB8AC3E}">
        <p14:creationId xmlns:p14="http://schemas.microsoft.com/office/powerpoint/2010/main" val="154438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marL="0" indent="0">
              <a:buNone/>
            </a:pPr>
            <a:r>
              <a:rPr lang="en-US" b="1" dirty="0"/>
              <a:t>Medications</a:t>
            </a:r>
            <a:r>
              <a:rPr lang="en-US" dirty="0"/>
              <a:t> • </a:t>
            </a:r>
          </a:p>
          <a:p>
            <a:pPr marL="0" indent="0">
              <a:buNone/>
            </a:pPr>
            <a:r>
              <a:rPr lang="en-US" dirty="0"/>
              <a:t>The provider should ask about all </a:t>
            </a:r>
            <a:r>
              <a:rPr lang="en-US" b="1" dirty="0">
                <a:solidFill>
                  <a:srgbClr val="548235"/>
                </a:solidFill>
              </a:rPr>
              <a:t>current prescribed </a:t>
            </a:r>
            <a:r>
              <a:rPr lang="en-US" dirty="0"/>
              <a:t>or over-the-counter (</a:t>
            </a:r>
            <a:r>
              <a:rPr lang="en-US" b="1" dirty="0">
                <a:solidFill>
                  <a:srgbClr val="548235"/>
                </a:solidFill>
              </a:rPr>
              <a:t>OTC</a:t>
            </a:r>
            <a:r>
              <a:rPr lang="en-US" dirty="0">
                <a:solidFill>
                  <a:srgbClr val="548235"/>
                </a:solidFill>
              </a:rPr>
              <a:t>)</a:t>
            </a:r>
            <a:r>
              <a:rPr lang="en-US" dirty="0"/>
              <a:t> medications that the child is taking.</a:t>
            </a:r>
          </a:p>
          <a:p>
            <a:pPr marL="0" indent="0">
              <a:buNone/>
            </a:pPr>
            <a:endParaRPr lang="en-US" dirty="0"/>
          </a:p>
          <a:p>
            <a:pPr marL="0" indent="0">
              <a:buNone/>
            </a:pPr>
            <a:endParaRPr lang="ar-IQ" dirty="0"/>
          </a:p>
        </p:txBody>
      </p:sp>
    </p:spTree>
    <p:extLst>
      <p:ext uri="{BB962C8B-B14F-4D97-AF65-F5344CB8AC3E}">
        <p14:creationId xmlns:p14="http://schemas.microsoft.com/office/powerpoint/2010/main" val="3655829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marL="0" indent="0">
              <a:buNone/>
            </a:pPr>
            <a:r>
              <a:rPr lang="en-US" b="1" dirty="0"/>
              <a:t>Hospitalizations</a:t>
            </a:r>
            <a:r>
              <a:rPr lang="en-US" dirty="0"/>
              <a:t> • </a:t>
            </a:r>
          </a:p>
          <a:p>
            <a:pPr marL="0" indent="0">
              <a:buNone/>
            </a:pPr>
            <a:r>
              <a:rPr lang="en-US" dirty="0"/>
              <a:t>The date, the child’s age, and the reason for any hospitalization as well as the name of the hospital and duration of the stay should be recorded.</a:t>
            </a:r>
          </a:p>
          <a:p>
            <a:pPr marL="0" indent="0">
              <a:buNone/>
            </a:pPr>
            <a:endParaRPr lang="ar-IQ" dirty="0"/>
          </a:p>
        </p:txBody>
      </p:sp>
    </p:spTree>
    <p:extLst>
      <p:ext uri="{BB962C8B-B14F-4D97-AF65-F5344CB8AC3E}">
        <p14:creationId xmlns:p14="http://schemas.microsoft.com/office/powerpoint/2010/main" val="2016311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algn="l" rtl="0"/>
            <a:r>
              <a:rPr lang="en-US" b="1" dirty="0"/>
              <a:t>Surgeries</a:t>
            </a:r>
            <a:r>
              <a:rPr lang="en-US" dirty="0"/>
              <a:t> • </a:t>
            </a:r>
          </a:p>
          <a:p>
            <a:pPr marL="0" indent="0">
              <a:buNone/>
            </a:pPr>
            <a:r>
              <a:rPr lang="en-US" dirty="0"/>
              <a:t>The date of any surgical procedure should be recorded,</a:t>
            </a:r>
          </a:p>
          <a:p>
            <a:pPr algn="l" rtl="0"/>
            <a:r>
              <a:rPr lang="en-US" b="1" dirty="0"/>
              <a:t>Injuries </a:t>
            </a:r>
            <a:r>
              <a:rPr lang="en-US" dirty="0"/>
              <a:t>•</a:t>
            </a:r>
          </a:p>
          <a:p>
            <a:pPr marL="0" indent="0">
              <a:buNone/>
            </a:pPr>
            <a:r>
              <a:rPr lang="en-US" dirty="0"/>
              <a:t> The date of any injury should be documented in addition to the age of the child when injured.</a:t>
            </a:r>
          </a:p>
          <a:p>
            <a:pPr algn="l" rtl="0"/>
            <a:endParaRPr lang="ar-IQ" dirty="0"/>
          </a:p>
        </p:txBody>
      </p:sp>
    </p:spTree>
    <p:extLst>
      <p:ext uri="{BB962C8B-B14F-4D97-AF65-F5344CB8AC3E}">
        <p14:creationId xmlns:p14="http://schemas.microsoft.com/office/powerpoint/2010/main" val="7906734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marL="0" indent="0">
              <a:buNone/>
            </a:pPr>
            <a:r>
              <a:rPr lang="en-US" b="1" dirty="0"/>
              <a:t>Immunizations •</a:t>
            </a:r>
            <a:r>
              <a:rPr lang="en-US" dirty="0"/>
              <a:t> </a:t>
            </a:r>
          </a:p>
          <a:p>
            <a:pPr marL="0" indent="0">
              <a:buNone/>
            </a:pPr>
            <a:r>
              <a:rPr lang="en-US" dirty="0"/>
              <a:t>The child’s immunization history should include which immunizations were received and at what age.</a:t>
            </a:r>
          </a:p>
          <a:p>
            <a:pPr marL="0" indent="0">
              <a:buNone/>
            </a:pPr>
            <a:endParaRPr lang="ar-IQ" dirty="0"/>
          </a:p>
        </p:txBody>
      </p:sp>
    </p:spTree>
    <p:extLst>
      <p:ext uri="{BB962C8B-B14F-4D97-AF65-F5344CB8AC3E}">
        <p14:creationId xmlns:p14="http://schemas.microsoft.com/office/powerpoint/2010/main" val="10683280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a:bodyPr>
          <a:lstStyle/>
          <a:p>
            <a:pPr marL="514350" indent="-514350">
              <a:buFont typeface="+mj-lt"/>
              <a:buAutoNum type="alphaUcPeriod" startAt="4"/>
            </a:pPr>
            <a:r>
              <a:rPr lang="en-US" b="1" i="1" dirty="0"/>
              <a:t>Family Medical History</a:t>
            </a:r>
            <a:endParaRPr lang="ar-IQ" dirty="0"/>
          </a:p>
        </p:txBody>
      </p:sp>
      <p:sp>
        <p:nvSpPr>
          <p:cNvPr id="3" name="عنصر نائب للمحتوى 2"/>
          <p:cNvSpPr>
            <a:spLocks noGrp="1"/>
          </p:cNvSpPr>
          <p:nvPr>
            <p:ph idx="1"/>
          </p:nvPr>
        </p:nvSpPr>
        <p:spPr/>
        <p:txBody>
          <a:bodyPr/>
          <a:lstStyle/>
          <a:p>
            <a:pPr marL="0" indent="0">
              <a:buNone/>
            </a:pPr>
            <a:r>
              <a:rPr lang="en-US" dirty="0"/>
              <a:t>Obtaining the child’s family health history is </a:t>
            </a:r>
            <a:r>
              <a:rPr lang="en-US" b="1" dirty="0">
                <a:solidFill>
                  <a:srgbClr val="548235"/>
                </a:solidFill>
              </a:rPr>
              <a:t>necessary</a:t>
            </a:r>
            <a:r>
              <a:rPr lang="en-US" b="1" dirty="0">
                <a:solidFill>
                  <a:srgbClr val="FF0000"/>
                </a:solidFill>
              </a:rPr>
              <a:t> </a:t>
            </a:r>
            <a:r>
              <a:rPr lang="en-US" dirty="0"/>
              <a:t>to determine the health status of immediate family members and to identify and document </a:t>
            </a:r>
            <a:r>
              <a:rPr lang="en-US" b="1" dirty="0">
                <a:solidFill>
                  <a:srgbClr val="548235"/>
                </a:solidFill>
              </a:rPr>
              <a:t>any inherited disorders </a:t>
            </a:r>
            <a:r>
              <a:rPr lang="en-US" dirty="0"/>
              <a:t>that the child may have.</a:t>
            </a:r>
            <a:endParaRPr lang="ar-IQ" dirty="0"/>
          </a:p>
        </p:txBody>
      </p:sp>
    </p:spTree>
    <p:extLst>
      <p:ext uri="{BB962C8B-B14F-4D97-AF65-F5344CB8AC3E}">
        <p14:creationId xmlns:p14="http://schemas.microsoft.com/office/powerpoint/2010/main" val="560445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US" b="1" i="1" dirty="0"/>
              <a:t>Pain Assessment</a:t>
            </a:r>
            <a:br>
              <a:rPr lang="en-US" dirty="0"/>
            </a:br>
            <a:endParaRPr lang="ar-IQ" dirty="0"/>
          </a:p>
        </p:txBody>
      </p:sp>
      <p:sp>
        <p:nvSpPr>
          <p:cNvPr id="3" name="عنصر نائب للمحتوى 2"/>
          <p:cNvSpPr>
            <a:spLocks noGrp="1"/>
          </p:cNvSpPr>
          <p:nvPr>
            <p:ph idx="1"/>
          </p:nvPr>
        </p:nvSpPr>
        <p:spPr/>
        <p:txBody>
          <a:bodyPr>
            <a:normAutofit/>
          </a:bodyPr>
          <a:lstStyle/>
          <a:p>
            <a:pPr algn="l" rtl="0"/>
            <a:r>
              <a:rPr lang="en-US" dirty="0"/>
              <a:t>This assessment should include a pain intensity measure. the </a:t>
            </a:r>
            <a:r>
              <a:rPr lang="en-US" b="1" dirty="0"/>
              <a:t>F</a:t>
            </a:r>
            <a:r>
              <a:rPr lang="en-US" dirty="0"/>
              <a:t>ace </a:t>
            </a:r>
            <a:r>
              <a:rPr lang="en-US" b="1" dirty="0"/>
              <a:t>L</a:t>
            </a:r>
            <a:r>
              <a:rPr lang="en-US" dirty="0"/>
              <a:t>egs </a:t>
            </a:r>
            <a:r>
              <a:rPr lang="en-US" b="1" dirty="0"/>
              <a:t>A</a:t>
            </a:r>
            <a:r>
              <a:rPr lang="en-US" dirty="0"/>
              <a:t>ctivity </a:t>
            </a:r>
            <a:r>
              <a:rPr lang="en-US" b="1" dirty="0"/>
              <a:t>C</a:t>
            </a:r>
            <a:r>
              <a:rPr lang="en-US" dirty="0"/>
              <a:t>ry </a:t>
            </a:r>
            <a:r>
              <a:rPr lang="en-US" b="1" dirty="0" err="1"/>
              <a:t>C</a:t>
            </a:r>
            <a:r>
              <a:rPr lang="en-US" dirty="0" err="1"/>
              <a:t>onsolability</a:t>
            </a:r>
            <a:r>
              <a:rPr lang="en-US" dirty="0"/>
              <a:t> (</a:t>
            </a:r>
            <a:r>
              <a:rPr lang="en-US" b="1" dirty="0">
                <a:solidFill>
                  <a:srgbClr val="548235"/>
                </a:solidFill>
              </a:rPr>
              <a:t>FLACC</a:t>
            </a:r>
            <a:r>
              <a:rPr lang="en-US" dirty="0">
                <a:solidFill>
                  <a:srgbClr val="548235"/>
                </a:solidFill>
              </a:rPr>
              <a:t>)</a:t>
            </a:r>
            <a:r>
              <a:rPr lang="en-US" dirty="0"/>
              <a:t> scale could be used.</a:t>
            </a:r>
          </a:p>
        </p:txBody>
      </p:sp>
    </p:spTree>
    <p:extLst>
      <p:ext uri="{BB962C8B-B14F-4D97-AF65-F5344CB8AC3E}">
        <p14:creationId xmlns:p14="http://schemas.microsoft.com/office/powerpoint/2010/main" val="270911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pic>
        <p:nvPicPr>
          <p:cNvPr id="2050" name="Picture 2" descr="C:\Users\Said Mahdi\Desktop\pediatric\Capture h.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332656"/>
            <a:ext cx="9144000" cy="6525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38303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dirty="0"/>
              <a:t>Nutrition </a:t>
            </a:r>
            <a:endParaRPr lang="ar-IQ" dirty="0"/>
          </a:p>
        </p:txBody>
      </p:sp>
      <p:sp>
        <p:nvSpPr>
          <p:cNvPr id="3" name="عنصر نائب للمحتوى 2"/>
          <p:cNvSpPr>
            <a:spLocks noGrp="1"/>
          </p:cNvSpPr>
          <p:nvPr>
            <p:ph idx="1"/>
          </p:nvPr>
        </p:nvSpPr>
        <p:spPr/>
        <p:txBody>
          <a:bodyPr/>
          <a:lstStyle/>
          <a:p>
            <a:pPr algn="l" rtl="0"/>
            <a:r>
              <a:rPr lang="en-US" sz="3600" dirty="0"/>
              <a:t>This is an important area to assess during </a:t>
            </a:r>
            <a:r>
              <a:rPr lang="en-US" sz="3600" b="1" dirty="0">
                <a:solidFill>
                  <a:srgbClr val="548235"/>
                </a:solidFill>
              </a:rPr>
              <a:t>both well and illness visits</a:t>
            </a:r>
            <a:r>
              <a:rPr lang="en-US" sz="3600" dirty="0"/>
              <a:t>. Pediatric nutritional assessment must be tailored to the </a:t>
            </a:r>
            <a:r>
              <a:rPr lang="en-US" sz="3600" b="1" dirty="0">
                <a:solidFill>
                  <a:srgbClr val="548235"/>
                </a:solidFill>
              </a:rPr>
              <a:t>child’s age.</a:t>
            </a:r>
          </a:p>
          <a:p>
            <a:pPr algn="l" rtl="0"/>
            <a:endParaRPr lang="ar-IQ" dirty="0"/>
          </a:p>
        </p:txBody>
      </p:sp>
    </p:spTree>
    <p:extLst>
      <p:ext uri="{BB962C8B-B14F-4D97-AF65-F5344CB8AC3E}">
        <p14:creationId xmlns:p14="http://schemas.microsoft.com/office/powerpoint/2010/main" val="13432206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marL="0" indent="0">
              <a:buNone/>
            </a:pPr>
            <a:r>
              <a:rPr lang="en-US" b="1" dirty="0"/>
              <a:t>Infants</a:t>
            </a:r>
            <a:r>
              <a:rPr lang="en-US" dirty="0"/>
              <a:t>.  </a:t>
            </a:r>
          </a:p>
          <a:p>
            <a:pPr marL="0" indent="0">
              <a:buNone/>
            </a:pPr>
            <a:r>
              <a:rPr lang="en-US" dirty="0"/>
              <a:t>The provider should ask if the infant is </a:t>
            </a:r>
            <a:r>
              <a:rPr lang="en-US" b="1" dirty="0">
                <a:solidFill>
                  <a:srgbClr val="548235"/>
                </a:solidFill>
              </a:rPr>
              <a:t>breastfed or bottle-fed</a:t>
            </a:r>
            <a:r>
              <a:rPr lang="en-US" dirty="0">
                <a:solidFill>
                  <a:srgbClr val="548235"/>
                </a:solidFill>
              </a:rPr>
              <a:t> </a:t>
            </a:r>
            <a:r>
              <a:rPr lang="en-US" dirty="0"/>
              <a:t>and how </a:t>
            </a:r>
            <a:r>
              <a:rPr lang="en-US" b="1" dirty="0">
                <a:solidFill>
                  <a:srgbClr val="548235"/>
                </a:solidFill>
              </a:rPr>
              <a:t>frequently</a:t>
            </a:r>
            <a:r>
              <a:rPr lang="en-US" dirty="0">
                <a:solidFill>
                  <a:srgbClr val="548235"/>
                </a:solidFill>
              </a:rPr>
              <a:t>.</a:t>
            </a:r>
          </a:p>
          <a:p>
            <a:pPr marL="0" indent="0">
              <a:buNone/>
            </a:pPr>
            <a:r>
              <a:rPr lang="en-US" dirty="0"/>
              <a:t>The provider should note whether breastfed infants are</a:t>
            </a:r>
          </a:p>
          <a:p>
            <a:pPr marL="0" indent="0">
              <a:buNone/>
            </a:pPr>
            <a:r>
              <a:rPr lang="en-US" dirty="0"/>
              <a:t>supplemented with formula. For infants who are taking</a:t>
            </a:r>
          </a:p>
          <a:p>
            <a:pPr marL="0" indent="0">
              <a:buNone/>
            </a:pPr>
            <a:r>
              <a:rPr lang="en-US" dirty="0"/>
              <a:t>formula, the provider should determine the </a:t>
            </a:r>
            <a:r>
              <a:rPr lang="en-US" b="1" dirty="0">
                <a:solidFill>
                  <a:srgbClr val="548235"/>
                </a:solidFill>
              </a:rPr>
              <a:t>type of</a:t>
            </a:r>
          </a:p>
          <a:p>
            <a:pPr marL="0" indent="0">
              <a:buNone/>
            </a:pPr>
            <a:r>
              <a:rPr lang="en-US" b="1" dirty="0">
                <a:solidFill>
                  <a:srgbClr val="548235"/>
                </a:solidFill>
              </a:rPr>
              <a:t>formula</a:t>
            </a:r>
            <a:r>
              <a:rPr lang="en-US" dirty="0"/>
              <a:t> and </a:t>
            </a:r>
            <a:r>
              <a:rPr lang="en-US" b="1" dirty="0">
                <a:solidFill>
                  <a:srgbClr val="548235"/>
                </a:solidFill>
              </a:rPr>
              <a:t>how many ounces</a:t>
            </a:r>
            <a:r>
              <a:rPr lang="en-US" b="1" dirty="0">
                <a:solidFill>
                  <a:srgbClr val="FF0000"/>
                </a:solidFill>
              </a:rPr>
              <a:t> </a:t>
            </a:r>
            <a:r>
              <a:rPr lang="en-US" dirty="0"/>
              <a:t>of formula the infant consumes per day.</a:t>
            </a:r>
          </a:p>
          <a:p>
            <a:pPr marL="0" indent="0">
              <a:buNone/>
            </a:pPr>
            <a:endParaRPr lang="ar-IQ" dirty="0"/>
          </a:p>
        </p:txBody>
      </p:sp>
    </p:spTree>
    <p:extLst>
      <p:ext uri="{BB962C8B-B14F-4D97-AF65-F5344CB8AC3E}">
        <p14:creationId xmlns:p14="http://schemas.microsoft.com/office/powerpoint/2010/main" val="40864266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marL="0" indent="0">
              <a:buNone/>
            </a:pPr>
            <a:r>
              <a:rPr lang="en-US" b="1" dirty="0"/>
              <a:t>Toddlers.</a:t>
            </a:r>
            <a:r>
              <a:rPr lang="en-US" dirty="0"/>
              <a:t> </a:t>
            </a:r>
          </a:p>
          <a:p>
            <a:pPr algn="l" rtl="0"/>
            <a:r>
              <a:rPr lang="en-US" dirty="0"/>
              <a:t>The provider should ask if the toddler drinks cow’s milk and, if so, what type (e.g., whole vs. skim) and how many ounces a day.</a:t>
            </a:r>
          </a:p>
        </p:txBody>
      </p:sp>
    </p:spTree>
    <p:extLst>
      <p:ext uri="{BB962C8B-B14F-4D97-AF65-F5344CB8AC3E}">
        <p14:creationId xmlns:p14="http://schemas.microsoft.com/office/powerpoint/2010/main" val="1391980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marL="0" indent="0">
              <a:buNone/>
            </a:pPr>
            <a:r>
              <a:rPr lang="en-US" b="1" dirty="0"/>
              <a:t>Preschoolers and School-Aged Children. </a:t>
            </a:r>
          </a:p>
          <a:p>
            <a:pPr marL="0" indent="0">
              <a:buNone/>
            </a:pPr>
            <a:r>
              <a:rPr lang="en-US" dirty="0"/>
              <a:t>The Provider should ask the child and parent to describe</a:t>
            </a:r>
          </a:p>
          <a:p>
            <a:pPr marL="0" indent="0">
              <a:buNone/>
            </a:pPr>
            <a:r>
              <a:rPr lang="en-US" dirty="0"/>
              <a:t>a </a:t>
            </a:r>
            <a:r>
              <a:rPr lang="en-US" b="1" dirty="0">
                <a:solidFill>
                  <a:srgbClr val="548235"/>
                </a:solidFill>
              </a:rPr>
              <a:t>typical meal</a:t>
            </a:r>
            <a:r>
              <a:rPr lang="en-US" dirty="0"/>
              <a:t>, the child’s </a:t>
            </a:r>
            <a:r>
              <a:rPr lang="en-US" b="1" dirty="0">
                <a:solidFill>
                  <a:srgbClr val="548235"/>
                </a:solidFill>
              </a:rPr>
              <a:t>favorite food</a:t>
            </a:r>
            <a:r>
              <a:rPr lang="en-US" dirty="0"/>
              <a:t>, and a </a:t>
            </a:r>
            <a:r>
              <a:rPr lang="en-US" b="1" dirty="0">
                <a:solidFill>
                  <a:srgbClr val="548235"/>
                </a:solidFill>
              </a:rPr>
              <a:t>typical</a:t>
            </a:r>
          </a:p>
          <a:p>
            <a:pPr marL="0" indent="0">
              <a:buNone/>
            </a:pPr>
            <a:r>
              <a:rPr lang="en-US" b="1" dirty="0">
                <a:solidFill>
                  <a:srgbClr val="548235"/>
                </a:solidFill>
              </a:rPr>
              <a:t>snack</a:t>
            </a:r>
            <a:r>
              <a:rPr lang="en-US" dirty="0"/>
              <a:t>. </a:t>
            </a:r>
            <a:endParaRPr lang="ar-IQ" dirty="0"/>
          </a:p>
        </p:txBody>
      </p:sp>
    </p:spTree>
    <p:extLst>
      <p:ext uri="{BB962C8B-B14F-4D97-AF65-F5344CB8AC3E}">
        <p14:creationId xmlns:p14="http://schemas.microsoft.com/office/powerpoint/2010/main" val="8722099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marL="0" indent="0">
              <a:buNone/>
            </a:pPr>
            <a:r>
              <a:rPr lang="en-US" b="1" dirty="0"/>
              <a:t>Adolescents.</a:t>
            </a:r>
            <a:r>
              <a:rPr lang="en-US" dirty="0"/>
              <a:t> Providers should ask adolescents to</a:t>
            </a:r>
          </a:p>
          <a:p>
            <a:pPr marL="0" indent="0">
              <a:buNone/>
            </a:pPr>
            <a:r>
              <a:rPr lang="en-US" dirty="0"/>
              <a:t>describe </a:t>
            </a:r>
            <a:r>
              <a:rPr lang="en-US" b="1" dirty="0">
                <a:solidFill>
                  <a:srgbClr val="548235"/>
                </a:solidFill>
              </a:rPr>
              <a:t>typical meals </a:t>
            </a:r>
            <a:r>
              <a:rPr lang="en-US" dirty="0"/>
              <a:t>and </a:t>
            </a:r>
            <a:r>
              <a:rPr lang="en-US" b="1" dirty="0">
                <a:solidFill>
                  <a:srgbClr val="548235"/>
                </a:solidFill>
              </a:rPr>
              <a:t>snacks</a:t>
            </a:r>
            <a:r>
              <a:rPr lang="en-US" dirty="0"/>
              <a:t> and the </a:t>
            </a:r>
            <a:r>
              <a:rPr lang="en-US" b="1" dirty="0">
                <a:solidFill>
                  <a:srgbClr val="548235"/>
                </a:solidFill>
              </a:rPr>
              <a:t>frequency</a:t>
            </a:r>
          </a:p>
          <a:p>
            <a:pPr marL="0" indent="0">
              <a:buNone/>
            </a:pPr>
            <a:r>
              <a:rPr lang="en-US" dirty="0"/>
              <a:t>with which they consume </a:t>
            </a:r>
            <a:r>
              <a:rPr lang="en-US" b="1" dirty="0">
                <a:solidFill>
                  <a:srgbClr val="548235"/>
                </a:solidFill>
              </a:rPr>
              <a:t>fast food and soda</a:t>
            </a:r>
            <a:r>
              <a:rPr lang="en-US" dirty="0"/>
              <a:t>. With the</a:t>
            </a:r>
          </a:p>
          <a:p>
            <a:pPr marL="0" indent="0">
              <a:buNone/>
            </a:pPr>
            <a:r>
              <a:rPr lang="en-US" dirty="0"/>
              <a:t>parent out of the room, providers should ask adolescent</a:t>
            </a:r>
          </a:p>
          <a:p>
            <a:pPr marL="0" indent="0">
              <a:buNone/>
            </a:pPr>
            <a:r>
              <a:rPr lang="en-US" dirty="0"/>
              <a:t>patients if they are satisfied with their body image or</a:t>
            </a:r>
          </a:p>
          <a:p>
            <a:pPr marL="0" indent="0">
              <a:buNone/>
            </a:pPr>
            <a:r>
              <a:rPr lang="en-US" dirty="0"/>
              <a:t>if they view themselves as fat. </a:t>
            </a:r>
            <a:endParaRPr lang="ar-IQ" dirty="0"/>
          </a:p>
        </p:txBody>
      </p:sp>
    </p:spTree>
    <p:extLst>
      <p:ext uri="{BB962C8B-B14F-4D97-AF65-F5344CB8AC3E}">
        <p14:creationId xmlns:p14="http://schemas.microsoft.com/office/powerpoint/2010/main" val="3692190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dirty="0"/>
              <a:t>Physical Activity</a:t>
            </a:r>
            <a:endParaRPr lang="ar-IQ" dirty="0"/>
          </a:p>
        </p:txBody>
      </p:sp>
      <p:sp>
        <p:nvSpPr>
          <p:cNvPr id="3" name="عنصر نائب للمحتوى 2"/>
          <p:cNvSpPr>
            <a:spLocks noGrp="1"/>
          </p:cNvSpPr>
          <p:nvPr>
            <p:ph idx="1"/>
          </p:nvPr>
        </p:nvSpPr>
        <p:spPr/>
        <p:txBody>
          <a:bodyPr/>
          <a:lstStyle/>
          <a:p>
            <a:pPr marL="0" indent="0">
              <a:buNone/>
            </a:pPr>
            <a:r>
              <a:rPr lang="en-US" dirty="0"/>
              <a:t>The provider should ask about the </a:t>
            </a:r>
            <a:r>
              <a:rPr lang="en-US" b="1" dirty="0">
                <a:solidFill>
                  <a:srgbClr val="548235"/>
                </a:solidFill>
              </a:rPr>
              <a:t>number of hours</a:t>
            </a:r>
            <a:r>
              <a:rPr lang="en-US" dirty="0">
                <a:solidFill>
                  <a:srgbClr val="548235"/>
                </a:solidFill>
              </a:rPr>
              <a:t> </a:t>
            </a:r>
            <a:r>
              <a:rPr lang="en-US" dirty="0"/>
              <a:t>the child spends each day watching television, playing video games, or using the computer. </a:t>
            </a:r>
            <a:endParaRPr lang="ar-IQ" dirty="0"/>
          </a:p>
        </p:txBody>
      </p:sp>
    </p:spTree>
    <p:extLst>
      <p:ext uri="{BB962C8B-B14F-4D97-AF65-F5344CB8AC3E}">
        <p14:creationId xmlns:p14="http://schemas.microsoft.com/office/powerpoint/2010/main" val="26642292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dirty="0"/>
              <a:t>Elimination</a:t>
            </a:r>
            <a:endParaRPr lang="ar-IQ" dirty="0"/>
          </a:p>
        </p:txBody>
      </p:sp>
      <p:sp>
        <p:nvSpPr>
          <p:cNvPr id="3" name="عنصر نائب للمحتوى 2"/>
          <p:cNvSpPr>
            <a:spLocks noGrp="1"/>
          </p:cNvSpPr>
          <p:nvPr>
            <p:ph idx="1"/>
          </p:nvPr>
        </p:nvSpPr>
        <p:spPr/>
        <p:txBody>
          <a:bodyPr/>
          <a:lstStyle/>
          <a:p>
            <a:pPr algn="l" rtl="0"/>
            <a:r>
              <a:rPr lang="en-US" b="1" dirty="0"/>
              <a:t>Newborns and Infants</a:t>
            </a:r>
            <a:r>
              <a:rPr lang="en-US" dirty="0"/>
              <a:t>. For newborns, the provider should ask about number of wet diapers a day (</a:t>
            </a:r>
            <a:r>
              <a:rPr lang="en-US" b="1" dirty="0">
                <a:solidFill>
                  <a:srgbClr val="548235"/>
                </a:solidFill>
              </a:rPr>
              <a:t>six to eight are normal</a:t>
            </a:r>
            <a:r>
              <a:rPr lang="en-US" dirty="0"/>
              <a:t>),.</a:t>
            </a:r>
          </a:p>
          <a:p>
            <a:pPr algn="l" rtl="0"/>
            <a:r>
              <a:rPr lang="en-US" b="1" dirty="0"/>
              <a:t>Toddlers and Preschoolers</a:t>
            </a:r>
            <a:r>
              <a:rPr lang="en-US" dirty="0"/>
              <a:t>. Renal function is not fully developed until </a:t>
            </a:r>
            <a:r>
              <a:rPr lang="en-US" b="1" dirty="0">
                <a:solidFill>
                  <a:srgbClr val="548235"/>
                </a:solidFill>
              </a:rPr>
              <a:t>age 2 years</a:t>
            </a:r>
            <a:r>
              <a:rPr lang="en-US" dirty="0"/>
              <a:t>. Toddlers and preschoolers urinate </a:t>
            </a:r>
            <a:r>
              <a:rPr lang="en-US" b="1" dirty="0">
                <a:solidFill>
                  <a:srgbClr val="548235"/>
                </a:solidFill>
              </a:rPr>
              <a:t>8 to 14 </a:t>
            </a:r>
            <a:r>
              <a:rPr lang="en-US" dirty="0"/>
              <a:t>times a day ,the number of stools a day varies, according to the child’s diet; </a:t>
            </a:r>
            <a:r>
              <a:rPr lang="en-US" b="1" dirty="0">
                <a:solidFill>
                  <a:srgbClr val="548235"/>
                </a:solidFill>
              </a:rPr>
              <a:t>one to three stools </a:t>
            </a:r>
            <a:r>
              <a:rPr lang="en-US" dirty="0"/>
              <a:t>a day is usual but </a:t>
            </a:r>
            <a:r>
              <a:rPr lang="en-US" b="1" dirty="0">
                <a:solidFill>
                  <a:srgbClr val="548235"/>
                </a:solidFill>
              </a:rPr>
              <a:t>one stool every 3 to 4 days </a:t>
            </a:r>
            <a:r>
              <a:rPr lang="en-US" dirty="0"/>
              <a:t>is within normal limits.</a:t>
            </a:r>
            <a:endParaRPr lang="ar-IQ" dirty="0"/>
          </a:p>
        </p:txBody>
      </p:sp>
    </p:spTree>
    <p:extLst>
      <p:ext uri="{BB962C8B-B14F-4D97-AF65-F5344CB8AC3E}">
        <p14:creationId xmlns:p14="http://schemas.microsoft.com/office/powerpoint/2010/main" val="4953294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normAutofit lnSpcReduction="10000"/>
          </a:bodyPr>
          <a:lstStyle/>
          <a:p>
            <a:pPr marL="0" indent="0">
              <a:buNone/>
            </a:pPr>
            <a:r>
              <a:rPr lang="en-US" b="1" dirty="0"/>
              <a:t>School-Aged Children. </a:t>
            </a:r>
            <a:r>
              <a:rPr lang="en-US" dirty="0"/>
              <a:t>School-aged children should</a:t>
            </a:r>
          </a:p>
          <a:p>
            <a:pPr marL="0" indent="0">
              <a:buNone/>
            </a:pPr>
            <a:r>
              <a:rPr lang="en-US" dirty="0"/>
              <a:t>be </a:t>
            </a:r>
            <a:r>
              <a:rPr lang="en-US" b="1" dirty="0">
                <a:solidFill>
                  <a:srgbClr val="548235"/>
                </a:solidFill>
              </a:rPr>
              <a:t>fully toilet trained</a:t>
            </a:r>
            <a:r>
              <a:rPr lang="en-US" dirty="0"/>
              <a:t>. The provider should continue to</a:t>
            </a:r>
          </a:p>
          <a:p>
            <a:pPr marL="0" indent="0">
              <a:buNone/>
            </a:pPr>
            <a:r>
              <a:rPr lang="en-US" dirty="0"/>
              <a:t>ask about the number of voids a day (</a:t>
            </a:r>
            <a:r>
              <a:rPr lang="en-US" b="1" dirty="0">
                <a:solidFill>
                  <a:srgbClr val="548235"/>
                </a:solidFill>
              </a:rPr>
              <a:t>usually five to</a:t>
            </a:r>
          </a:p>
          <a:p>
            <a:pPr marL="0" indent="0">
              <a:buNone/>
            </a:pPr>
            <a:r>
              <a:rPr lang="en-US" b="1" dirty="0">
                <a:solidFill>
                  <a:srgbClr val="548235"/>
                </a:solidFill>
              </a:rPr>
              <a:t>six</a:t>
            </a:r>
            <a:r>
              <a:rPr lang="en-US" dirty="0">
                <a:solidFill>
                  <a:srgbClr val="548235"/>
                </a:solidFill>
              </a:rPr>
              <a:t>, </a:t>
            </a:r>
            <a:r>
              <a:rPr lang="en-US" b="1" dirty="0">
                <a:solidFill>
                  <a:srgbClr val="548235"/>
                </a:solidFill>
              </a:rPr>
              <a:t>depending on fluid intake</a:t>
            </a:r>
            <a:r>
              <a:rPr lang="en-US" dirty="0"/>
              <a:t>) and whether the child</a:t>
            </a:r>
          </a:p>
          <a:p>
            <a:pPr marL="0" indent="0">
              <a:buNone/>
            </a:pPr>
            <a:r>
              <a:rPr lang="en-US" dirty="0"/>
              <a:t>remains dry through the night (</a:t>
            </a:r>
            <a:r>
              <a:rPr lang="en-US" b="1" dirty="0"/>
              <a:t>nocturnal enuresis is</a:t>
            </a:r>
          </a:p>
          <a:p>
            <a:pPr marL="0" indent="0">
              <a:buNone/>
            </a:pPr>
            <a:r>
              <a:rPr lang="en-US" b="1" dirty="0"/>
              <a:t>within normal limits until the age of 5–6 years</a:t>
            </a:r>
            <a:r>
              <a:rPr lang="en-US" dirty="0"/>
              <a:t>).</a:t>
            </a:r>
          </a:p>
          <a:p>
            <a:pPr marL="0" indent="0">
              <a:buNone/>
            </a:pPr>
            <a:r>
              <a:rPr lang="en-US" dirty="0"/>
              <a:t>The frequency of stools should be assessed (normal</a:t>
            </a:r>
          </a:p>
          <a:p>
            <a:pPr marL="0" indent="0">
              <a:buNone/>
            </a:pPr>
            <a:r>
              <a:rPr lang="en-US" dirty="0"/>
              <a:t>ranges from </a:t>
            </a:r>
            <a:r>
              <a:rPr lang="en-US" b="1" dirty="0">
                <a:solidFill>
                  <a:srgbClr val="548235"/>
                </a:solidFill>
              </a:rPr>
              <a:t>one to three</a:t>
            </a:r>
            <a:r>
              <a:rPr lang="en-US" dirty="0">
                <a:solidFill>
                  <a:srgbClr val="548235"/>
                </a:solidFill>
              </a:rPr>
              <a:t> </a:t>
            </a:r>
            <a:r>
              <a:rPr lang="en-US" dirty="0"/>
              <a:t>a day, to </a:t>
            </a:r>
            <a:r>
              <a:rPr lang="en-US" b="1" dirty="0">
                <a:solidFill>
                  <a:srgbClr val="548235"/>
                </a:solidFill>
              </a:rPr>
              <a:t>one stool every</a:t>
            </a:r>
          </a:p>
          <a:p>
            <a:pPr marL="0" indent="0">
              <a:buNone/>
            </a:pPr>
            <a:r>
              <a:rPr lang="en-US" b="1" dirty="0">
                <a:solidFill>
                  <a:srgbClr val="548235"/>
                </a:solidFill>
              </a:rPr>
              <a:t>2–3 days</a:t>
            </a:r>
            <a:r>
              <a:rPr lang="en-US" dirty="0"/>
              <a:t>). </a:t>
            </a:r>
            <a:endParaRPr lang="ar-IQ" dirty="0"/>
          </a:p>
        </p:txBody>
      </p:sp>
    </p:spTree>
    <p:extLst>
      <p:ext uri="{BB962C8B-B14F-4D97-AF65-F5344CB8AC3E}">
        <p14:creationId xmlns:p14="http://schemas.microsoft.com/office/powerpoint/2010/main" val="2066627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marL="0" indent="0">
              <a:buNone/>
            </a:pPr>
            <a:r>
              <a:rPr lang="en-US" b="1" dirty="0"/>
              <a:t>Adolescents</a:t>
            </a:r>
            <a:r>
              <a:rPr lang="en-US" dirty="0"/>
              <a:t>: It is also important to ask about urinary frequency or urgency, which may </a:t>
            </a:r>
            <a:r>
              <a:rPr lang="en-US" b="1" dirty="0"/>
              <a:t>indicate either urinary tract or sexually transmitted infections</a:t>
            </a:r>
            <a:r>
              <a:rPr lang="en-US" dirty="0"/>
              <a:t>. </a:t>
            </a:r>
            <a:r>
              <a:rPr lang="en-US" b="1" dirty="0">
                <a:solidFill>
                  <a:srgbClr val="548235"/>
                </a:solidFill>
              </a:rPr>
              <a:t>Polyuria</a:t>
            </a:r>
            <a:r>
              <a:rPr lang="en-US" dirty="0"/>
              <a:t> in this age group can be a sign of </a:t>
            </a:r>
            <a:r>
              <a:rPr lang="en-US" b="1" dirty="0">
                <a:solidFill>
                  <a:srgbClr val="548235"/>
                </a:solidFill>
              </a:rPr>
              <a:t>type 1 diabetes</a:t>
            </a:r>
            <a:r>
              <a:rPr lang="en-US" dirty="0"/>
              <a:t>. Frequent or </a:t>
            </a:r>
            <a:r>
              <a:rPr lang="en-US" b="1" dirty="0"/>
              <a:t>chronic diarrhea </a:t>
            </a:r>
            <a:r>
              <a:rPr lang="en-US" dirty="0"/>
              <a:t>may indicate </a:t>
            </a:r>
            <a:r>
              <a:rPr lang="en-US" b="1" dirty="0"/>
              <a:t>laxative use</a:t>
            </a:r>
            <a:r>
              <a:rPr lang="en-US" dirty="0"/>
              <a:t>.</a:t>
            </a:r>
            <a:endParaRPr lang="ar-IQ" dirty="0"/>
          </a:p>
        </p:txBody>
      </p:sp>
    </p:spTree>
    <p:extLst>
      <p:ext uri="{BB962C8B-B14F-4D97-AF65-F5344CB8AC3E}">
        <p14:creationId xmlns:p14="http://schemas.microsoft.com/office/powerpoint/2010/main" val="621563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dirty="0"/>
              <a:t>Safety</a:t>
            </a:r>
            <a:endParaRPr lang="ar-IQ" dirty="0"/>
          </a:p>
        </p:txBody>
      </p:sp>
      <p:sp>
        <p:nvSpPr>
          <p:cNvPr id="3" name="عنصر نائب للمحتوى 2"/>
          <p:cNvSpPr>
            <a:spLocks noGrp="1"/>
          </p:cNvSpPr>
          <p:nvPr>
            <p:ph idx="1"/>
          </p:nvPr>
        </p:nvSpPr>
        <p:spPr/>
        <p:txBody>
          <a:bodyPr/>
          <a:lstStyle/>
          <a:p>
            <a:pPr marL="0" indent="0">
              <a:buNone/>
            </a:pPr>
            <a:r>
              <a:rPr lang="en-US" dirty="0"/>
              <a:t>assessing the safety of the environment of an infant, child, or adolescent is extremely important, and the areas of assessment vary according to age and developmental level.</a:t>
            </a:r>
            <a:endParaRPr lang="ar-IQ" dirty="0"/>
          </a:p>
        </p:txBody>
      </p:sp>
    </p:spTree>
    <p:extLst>
      <p:ext uri="{BB962C8B-B14F-4D97-AF65-F5344CB8AC3E}">
        <p14:creationId xmlns:p14="http://schemas.microsoft.com/office/powerpoint/2010/main" val="815932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US" b="1" dirty="0"/>
              <a:t>Sleep</a:t>
            </a:r>
            <a:br>
              <a:rPr lang="en-US" dirty="0"/>
            </a:br>
            <a:endParaRPr lang="ar-IQ" dirty="0"/>
          </a:p>
        </p:txBody>
      </p:sp>
      <p:sp>
        <p:nvSpPr>
          <p:cNvPr id="3" name="عنصر نائب للمحتوى 2"/>
          <p:cNvSpPr>
            <a:spLocks noGrp="1"/>
          </p:cNvSpPr>
          <p:nvPr>
            <p:ph idx="1"/>
          </p:nvPr>
        </p:nvSpPr>
        <p:spPr/>
        <p:txBody>
          <a:bodyPr/>
          <a:lstStyle/>
          <a:p>
            <a:pPr algn="l" rtl="0"/>
            <a:r>
              <a:rPr lang="en-US" dirty="0"/>
              <a:t>infants should be placed in the </a:t>
            </a:r>
            <a:r>
              <a:rPr lang="en-US" b="1" dirty="0">
                <a:solidFill>
                  <a:srgbClr val="548235"/>
                </a:solidFill>
              </a:rPr>
              <a:t>supine position </a:t>
            </a:r>
            <a:r>
              <a:rPr lang="en-US" dirty="0"/>
              <a:t>for naps and at bedtime because of the association of sudden infant death syndrome (</a:t>
            </a:r>
            <a:r>
              <a:rPr lang="en-US" b="1" dirty="0">
                <a:solidFill>
                  <a:srgbClr val="548235"/>
                </a:solidFill>
              </a:rPr>
              <a:t>SIDS</a:t>
            </a:r>
            <a:r>
              <a:rPr lang="en-US" dirty="0"/>
              <a:t>) with a prone sleep position.</a:t>
            </a:r>
          </a:p>
        </p:txBody>
      </p:sp>
    </p:spTree>
    <p:extLst>
      <p:ext uri="{BB962C8B-B14F-4D97-AF65-F5344CB8AC3E}">
        <p14:creationId xmlns:p14="http://schemas.microsoft.com/office/powerpoint/2010/main" val="419393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1919536" y="548680"/>
            <a:ext cx="8229600" cy="990600"/>
          </a:xfrm>
        </p:spPr>
        <p:txBody>
          <a:bodyPr>
            <a:normAutofit/>
          </a:bodyPr>
          <a:lstStyle/>
          <a:p>
            <a:r>
              <a:rPr lang="en-US" b="1" dirty="0"/>
              <a:t>Sleep Needs of Infants and Children</a:t>
            </a:r>
            <a:endParaRPr lang="ar-IQ" dirty="0"/>
          </a:p>
        </p:txBody>
      </p:sp>
      <p:pic>
        <p:nvPicPr>
          <p:cNvPr id="1026" name="Picture 2" descr="C:\Users\Said Mahdi\Pictures\qw.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412776"/>
            <a:ext cx="9144000" cy="5445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85257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pic>
        <p:nvPicPr>
          <p:cNvPr id="2050" name="Picture 2" descr="C:\Users\Said Mahdi\Pictures\gh.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772816"/>
            <a:ext cx="9144000" cy="3672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7384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dirty="0"/>
              <a:t>Common Pediatric Sleep Problems</a:t>
            </a:r>
            <a:endParaRPr lang="ar-IQ" dirty="0"/>
          </a:p>
        </p:txBody>
      </p:sp>
      <p:pic>
        <p:nvPicPr>
          <p:cNvPr id="3074" name="Picture 2" descr="C:\Users\Said Mahdi\Pictures\problem.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340768"/>
            <a:ext cx="9144000" cy="5517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4616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pic>
        <p:nvPicPr>
          <p:cNvPr id="4098" name="Picture 2" descr="C:\Users\Said Mahdi\Pictures\problem 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404664"/>
            <a:ext cx="9144000" cy="6453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90605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pPr marL="514350" indent="-514350">
              <a:buFont typeface="+mj-lt"/>
              <a:buAutoNum type="alphaUcPeriod" startAt="5"/>
            </a:pPr>
            <a:r>
              <a:rPr lang="en-US" b="1" i="1" dirty="0"/>
              <a:t>Social History</a:t>
            </a:r>
            <a:endParaRPr lang="ar-IQ" dirty="0"/>
          </a:p>
        </p:txBody>
      </p:sp>
      <p:sp>
        <p:nvSpPr>
          <p:cNvPr id="3" name="عنصر نائب للمحتوى 2"/>
          <p:cNvSpPr>
            <a:spLocks noGrp="1"/>
          </p:cNvSpPr>
          <p:nvPr>
            <p:ph idx="1"/>
          </p:nvPr>
        </p:nvSpPr>
        <p:spPr/>
        <p:txBody>
          <a:bodyPr/>
          <a:lstStyle/>
          <a:p>
            <a:pPr algn="l" rtl="0"/>
            <a:r>
              <a:rPr lang="en-US" dirty="0"/>
              <a:t>Family.</a:t>
            </a:r>
          </a:p>
          <a:p>
            <a:pPr algn="l" rtl="0"/>
            <a:r>
              <a:rPr lang="en-US" dirty="0"/>
              <a:t>Home Environment.</a:t>
            </a:r>
          </a:p>
          <a:p>
            <a:pPr algn="l" rtl="0"/>
            <a:r>
              <a:rPr lang="en-US" dirty="0"/>
              <a:t>Economic Status.</a:t>
            </a:r>
          </a:p>
          <a:p>
            <a:pPr algn="l" rtl="0"/>
            <a:r>
              <a:rPr lang="en-US" dirty="0"/>
              <a:t>Immigrant Status. </a:t>
            </a:r>
          </a:p>
          <a:p>
            <a:pPr algn="l" rtl="0"/>
            <a:r>
              <a:rPr lang="en-US" dirty="0"/>
              <a:t>Emergency Room Use.</a:t>
            </a:r>
          </a:p>
          <a:p>
            <a:pPr algn="l" rtl="0"/>
            <a:endParaRPr lang="ar-IQ" dirty="0"/>
          </a:p>
        </p:txBody>
      </p:sp>
    </p:spTree>
    <p:extLst>
      <p:ext uri="{BB962C8B-B14F-4D97-AF65-F5344CB8AC3E}">
        <p14:creationId xmlns:p14="http://schemas.microsoft.com/office/powerpoint/2010/main" val="27790749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en-US" b="1" dirty="0"/>
              <a:t>Growth and Development</a:t>
            </a:r>
            <a:endParaRPr lang="ar-IQ" dirty="0"/>
          </a:p>
        </p:txBody>
      </p:sp>
      <p:sp>
        <p:nvSpPr>
          <p:cNvPr id="3" name="عنصر نائب للمحتوى 2"/>
          <p:cNvSpPr>
            <a:spLocks noGrp="1"/>
          </p:cNvSpPr>
          <p:nvPr>
            <p:ph idx="1"/>
          </p:nvPr>
        </p:nvSpPr>
        <p:spPr>
          <a:xfrm>
            <a:off x="1631504" y="1600200"/>
            <a:ext cx="8579296" cy="4876800"/>
          </a:xfrm>
        </p:spPr>
        <p:txBody>
          <a:bodyPr/>
          <a:lstStyle/>
          <a:p>
            <a:pPr marL="0" indent="0">
              <a:buNone/>
            </a:pPr>
            <a:r>
              <a:rPr lang="en-US" dirty="0"/>
              <a:t>A complete history of a child’s growth and development entails determining achievement of developmental milestones in the areas of physical growth, gross and fine motor development, cognitive abilities, language development, social interaction, behavior, and temperament.</a:t>
            </a:r>
          </a:p>
          <a:p>
            <a:pPr algn="l" rtl="0"/>
            <a:r>
              <a:rPr lang="en-US" dirty="0">
                <a:solidFill>
                  <a:srgbClr val="548235"/>
                </a:solidFill>
              </a:rPr>
              <a:t>Gross motor milestones.</a:t>
            </a:r>
          </a:p>
          <a:p>
            <a:pPr algn="l" rtl="0"/>
            <a:r>
              <a:rPr lang="en-US" dirty="0">
                <a:solidFill>
                  <a:srgbClr val="548235"/>
                </a:solidFill>
              </a:rPr>
              <a:t>Fine motor milestones.</a:t>
            </a:r>
          </a:p>
          <a:p>
            <a:pPr algn="l" rtl="0"/>
            <a:r>
              <a:rPr lang="en-US" dirty="0">
                <a:solidFill>
                  <a:srgbClr val="548235"/>
                </a:solidFill>
              </a:rPr>
              <a:t>Language milestones.</a:t>
            </a:r>
          </a:p>
          <a:p>
            <a:pPr algn="l" rtl="0"/>
            <a:r>
              <a:rPr lang="en-US" dirty="0">
                <a:solidFill>
                  <a:srgbClr val="548235"/>
                </a:solidFill>
              </a:rPr>
              <a:t>Psychosocial development.</a:t>
            </a:r>
          </a:p>
          <a:p>
            <a:pPr algn="l" rtl="0"/>
            <a:endParaRPr lang="ar-IQ" dirty="0"/>
          </a:p>
        </p:txBody>
      </p:sp>
    </p:spTree>
    <p:extLst>
      <p:ext uri="{BB962C8B-B14F-4D97-AF65-F5344CB8AC3E}">
        <p14:creationId xmlns:p14="http://schemas.microsoft.com/office/powerpoint/2010/main" val="7037840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marL="0" indent="0">
              <a:buNone/>
            </a:pPr>
            <a:r>
              <a:rPr lang="en-US" b="1" dirty="0">
                <a:solidFill>
                  <a:srgbClr val="548235"/>
                </a:solidFill>
              </a:rPr>
              <a:t>Gross motor milestones </a:t>
            </a:r>
            <a:r>
              <a:rPr lang="en-US" dirty="0"/>
              <a:t>can be assessed by asking about infant </a:t>
            </a:r>
            <a:r>
              <a:rPr lang="en-US" b="1" dirty="0"/>
              <a:t>head control</a:t>
            </a:r>
            <a:r>
              <a:rPr lang="en-US" dirty="0"/>
              <a:t>, rolling over, sitting and standing without support, crawling, walking, and dressing.</a:t>
            </a:r>
            <a:endParaRPr lang="ar-IQ" dirty="0"/>
          </a:p>
        </p:txBody>
      </p:sp>
    </p:spTree>
    <p:extLst>
      <p:ext uri="{BB962C8B-B14F-4D97-AF65-F5344CB8AC3E}">
        <p14:creationId xmlns:p14="http://schemas.microsoft.com/office/powerpoint/2010/main" val="32779886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a:xfrm>
            <a:off x="838200" y="1482725"/>
            <a:ext cx="10515600" cy="4351338"/>
          </a:xfrm>
        </p:spPr>
        <p:txBody>
          <a:bodyPr/>
          <a:lstStyle/>
          <a:p>
            <a:pPr marL="0" indent="0">
              <a:buNone/>
            </a:pPr>
            <a:r>
              <a:rPr lang="en-US" b="1" dirty="0">
                <a:solidFill>
                  <a:srgbClr val="548235"/>
                </a:solidFill>
              </a:rPr>
              <a:t>Fine motor milestones </a:t>
            </a:r>
            <a:r>
              <a:rPr lang="en-US" dirty="0"/>
              <a:t>can be assessed by exploring areas such as reaching for objects, achievement of a pincer grasp, self-feeding.</a:t>
            </a:r>
            <a:endParaRPr lang="ar-IQ" dirty="0"/>
          </a:p>
        </p:txBody>
      </p:sp>
    </p:spTree>
    <p:extLst>
      <p:ext uri="{BB962C8B-B14F-4D97-AF65-F5344CB8AC3E}">
        <p14:creationId xmlns:p14="http://schemas.microsoft.com/office/powerpoint/2010/main" val="39999800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a:xfrm>
            <a:off x="604434" y="1825625"/>
            <a:ext cx="10945032" cy="4351338"/>
          </a:xfrm>
        </p:spPr>
        <p:txBody>
          <a:bodyPr/>
          <a:lstStyle/>
          <a:p>
            <a:pPr marL="0" indent="0">
              <a:buNone/>
            </a:pPr>
            <a:r>
              <a:rPr lang="en-US" b="1" dirty="0">
                <a:solidFill>
                  <a:srgbClr val="548235"/>
                </a:solidFill>
              </a:rPr>
              <a:t>Language milestones </a:t>
            </a:r>
            <a:r>
              <a:rPr lang="en-US" dirty="0"/>
              <a:t>can be assessed by asking about when the child spoke his or her first word with meaning, combined two to three words, and spoke in sentences.</a:t>
            </a:r>
            <a:endParaRPr lang="ar-IQ" dirty="0"/>
          </a:p>
        </p:txBody>
      </p:sp>
    </p:spTree>
    <p:extLst>
      <p:ext uri="{BB962C8B-B14F-4D97-AF65-F5344CB8AC3E}">
        <p14:creationId xmlns:p14="http://schemas.microsoft.com/office/powerpoint/2010/main" val="39878055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endParaRPr lang="ar-IQ"/>
          </a:p>
        </p:txBody>
      </p:sp>
      <p:sp>
        <p:nvSpPr>
          <p:cNvPr id="3" name="عنصر نائب للمحتوى 2"/>
          <p:cNvSpPr>
            <a:spLocks noGrp="1"/>
          </p:cNvSpPr>
          <p:nvPr>
            <p:ph idx="1"/>
          </p:nvPr>
        </p:nvSpPr>
        <p:spPr/>
        <p:txBody>
          <a:bodyPr/>
          <a:lstStyle/>
          <a:p>
            <a:pPr marL="0" indent="0">
              <a:buNone/>
            </a:pPr>
            <a:r>
              <a:rPr lang="en-US" b="1" dirty="0">
                <a:solidFill>
                  <a:srgbClr val="548235"/>
                </a:solidFill>
              </a:rPr>
              <a:t>Psychosocial development</a:t>
            </a:r>
            <a:r>
              <a:rPr lang="en-US" b="1" dirty="0">
                <a:solidFill>
                  <a:srgbClr val="FF0000"/>
                </a:solidFill>
              </a:rPr>
              <a:t> </a:t>
            </a:r>
            <a:r>
              <a:rPr lang="en-US" dirty="0"/>
              <a:t>can be assessed by asking</a:t>
            </a:r>
          </a:p>
          <a:p>
            <a:pPr marL="0" indent="0">
              <a:buNone/>
            </a:pPr>
            <a:r>
              <a:rPr lang="en-US" dirty="0"/>
              <a:t>the parent about the child’s </a:t>
            </a:r>
            <a:r>
              <a:rPr lang="en-US" dirty="0">
                <a:solidFill>
                  <a:srgbClr val="548235"/>
                </a:solidFill>
              </a:rPr>
              <a:t>temperament, play, attachment </a:t>
            </a:r>
            <a:r>
              <a:rPr lang="en-US" dirty="0"/>
              <a:t>to and </a:t>
            </a:r>
            <a:r>
              <a:rPr lang="en-US" dirty="0">
                <a:solidFill>
                  <a:srgbClr val="548235"/>
                </a:solidFill>
              </a:rPr>
              <a:t>ability to separate </a:t>
            </a:r>
            <a:r>
              <a:rPr lang="en-US" dirty="0"/>
              <a:t>from the primary caregiver, self-care abilities, </a:t>
            </a:r>
            <a:r>
              <a:rPr lang="en-US" dirty="0">
                <a:solidFill>
                  <a:srgbClr val="548235"/>
                </a:solidFill>
              </a:rPr>
              <a:t>peer relationships</a:t>
            </a:r>
            <a:r>
              <a:rPr lang="en-US" dirty="0"/>
              <a:t>, and </a:t>
            </a:r>
            <a:r>
              <a:rPr lang="en-US" dirty="0">
                <a:solidFill>
                  <a:srgbClr val="548235"/>
                </a:solidFill>
              </a:rPr>
              <a:t>school performance</a:t>
            </a:r>
            <a:r>
              <a:rPr lang="en-US" dirty="0"/>
              <a:t>.</a:t>
            </a:r>
            <a:endParaRPr lang="ar-IQ" dirty="0"/>
          </a:p>
        </p:txBody>
      </p:sp>
    </p:spTree>
    <p:extLst>
      <p:ext uri="{BB962C8B-B14F-4D97-AF65-F5344CB8AC3E}">
        <p14:creationId xmlns:p14="http://schemas.microsoft.com/office/powerpoint/2010/main" val="14731286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pPr marL="514350" indent="-514350">
              <a:buFont typeface="+mj-lt"/>
              <a:buAutoNum type="alphaUcPeriod" startAt="6"/>
            </a:pPr>
            <a:r>
              <a:rPr lang="en-US" b="1" i="1" dirty="0"/>
              <a:t>Spiritual History</a:t>
            </a:r>
            <a:endParaRPr lang="ar-IQ" dirty="0"/>
          </a:p>
        </p:txBody>
      </p:sp>
      <p:sp>
        <p:nvSpPr>
          <p:cNvPr id="3" name="عنصر نائب للمحتوى 2"/>
          <p:cNvSpPr>
            <a:spLocks noGrp="1"/>
          </p:cNvSpPr>
          <p:nvPr>
            <p:ph idx="1"/>
          </p:nvPr>
        </p:nvSpPr>
        <p:spPr/>
        <p:txBody>
          <a:bodyPr/>
          <a:lstStyle/>
          <a:p>
            <a:pPr marL="0" indent="0">
              <a:buNone/>
            </a:pPr>
            <a:r>
              <a:rPr lang="en-US" dirty="0"/>
              <a:t>It is important for the health care provider to conduct a</a:t>
            </a:r>
          </a:p>
          <a:p>
            <a:pPr marL="0" indent="0">
              <a:buNone/>
            </a:pPr>
            <a:r>
              <a:rPr lang="en-US" dirty="0"/>
              <a:t>spiritual assessment as part of the </a:t>
            </a:r>
            <a:r>
              <a:rPr lang="en-US" dirty="0">
                <a:solidFill>
                  <a:srgbClr val="548235"/>
                </a:solidFill>
              </a:rPr>
              <a:t>initial health history.</a:t>
            </a:r>
            <a:endParaRPr lang="ar-IQ" dirty="0">
              <a:solidFill>
                <a:srgbClr val="548235"/>
              </a:solidFill>
            </a:endParaRPr>
          </a:p>
        </p:txBody>
      </p:sp>
    </p:spTree>
    <p:extLst>
      <p:ext uri="{BB962C8B-B14F-4D97-AF65-F5344CB8AC3E}">
        <p14:creationId xmlns:p14="http://schemas.microsoft.com/office/powerpoint/2010/main" val="2673367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Autofit/>
          </a:bodyPr>
          <a:lstStyle/>
          <a:p>
            <a:r>
              <a:rPr lang="en-US" sz="4800" dirty="0">
                <a:latin typeface="Segoe UI Light" panose="020B0502040204020203" pitchFamily="34" charset="0"/>
                <a:cs typeface="Segoe UI Light" panose="020B0502040204020203" pitchFamily="34" charset="0"/>
              </a:rPr>
              <a:t>Review of systems:</a:t>
            </a:r>
            <a:endParaRPr lang="ar-IQ" sz="4800" dirty="0"/>
          </a:p>
        </p:txBody>
      </p:sp>
      <p:pic>
        <p:nvPicPr>
          <p:cNvPr id="6146" name="Picture 2" descr="C:\Users\Said Mahdi\Pictures\Capturem.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1196391"/>
            <a:ext cx="9144000" cy="5661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50245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4929" y="261258"/>
            <a:ext cx="11691257" cy="2127100"/>
          </a:xfrm>
          <a:prstGeom prst="rect">
            <a:avLst/>
          </a:prstGeom>
          <a:solidFill>
            <a:schemeClr val="accent6">
              <a:lumMod val="75000"/>
            </a:schemeClr>
          </a:solidFill>
          <a:ln>
            <a:solidFill>
              <a:schemeClr val="accent6">
                <a:lumMod val="75000"/>
              </a:schemeClr>
            </a:solidFill>
          </a:ln>
        </p:spPr>
        <p:txBody>
          <a:bodyPr vert="horz" wrap="square" lIns="91440" tIns="45720" rIns="91440" bIns="45720" rtlCol="0">
            <a:noAutofit/>
          </a:bodyPr>
          <a:lstStyle/>
          <a:p>
            <a:pPr marL="0" marR="0" lvl="0" indent="0" algn="l" defTabSz="914400" rtl="0" eaLnBrk="1" fontAlgn="auto" latinLnBrk="0" hangingPunct="1">
              <a:lnSpc>
                <a:spcPts val="1800"/>
              </a:lnSpc>
              <a:spcBef>
                <a:spcPts val="0"/>
              </a:spcBef>
              <a:spcAft>
                <a:spcPts val="60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Segoe UI" panose="020B0502040204020203" pitchFamily="34" charset="0"/>
              <a:ea typeface="+mn-ea"/>
              <a:cs typeface="Segoe UI" panose="020B0502040204020203" pitchFamily="34" charset="0"/>
            </a:endParaRPr>
          </a:p>
        </p:txBody>
      </p:sp>
      <p:sp>
        <p:nvSpPr>
          <p:cNvPr id="27" name="Text Placeholder 1"/>
          <p:cNvSpPr txBox="1">
            <a:spLocks/>
          </p:cNvSpPr>
          <p:nvPr/>
        </p:nvSpPr>
        <p:spPr>
          <a:xfrm>
            <a:off x="3959352" y="1088148"/>
            <a:ext cx="4415341" cy="7680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ko-KR" sz="4800" b="0" i="0" u="none" strike="noStrike" kern="1200" cap="none" spc="0" normalizeH="0" baseline="0" noProof="0" dirty="0">
                <a:ln>
                  <a:noFill/>
                </a:ln>
                <a:solidFill>
                  <a:prstClr val="white"/>
                </a:solidFill>
                <a:effectLst/>
                <a:uLnTx/>
                <a:uFillTx/>
                <a:latin typeface="Segoe UI Light"/>
                <a:ea typeface="+mn-ea"/>
                <a:cs typeface="+mn-cs"/>
              </a:rPr>
              <a:t>Thank</a:t>
            </a:r>
            <a:r>
              <a:rPr kumimoji="0" lang="en-US" altLang="ko-KR" sz="4800" b="0" i="0" u="none" strike="noStrike" kern="1200" cap="none" spc="0" normalizeH="0" baseline="0" noProof="0" dirty="0">
                <a:ln>
                  <a:noFill/>
                </a:ln>
                <a:solidFill>
                  <a:prstClr val="white"/>
                </a:solidFill>
                <a:effectLst/>
                <a:uLnTx/>
                <a:uFillTx/>
                <a:latin typeface="Segoe UI"/>
                <a:ea typeface="+mn-ea"/>
                <a:cs typeface="+mn-cs"/>
              </a:rPr>
              <a:t> </a:t>
            </a:r>
            <a:r>
              <a:rPr kumimoji="0" lang="en-US" altLang="ko-KR" sz="4800" b="0" i="0" u="none" strike="noStrike" kern="1200" cap="none" spc="0" normalizeH="0" baseline="0" noProof="0" dirty="0">
                <a:ln>
                  <a:noFill/>
                </a:ln>
                <a:solidFill>
                  <a:prstClr val="white"/>
                </a:solidFill>
                <a:effectLst/>
                <a:uLnTx/>
                <a:uFillTx/>
                <a:latin typeface="Segoe UI Light"/>
                <a:ea typeface="+mn-ea"/>
                <a:cs typeface="+mn-cs"/>
              </a:rPr>
              <a:t>you</a:t>
            </a:r>
            <a:endParaRPr kumimoji="0" lang="ko-KR" altLang="en-US" sz="4800" b="0" i="0" u="none" strike="noStrike" kern="1200" cap="none" spc="0" normalizeH="0" baseline="0" noProof="0" dirty="0">
              <a:ln>
                <a:noFill/>
              </a:ln>
              <a:solidFill>
                <a:prstClr val="white"/>
              </a:solidFill>
              <a:effectLst/>
              <a:uLnTx/>
              <a:uFillTx/>
              <a:latin typeface="Segoe UI Light"/>
              <a:ea typeface="+mn-ea"/>
              <a:cs typeface="+mn-cs"/>
            </a:endParaRPr>
          </a:p>
        </p:txBody>
      </p:sp>
      <p:pic>
        <p:nvPicPr>
          <p:cNvPr id="3" name="صورة 2">
            <a:extLst>
              <a:ext uri="{FF2B5EF4-FFF2-40B4-BE49-F238E27FC236}">
                <a16:creationId xmlns:a16="http://schemas.microsoft.com/office/drawing/2014/main" id="{205E989E-759A-4E44-BF88-96475229EC4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897479" y="2468787"/>
            <a:ext cx="8160919" cy="4469643"/>
          </a:xfrm>
          <a:prstGeom prst="rect">
            <a:avLst/>
          </a:prstGeom>
        </p:spPr>
      </p:pic>
      <p:sp>
        <p:nvSpPr>
          <p:cNvPr id="5" name="مربع نص 4">
            <a:extLst>
              <a:ext uri="{FF2B5EF4-FFF2-40B4-BE49-F238E27FC236}">
                <a16:creationId xmlns:a16="http://schemas.microsoft.com/office/drawing/2014/main" id="{723EB792-9876-4C89-8166-5F042AD2265A}"/>
              </a:ext>
            </a:extLst>
          </p:cNvPr>
          <p:cNvSpPr txBox="1"/>
          <p:nvPr/>
        </p:nvSpPr>
        <p:spPr>
          <a:xfrm>
            <a:off x="-121108" y="6627168"/>
            <a:ext cx="8160919" cy="230832"/>
          </a:xfrm>
          <a:prstGeom prst="rect">
            <a:avLst/>
          </a:prstGeom>
        </p:spPr>
        <p:txBody>
          <a:bodyPr vert="horz" wrap="square" lIns="91440" tIns="45720" rIns="91440" bIns="45720" rtlCol="0">
            <a:spAutoFit/>
          </a:bodyPr>
          <a:lstStyle/>
          <a:p>
            <a:r>
              <a:rPr lang="en-US" sz="900" dirty="0" err="1">
                <a:hlinkClick r:id="rId4" tooltip="http://edelweisspublications.com/keyword/29/119/Child-care"/>
              </a:rPr>
              <a:t>هذه</a:t>
            </a:r>
            <a:r>
              <a:rPr lang="en-US" sz="900" dirty="0">
                <a:hlinkClick r:id="rId4" tooltip="http://edelweisspublications.com/keyword/29/119/Child-care"/>
              </a:rPr>
              <a:t> </a:t>
            </a:r>
            <a:r>
              <a:rPr lang="en-US" sz="900" dirty="0" err="1">
                <a:hlinkClick r:id="rId4" tooltip="http://edelweisspublications.com/keyword/29/119/Child-care"/>
              </a:rPr>
              <a:t>الصورة</a:t>
            </a:r>
            <a:r>
              <a:rPr lang="en-US" sz="900" dirty="0"/>
              <a:t> </a:t>
            </a:r>
            <a:r>
              <a:rPr lang="en-US" sz="900" dirty="0" err="1"/>
              <a:t>بواسطة</a:t>
            </a:r>
            <a:r>
              <a:rPr lang="en-US" sz="900" dirty="0"/>
              <a:t> </a:t>
            </a:r>
            <a:r>
              <a:rPr lang="en-US" sz="900" dirty="0" err="1"/>
              <a:t>كاتب</a:t>
            </a:r>
            <a:r>
              <a:rPr lang="en-US" sz="900" dirty="0"/>
              <a:t> </a:t>
            </a:r>
            <a:r>
              <a:rPr lang="en-US" sz="900" dirty="0" err="1"/>
              <a:t>غير</a:t>
            </a:r>
            <a:r>
              <a:rPr lang="en-US" sz="900" dirty="0"/>
              <a:t> </a:t>
            </a:r>
            <a:r>
              <a:rPr lang="en-US" sz="900" dirty="0" err="1"/>
              <a:t>معروف</a:t>
            </a:r>
            <a:r>
              <a:rPr lang="en-US" sz="900" dirty="0"/>
              <a:t> </a:t>
            </a:r>
            <a:r>
              <a:rPr lang="en-US" sz="900" dirty="0" err="1"/>
              <a:t>مرخصة</a:t>
            </a:r>
            <a:r>
              <a:rPr lang="en-US" sz="900" dirty="0"/>
              <a:t> </a:t>
            </a:r>
            <a:r>
              <a:rPr lang="en-US" sz="900" dirty="0" err="1"/>
              <a:t>بالاسم</a:t>
            </a:r>
            <a:r>
              <a:rPr lang="en-US" sz="900" dirty="0"/>
              <a:t> </a:t>
            </a:r>
            <a:r>
              <a:rPr lang="en-US" sz="900" dirty="0">
                <a:hlinkClick r:id="rId5" tooltip="https://creativecommons.org/licenses/by/3.0/"/>
              </a:rPr>
              <a:t>CC BY</a:t>
            </a:r>
            <a:endParaRPr lang="en-US" sz="900" dirty="0"/>
          </a:p>
        </p:txBody>
      </p:sp>
    </p:spTree>
    <p:extLst>
      <p:ext uri="{BB962C8B-B14F-4D97-AF65-F5344CB8AC3E}">
        <p14:creationId xmlns:p14="http://schemas.microsoft.com/office/powerpoint/2010/main" val="19370179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Get Started with 3D">
  <a:themeElements>
    <a:clrScheme name="أزرق">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1965</TotalTime>
  <Words>2157</Words>
  <Application>Microsoft Office PowerPoint</Application>
  <PresentationFormat>شاشة عريضة</PresentationFormat>
  <Paragraphs>264</Paragraphs>
  <Slides>59</Slides>
  <Notes>23</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59</vt:i4>
      </vt:variant>
    </vt:vector>
  </HeadingPairs>
  <TitlesOfParts>
    <vt:vector size="67" baseType="lpstr">
      <vt:lpstr>Arial</vt:lpstr>
      <vt:lpstr>Calibri</vt:lpstr>
      <vt:lpstr>Segoe UI</vt:lpstr>
      <vt:lpstr>Segoe UI Black</vt:lpstr>
      <vt:lpstr>Segoe UI Light</vt:lpstr>
      <vt:lpstr>Segoe UI Semibold</vt:lpstr>
      <vt:lpstr>Times New Roman</vt:lpstr>
      <vt:lpstr>Get Started with 3D</vt:lpstr>
      <vt:lpstr>Pediatric Health History</vt:lpstr>
      <vt:lpstr>O B J E C T I V E S</vt:lpstr>
      <vt:lpstr>Pediatric Health History</vt:lpstr>
      <vt:lpstr>Types of Pediatric Health Histories</vt:lpstr>
      <vt:lpstr>Types of Pediatric Health Histories</vt:lpstr>
      <vt:lpstr>Types of Pediatric Health Histories</vt:lpstr>
      <vt:lpstr>Types of Pediatric Health Histories</vt:lpstr>
      <vt:lpstr>Data Collection</vt:lpstr>
      <vt:lpstr> DATA COLLECTION</vt:lpstr>
      <vt:lpstr>Methods of Data Collection</vt:lpstr>
      <vt:lpstr>Methods of Data Collection</vt:lpstr>
      <vt:lpstr>How to Conduct a Pediatric History Interview</vt:lpstr>
      <vt:lpstr>Pediatric Health History</vt:lpstr>
      <vt:lpstr>Pediatric Health History</vt:lpstr>
      <vt:lpstr>Pediatric Health History</vt:lpstr>
      <vt:lpstr>Age-specific interview and assessment tips</vt:lpstr>
      <vt:lpstr>Age-specific interview and assessment tips.</vt:lpstr>
      <vt:lpstr>Age-specific interview and assessment tips.</vt:lpstr>
      <vt:lpstr>Age-specific interview and assessment tips.</vt:lpstr>
      <vt:lpstr>Age-specific interview and assessment tips.</vt:lpstr>
      <vt:lpstr>Subjective Data</vt:lpstr>
      <vt:lpstr>Subjective Data</vt:lpstr>
      <vt:lpstr>Subjective Data</vt:lpstr>
      <vt:lpstr>Subjective Data</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Family Medical History</vt:lpstr>
      <vt:lpstr>Pain Assessment </vt:lpstr>
      <vt:lpstr>عرض تقديمي في PowerPoint</vt:lpstr>
      <vt:lpstr>Nutrition </vt:lpstr>
      <vt:lpstr>عرض تقديمي في PowerPoint</vt:lpstr>
      <vt:lpstr>عرض تقديمي في PowerPoint</vt:lpstr>
      <vt:lpstr>عرض تقديمي في PowerPoint</vt:lpstr>
      <vt:lpstr>عرض تقديمي في PowerPoint</vt:lpstr>
      <vt:lpstr>Physical Activity</vt:lpstr>
      <vt:lpstr>Elimination</vt:lpstr>
      <vt:lpstr>عرض تقديمي في PowerPoint</vt:lpstr>
      <vt:lpstr>عرض تقديمي في PowerPoint</vt:lpstr>
      <vt:lpstr>Safety</vt:lpstr>
      <vt:lpstr>Sleep </vt:lpstr>
      <vt:lpstr>Sleep Needs of Infants and Children</vt:lpstr>
      <vt:lpstr>عرض تقديمي في PowerPoint</vt:lpstr>
      <vt:lpstr>Common Pediatric Sleep Problems</vt:lpstr>
      <vt:lpstr>عرض تقديمي في PowerPoint</vt:lpstr>
      <vt:lpstr>Social History</vt:lpstr>
      <vt:lpstr>Growth and Development</vt:lpstr>
      <vt:lpstr>عرض تقديمي في PowerPoint</vt:lpstr>
      <vt:lpstr>عرض تقديمي في PowerPoint</vt:lpstr>
      <vt:lpstr>عرض تقديمي في PowerPoint</vt:lpstr>
      <vt:lpstr>عرض تقديمي في PowerPoint</vt:lpstr>
      <vt:lpstr>Spiritual History</vt:lpstr>
      <vt:lpstr>Review of systems:</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Defects of the Genitourinary Tract Nursing management of pediatric patients with Genetic disorders | The Child with Gastrointestinal Dysfunction</dc:title>
  <dc:creator>green lanter</dc:creator>
  <cp:lastModifiedBy>green lanter</cp:lastModifiedBy>
  <cp:revision>50</cp:revision>
  <cp:lastPrinted>2021-11-01T19:02:19Z</cp:lastPrinted>
  <dcterms:created xsi:type="dcterms:W3CDTF">2019-03-12T20:57:07Z</dcterms:created>
  <dcterms:modified xsi:type="dcterms:W3CDTF">2025-09-29T18:57:57Z</dcterms:modified>
</cp:coreProperties>
</file>