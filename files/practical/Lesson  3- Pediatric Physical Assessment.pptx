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689" r:id="rId2"/>
  </p:sldMasterIdLst>
  <p:notesMasterIdLst>
    <p:notesMasterId r:id="rId64"/>
  </p:notesMasterIdLst>
  <p:handoutMasterIdLst>
    <p:handoutMasterId r:id="rId65"/>
  </p:handoutMasterIdLst>
  <p:sldIdLst>
    <p:sldId id="328" r:id="rId3"/>
    <p:sldId id="32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271" r:id="rId16"/>
    <p:sldId id="273" r:id="rId17"/>
    <p:sldId id="274" r:id="rId18"/>
    <p:sldId id="275" r:id="rId19"/>
    <p:sldId id="277" r:id="rId20"/>
    <p:sldId id="309" r:id="rId21"/>
    <p:sldId id="257" r:id="rId22"/>
    <p:sldId id="278" r:id="rId23"/>
    <p:sldId id="279" r:id="rId24"/>
    <p:sldId id="262" r:id="rId25"/>
    <p:sldId id="323" r:id="rId26"/>
    <p:sldId id="266" r:id="rId27"/>
    <p:sldId id="285" r:id="rId28"/>
    <p:sldId id="286" r:id="rId29"/>
    <p:sldId id="263" r:id="rId30"/>
    <p:sldId id="293" r:id="rId31"/>
    <p:sldId id="267" r:id="rId32"/>
    <p:sldId id="269" r:id="rId33"/>
    <p:sldId id="315" r:id="rId34"/>
    <p:sldId id="258" r:id="rId35"/>
    <p:sldId id="280" r:id="rId36"/>
    <p:sldId id="259" r:id="rId37"/>
    <p:sldId id="316" r:id="rId38"/>
    <p:sldId id="326" r:id="rId39"/>
    <p:sldId id="318" r:id="rId40"/>
    <p:sldId id="319" r:id="rId41"/>
    <p:sldId id="317" r:id="rId42"/>
    <p:sldId id="260" r:id="rId43"/>
    <p:sldId id="320" r:id="rId44"/>
    <p:sldId id="310" r:id="rId45"/>
    <p:sldId id="321" r:id="rId46"/>
    <p:sldId id="322" r:id="rId47"/>
    <p:sldId id="264" r:id="rId48"/>
    <p:sldId id="311" r:id="rId49"/>
    <p:sldId id="312" r:id="rId50"/>
    <p:sldId id="313" r:id="rId51"/>
    <p:sldId id="314" r:id="rId52"/>
    <p:sldId id="281" r:id="rId53"/>
    <p:sldId id="294" r:id="rId54"/>
    <p:sldId id="324" r:id="rId55"/>
    <p:sldId id="265" r:id="rId56"/>
    <p:sldId id="325" r:id="rId57"/>
    <p:sldId id="283" r:id="rId58"/>
    <p:sldId id="268" r:id="rId59"/>
    <p:sldId id="290" r:id="rId60"/>
    <p:sldId id="289" r:id="rId61"/>
    <p:sldId id="291" r:id="rId62"/>
    <p:sldId id="292" r:id="rId6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4" autoAdjust="0"/>
    <p:restoredTop sz="94612" autoAdjust="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30B99430-9314-15ED-7B58-C7E7440D5A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43E0451B-9081-9A69-E075-D177C97DCB1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CD491BE2-7E58-9E65-A9A2-192444FAB0F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D66D041E-8841-00FA-FA22-2924DBF0CEB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37DD00D9-3C18-4890-A0A2-3EC184B6FA4E}" type="slidenum">
              <a:rPr lang="en-US" altLang="ar-IQ"/>
              <a:pPr/>
              <a:t>‹#›</a:t>
            </a:fld>
            <a:endParaRPr lang="en-US" altLang="ar-IQ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IQ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091BAFB1-4F02-4BE4-B736-1D03FDD515CC}" type="datetimeFigureOut">
              <a:rPr lang="ar-IQ" smtClean="0"/>
              <a:t>08/04/1447</a:t>
            </a:fld>
            <a:endParaRPr lang="ar-IQ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IQ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IQ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3F0F924-705A-4F19-861F-EB58E247B9C3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499873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422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885154-1C45-4C5D-8B1E-2416BECCE50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22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6552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3034F6A1-C952-9C28-7D3A-0FE6021E1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ar-IQ"/>
          </a:p>
        </p:txBody>
      </p:sp>
      <p:sp>
        <p:nvSpPr>
          <p:cNvPr id="3" name="Line 8">
            <a:extLst>
              <a:ext uri="{FF2B5EF4-FFF2-40B4-BE49-F238E27FC236}">
                <a16:creationId xmlns:a16="http://schemas.microsoft.com/office/drawing/2014/main" id="{A1D4D297-76F5-ABFF-C67F-ADC603676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ar-IQ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030A21E-2B0C-1456-F3AC-3E8AD3396B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C49F4F-5F35-10BB-D650-0FA64F1014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059AB61-3570-CEA4-BB6A-B2B4E3569A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E2CCEB-ECB4-419C-B56B-5C02081D7B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5968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ar-IQ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3B2621-BCEF-F63E-FB22-3FABBA5728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5CE8AD-08A9-8045-CB47-4D337E4341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76D813-DEC5-99CC-770E-B52E7F49BC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D0E213-91E1-4939-AB85-61CB92E7D4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380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r">
              <a:defRPr sz="4000" b="1" cap="all"/>
            </a:lvl1pPr>
          </a:lstStyle>
          <a:p>
            <a:r>
              <a:rPr lang="ar-SA"/>
              <a:t>انقر لتحرير نمط العنوان الرئيسي</a:t>
            </a:r>
            <a:endParaRPr lang="ar-IQ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398523-1B6A-648D-B589-DDBA1351A2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B9EB20-2D89-866B-FC1E-0315091ED3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F64F040-2399-DDAC-A75D-1E610945E4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E4F9E4-9BF6-43ED-8D42-5568F819D9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597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ar-IQ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70C4BC-B501-9BED-00E3-F181AAB0F0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A3BF54-EB53-EE5F-7624-4DE9D2E402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CA45CE-CD7A-CB33-65ED-1D335CD176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76025C-F4D1-4A1F-ACCA-20C70928FA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416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ar-SA"/>
              <a:t>انقر لتحرير نمط العنوان الرئيسي</a:t>
            </a:r>
            <a:endParaRPr lang="ar-IQ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BA5B643-8714-9445-72E3-0B166EDC8F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5AA22AE-3B25-B04B-28A3-63A7B1BAC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16B052-885E-4554-1584-1197BAB4CF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C643A4-DB31-4898-9299-D66948BD46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5509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ar-IQ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A9263E6-D2ED-FF61-D229-89D3509671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BF195CF-CEBF-AD6E-ECA2-F56FF8ADC6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698A404-225C-335A-A732-6EA6529016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72C9D7-064D-4C2F-B64B-EB367433BA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055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3F111B1-422C-6DA6-2576-ABBBB968EC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C362241-C92B-0EAB-B8DF-220C6D056B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12F1E0B-4F00-7F59-23C7-64E491ED11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2AC209-B0A9-456B-8475-5D8BA9763F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8391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/>
              <a:t>انقر لتحرير نمط العنوان الرئيسي</a:t>
            </a:r>
            <a:endParaRPr lang="ar-IQ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6D6229-20C0-BFBE-4D55-2DDA46503B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96DFB3-B727-D806-4F6D-6875680B45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D597E0-EF4C-1C7A-50FD-74E4648795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93292B-CA45-4C13-AD24-008BBC0DF8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9783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/>
              <a:t>انقر لتحرير نمط العنوان الرئيسي</a:t>
            </a:r>
            <a:endParaRPr lang="ar-IQ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ar-IQ" noProof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DC405D-7705-5A95-3EED-5ADA56ACDE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A9474B-D200-F365-8615-67A13270A1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3A3DB8-3AD3-6E05-38D3-39B93DA2F4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D7F0C2-AA35-4C4F-939B-632E876057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5070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ar-IQ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DAB4AE-B80D-B6B3-1620-AB4C59BF56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A0FE99E-03F4-67F0-CE39-2A8063F93E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24472E-28A3-1382-0B7E-BA41D7DEC6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CB5D3A-5BE7-4DC2-BCBD-0C8771BD15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5085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ar-SA"/>
              <a:t>انقر لتحرير نمط العنوان الرئيسي</a:t>
            </a:r>
            <a:endParaRPr lang="ar-IQ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AD4CC70-5D79-EDE4-525E-932FB450CD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9251E13-B764-8819-F447-05E0F95AE0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8F09EE6-16FA-47D1-1306-0E13C67CB3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EEA34D-303C-4677-BD1E-8A4B532B52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397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1" y="262786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10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171450" lvl="0" indent="-171450">
              <a:lnSpc>
                <a:spcPct val="150000"/>
              </a:lnSpc>
              <a:spcAft>
                <a:spcPts val="9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901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852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1457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0681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3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 algn="l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8" y="1507068"/>
            <a:ext cx="7143905" cy="4669896"/>
          </a:xfrm>
        </p:spPr>
        <p:txBody>
          <a:bodyPr anchor="ctr"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2342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3" y="26278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1" y="262786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643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3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780725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3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79840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0249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H="1">
            <a:off x="6480044" y="1508790"/>
            <a:ext cx="5711957" cy="3840427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99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7110273" y="0"/>
            <a:ext cx="4451499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086" indent="0">
              <a:buNone/>
              <a:defRPr sz="2799"/>
            </a:lvl2pPr>
            <a:lvl3pPr marL="914171" indent="0">
              <a:buNone/>
              <a:defRPr sz="2399"/>
            </a:lvl3pPr>
            <a:lvl4pPr marL="1371257" indent="0">
              <a:buNone/>
              <a:defRPr sz="2000"/>
            </a:lvl4pPr>
            <a:lvl5pPr marL="1828343" indent="0">
              <a:buNone/>
              <a:defRPr sz="2000"/>
            </a:lvl5pPr>
            <a:lvl6pPr marL="2285429" indent="0">
              <a:buNone/>
              <a:defRPr sz="2000"/>
            </a:lvl6pPr>
            <a:lvl7pPr marL="2742515" indent="0">
              <a:buNone/>
              <a:defRPr sz="2000"/>
            </a:lvl7pPr>
            <a:lvl8pPr marL="3199600" indent="0">
              <a:buNone/>
              <a:defRPr sz="2000"/>
            </a:lvl8pPr>
            <a:lvl9pPr marL="3656686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13520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6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3"/>
            <a:ext cx="10972800" cy="4530725"/>
          </a:xfrm>
        </p:spPr>
        <p:txBody>
          <a:bodyPr/>
          <a:lstStyle/>
          <a:p>
            <a:pPr lvl="0"/>
            <a:endParaRPr lang="ar-JO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C65A56-3191-4507-AE7B-C8F476156A03}" type="slidenum">
              <a:rPr lang="ar-SA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917919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08/04/1447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44249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C5B420C-9C09-E07A-4DE8-FEBFA140C7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7440E2F-97E5-99DB-EF86-AE4A0CBC5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6" name="Rectangle 4">
            <a:extLst>
              <a:ext uri="{FF2B5EF4-FFF2-40B4-BE49-F238E27FC236}">
                <a16:creationId xmlns:a16="http://schemas.microsoft.com/office/drawing/2014/main" id="{7E537E1F-3287-0A64-8739-43C01D1F7B2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7" name="Rectangle 5">
            <a:extLst>
              <a:ext uri="{FF2B5EF4-FFF2-40B4-BE49-F238E27FC236}">
                <a16:creationId xmlns:a16="http://schemas.microsoft.com/office/drawing/2014/main" id="{4F6FA229-095E-664B-868E-DCDCC24D1F9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6">
            <a:extLst>
              <a:ext uri="{FF2B5EF4-FFF2-40B4-BE49-F238E27FC236}">
                <a16:creationId xmlns:a16="http://schemas.microsoft.com/office/drawing/2014/main" id="{07F6A7E2-5914-CA37-CB88-BD40E8789A6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79700CAE-CEB5-4644-9188-0AD2113DBA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0359" name="Freeform 7">
            <a:extLst>
              <a:ext uri="{FF2B5EF4-FFF2-40B4-BE49-F238E27FC236}">
                <a16:creationId xmlns:a16="http://schemas.microsoft.com/office/drawing/2014/main" id="{0B03E685-10A1-2160-1D68-1D4C22F65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ar-IQ"/>
          </a:p>
        </p:txBody>
      </p:sp>
      <p:sp>
        <p:nvSpPr>
          <p:cNvPr id="100360" name="Line 8">
            <a:extLst>
              <a:ext uri="{FF2B5EF4-FFF2-40B4-BE49-F238E27FC236}">
                <a16:creationId xmlns:a16="http://schemas.microsoft.com/office/drawing/2014/main" id="{67CC89A2-EF8A-AB37-E58F-B5D83E27232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ar-IQ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ar-IQ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3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5" y="448630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34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21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52400" y="228600"/>
            <a:ext cx="11810999" cy="6400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 fontAlgn="auto">
              <a:spcAft>
                <a:spcPts val="0"/>
              </a:spcAft>
              <a:defRPr/>
            </a:pPr>
            <a:endParaRPr lang="en-US" sz="4500" dirty="0">
              <a:solidFill>
                <a:schemeClr val="bg1"/>
              </a:solidFill>
              <a:latin typeface="+mj-lt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7752" y="3214953"/>
            <a:ext cx="9144000" cy="918006"/>
          </a:xfrm>
        </p:spPr>
        <p:txBody>
          <a:bodyPr anchor="ctr"/>
          <a:lstStyle/>
          <a:p>
            <a:r>
              <a:rPr lang="en-US" sz="2800" dirty="0">
                <a:ea typeface="Segoe UI Black" panose="020B0A02040204020203" pitchFamily="34" charset="0"/>
                <a:cs typeface="Segoe UI Light" panose="020B0502040204020203" pitchFamily="34" charset="0"/>
              </a:rPr>
              <a:t>Physical examination</a:t>
            </a:r>
            <a:endParaRPr lang="ar-IQ" sz="2800" dirty="0"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Grid" descr="grid plane">
            <a:extLst>
              <a:ext uri="{FF2B5EF4-FFF2-40B4-BE49-F238E27FC236}">
                <a16:creationId xmlns:a16="http://schemas.microsoft.com/office/drawing/2014/main" id="{71F5A0B2-7584-4034-8919-A5F2C482F46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307" r="-943" b="64945"/>
          <a:stretch/>
        </p:blipFill>
        <p:spPr>
          <a:xfrm>
            <a:off x="448339" y="5543743"/>
            <a:ext cx="11506200" cy="1057304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FE0F52F-ADF1-4011-A51B-92383D0AB7F8}"/>
              </a:ext>
            </a:extLst>
          </p:cNvPr>
          <p:cNvSpPr txBox="1">
            <a:spLocks/>
          </p:cNvSpPr>
          <p:nvPr/>
        </p:nvSpPr>
        <p:spPr>
          <a:xfrm>
            <a:off x="6941822" y="4095986"/>
            <a:ext cx="3374135" cy="1561753"/>
          </a:xfrm>
          <a:prstGeom prst="rect">
            <a:avLst/>
          </a:prstGeom>
        </p:spPr>
        <p:txBody>
          <a:bodyPr numCol="1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 fontAlgn="auto">
              <a:lnSpc>
                <a:spcPct val="300000"/>
              </a:lnSpc>
              <a:spcBef>
                <a:spcPts val="1350"/>
              </a:spcBef>
              <a:spcAft>
                <a:spcPts val="0"/>
              </a:spcAft>
              <a:defRPr/>
            </a:pPr>
            <a:endParaRPr lang="ar-IQ" sz="1050" dirty="0">
              <a:solidFill>
                <a:prstClr val="white"/>
              </a:solidFill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FA1911A5-6CC9-87F9-8318-63988B6D5F84}"/>
              </a:ext>
            </a:extLst>
          </p:cNvPr>
          <p:cNvSpPr txBox="1"/>
          <p:nvPr/>
        </p:nvSpPr>
        <p:spPr>
          <a:xfrm>
            <a:off x="1757912" y="1960532"/>
            <a:ext cx="959588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r-IQ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Segoe UI Black" panose="020B0A02040204020203" pitchFamily="34" charset="0"/>
                <a:cs typeface="Segoe UI Light" panose="020B0502040204020203" pitchFamily="34" charset="0"/>
              </a:rPr>
              <a:t>Pediatric Physical Assessment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3E581DF-7DFE-34EF-4F01-3ECD273CF713}"/>
              </a:ext>
            </a:extLst>
          </p:cNvPr>
          <p:cNvSpPr txBox="1">
            <a:spLocks/>
          </p:cNvSpPr>
          <p:nvPr/>
        </p:nvSpPr>
        <p:spPr>
          <a:xfrm>
            <a:off x="8077762" y="5515029"/>
            <a:ext cx="3760738" cy="1011768"/>
          </a:xfrm>
          <a:prstGeom prst="rect">
            <a:avLst/>
          </a:prstGeom>
        </p:spPr>
        <p:txBody>
          <a:bodyPr numCol="1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rPr>
              <a:t>Third Stage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rPr>
              <a:t>Dr. Moustafa Ali Alshammari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rPr>
              <a:t>Pediatric Nursing 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163557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22D87A5-E07F-9F2D-7E90-655EF8DDCAB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ar-IQ" dirty="0"/>
              <a:t>Pediatric Physical Assessment</a:t>
            </a: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91AADA19-7C1E-02DD-6F22-67FD6B1D7F5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ar-IQ" altLang="ar-IQ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063A4136-0CAF-2CF2-F7C1-B588188576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ar-IQ" sz="3200" dirty="0"/>
              <a:t>Collecting Data</a:t>
            </a:r>
          </a:p>
          <a:p>
            <a:pPr lvl="1" eaLnBrk="1" hangingPunct="1"/>
            <a:r>
              <a:rPr lang="en-US" altLang="ar-IQ" sz="3200" dirty="0"/>
              <a:t>By observation</a:t>
            </a:r>
          </a:p>
          <a:p>
            <a:pPr lvl="1" eaLnBrk="1" hangingPunct="1"/>
            <a:r>
              <a:rPr lang="en-US" altLang="ar-IQ" sz="3200" dirty="0"/>
              <a:t>Interviewing the parent</a:t>
            </a:r>
          </a:p>
          <a:p>
            <a:pPr lvl="1" eaLnBrk="1" hangingPunct="1"/>
            <a:r>
              <a:rPr lang="en-US" altLang="ar-IQ" sz="3200" dirty="0"/>
              <a:t>Interviewing the child</a:t>
            </a:r>
          </a:p>
          <a:p>
            <a:pPr lvl="1" eaLnBrk="1" hangingPunct="1"/>
            <a:r>
              <a:rPr lang="en-US" altLang="ar-IQ" sz="3200" dirty="0"/>
              <a:t>Physical examination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ar-IQ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ar-IQ" dirty="0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FA77AD3A-0078-A669-AD60-945AACB207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 dirty="0"/>
              <a:t>Health Assessment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0D50E1F-8FA0-9218-8F46-71482F2F96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Bio-graphic Demographic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D7D6312-E65E-33CC-ED0F-CEEC25562C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Name, age, health care provider</a:t>
            </a:r>
          </a:p>
          <a:p>
            <a:pPr eaLnBrk="1" hangingPunct="1"/>
            <a:r>
              <a:rPr lang="en-US" altLang="ar-IQ"/>
              <a:t>Parents name age /siblings age</a:t>
            </a:r>
          </a:p>
          <a:p>
            <a:pPr eaLnBrk="1" hangingPunct="1"/>
            <a:r>
              <a:rPr lang="en-US" altLang="ar-IQ"/>
              <a:t>Ethnicity / cultural practices</a:t>
            </a:r>
          </a:p>
          <a:p>
            <a:pPr eaLnBrk="1" hangingPunct="1"/>
            <a:r>
              <a:rPr lang="en-US" altLang="ar-IQ"/>
              <a:t>Religion / religious practices</a:t>
            </a:r>
          </a:p>
          <a:p>
            <a:pPr eaLnBrk="1" hangingPunct="1"/>
            <a:r>
              <a:rPr lang="en-US" altLang="ar-IQ"/>
              <a:t>Parent occupation</a:t>
            </a:r>
          </a:p>
          <a:p>
            <a:pPr eaLnBrk="1" hangingPunct="1"/>
            <a:r>
              <a:rPr lang="en-US" altLang="ar-IQ"/>
              <a:t>Child occupation: adolescent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6135D3E-284E-BC1D-E394-1AE4D4A47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Past Medical History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83902F0-3DF4-D0B9-116E-D7153D8DA8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Allergies</a:t>
            </a:r>
          </a:p>
          <a:p>
            <a:pPr eaLnBrk="1" hangingPunct="1"/>
            <a:r>
              <a:rPr lang="en-US" altLang="ar-IQ"/>
              <a:t>Childhood illness</a:t>
            </a:r>
          </a:p>
          <a:p>
            <a:pPr eaLnBrk="1" hangingPunct="1"/>
            <a:r>
              <a:rPr lang="en-US" altLang="ar-IQ"/>
              <a:t>Trauma / hospitalizations</a:t>
            </a:r>
          </a:p>
          <a:p>
            <a:pPr eaLnBrk="1" hangingPunct="1"/>
            <a:r>
              <a:rPr lang="en-US" altLang="ar-IQ"/>
              <a:t>Birth history</a:t>
            </a:r>
          </a:p>
          <a:p>
            <a:pPr eaLnBrk="1" hangingPunct="1"/>
            <a:r>
              <a:rPr lang="en-US" altLang="ar-IQ"/>
              <a:t>Did baby go home with mom / special care nursery</a:t>
            </a:r>
          </a:p>
          <a:p>
            <a:pPr eaLnBrk="1" hangingPunct="1"/>
            <a:r>
              <a:rPr lang="en-US" altLang="ar-IQ"/>
              <a:t>Genetics: anything in the family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ar-IQ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11E9B11-ACDB-90F0-65DB-A4A50CC5D1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Current Health Status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9693DDC-8B15-4AC9-1E5D-15A525BF56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Immunizations</a:t>
            </a:r>
          </a:p>
          <a:p>
            <a:pPr eaLnBrk="1" hangingPunct="1"/>
            <a:r>
              <a:rPr lang="en-US" altLang="ar-IQ"/>
              <a:t>Any underlying illness / genetic condition</a:t>
            </a:r>
          </a:p>
          <a:p>
            <a:pPr eaLnBrk="1" hangingPunct="1"/>
            <a:r>
              <a:rPr lang="en-US" altLang="ar-IQ"/>
              <a:t>What concerns do you have today?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ar-IQ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76B868F-5F18-8FAE-FA2A-08D7A25773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Review of systems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DE80878-C471-4829-3220-FED8019C74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Ask questions about each system</a:t>
            </a:r>
          </a:p>
          <a:p>
            <a:pPr eaLnBrk="1" hangingPunct="1"/>
            <a:r>
              <a:rPr lang="en-US" altLang="ar-IQ"/>
              <a:t>Measuring data: growth chart, head and chest circumference, BMI</a:t>
            </a:r>
          </a:p>
          <a:p>
            <a:pPr eaLnBrk="1" hangingPunct="1"/>
            <a:r>
              <a:rPr lang="en-US" altLang="ar-IQ"/>
              <a:t>Nutrition: breast fed, formula, eating habits</a:t>
            </a:r>
          </a:p>
          <a:p>
            <a:pPr eaLnBrk="1" hangingPunct="1"/>
            <a:r>
              <a:rPr lang="en-US" altLang="ar-IQ"/>
              <a:t>Growth and development: How does parent think child is doing? </a:t>
            </a:r>
            <a:r>
              <a:rPr lang="en-US" altLang="ar-IQ" sz="2100"/>
              <a:t>Six questions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D436F88-0A2E-41D7-F61D-30B8D815A5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Physical Assessment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8923667-956A-E790-88D0-E2FB4AC546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General appearance &amp; behavior</a:t>
            </a:r>
          </a:p>
          <a:p>
            <a:pPr lvl="1" eaLnBrk="1" hangingPunct="1"/>
            <a:r>
              <a:rPr lang="en-US" altLang="ar-IQ"/>
              <a:t>Facial expression</a:t>
            </a:r>
          </a:p>
          <a:p>
            <a:pPr lvl="1" eaLnBrk="1" hangingPunct="1"/>
            <a:r>
              <a:rPr lang="en-US" altLang="ar-IQ"/>
              <a:t>Posture / movement</a:t>
            </a:r>
          </a:p>
          <a:p>
            <a:pPr lvl="1" eaLnBrk="1" hangingPunct="1"/>
            <a:r>
              <a:rPr lang="en-US" altLang="ar-IQ"/>
              <a:t>Hygiene</a:t>
            </a:r>
          </a:p>
          <a:p>
            <a:pPr lvl="1" eaLnBrk="1" hangingPunct="1"/>
            <a:r>
              <a:rPr lang="en-US" altLang="ar-IQ"/>
              <a:t>Behavior</a:t>
            </a:r>
          </a:p>
          <a:p>
            <a:pPr lvl="1" eaLnBrk="1" hangingPunct="1"/>
            <a:r>
              <a:rPr lang="en-US" altLang="ar-IQ"/>
              <a:t>Development: grossly fits guidelines for age</a:t>
            </a:r>
          </a:p>
          <a:p>
            <a:pPr lvl="1" eaLnBrk="1" hangingPunct="1"/>
            <a:endParaRPr lang="en-US" altLang="ar-IQ"/>
          </a:p>
          <a:p>
            <a:pPr lvl="1" eaLnBrk="1" hangingPunct="1"/>
            <a:endParaRPr lang="en-US" altLang="ar-IQ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73DD9A0-04E5-3517-0808-ED028869F8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Vital Signs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B631BF9-DC1F-20E2-809A-06064F5A4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 sz="2600"/>
              <a:t>Temperature: rectal only when absolutely necessary</a:t>
            </a:r>
          </a:p>
          <a:p>
            <a:pPr eaLnBrk="1" hangingPunct="1"/>
            <a:r>
              <a:rPr lang="en-US" altLang="ar-IQ" sz="2600"/>
              <a:t>Pulse: apical on all children under 1 year</a:t>
            </a:r>
          </a:p>
          <a:p>
            <a:pPr eaLnBrk="1" hangingPunct="1"/>
            <a:r>
              <a:rPr lang="en-US" altLang="ar-IQ" sz="2600"/>
              <a:t>Respirations: infant uses abdominal muscles</a:t>
            </a:r>
          </a:p>
          <a:p>
            <a:pPr eaLnBrk="1" hangingPunct="1"/>
            <a:r>
              <a:rPr lang="en-US" altLang="ar-IQ" sz="2600"/>
              <a:t>Blood pressure: admission base line</a:t>
            </a:r>
          </a:p>
          <a:p>
            <a:pPr eaLnBrk="1" hangingPunct="1"/>
            <a:r>
              <a:rPr lang="en-US" altLang="ar-IQ" sz="2600"/>
              <a:t>Height and weight and head circumference for 2 years and younger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F3C7699-24FE-9A74-D16F-19C0DB62C5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Physical Assessment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7336B61-C69F-7EC8-740A-B35F074FAC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41476"/>
            <a:ext cx="8229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ar-IQ"/>
              <a:t>Skin, hair nails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Head, neck, lymph nodes: fontanelles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Eyes, nose, throat…look at palate and teeth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Chest: auscultate for breath sounds and adventitious sounds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Breasts: tanner scale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Heart: PMI, murmurs</a:t>
            </a:r>
          </a:p>
          <a:p>
            <a:pPr eaLnBrk="1" hangingPunct="1">
              <a:lnSpc>
                <a:spcPct val="90000"/>
              </a:lnSpc>
            </a:pPr>
            <a:endParaRPr lang="en-US" altLang="ar-IQ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02BA4E2-386C-1FDC-EA13-15A50DC2B8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Physical Assessment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9C0333C-F686-65E0-17F2-326EC3DCA1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Abdomen</a:t>
            </a:r>
          </a:p>
          <a:p>
            <a:pPr eaLnBrk="1" hangingPunct="1"/>
            <a:r>
              <a:rPr lang="en-US" altLang="ar-IQ"/>
              <a:t>Genitalia: tanner scale, discharge, testicles</a:t>
            </a:r>
          </a:p>
          <a:p>
            <a:pPr eaLnBrk="1" hangingPunct="1"/>
            <a:r>
              <a:rPr lang="en-US" altLang="ar-IQ"/>
              <a:t>Anus: inspect for cracks or fissures</a:t>
            </a:r>
          </a:p>
          <a:p>
            <a:pPr eaLnBrk="1" hangingPunct="1"/>
            <a:r>
              <a:rPr lang="en-US" altLang="ar-IQ"/>
              <a:t>Musculoskeletal: Ortaloni maneuver / Barlows</a:t>
            </a:r>
          </a:p>
          <a:p>
            <a:pPr eaLnBrk="1" hangingPunct="1"/>
            <a:r>
              <a:rPr lang="en-US" altLang="ar-IQ"/>
              <a:t>Feet / legs / back / gait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ar-IQ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582A990-0A59-C83F-86BD-4FFFDB7252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Neurological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94C25DD-8EAE-B158-9730-10055302D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Glasgow coma scale</a:t>
            </a:r>
          </a:p>
          <a:p>
            <a:pPr eaLnBrk="1" hangingPunct="1"/>
            <a:r>
              <a:rPr lang="en-US" altLang="ar-IQ"/>
              <a:t>Observe their natural state: Play games with them, especially children under 5 year</a:t>
            </a:r>
          </a:p>
          <a:p>
            <a:pPr eaLnBrk="1" hangingPunct="1"/>
            <a:r>
              <a:rPr lang="en-US" altLang="ar-IQ"/>
              <a:t>CNS grossly intact: II – XII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760390D-77A1-97F4-9182-E370A0A544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Newborn reflexes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1D91D60-7615-1FDA-09A4-DDC67548AE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 sz="2600"/>
              <a:t>Rooting: disappears at 3-4 months</a:t>
            </a:r>
          </a:p>
          <a:p>
            <a:pPr eaLnBrk="1" hangingPunct="1"/>
            <a:r>
              <a:rPr lang="en-US" altLang="ar-IQ" sz="2600"/>
              <a:t>Sucking: disappears at 10 to 12 months</a:t>
            </a:r>
          </a:p>
          <a:p>
            <a:pPr eaLnBrk="1" hangingPunct="1"/>
            <a:r>
              <a:rPr lang="en-US" altLang="ar-IQ" sz="2600"/>
              <a:t>Palmar grasp: disappears at 3 to 4 months</a:t>
            </a:r>
          </a:p>
          <a:p>
            <a:pPr eaLnBrk="1" hangingPunct="1"/>
            <a:r>
              <a:rPr lang="en-US" altLang="ar-IQ" sz="2600"/>
              <a:t>Plantar grasp: disappears at 8 to 10 months</a:t>
            </a:r>
          </a:p>
          <a:p>
            <a:pPr eaLnBrk="1" hangingPunct="1"/>
            <a:r>
              <a:rPr lang="en-US" altLang="ar-IQ" sz="2600"/>
              <a:t>Tonic neck: disappears by 4 to 6 months</a:t>
            </a:r>
          </a:p>
          <a:p>
            <a:pPr eaLnBrk="1" hangingPunct="1"/>
            <a:r>
              <a:rPr lang="en-US" altLang="ar-IQ" sz="2600"/>
              <a:t>Moro (startle): disappears by 3 months</a:t>
            </a:r>
          </a:p>
          <a:p>
            <a:pPr eaLnBrk="1" hangingPunct="1"/>
            <a:r>
              <a:rPr lang="en-US" altLang="ar-IQ" sz="2600"/>
              <a:t>Babinski: disappears by 2 years</a:t>
            </a:r>
          </a:p>
          <a:p>
            <a:pPr eaLnBrk="1" hangingPunct="1"/>
            <a:r>
              <a:rPr lang="en-US" altLang="ar-IQ" sz="2600"/>
              <a:t>Stepping reflex: disappears by 2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DA8FE53-BF90-31CF-85D2-690D63E846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Infant Exam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978D48F-E53B-C369-D6D8-E5C5A8C755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Examine on parent lap</a:t>
            </a:r>
          </a:p>
          <a:p>
            <a:pPr eaLnBrk="1" hangingPunct="1"/>
            <a:r>
              <a:rPr lang="en-US" altLang="ar-IQ"/>
              <a:t>Leave diaper on</a:t>
            </a:r>
          </a:p>
          <a:p>
            <a:pPr eaLnBrk="1" hangingPunct="1"/>
            <a:r>
              <a:rPr lang="en-US" altLang="ar-IQ"/>
              <a:t>Comfort measures such as pacifier or bottle.</a:t>
            </a:r>
          </a:p>
          <a:p>
            <a:pPr eaLnBrk="1" hangingPunct="1"/>
            <a:r>
              <a:rPr lang="en-US" altLang="ar-IQ"/>
              <a:t>Talk softly</a:t>
            </a:r>
          </a:p>
          <a:p>
            <a:pPr eaLnBrk="1" hangingPunct="1"/>
            <a:r>
              <a:rPr lang="en-US" altLang="ar-IQ"/>
              <a:t>Start with heart and lung sounds </a:t>
            </a:r>
          </a:p>
          <a:p>
            <a:pPr eaLnBrk="1" hangingPunct="1"/>
            <a:r>
              <a:rPr lang="en-US" altLang="ar-IQ"/>
              <a:t>Ear and throat exam last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ar-IQ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074D166-10DF-9673-6808-8059BAB889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Toddler Exam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0B613F2-4E8A-0BD7-73E8-BEFF8C107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Examine on parent lap if uncooperative</a:t>
            </a:r>
          </a:p>
          <a:p>
            <a:pPr eaLnBrk="1" hangingPunct="1"/>
            <a:r>
              <a:rPr lang="en-US" altLang="ar-IQ"/>
              <a:t>Use play therapy</a:t>
            </a:r>
          </a:p>
          <a:p>
            <a:pPr eaLnBrk="1" hangingPunct="1"/>
            <a:r>
              <a:rPr lang="en-US" altLang="ar-IQ"/>
              <a:t>Distract with stories</a:t>
            </a:r>
          </a:p>
          <a:p>
            <a:pPr eaLnBrk="1" hangingPunct="1"/>
            <a:r>
              <a:rPr lang="en-US" altLang="ar-IQ"/>
              <a:t>Let toddler play with equipment / BP</a:t>
            </a:r>
          </a:p>
          <a:p>
            <a:pPr eaLnBrk="1" hangingPunct="1"/>
            <a:r>
              <a:rPr lang="en-US" altLang="ar-IQ"/>
              <a:t>Call by name</a:t>
            </a:r>
          </a:p>
          <a:p>
            <a:pPr eaLnBrk="1" hangingPunct="1"/>
            <a:r>
              <a:rPr lang="en-US" altLang="ar-IQ"/>
              <a:t>Praise frequently</a:t>
            </a:r>
          </a:p>
          <a:p>
            <a:pPr eaLnBrk="1" hangingPunct="1"/>
            <a:r>
              <a:rPr lang="en-US" altLang="ar-IQ"/>
              <a:t>Quickly do exam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F8B2C5D-F480-09F8-C2B4-7B2BD77CED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Preschool Exam</a:t>
            </a:r>
          </a:p>
        </p:txBody>
      </p:sp>
      <p:sp>
        <p:nvSpPr>
          <p:cNvPr id="17411" name="Rectangle 5">
            <a:extLst>
              <a:ext uri="{FF2B5EF4-FFF2-40B4-BE49-F238E27FC236}">
                <a16:creationId xmlns:a16="http://schemas.microsoft.com/office/drawing/2014/main" id="{C10E9A34-C5B4-3E60-034D-F0FF514D2B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Allow parent to be within eye contact </a:t>
            </a:r>
          </a:p>
          <a:p>
            <a:pPr eaLnBrk="1" hangingPunct="1"/>
            <a:r>
              <a:rPr lang="en-US" altLang="ar-IQ"/>
              <a:t>Explain what you are doing</a:t>
            </a:r>
          </a:p>
          <a:p>
            <a:pPr eaLnBrk="1" hangingPunct="1"/>
            <a:r>
              <a:rPr lang="en-US" altLang="ar-IQ"/>
              <a:t>Let them feel the equipment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ar-IQ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DEDBAAC-4A7B-4BBC-D4B9-83DCADCC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School-age Child</a:t>
            </a:r>
          </a:p>
        </p:txBody>
      </p:sp>
      <p:sp>
        <p:nvSpPr>
          <p:cNvPr id="18435" name="Rectangle 5">
            <a:extLst>
              <a:ext uri="{FF2B5EF4-FFF2-40B4-BE49-F238E27FC236}">
                <a16:creationId xmlns:a16="http://schemas.microsoft.com/office/drawing/2014/main" id="{A56BB07C-5858-CADE-7F60-733ED3A0D3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 sz="2600"/>
              <a:t>Allow the older child the choice of whether to have a parent present</a:t>
            </a:r>
          </a:p>
          <a:p>
            <a:pPr eaLnBrk="1" hangingPunct="1"/>
            <a:r>
              <a:rPr lang="en-US" altLang="ar-IQ" sz="2600"/>
              <a:t>Teaching about nutrition and safety</a:t>
            </a:r>
          </a:p>
          <a:p>
            <a:pPr eaLnBrk="1" hangingPunct="1"/>
            <a:r>
              <a:rPr lang="en-US" altLang="ar-IQ" sz="2600"/>
              <a:t>Ask if the child has any concerns or questions</a:t>
            </a:r>
          </a:p>
          <a:p>
            <a:pPr eaLnBrk="1" hangingPunct="1"/>
            <a:r>
              <a:rPr lang="en-US" altLang="ar-IQ" sz="2600"/>
              <a:t>How are they doing in school?</a:t>
            </a:r>
          </a:p>
          <a:p>
            <a:pPr eaLnBrk="1" hangingPunct="1"/>
            <a:r>
              <a:rPr lang="en-US" altLang="ar-IQ" sz="2600"/>
              <a:t>Do they have a group of friends they hand out with?</a:t>
            </a:r>
          </a:p>
          <a:p>
            <a:pPr eaLnBrk="1" hangingPunct="1"/>
            <a:r>
              <a:rPr lang="en-US" altLang="ar-IQ" sz="2600"/>
              <a:t>What do they like to do in their free time?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F7F5E1B-6A5E-ACEB-5AB6-BAD91A900C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School-age Exam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5534D53-6486-473E-DE0B-74D9FAA01F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Allow choice of having parent present</a:t>
            </a:r>
          </a:p>
          <a:p>
            <a:pPr eaLnBrk="1" hangingPunct="1"/>
            <a:r>
              <a:rPr lang="en-US" altLang="ar-IQ"/>
              <a:t>Privacy and modesty. </a:t>
            </a:r>
          </a:p>
          <a:p>
            <a:pPr eaLnBrk="1" hangingPunct="1"/>
            <a:r>
              <a:rPr lang="en-US" altLang="ar-IQ"/>
              <a:t>Explain procedures and equipment.</a:t>
            </a:r>
          </a:p>
          <a:p>
            <a:pPr eaLnBrk="1" hangingPunct="1"/>
            <a:r>
              <a:rPr lang="en-US" altLang="ar-IQ"/>
              <a:t>Interact with child during exam.</a:t>
            </a:r>
          </a:p>
          <a:p>
            <a:pPr eaLnBrk="1" hangingPunct="1"/>
            <a:r>
              <a:rPr lang="en-US" altLang="ar-IQ"/>
              <a:t>Be matter of fact about examining genital area.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BE8118F-12A7-5EDF-6370-94203D3AAF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Adolescent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C123C71-5C17-1FCB-E74D-D78436C98F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Ask about parent in the room</a:t>
            </a:r>
          </a:p>
          <a:p>
            <a:pPr eaLnBrk="1" hangingPunct="1"/>
            <a:r>
              <a:rPr lang="en-US" altLang="ar-IQ"/>
              <a:t>Should have some private interview time: time to ask  the difficult questions</a:t>
            </a:r>
          </a:p>
          <a:p>
            <a:pPr eaLnBrk="1" hangingPunct="1"/>
            <a:r>
              <a:rPr lang="en-US" altLang="ar-IQ"/>
              <a:t>HEADSS: home life, education, alcohol, drugs, sexual activity / suicide</a:t>
            </a:r>
          </a:p>
          <a:p>
            <a:pPr eaLnBrk="1" hangingPunct="1"/>
            <a:r>
              <a:rPr lang="en-US" altLang="ar-IQ"/>
              <a:t>Privacy issues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1348CED-6878-D9E2-C4C3-8FEEDDBFD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Vital Signs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B8D3FCF-BC90-6998-86D8-3688613D3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ar-IQ"/>
              <a:t>Choose your words carefully when explaining vital sign measurements to a young child. Avoid saying, for example, “I’m going to take your pulse now.” The child may think that are going to actually remove something from his or her body. A better phrase would be “I’m going to count how fast your heart beats.”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ar-IQ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5049C31-53F2-88D2-21F8-9A80FDA83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Temperature</a:t>
            </a:r>
          </a:p>
        </p:txBody>
      </p:sp>
      <p:pic>
        <p:nvPicPr>
          <p:cNvPr id="22531" name="Picture 3" descr="msotw9_temp0">
            <a:extLst>
              <a:ext uri="{FF2B5EF4-FFF2-40B4-BE49-F238E27FC236}">
                <a16:creationId xmlns:a16="http://schemas.microsoft.com/office/drawing/2014/main" id="{D54EBF22-B463-A5FB-00F1-BD270F66C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00201"/>
            <a:ext cx="4724400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Text Box 4">
            <a:extLst>
              <a:ext uri="{FF2B5EF4-FFF2-40B4-BE49-F238E27FC236}">
                <a16:creationId xmlns:a16="http://schemas.microsoft.com/office/drawing/2014/main" id="{C0C2C612-C70D-4AB2-8AA6-3F0B41B90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5" y="6051551"/>
            <a:ext cx="2027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>
                <a:latin typeface="Tahoma" panose="020B0604030504040204" pitchFamily="34" charset="0"/>
              </a:rPr>
              <a:t>Whaley and Wong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EBA68020-EDF3-A5C1-8B29-4A3CCAA95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4526" y="2471739"/>
            <a:ext cx="29940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Position for taking</a:t>
            </a:r>
          </a:p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axillary temperature.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2A14073-11AD-0E5B-6683-A7C1243CE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Temperature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E3A9827-1B53-562A-A8C5-B8FC6E5688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ar-IQ"/>
              <a:t>Use of tympanic membrane is controversial.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Oral temperature for children over 5 to 6 years.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Rectal temperatures are contraindicated if the child has had anal surgery, diarrhea, or rectal irritation.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Check with hospital policy.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>
            <a:extLst>
              <a:ext uri="{FF2B5EF4-FFF2-40B4-BE49-F238E27FC236}">
                <a16:creationId xmlns:a16="http://schemas.microsoft.com/office/drawing/2014/main" id="{677E3C78-032B-090E-9C55-67E31CA75E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Pulse</a:t>
            </a:r>
          </a:p>
        </p:txBody>
      </p:sp>
      <p:sp>
        <p:nvSpPr>
          <p:cNvPr id="24579" name="Rectangle 5">
            <a:extLst>
              <a:ext uri="{FF2B5EF4-FFF2-40B4-BE49-F238E27FC236}">
                <a16:creationId xmlns:a16="http://schemas.microsoft.com/office/drawing/2014/main" id="{175FB777-71DB-DFA8-1AF5-F0D12616C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Apical pulse for infants and toddlers under 2 years</a:t>
            </a:r>
          </a:p>
          <a:p>
            <a:pPr eaLnBrk="1" hangingPunct="1"/>
            <a:r>
              <a:rPr lang="en-US" altLang="ar-IQ"/>
              <a:t>Count for 1 full minute</a:t>
            </a:r>
          </a:p>
          <a:p>
            <a:pPr eaLnBrk="1" hangingPunct="1"/>
            <a:r>
              <a:rPr lang="en-US" altLang="ar-IQ"/>
              <a:t>Will be increased with: crying, anxiety, fever, and pain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CB2A396-A519-BA7F-6064-261A2160D0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Pulse rates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661AE62-E880-5664-89F3-9B487E850D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 sz="2600"/>
              <a:t>Neonate: 70 – 190</a:t>
            </a:r>
          </a:p>
          <a:p>
            <a:pPr eaLnBrk="1" hangingPunct="1"/>
            <a:r>
              <a:rPr lang="en-US" altLang="ar-IQ" sz="2600"/>
              <a:t>1-year: 80 – 160</a:t>
            </a:r>
          </a:p>
          <a:p>
            <a:pPr eaLnBrk="1" hangingPunct="1"/>
            <a:r>
              <a:rPr lang="en-US" altLang="ar-IQ" sz="2600"/>
              <a:t>2-year: 80-130</a:t>
            </a:r>
          </a:p>
          <a:p>
            <a:pPr eaLnBrk="1" hangingPunct="1"/>
            <a:r>
              <a:rPr lang="en-US" altLang="ar-IQ" sz="2600"/>
              <a:t>4-year: 80 – 120</a:t>
            </a:r>
          </a:p>
          <a:p>
            <a:pPr eaLnBrk="1" hangingPunct="1"/>
            <a:r>
              <a:rPr lang="en-US" altLang="ar-IQ" sz="2600"/>
              <a:t>6-year: 75-115</a:t>
            </a:r>
          </a:p>
          <a:p>
            <a:pPr eaLnBrk="1" hangingPunct="1"/>
            <a:r>
              <a:rPr lang="en-US" altLang="ar-IQ" sz="2600"/>
              <a:t>10-year: 70-110</a:t>
            </a:r>
          </a:p>
          <a:p>
            <a:pPr eaLnBrk="1" hangingPunct="1"/>
            <a:r>
              <a:rPr lang="en-US" altLang="ar-IQ" sz="2600"/>
              <a:t>14-year: 65 – 105 / males 60 – 100</a:t>
            </a:r>
          </a:p>
          <a:p>
            <a:pPr eaLnBrk="1" hangingPunct="1"/>
            <a:r>
              <a:rPr lang="en-US" altLang="ar-IQ" sz="2600"/>
              <a:t>18-year: 55-95 / males 50 - 90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msotw9_temp0">
            <a:extLst>
              <a:ext uri="{FF2B5EF4-FFF2-40B4-BE49-F238E27FC236}">
                <a16:creationId xmlns:a16="http://schemas.microsoft.com/office/drawing/2014/main" id="{4732FEA3-1FD7-B3A4-F8F5-8F0A2929F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143000"/>
            <a:ext cx="4800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Rectangle 3">
            <a:extLst>
              <a:ext uri="{FF2B5EF4-FFF2-40B4-BE49-F238E27FC236}">
                <a16:creationId xmlns:a16="http://schemas.microsoft.com/office/drawing/2014/main" id="{789F693B-9247-0E42-5648-2FB155907A2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Apical Pulse</a:t>
            </a:r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1323AD3F-7B9C-B697-AAC5-932348424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526" y="6129338"/>
            <a:ext cx="4238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In child younger than 7 years.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1ABEA37-7F74-B1F2-7FCD-A7C1EC8E1D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Heart Sounds</a:t>
            </a:r>
          </a:p>
        </p:txBody>
      </p:sp>
      <p:pic>
        <p:nvPicPr>
          <p:cNvPr id="27651" name="Picture 3" descr="msotw9_temp0">
            <a:extLst>
              <a:ext uri="{FF2B5EF4-FFF2-40B4-BE49-F238E27FC236}">
                <a16:creationId xmlns:a16="http://schemas.microsoft.com/office/drawing/2014/main" id="{2E536D37-F594-6382-7F78-E1A624327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447801"/>
            <a:ext cx="5562600" cy="399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Text Box 4">
            <a:extLst>
              <a:ext uri="{FF2B5EF4-FFF2-40B4-BE49-F238E27FC236}">
                <a16:creationId xmlns:a16="http://schemas.microsoft.com/office/drawing/2014/main" id="{1138F221-1FE8-58D2-1D39-2063CDB46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26" y="6127751"/>
            <a:ext cx="42846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>
                <a:latin typeface="Tahoma" panose="020B0604030504040204" pitchFamily="34" charset="0"/>
              </a:rPr>
              <a:t>See table 6-5, Bowden &amp; Greenberg text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D5B7F7E-A8BF-55B1-8E7F-641BCCA9D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Auscultating Heart Sounds</a:t>
            </a:r>
          </a:p>
        </p:txBody>
      </p:sp>
      <p:pic>
        <p:nvPicPr>
          <p:cNvPr id="28675" name="Picture 3" descr="msotw9_temp0">
            <a:extLst>
              <a:ext uri="{FF2B5EF4-FFF2-40B4-BE49-F238E27FC236}">
                <a16:creationId xmlns:a16="http://schemas.microsoft.com/office/drawing/2014/main" id="{9619C888-5488-70B6-C5BA-808A4FAFF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524000"/>
            <a:ext cx="5638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Text Box 4">
            <a:extLst>
              <a:ext uri="{FF2B5EF4-FFF2-40B4-BE49-F238E27FC236}">
                <a16:creationId xmlns:a16="http://schemas.microsoft.com/office/drawing/2014/main" id="{C5C7117B-A484-E6A9-02B0-59A86716E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5" y="6203951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>
                <a:latin typeface="Tahoma" panose="020B0604030504040204" pitchFamily="34" charset="0"/>
              </a:rPr>
              <a:t>Pillitteri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5">
            <a:extLst>
              <a:ext uri="{FF2B5EF4-FFF2-40B4-BE49-F238E27FC236}">
                <a16:creationId xmlns:a16="http://schemas.microsoft.com/office/drawing/2014/main" id="{DD18D3FB-8E62-454C-68D9-37D509A6B1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Respiratory </a:t>
            </a:r>
          </a:p>
        </p:txBody>
      </p:sp>
      <p:sp>
        <p:nvSpPr>
          <p:cNvPr id="29699" name="Rectangle 7">
            <a:extLst>
              <a:ext uri="{FF2B5EF4-FFF2-40B4-BE49-F238E27FC236}">
                <a16:creationId xmlns:a16="http://schemas.microsoft.com/office/drawing/2014/main" id="{B0A9B917-B4A9-AB9C-C097-6FEC8A0555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ar-IQ" sz="2100"/>
              <a:t>Count for one full minute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 sz="2100"/>
              <a:t>May want to do before you wake the infant up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 sz="2100"/>
              <a:t>Rate will be elevated with crying / fever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ar-IQ" sz="2000"/>
              <a:t>Pre-term: 40 – 60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ar-IQ" sz="2000"/>
              <a:t>Newborn: 30 – 40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ar-IQ" sz="2000"/>
              <a:t>Toddler: 25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ar-IQ" sz="2000"/>
              <a:t>School-age: 20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ar-IQ" sz="2000"/>
              <a:t>Adolescent: 16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ar-IQ" sz="200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ar-IQ" sz="2000" b="1"/>
              <a:t>Panic levels: &lt; 10 or &gt; 60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5EB8E9A-0CF6-C741-0AE4-4BDA6FF09E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Clinical Tip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303207AF-8F3F-7AA2-A8FC-42D8E433BB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To accurately assess respirations in an infant or small child wait until the baby is sleeping or resting quietly.</a:t>
            </a:r>
          </a:p>
          <a:p>
            <a:pPr eaLnBrk="1" hangingPunct="1"/>
            <a:r>
              <a:rPr lang="en-US" altLang="ar-IQ"/>
              <a:t>You might need to do this before you do more invasive exam.</a:t>
            </a:r>
          </a:p>
          <a:p>
            <a:pPr eaLnBrk="1" hangingPunct="1"/>
            <a:r>
              <a:rPr lang="en-US" altLang="ar-IQ"/>
              <a:t>Count the number of breaths for an entire minute.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7ABBEFF-A1AC-6024-7E18-D8455C0DBB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Blood Pressure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19568BAD-F731-1C67-1BC3-EB5605525F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The width of the rubber bladder should cover two thirds of the circumference of the arm, and the length should encircle 100% of the arm without overlap.</a:t>
            </a:r>
          </a:p>
          <a:p>
            <a:pPr eaLnBrk="1" hangingPunct="1"/>
            <a:r>
              <a:rPr lang="en-US" altLang="ar-IQ"/>
              <a:t>Crying can cause inaccurate blood pressure reading.</a:t>
            </a:r>
          </a:p>
          <a:p>
            <a:pPr eaLnBrk="1" hangingPunct="1"/>
            <a:r>
              <a:rPr lang="en-US" altLang="ar-IQ"/>
              <a:t>Consider norms for 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49E0863B-3AA0-5438-128D-EED29AF7A9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Blood Pressure Cuff</a:t>
            </a:r>
          </a:p>
        </p:txBody>
      </p:sp>
      <p:pic>
        <p:nvPicPr>
          <p:cNvPr id="32771" name="Picture 3" descr="msotw9_temp0">
            <a:extLst>
              <a:ext uri="{FF2B5EF4-FFF2-40B4-BE49-F238E27FC236}">
                <a16:creationId xmlns:a16="http://schemas.microsoft.com/office/drawing/2014/main" id="{0F18D81D-CFE1-29E2-1ED7-82B97C7DA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133600"/>
            <a:ext cx="8001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Text Box 4">
            <a:extLst>
              <a:ext uri="{FF2B5EF4-FFF2-40B4-BE49-F238E27FC236}">
                <a16:creationId xmlns:a16="http://schemas.microsoft.com/office/drawing/2014/main" id="{644634F6-B0FE-E0AF-D68A-F6D47EAD5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3525" y="6203951"/>
            <a:ext cx="2027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>
                <a:latin typeface="Tahoma" panose="020B0604030504040204" pitchFamily="34" charset="0"/>
              </a:rPr>
              <a:t>Whaley and Wong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559CD797-2C74-E7EA-5567-35E64F6BEB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Height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15EE264-7C51-AA9B-BCBA-6678B8B188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Needs to be recorded on a growth chart</a:t>
            </a:r>
          </a:p>
          <a:p>
            <a:pPr eaLnBrk="1" hangingPunct="1"/>
            <a:r>
              <a:rPr lang="en-US" altLang="ar-IQ"/>
              <a:t>Gain about an inch per month</a:t>
            </a:r>
          </a:p>
          <a:p>
            <a:pPr eaLnBrk="1" hangingPunct="1"/>
            <a:r>
              <a:rPr lang="en-US" altLang="ar-IQ"/>
              <a:t>Deviation of height on either extreme may be indication for further investigation: endocrine problems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FEB5791-71C1-73E1-B38D-F871422B4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Height Measurement</a:t>
            </a:r>
          </a:p>
        </p:txBody>
      </p:sp>
      <p:pic>
        <p:nvPicPr>
          <p:cNvPr id="34819" name="Picture 3" descr="msotw9_temp0">
            <a:extLst>
              <a:ext uri="{FF2B5EF4-FFF2-40B4-BE49-F238E27FC236}">
                <a16:creationId xmlns:a16="http://schemas.microsoft.com/office/drawing/2014/main" id="{BE55F04B-5E46-7FA5-C1DA-398C98FE8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371600"/>
            <a:ext cx="60198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Text Box 4">
            <a:extLst>
              <a:ext uri="{FF2B5EF4-FFF2-40B4-BE49-F238E27FC236}">
                <a16:creationId xmlns:a16="http://schemas.microsoft.com/office/drawing/2014/main" id="{DDFB7DDF-D2D6-5263-13AB-FB482B0F0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6205538"/>
            <a:ext cx="7920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Infants head is against end point and legs fully extended.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A95A7C31-94A5-5AC9-99B7-E0816CEC1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Height Measurement</a:t>
            </a:r>
          </a:p>
        </p:txBody>
      </p:sp>
      <p:pic>
        <p:nvPicPr>
          <p:cNvPr id="35843" name="Picture 3" descr="msotw9_temp0">
            <a:extLst>
              <a:ext uri="{FF2B5EF4-FFF2-40B4-BE49-F238E27FC236}">
                <a16:creationId xmlns:a16="http://schemas.microsoft.com/office/drawing/2014/main" id="{DA5B8B5F-33C3-392B-24FE-FE951E714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1219200"/>
            <a:ext cx="233997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Text Box 4">
            <a:extLst>
              <a:ext uri="{FF2B5EF4-FFF2-40B4-BE49-F238E27FC236}">
                <a16:creationId xmlns:a16="http://schemas.microsoft.com/office/drawing/2014/main" id="{E6301121-EBFB-8884-221C-77948DD0B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26" y="2243138"/>
            <a:ext cx="416652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Child is measured while</a:t>
            </a:r>
          </a:p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standing in stocking or</a:t>
            </a:r>
          </a:p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bare feet with the heels</a:t>
            </a:r>
          </a:p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back and shoulders touching </a:t>
            </a:r>
          </a:p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the wall.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440C6938-04EE-A08B-4255-0BFCA01422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Weight</a:t>
            </a:r>
          </a:p>
        </p:txBody>
      </p:sp>
      <p:pic>
        <p:nvPicPr>
          <p:cNvPr id="36867" name="Picture 4" descr="msotw9_temp0">
            <a:extLst>
              <a:ext uri="{FF2B5EF4-FFF2-40B4-BE49-F238E27FC236}">
                <a16:creationId xmlns:a16="http://schemas.microsoft.com/office/drawing/2014/main" id="{A818BD19-78AF-93ED-2BF8-5CA38749C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219200"/>
            <a:ext cx="7848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Text Box 5">
            <a:extLst>
              <a:ext uri="{FF2B5EF4-FFF2-40B4-BE49-F238E27FC236}">
                <a16:creationId xmlns:a16="http://schemas.microsoft.com/office/drawing/2014/main" id="{FDBCE32C-FEB8-97C7-C4E7-49026DA56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6" y="6205538"/>
            <a:ext cx="6526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Note close proximity of nurses hands for safety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B0491A7-F269-FA11-AEB8-23F48F0D54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Weight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745A0A9-7961-D058-327A-2303919306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ar-IQ"/>
              <a:t>Needs to be recorded on a growth chart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Newborn may lose up to 10% of birth weight in 3-4 days.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Gains about ½ to1 oz per day after that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Too much or too little weight gain needs to be further investigated.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Nutritional counseling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B0D230E-50A8-E03D-1F9E-2F86D2E210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Weight norms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417880C-1EC0-1549-2D53-837136892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Double birth weigh by 5-6 months</a:t>
            </a:r>
          </a:p>
          <a:p>
            <a:pPr eaLnBrk="1" hangingPunct="1"/>
            <a:r>
              <a:rPr lang="en-US" altLang="ar-IQ"/>
              <a:t>Triple birth weight by 1 year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ar-IQ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20FA0008-3B52-44C1-6BD3-CDD323CFCD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Nutrition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DA9CBF0-FAF7-3F13-0232-06074F3C5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How much formula?  </a:t>
            </a:r>
          </a:p>
          <a:p>
            <a:pPr eaLnBrk="1" hangingPunct="1"/>
            <a:r>
              <a:rPr lang="en-US" altLang="ar-IQ"/>
              <a:t>How often being breast fed?</a:t>
            </a:r>
          </a:p>
          <a:p>
            <a:pPr eaLnBrk="1" hangingPunct="1"/>
            <a:r>
              <a:rPr lang="en-US" altLang="ar-IQ"/>
              <a:t>Solid foods: 4 to 6 months of age</a:t>
            </a:r>
          </a:p>
          <a:p>
            <a:pPr eaLnBrk="1" hangingPunct="1"/>
            <a:r>
              <a:rPr lang="en-US" altLang="ar-IQ"/>
              <a:t>What are they eating?</a:t>
            </a:r>
          </a:p>
          <a:p>
            <a:pPr eaLnBrk="1" hangingPunct="1"/>
            <a:r>
              <a:rPr lang="en-US" altLang="ar-IQ"/>
              <a:t>Over 1 year: How much milk vs solid foods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ar-IQ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35FBC82B-0B53-1C3B-2D79-0A81E57D61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Nutrition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0C8FF66A-AEF1-4929-BC75-1291700001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School age: typical diet</a:t>
            </a:r>
          </a:p>
          <a:p>
            <a:pPr eaLnBrk="1" hangingPunct="1"/>
            <a:r>
              <a:rPr lang="en-US" altLang="ar-IQ"/>
              <a:t>Favorite foods</a:t>
            </a:r>
          </a:p>
          <a:p>
            <a:pPr eaLnBrk="1" hangingPunct="1"/>
            <a:r>
              <a:rPr lang="en-US" altLang="ar-IQ"/>
              <a:t>I always child if I were to ask their mom what do they need to eat more of what would she say?</a:t>
            </a:r>
          </a:p>
          <a:p>
            <a:pPr eaLnBrk="1" hangingPunct="1"/>
            <a:endParaRPr lang="en-US" altLang="ar-IQ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019518C-7E7B-AAAB-0820-4A0D5D26D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Nutrition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88C60BB-C34E-F81C-6605-0E1796309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Most common nutritional problems:</a:t>
            </a:r>
          </a:p>
          <a:p>
            <a:pPr lvl="1" eaLnBrk="1" hangingPunct="1"/>
            <a:r>
              <a:rPr lang="en-US" altLang="ar-IQ"/>
              <a:t>Iron deficiency anemia</a:t>
            </a:r>
          </a:p>
          <a:p>
            <a:pPr lvl="1" eaLnBrk="1" hangingPunct="1"/>
            <a:r>
              <a:rPr lang="en-US" altLang="ar-IQ"/>
              <a:t>Obesity</a:t>
            </a:r>
          </a:p>
          <a:p>
            <a:pPr lvl="1" eaLnBrk="1" hangingPunct="1"/>
            <a:r>
              <a:rPr lang="en-US" altLang="ar-IQ"/>
              <a:t>Anorexia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EC50475-8F27-B3F7-5EED-6FA40E948A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Head Circumference</a:t>
            </a:r>
          </a:p>
        </p:txBody>
      </p:sp>
      <p:pic>
        <p:nvPicPr>
          <p:cNvPr id="43011" name="Picture 4" descr="msotw9_temp0">
            <a:extLst>
              <a:ext uri="{FF2B5EF4-FFF2-40B4-BE49-F238E27FC236}">
                <a16:creationId xmlns:a16="http://schemas.microsoft.com/office/drawing/2014/main" id="{F8EF2A20-8D12-98DA-347F-7D2DE42AA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295400"/>
            <a:ext cx="41910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Text Box 5">
            <a:extLst>
              <a:ext uri="{FF2B5EF4-FFF2-40B4-BE49-F238E27FC236}">
                <a16:creationId xmlns:a16="http://schemas.microsoft.com/office/drawing/2014/main" id="{D92170BB-FDD5-2479-3A70-02CF7133E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6" y="4876801"/>
            <a:ext cx="781526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Head circumference is measured by wrapping the paper </a:t>
            </a:r>
          </a:p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tape over the eyebrows and the around the occipital</a:t>
            </a:r>
          </a:p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prominence.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8E27E0EF-32C2-799E-C725-582A4493A1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Head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3E45A5B-64D8-64BA-D122-70152F41D1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Needs to be measured until age 2 years</a:t>
            </a:r>
          </a:p>
          <a:p>
            <a:pPr eaLnBrk="1" hangingPunct="1"/>
            <a:r>
              <a:rPr lang="en-US" altLang="ar-IQ"/>
              <a:t>Plot on growth curve</a:t>
            </a:r>
          </a:p>
          <a:p>
            <a:pPr eaLnBrk="1" hangingPunct="1"/>
            <a:r>
              <a:rPr lang="en-US" altLang="ar-IQ"/>
              <a:t>Check fontales: </a:t>
            </a:r>
          </a:p>
          <a:p>
            <a:pPr lvl="1" eaLnBrk="1" hangingPunct="1"/>
            <a:r>
              <a:rPr lang="en-US" altLang="ar-IQ"/>
              <a:t>Anterior: 12 to 18 months</a:t>
            </a:r>
          </a:p>
          <a:p>
            <a:pPr lvl="1" eaLnBrk="1" hangingPunct="1"/>
            <a:r>
              <a:rPr lang="en-US" altLang="ar-IQ"/>
              <a:t>Posterior: closes by 2-5 months</a:t>
            </a:r>
          </a:p>
          <a:p>
            <a:pPr eaLnBrk="1" hangingPunct="1"/>
            <a:r>
              <a:rPr lang="en-US" altLang="ar-IQ"/>
              <a:t>Shape: flat headed babies due to back-to-back sleep position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31A7E66D-9D1D-0215-9CF1-5CEE1F46F5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Mouth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62F1AD0-2E10-BA24-5C0C-B9543114E1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Palate</a:t>
            </a:r>
          </a:p>
          <a:p>
            <a:pPr eaLnBrk="1" hangingPunct="1"/>
            <a:r>
              <a:rPr lang="en-US" altLang="ar-IQ"/>
              <a:t>Condition of teeth</a:t>
            </a:r>
          </a:p>
          <a:p>
            <a:pPr eaLnBrk="1" hangingPunct="1"/>
            <a:r>
              <a:rPr lang="en-US" altLang="ar-IQ"/>
              <a:t>Number of teeth</a:t>
            </a:r>
          </a:p>
          <a:p>
            <a:pPr eaLnBrk="1" hangingPunct="1"/>
            <a:r>
              <a:rPr lang="en-US" altLang="ar-IQ"/>
              <a:t>No teeth eruption by 12 months think endocrine disorder</a:t>
            </a:r>
          </a:p>
          <a:p>
            <a:pPr eaLnBrk="1" hangingPunct="1"/>
            <a:r>
              <a:rPr lang="en-US" altLang="ar-IQ"/>
              <a:t>Appliances</a:t>
            </a:r>
          </a:p>
          <a:p>
            <a:pPr eaLnBrk="1" hangingPunct="1"/>
            <a:r>
              <a:rPr lang="en-US" altLang="ar-IQ"/>
              <a:t>Brushing / visit to dentist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F434AA1-4B34-A8DE-9144-66737574C8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Eyes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D5DC00BA-BC72-6B67-3287-B02B08E0F9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 sz="2600"/>
              <a:t>Check for red-reflex</a:t>
            </a:r>
          </a:p>
          <a:p>
            <a:pPr eaLnBrk="1" hangingPunct="1"/>
            <a:r>
              <a:rPr lang="en-US" altLang="ar-IQ" sz="2600"/>
              <a:t>Can the infant see: by parent report </a:t>
            </a:r>
          </a:p>
          <a:p>
            <a:pPr eaLnBrk="1" hangingPunct="1"/>
            <a:r>
              <a:rPr lang="en-US" altLang="ar-IQ" sz="2600"/>
              <a:t>Strabismus: </a:t>
            </a:r>
          </a:p>
          <a:p>
            <a:pPr lvl="1" eaLnBrk="1" hangingPunct="1"/>
            <a:r>
              <a:rPr lang="en-US" altLang="ar-IQ" sz="2200"/>
              <a:t>Alignment of eye important due to correlation with brain development</a:t>
            </a:r>
          </a:p>
          <a:p>
            <a:pPr lvl="1" eaLnBrk="1" hangingPunct="1"/>
            <a:r>
              <a:rPr lang="en-US" altLang="ar-IQ" sz="2200"/>
              <a:t>May need to corrected surgically</a:t>
            </a:r>
          </a:p>
          <a:p>
            <a:pPr eaLnBrk="1" hangingPunct="1"/>
            <a:r>
              <a:rPr lang="en-US" altLang="ar-IQ" sz="2600"/>
              <a:t>5-year-old and up can have vision screening</a:t>
            </a:r>
          </a:p>
          <a:p>
            <a:pPr lvl="1" eaLnBrk="1" hangingPunct="1"/>
            <a:r>
              <a:rPr lang="en-US" altLang="ar-IQ" sz="2200"/>
              <a:t>Refer to ophthalmologist if there are concerns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6F94CDBA-7122-5C6B-9097-88552DED1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Common eye infections: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0272923D-18FC-86F4-B8B2-5BC8DB7141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Conjunctivitis:</a:t>
            </a:r>
          </a:p>
          <a:p>
            <a:pPr lvl="1" eaLnBrk="1" hangingPunct="1"/>
            <a:r>
              <a:rPr lang="en-US" altLang="ar-IQ"/>
              <a:t>A red-flag in the newborn may be STD from travel down the birth canal</a:t>
            </a:r>
          </a:p>
          <a:p>
            <a:pPr lvl="1" eaLnBrk="1" hangingPunct="1"/>
            <a:r>
              <a:rPr lang="en-US" altLang="ar-IQ"/>
              <a:t>Pre-school: number one reason they are sent home: wash with warm water / topical eye gtts </a:t>
            </a:r>
          </a:p>
          <a:p>
            <a:pPr lvl="1" eaLnBrk="1" hangingPunct="1"/>
            <a:r>
              <a:rPr lang="en-US" altLang="ar-IQ"/>
              <a:t>Inflammation of eye: history of juvenile arthritis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BA6A95B1-75F8-D139-538C-15C1407D9C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Ear Exam</a:t>
            </a:r>
          </a:p>
        </p:txBody>
      </p:sp>
      <p:pic>
        <p:nvPicPr>
          <p:cNvPr id="48131" name="Picture 4" descr="msotw9_temp0">
            <a:extLst>
              <a:ext uri="{FF2B5EF4-FFF2-40B4-BE49-F238E27FC236}">
                <a16:creationId xmlns:a16="http://schemas.microsoft.com/office/drawing/2014/main" id="{08C9EBAB-92B7-4B69-CC6C-FE23EFFDD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95400"/>
            <a:ext cx="7010400" cy="363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2" name="Text Box 5">
            <a:extLst>
              <a:ext uri="{FF2B5EF4-FFF2-40B4-BE49-F238E27FC236}">
                <a16:creationId xmlns:a16="http://schemas.microsoft.com/office/drawing/2014/main" id="{0EA75037-FE30-9C82-FA9C-161FE2186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6" y="5181601"/>
            <a:ext cx="78200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Pinna is pulled down and back to straighten ear canal in </a:t>
            </a:r>
          </a:p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children under 3 years.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1F30E771-12C8-58BC-CE17-788FCB6783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Otitis Media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1D503CFE-26CD-00A6-FE83-1E21779579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Most common reason children come to the pediatrician or emergency room</a:t>
            </a:r>
          </a:p>
          <a:p>
            <a:pPr eaLnBrk="1" hangingPunct="1"/>
            <a:r>
              <a:rPr lang="en-US" altLang="ar-IQ"/>
              <a:t>Fever or tugging at ear</a:t>
            </a:r>
          </a:p>
          <a:p>
            <a:pPr eaLnBrk="1" hangingPunct="1"/>
            <a:r>
              <a:rPr lang="en-US" altLang="ar-IQ"/>
              <a:t>Often increases at night when they are sleeping</a:t>
            </a:r>
          </a:p>
          <a:p>
            <a:pPr eaLnBrk="1" hangingPunct="1"/>
            <a:r>
              <a:rPr lang="en-US" altLang="ar-IQ"/>
              <a:t>History of cold or congestion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ar-IQ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>
            <a:extLst>
              <a:ext uri="{FF2B5EF4-FFF2-40B4-BE49-F238E27FC236}">
                <a16:creationId xmlns:a16="http://schemas.microsoft.com/office/drawing/2014/main" id="{074BED33-05D7-9C98-FAAD-88F42A3117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Otitis</a:t>
            </a:r>
          </a:p>
        </p:txBody>
      </p:sp>
      <p:sp>
        <p:nvSpPr>
          <p:cNvPr id="50179" name="Rectangle 1027">
            <a:extLst>
              <a:ext uri="{FF2B5EF4-FFF2-40B4-BE49-F238E27FC236}">
                <a16:creationId xmlns:a16="http://schemas.microsoft.com/office/drawing/2014/main" id="{599D4153-8DAB-DAA7-6B93-54F3384368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ROM: right otitis media</a:t>
            </a:r>
          </a:p>
          <a:p>
            <a:pPr eaLnBrk="1" hangingPunct="1"/>
            <a:r>
              <a:rPr lang="en-US" altLang="ar-IQ"/>
              <a:t>LOM: left otitis media</a:t>
            </a:r>
          </a:p>
          <a:p>
            <a:pPr eaLnBrk="1" hangingPunct="1"/>
            <a:r>
              <a:rPr lang="en-US" altLang="ar-IQ"/>
              <a:t>BOM: bilateral otitis media</a:t>
            </a:r>
          </a:p>
          <a:p>
            <a:pPr eaLnBrk="1" hangingPunct="1"/>
            <a:r>
              <a:rPr lang="en-US" altLang="ar-IQ"/>
              <a:t>OME: Otitis media with effusion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ar-IQ"/>
              <a:t>	(effusion means fluid collection)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ar-IQ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ar-IQ" sz="2100"/>
              <a:t>Pleural effusion, effusion of knee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9ED28950-FEDB-3D5E-1723-E1B325457B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Why a problem?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FE0CBECE-F022-457C-3154-5C3590DEF5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ar-IQ"/>
              <a:t>Infection can lead to rupture of ear drum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Chronic effusion can lead to hearing loss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OM is often a contributing factor in more serious infections: mastoiditis, cellulitis, meningitis, bacteremia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Chronic ear effusion in the early years may lead to decreased hearing and speech problems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14A110C5-136A-2718-441F-6218A3F7A6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Management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71B40D1-D2F8-19E7-9CF3-E78046590C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ar-IQ"/>
              <a:t>Oral antibiotics: re-check in 10 days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Tylenol for comfort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Persistent effusion: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ar-IQ"/>
              <a:t>PET: pressure equalizing tubes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ar-IQ"/>
              <a:t>Outpatient procedure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ar-IQ"/>
              <a:t>Need to keep water out of ears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ar-IQ"/>
              <a:t>Hearing evaluation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ar-IQ"/>
              <a:t>Speech evaluation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3278D597-808D-BFA6-3F1B-1F9F65A7CB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Head, chest, and abdominal circumference.</a:t>
            </a:r>
          </a:p>
        </p:txBody>
      </p:sp>
      <p:pic>
        <p:nvPicPr>
          <p:cNvPr id="53251" name="Picture 3" descr="msotw9_temp0">
            <a:extLst>
              <a:ext uri="{FF2B5EF4-FFF2-40B4-BE49-F238E27FC236}">
                <a16:creationId xmlns:a16="http://schemas.microsoft.com/office/drawing/2014/main" id="{B340A5F0-DFC2-A6B1-184C-5406A1C5C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098675"/>
            <a:ext cx="5638800" cy="364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Text Box 4">
            <a:extLst>
              <a:ext uri="{FF2B5EF4-FFF2-40B4-BE49-F238E27FC236}">
                <a16:creationId xmlns:a16="http://schemas.microsoft.com/office/drawing/2014/main" id="{99F76AF5-D219-69AF-97A8-1052EE757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925" y="5822951"/>
            <a:ext cx="2027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>
                <a:latin typeface="Tahoma" panose="020B0604030504040204" pitchFamily="34" charset="0"/>
              </a:rPr>
              <a:t>Whaley and Wong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E5530B39-0631-3431-C0EA-B72A639923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Child Chest</a:t>
            </a:r>
          </a:p>
        </p:txBody>
      </p:sp>
      <p:pic>
        <p:nvPicPr>
          <p:cNvPr id="54275" name="Picture 4" descr="msotw9_temp0">
            <a:extLst>
              <a:ext uri="{FF2B5EF4-FFF2-40B4-BE49-F238E27FC236}">
                <a16:creationId xmlns:a16="http://schemas.microsoft.com/office/drawing/2014/main" id="{730FA184-C769-87A9-F306-5E827513F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219200"/>
            <a:ext cx="4419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Text Box 5">
            <a:extLst>
              <a:ext uri="{FF2B5EF4-FFF2-40B4-BE49-F238E27FC236}">
                <a16:creationId xmlns:a16="http://schemas.microsoft.com/office/drawing/2014/main" id="{04DE766A-ECC4-8AD2-7902-427249533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9925" y="5365751"/>
            <a:ext cx="17778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>
                <a:latin typeface="Tahoma" panose="020B0604030504040204" pitchFamily="34" charset="0"/>
              </a:rPr>
              <a:t>Ball and Bindler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56DEE172-F3D1-5191-46E5-D9FC0B08F8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Chest exam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A4CB17B2-4630-3928-E321-EEAE35EA86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ar-IQ"/>
              <a:t>A high percentage of admissions to hospital are respiratory: croup, bronchitis, pneumonia, and asthma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In the infant it is hard to separate upper air-way noises from lower air-way noises.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ar-IQ"/>
              <a:t>How does the child look? Color, effort used to breathe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4">
            <a:extLst>
              <a:ext uri="{FF2B5EF4-FFF2-40B4-BE49-F238E27FC236}">
                <a16:creationId xmlns:a16="http://schemas.microsoft.com/office/drawing/2014/main" id="{D2AE0FF0-7335-D121-2CFB-C44A3C5FC76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Possible Sites of Retractions</a:t>
            </a:r>
          </a:p>
        </p:txBody>
      </p:sp>
      <p:pic>
        <p:nvPicPr>
          <p:cNvPr id="56323" name="Picture 6" descr="msotw9_temp0">
            <a:extLst>
              <a:ext uri="{FF2B5EF4-FFF2-40B4-BE49-F238E27FC236}">
                <a16:creationId xmlns:a16="http://schemas.microsoft.com/office/drawing/2014/main" id="{23D556CD-CADA-BDB7-8331-9358A0799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76400"/>
            <a:ext cx="8229600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Text Box 7">
            <a:extLst>
              <a:ext uri="{FF2B5EF4-FFF2-40B4-BE49-F238E27FC236}">
                <a16:creationId xmlns:a16="http://schemas.microsoft.com/office/drawing/2014/main" id="{D99046D7-0628-B4A9-432E-51394864B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25" y="2776539"/>
            <a:ext cx="209653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Observe while</a:t>
            </a:r>
          </a:p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infant or child</a:t>
            </a:r>
          </a:p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is quiet.</a:t>
            </a:r>
          </a:p>
        </p:txBody>
      </p:sp>
      <p:sp>
        <p:nvSpPr>
          <p:cNvPr id="56325" name="Text Box 8">
            <a:extLst>
              <a:ext uri="{FF2B5EF4-FFF2-40B4-BE49-F238E27FC236}">
                <a16:creationId xmlns:a16="http://schemas.microsoft.com/office/drawing/2014/main" id="{3B5522B0-909A-C047-6469-056CF6A08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725" y="6203951"/>
            <a:ext cx="23447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>
                <a:latin typeface="Tahoma" panose="020B0604030504040204" pitchFamily="34" charset="0"/>
              </a:rPr>
              <a:t>Bowden &amp; Greenberg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949FE474-3C16-0902-E1E7-C9DB209A3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Chest assessment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90C1410A-0AB6-39A4-2741-2B80C4B04A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Retractions</a:t>
            </a:r>
          </a:p>
          <a:p>
            <a:pPr lvl="1" eaLnBrk="1" hangingPunct="1"/>
            <a:r>
              <a:rPr lang="en-US" altLang="ar-IQ"/>
              <a:t>Subcostal</a:t>
            </a:r>
          </a:p>
          <a:p>
            <a:pPr lvl="1" eaLnBrk="1" hangingPunct="1"/>
            <a:r>
              <a:rPr lang="en-US" altLang="ar-IQ"/>
              <a:t>Intercostal</a:t>
            </a:r>
          </a:p>
          <a:p>
            <a:pPr lvl="1" eaLnBrk="1" hangingPunct="1"/>
            <a:r>
              <a:rPr lang="en-US" altLang="ar-IQ"/>
              <a:t>Sub-sternal</a:t>
            </a:r>
          </a:p>
          <a:p>
            <a:pPr lvl="1" eaLnBrk="1" hangingPunct="1"/>
            <a:r>
              <a:rPr lang="en-US" altLang="ar-IQ"/>
              <a:t>Supra-clavicular</a:t>
            </a:r>
          </a:p>
          <a:p>
            <a:pPr lvl="1" eaLnBrk="1" hangingPunct="1"/>
            <a:endParaRPr lang="en-US" altLang="ar-IQ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ar-IQ" sz="3000"/>
              <a:t>Red flags: grunting / nasal flaring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7F6D7D01-E023-2963-D942-827CF8B3ED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Wheeze or Stridor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A7DAE7A1-A38E-BE94-F637-B55C9B8668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Wheezes occur when air flows rapidly through bronchi that are narrowed nearly to the point of closure. </a:t>
            </a:r>
          </a:p>
          <a:p>
            <a:pPr eaLnBrk="1" hangingPunct="1"/>
            <a:r>
              <a:rPr lang="en-US" altLang="ar-IQ"/>
              <a:t>Wheezes is lower airway</a:t>
            </a:r>
          </a:p>
          <a:p>
            <a:pPr lvl="1" eaLnBrk="1" hangingPunct="1"/>
            <a:r>
              <a:rPr lang="en-US" altLang="ar-IQ"/>
              <a:t>Asthma = expiratory wheezes</a:t>
            </a:r>
          </a:p>
          <a:p>
            <a:pPr eaLnBrk="1" hangingPunct="1"/>
            <a:r>
              <a:rPr lang="en-US" altLang="ar-IQ"/>
              <a:t>A stridor is upper airway</a:t>
            </a:r>
          </a:p>
          <a:p>
            <a:pPr lvl="1" eaLnBrk="1" hangingPunct="1"/>
            <a:r>
              <a:rPr lang="en-US" altLang="ar-IQ"/>
              <a:t>Inflammation of upper airway or FB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F6E935AF-83A4-A492-4E9E-5F2B669F079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Abdominal Girth</a:t>
            </a:r>
          </a:p>
        </p:txBody>
      </p:sp>
      <p:pic>
        <p:nvPicPr>
          <p:cNvPr id="59395" name="Picture 3" descr="auto1">
            <a:extLst>
              <a:ext uri="{FF2B5EF4-FFF2-40B4-BE49-F238E27FC236}">
                <a16:creationId xmlns:a16="http://schemas.microsoft.com/office/drawing/2014/main" id="{A961E606-D2EC-55B5-7264-30D74829B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914400"/>
            <a:ext cx="57150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Text Box 4">
            <a:extLst>
              <a:ext uri="{FF2B5EF4-FFF2-40B4-BE49-F238E27FC236}">
                <a16:creationId xmlns:a16="http://schemas.microsoft.com/office/drawing/2014/main" id="{294AA56C-A7DA-2EC7-24C9-574E4FE96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5181601"/>
            <a:ext cx="76787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Abdominal girth should be measured over the umbilicus</a:t>
            </a:r>
          </a:p>
          <a:p>
            <a:pPr eaLnBrk="1" hangingPunct="1"/>
            <a:r>
              <a:rPr lang="en-US" altLang="ar-IQ" sz="2400">
                <a:latin typeface="Tahoma" panose="020B0604030504040204" pitchFamily="34" charset="0"/>
              </a:rPr>
              <a:t>Whenever possible.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3AADBB4-25AC-F9C9-DF43-1C8E45FA2D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Abdomen</a:t>
            </a:r>
          </a:p>
        </p:txBody>
      </p:sp>
      <p:pic>
        <p:nvPicPr>
          <p:cNvPr id="60419" name="Picture 3" descr="msotw9_temp0">
            <a:extLst>
              <a:ext uri="{FF2B5EF4-FFF2-40B4-BE49-F238E27FC236}">
                <a16:creationId xmlns:a16="http://schemas.microsoft.com/office/drawing/2014/main" id="{34F399D3-1503-8EE0-D397-9DF5A6663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981200"/>
            <a:ext cx="4330700" cy="416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0" name="Text Box 4">
            <a:extLst>
              <a:ext uri="{FF2B5EF4-FFF2-40B4-BE49-F238E27FC236}">
                <a16:creationId xmlns:a16="http://schemas.microsoft.com/office/drawing/2014/main" id="{D95CCC14-208E-D5CC-DEF0-365D26B16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6127751"/>
            <a:ext cx="15550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>
                <a:latin typeface="Tahoma" panose="020B0604030504040204" pitchFamily="34" charset="0"/>
              </a:rPr>
              <a:t>Ball &amp; Bindler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662E2A7C-41EB-2297-0796-0897A71679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Abdominal Assessment</a:t>
            </a:r>
          </a:p>
        </p:txBody>
      </p:sp>
      <p:pic>
        <p:nvPicPr>
          <p:cNvPr id="61443" name="Picture 3" descr="msotw9_temp0">
            <a:extLst>
              <a:ext uri="{FF2B5EF4-FFF2-40B4-BE49-F238E27FC236}">
                <a16:creationId xmlns:a16="http://schemas.microsoft.com/office/drawing/2014/main" id="{C0CD03DB-AF54-D3E9-C691-E6434C8C4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987550"/>
            <a:ext cx="5029200" cy="339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4" name="Text Box 4">
            <a:extLst>
              <a:ext uri="{FF2B5EF4-FFF2-40B4-BE49-F238E27FC236}">
                <a16:creationId xmlns:a16="http://schemas.microsoft.com/office/drawing/2014/main" id="{FFD07049-2311-13DD-FCD2-B9A6C2FEB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2325" y="5441951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ar-IQ">
                <a:latin typeface="Tahoma" panose="020B0604030504040204" pitchFamily="34" charset="0"/>
              </a:rPr>
              <a:t>Pillitteri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99262A0-7461-6CC7-A3B5-740813A0E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Clinical Tip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C38DEC4-E1A6-80D4-6F79-1B34188715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Inspection and auscultation are performed before palpation and percussion because touching the abdomen may change the characteristics of the bowel sounds.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ar-IQ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F5A6EFB9-A554-8B4B-9A8E-CBC83EE326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Bowel Sounds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095F0194-495E-E4E2-9062-9E54A1FE4F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ar-IQ"/>
              <a:t>Normally occur every 10 to 30 seconds.</a:t>
            </a:r>
          </a:p>
          <a:p>
            <a:pPr eaLnBrk="1" hangingPunct="1"/>
            <a:r>
              <a:rPr lang="en-US" altLang="ar-IQ"/>
              <a:t>Listen in each quadrant long enough to hear at least one bowel sound.</a:t>
            </a:r>
          </a:p>
          <a:p>
            <a:pPr eaLnBrk="1" hangingPunct="1"/>
            <a:r>
              <a:rPr lang="en-US" altLang="ar-IQ"/>
              <a:t>Absence of bowel sounds may indicate peritonitis or a paralytic ileus.</a:t>
            </a:r>
          </a:p>
          <a:p>
            <a:pPr eaLnBrk="1" hangingPunct="1"/>
            <a:r>
              <a:rPr lang="en-US" altLang="ar-IQ"/>
              <a:t>Hyperactive bowel sounds may indicate gastroenteritis or a bowel obstruction.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Get Started with 3D">
  <a:themeElements>
    <a:clrScheme name="أزرق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.potx" id="{2F811B51-3652-4B66-97AB-C34107939F72}" vid="{5A6FB77C-9CC0-4BAB-9431-7888FC98FA25}"/>
    </a:ext>
  </a:extLst>
</a:theme>
</file>

<file path=ppt/theme/theme3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سمة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450</TotalTime>
  <Words>1711</Words>
  <Application>Microsoft Office PowerPoint</Application>
  <PresentationFormat>شاشة عريضة</PresentationFormat>
  <Paragraphs>303</Paragraphs>
  <Slides>61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2</vt:i4>
      </vt:variant>
      <vt:variant>
        <vt:lpstr>عناوين الشرائح</vt:lpstr>
      </vt:variant>
      <vt:variant>
        <vt:i4>61</vt:i4>
      </vt:variant>
    </vt:vector>
  </HeadingPairs>
  <TitlesOfParts>
    <vt:vector size="69" baseType="lpstr">
      <vt:lpstr>Arial</vt:lpstr>
      <vt:lpstr>Garamond</vt:lpstr>
      <vt:lpstr>Wingdings</vt:lpstr>
      <vt:lpstr>Calibri</vt:lpstr>
      <vt:lpstr>Times New Roman</vt:lpstr>
      <vt:lpstr>Tahoma</vt:lpstr>
      <vt:lpstr>Edge</vt:lpstr>
      <vt:lpstr>Get Started with 3D</vt:lpstr>
      <vt:lpstr>Physical examination</vt:lpstr>
      <vt:lpstr>Pediatric Physical Assessment</vt:lpstr>
      <vt:lpstr>Health Assessment</vt:lpstr>
      <vt:lpstr>Bio-graphic Demographic</vt:lpstr>
      <vt:lpstr>Past Medical History</vt:lpstr>
      <vt:lpstr>Current Health Status</vt:lpstr>
      <vt:lpstr>Review of systems</vt:lpstr>
      <vt:lpstr>Physical Assessment</vt:lpstr>
      <vt:lpstr>Vital Signs</vt:lpstr>
      <vt:lpstr>Physical Assessment</vt:lpstr>
      <vt:lpstr>Physical Assessment</vt:lpstr>
      <vt:lpstr>Neurological</vt:lpstr>
      <vt:lpstr>Newborn reflexes</vt:lpstr>
      <vt:lpstr>Infant Exam</vt:lpstr>
      <vt:lpstr>Toddler Exam</vt:lpstr>
      <vt:lpstr>Preschool Exam</vt:lpstr>
      <vt:lpstr>School-age Child</vt:lpstr>
      <vt:lpstr>School-age Exam</vt:lpstr>
      <vt:lpstr>Adolescent</vt:lpstr>
      <vt:lpstr>Vital Signs</vt:lpstr>
      <vt:lpstr>Temperature</vt:lpstr>
      <vt:lpstr>Temperature</vt:lpstr>
      <vt:lpstr>Pulse</vt:lpstr>
      <vt:lpstr>Pulse rates</vt:lpstr>
      <vt:lpstr>Apical Pulse</vt:lpstr>
      <vt:lpstr>Heart Sounds</vt:lpstr>
      <vt:lpstr>Auscultating Heart Sounds</vt:lpstr>
      <vt:lpstr>Respiratory </vt:lpstr>
      <vt:lpstr>Clinical Tip</vt:lpstr>
      <vt:lpstr>Blood Pressure</vt:lpstr>
      <vt:lpstr>Blood Pressure Cuff</vt:lpstr>
      <vt:lpstr>Height</vt:lpstr>
      <vt:lpstr>Height Measurement</vt:lpstr>
      <vt:lpstr>Height Measurement</vt:lpstr>
      <vt:lpstr>Weight</vt:lpstr>
      <vt:lpstr>Weight</vt:lpstr>
      <vt:lpstr>Weight norms</vt:lpstr>
      <vt:lpstr>Nutrition</vt:lpstr>
      <vt:lpstr>Nutrition</vt:lpstr>
      <vt:lpstr>Nutrition</vt:lpstr>
      <vt:lpstr>Head Circumference</vt:lpstr>
      <vt:lpstr>Head</vt:lpstr>
      <vt:lpstr>Mouth</vt:lpstr>
      <vt:lpstr>Eyes</vt:lpstr>
      <vt:lpstr>Common eye infections:</vt:lpstr>
      <vt:lpstr>Ear Exam</vt:lpstr>
      <vt:lpstr>Otitis Media</vt:lpstr>
      <vt:lpstr>Otitis</vt:lpstr>
      <vt:lpstr>Why a problem?</vt:lpstr>
      <vt:lpstr>Management</vt:lpstr>
      <vt:lpstr>Head, chest, and abdominal circumference.</vt:lpstr>
      <vt:lpstr>Child Chest</vt:lpstr>
      <vt:lpstr>Chest exam</vt:lpstr>
      <vt:lpstr>Possible Sites of Retractions</vt:lpstr>
      <vt:lpstr>Chest assessment</vt:lpstr>
      <vt:lpstr>Wheeze or Stridor</vt:lpstr>
      <vt:lpstr>Abdominal Girth</vt:lpstr>
      <vt:lpstr>Abdomen</vt:lpstr>
      <vt:lpstr>Abdominal Assessment</vt:lpstr>
      <vt:lpstr>Clinical Tip</vt:lpstr>
      <vt:lpstr>Bowel Sounds</vt:lpstr>
    </vt:vector>
  </TitlesOfParts>
  <Company>Chandler Consulting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Assessment</dc:title>
  <dc:creator>Robert W. Chandler M</dc:creator>
  <cp:lastModifiedBy>green lanter</cp:lastModifiedBy>
  <cp:revision>19</cp:revision>
  <dcterms:created xsi:type="dcterms:W3CDTF">2001-05-07T04:34:16Z</dcterms:created>
  <dcterms:modified xsi:type="dcterms:W3CDTF">2025-09-30T18:15:56Z</dcterms:modified>
</cp:coreProperties>
</file>