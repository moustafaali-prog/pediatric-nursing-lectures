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3"/>
  </p:notesMasterIdLst>
  <p:sldIdLst>
    <p:sldId id="32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691" y="2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IQ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751B820-1A1A-40C1-AE28-6E4612CE40D0}" type="datetimeFigureOut">
              <a:rPr lang="ar-IQ" smtClean="0"/>
              <a:t>09/04/1447</a:t>
            </a:fld>
            <a:endParaRPr lang="ar-IQ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IQ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IQ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IQ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9F781649-CF27-4D70-912F-63E08F3E2EAE}" type="slidenum">
              <a:rPr lang="ar-IQ" smtClean="0"/>
              <a:t>‹#›</a:t>
            </a:fld>
            <a:endParaRPr lang="ar-IQ"/>
          </a:p>
        </p:txBody>
      </p:sp>
    </p:spTree>
    <p:extLst>
      <p:ext uri="{BB962C8B-B14F-4D97-AF65-F5344CB8AC3E}">
        <p14:creationId xmlns:p14="http://schemas.microsoft.com/office/powerpoint/2010/main" val="680583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422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885154-1C45-4C5D-8B1E-2416BECCE50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22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6552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2" y="262787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2025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10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1013" dirty="0">
                <a:solidFill>
                  <a:schemeClr val="bg1"/>
                </a:solidFill>
                <a:latin typeface="+mj-lt"/>
              </a:defRPr>
            </a:lvl1pPr>
          </a:lstStyle>
          <a:p>
            <a:pPr marL="96441" lvl="0" indent="-96441">
              <a:lnSpc>
                <a:spcPct val="150000"/>
              </a:lnSpc>
              <a:spcAft>
                <a:spcPts val="506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903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84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506"/>
              </a:spcAft>
              <a:buSzPct val="25000"/>
              <a:buFont typeface="Segoe UI" panose="020B0502040204020203" pitchFamily="34" charset="0"/>
              <a:buChar char=" "/>
              <a:defRPr sz="506"/>
            </a:lvl1pPr>
            <a:lvl2pPr marL="169442" indent="3350">
              <a:spcBef>
                <a:spcPts val="254"/>
              </a:spcBef>
              <a:spcAft>
                <a:spcPts val="506"/>
              </a:spcAft>
              <a:buFont typeface="Segoe UI" panose="020B0502040204020203" pitchFamily="34" charset="0"/>
              <a:buChar char=" "/>
              <a:defRPr sz="506"/>
            </a:lvl2pPr>
            <a:lvl3pPr marL="482204" indent="-96441">
              <a:buFont typeface="Segoe UI" panose="020B0502040204020203" pitchFamily="34" charset="0"/>
              <a:buChar char=" "/>
              <a:defRPr/>
            </a:lvl3pPr>
            <a:lvl4pPr marL="675085" indent="-96441">
              <a:buFont typeface="Segoe UI" panose="020B0502040204020203" pitchFamily="34" charset="0"/>
              <a:buChar char=" "/>
              <a:defRPr/>
            </a:lvl4pPr>
            <a:lvl5pPr marL="867966" indent="-96441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683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506"/>
              </a:spcAft>
              <a:buSzPct val="25000"/>
              <a:buFont typeface="Segoe UI" panose="020B0502040204020203" pitchFamily="34" charset="0"/>
              <a:buChar char=" "/>
              <a:defRPr sz="506"/>
            </a:lvl1pPr>
            <a:lvl2pPr marL="169442" indent="3350">
              <a:spcBef>
                <a:spcPts val="254"/>
              </a:spcBef>
              <a:spcAft>
                <a:spcPts val="506"/>
              </a:spcAft>
              <a:buFont typeface="Segoe UI" panose="020B0502040204020203" pitchFamily="34" charset="0"/>
              <a:buChar char=" "/>
              <a:defRPr sz="506"/>
            </a:lvl2pPr>
            <a:lvl3pPr marL="482204" indent="-96441">
              <a:buFont typeface="Segoe UI" panose="020B0502040204020203" pitchFamily="34" charset="0"/>
              <a:buChar char=" "/>
              <a:defRPr/>
            </a:lvl3pPr>
            <a:lvl4pPr marL="675085" indent="-96441">
              <a:buFont typeface="Segoe UI" panose="020B0502040204020203" pitchFamily="34" charset="0"/>
              <a:buChar char=" "/>
              <a:defRPr/>
            </a:lvl4pPr>
            <a:lvl5pPr marL="867966" indent="-96441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15429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5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506"/>
              </a:spcAft>
              <a:buSzPct val="25000"/>
              <a:buFont typeface="Segoe UI" panose="020B0502040204020203" pitchFamily="34" charset="0"/>
              <a:buChar char=" "/>
              <a:defRPr sz="506"/>
            </a:lvl1pPr>
            <a:lvl2pPr marL="169442" indent="3350" algn="l">
              <a:spcBef>
                <a:spcPts val="254"/>
              </a:spcBef>
              <a:spcAft>
                <a:spcPts val="506"/>
              </a:spcAft>
              <a:buFont typeface="Segoe UI" panose="020B0502040204020203" pitchFamily="34" charset="0"/>
              <a:buChar char=" "/>
              <a:defRPr sz="506"/>
            </a:lvl2pPr>
            <a:lvl3pPr marL="482204" indent="-96441">
              <a:buFont typeface="Segoe UI" panose="020B0502040204020203" pitchFamily="34" charset="0"/>
              <a:buChar char=" "/>
              <a:defRPr/>
            </a:lvl3pPr>
            <a:lvl4pPr marL="675085" indent="-96441">
              <a:buFont typeface="Segoe UI" panose="020B0502040204020203" pitchFamily="34" charset="0"/>
              <a:buChar char=" "/>
              <a:defRPr/>
            </a:lvl4pPr>
            <a:lvl5pPr marL="867966" indent="-96441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41" y="1507068"/>
            <a:ext cx="7143905" cy="4669896"/>
          </a:xfrm>
        </p:spPr>
        <p:txBody>
          <a:bodyPr anchor="ctr"/>
          <a:lstStyle>
            <a:lvl1pPr marL="0" indent="0">
              <a:spcAft>
                <a:spcPts val="506"/>
              </a:spcAft>
              <a:buSzPct val="25000"/>
              <a:buFont typeface="Segoe UI" panose="020B0502040204020203" pitchFamily="34" charset="0"/>
              <a:buChar char=" "/>
              <a:defRPr sz="506"/>
            </a:lvl1pPr>
            <a:lvl2pPr marL="169442" indent="3350">
              <a:spcBef>
                <a:spcPts val="254"/>
              </a:spcBef>
              <a:spcAft>
                <a:spcPts val="506"/>
              </a:spcAft>
              <a:buFont typeface="Segoe UI" panose="020B0502040204020203" pitchFamily="34" charset="0"/>
              <a:buChar char=" "/>
              <a:defRPr sz="506"/>
            </a:lvl2pPr>
            <a:lvl3pPr marL="482204" indent="-96441">
              <a:buFont typeface="Segoe UI" panose="020B0502040204020203" pitchFamily="34" charset="0"/>
              <a:buChar char=" "/>
              <a:defRPr/>
            </a:lvl3pPr>
            <a:lvl4pPr marL="675085" indent="-96441">
              <a:buFont typeface="Segoe UI" panose="020B0502040204020203" pitchFamily="34" charset="0"/>
              <a:buChar char=" "/>
              <a:defRPr/>
            </a:lvl4pPr>
            <a:lvl5pPr marL="867966" indent="-96441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9278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5" y="26278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2" y="262790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6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151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013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506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506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506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506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422"/>
              </a:spcBef>
              <a:spcAft>
                <a:spcPts val="506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422"/>
              </a:spcBef>
              <a:spcAft>
                <a:spcPts val="506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422"/>
              </a:spcBef>
              <a:spcAft>
                <a:spcPts val="506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422"/>
              </a:spcBef>
              <a:spcAft>
                <a:spcPts val="506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422"/>
              </a:spcBef>
              <a:spcAft>
                <a:spcPts val="506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9140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6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76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17689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6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76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5426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0196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H="1">
            <a:off x="6480044" y="1508790"/>
            <a:ext cx="5711957" cy="3840427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2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7110273" y="0"/>
            <a:ext cx="4451499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675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257111" indent="0">
              <a:buNone/>
              <a:defRPr sz="1574"/>
            </a:lvl2pPr>
            <a:lvl3pPr marL="514221" indent="0">
              <a:buNone/>
              <a:defRPr sz="1349"/>
            </a:lvl3pPr>
            <a:lvl4pPr marL="771332" indent="0">
              <a:buNone/>
              <a:defRPr sz="1125"/>
            </a:lvl4pPr>
            <a:lvl5pPr marL="1028443" indent="0">
              <a:buNone/>
              <a:defRPr sz="1125"/>
            </a:lvl5pPr>
            <a:lvl6pPr marL="1285554" indent="0">
              <a:buNone/>
              <a:defRPr sz="1125"/>
            </a:lvl6pPr>
            <a:lvl7pPr marL="1542665" indent="0">
              <a:buNone/>
              <a:defRPr sz="1125"/>
            </a:lvl7pPr>
            <a:lvl8pPr marL="1799775" indent="0">
              <a:buNone/>
              <a:defRPr sz="1125"/>
            </a:lvl8pPr>
            <a:lvl9pPr marL="2056886" indent="0">
              <a:buNone/>
              <a:defRPr sz="112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02276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20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6"/>
            <a:ext cx="10972800" cy="4530725"/>
          </a:xfrm>
        </p:spPr>
        <p:txBody>
          <a:bodyPr/>
          <a:lstStyle/>
          <a:p>
            <a:pPr lvl="0"/>
            <a:endParaRPr lang="ar-JO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C65A56-3191-4507-AE7B-C8F476156A03}" type="slidenum">
              <a:rPr lang="ar-SA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21704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09/04/1447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00835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6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76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5" y="448634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57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lang="en-US" sz="1181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61504" y="144710"/>
            <a:ext cx="11668991" cy="649000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85763">
              <a:spcBef>
                <a:spcPct val="0"/>
              </a:spcBef>
              <a:defRPr/>
            </a:pPr>
            <a:endParaRPr lang="en-US" sz="2531" dirty="0">
              <a:solidFill>
                <a:prstClr val="white"/>
              </a:solidFill>
              <a:latin typeface="Segoe UI Light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2873707"/>
            <a:ext cx="6491688" cy="951272"/>
          </a:xfrm>
        </p:spPr>
        <p:txBody>
          <a:bodyPr anchor="ctr"/>
          <a:lstStyle/>
          <a:p>
            <a:r>
              <a:rPr lang="en-US" sz="2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Pediatric lab</a:t>
            </a:r>
            <a:endParaRPr lang="ar-IQ" sz="2400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Grid" descr="grid plane">
            <a:extLst>
              <a:ext uri="{FF2B5EF4-FFF2-40B4-BE49-F238E27FC236}">
                <a16:creationId xmlns:a16="http://schemas.microsoft.com/office/drawing/2014/main" id="{71F5A0B2-7584-4034-8919-A5F2C482F46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307" r="-943" b="64945"/>
          <a:stretch/>
        </p:blipFill>
        <p:spPr>
          <a:xfrm>
            <a:off x="914400" y="5631690"/>
            <a:ext cx="10203713" cy="857529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0FE0F52F-ADF1-4011-A51B-92383D0AB7F8}"/>
              </a:ext>
            </a:extLst>
          </p:cNvPr>
          <p:cNvSpPr txBox="1">
            <a:spLocks/>
          </p:cNvSpPr>
          <p:nvPr/>
        </p:nvSpPr>
        <p:spPr>
          <a:xfrm>
            <a:off x="6571777" y="3804181"/>
            <a:ext cx="1897951" cy="878486"/>
          </a:xfrm>
          <a:prstGeom prst="rect">
            <a:avLst/>
          </a:prstGeom>
        </p:spPr>
        <p:txBody>
          <a:bodyPr numCol="1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85763">
              <a:lnSpc>
                <a:spcPct val="300000"/>
              </a:lnSpc>
              <a:spcBef>
                <a:spcPts val="760"/>
              </a:spcBef>
              <a:defRPr/>
            </a:pPr>
            <a:endParaRPr lang="ar-IQ" sz="591" dirty="0">
              <a:solidFill>
                <a:prstClr val="white"/>
              </a:solidFill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FA1911A5-6CC9-87F9-8318-63988B6D5F84}"/>
              </a:ext>
            </a:extLst>
          </p:cNvPr>
          <p:cNvSpPr txBox="1"/>
          <p:nvPr/>
        </p:nvSpPr>
        <p:spPr>
          <a:xfrm>
            <a:off x="2301923" y="1891070"/>
            <a:ext cx="67515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85763">
              <a:spcBef>
                <a:spcPct val="0"/>
              </a:spcBef>
              <a:defRPr/>
            </a:pPr>
            <a:r>
              <a:rPr lang="en-US" altLang="ar-IQ" sz="4000" dirty="0">
                <a:solidFill>
                  <a:prstClr val="white"/>
                </a:solidFill>
                <a:latin typeface="Segoe UI Light"/>
                <a:ea typeface="Segoe UI Black" panose="020B0A02040204020203" pitchFamily="34" charset="0"/>
                <a:cs typeface="Segoe UI Light" panose="020B0502040204020203" pitchFamily="34" charset="0"/>
              </a:rPr>
              <a:t>Review of Systems in Pediatrics</a:t>
            </a:r>
            <a:endParaRPr lang="en-US" sz="4000" dirty="0">
              <a:solidFill>
                <a:prstClr val="white"/>
              </a:solidFill>
              <a:latin typeface="Segoe UI Light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3E581DF-7DFE-34EF-4F01-3ECD273CF713}"/>
              </a:ext>
            </a:extLst>
          </p:cNvPr>
          <p:cNvSpPr txBox="1">
            <a:spLocks/>
          </p:cNvSpPr>
          <p:nvPr/>
        </p:nvSpPr>
        <p:spPr>
          <a:xfrm>
            <a:off x="7210742" y="4602391"/>
            <a:ext cx="3560039" cy="1139190"/>
          </a:xfrm>
          <a:prstGeom prst="rect">
            <a:avLst/>
          </a:prstGeom>
        </p:spPr>
        <p:txBody>
          <a:bodyPr numCol="1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defTabSz="257175">
              <a:spcBef>
                <a:spcPts val="563"/>
              </a:spcBef>
              <a:defRPr/>
            </a:pPr>
            <a:r>
              <a:rPr lang="en-US" sz="1600" kern="0" dirty="0">
                <a:solidFill>
                  <a:prstClr val="white"/>
                </a:solidFill>
              </a:rPr>
              <a:t>Third Stage</a:t>
            </a:r>
          </a:p>
          <a:p>
            <a:pPr defTabSz="257175">
              <a:spcBef>
                <a:spcPts val="563"/>
              </a:spcBef>
              <a:defRPr/>
            </a:pPr>
            <a:r>
              <a:rPr lang="en-US" sz="1600" kern="0" dirty="0">
                <a:solidFill>
                  <a:prstClr val="white"/>
                </a:solidFill>
              </a:rPr>
              <a:t>Dr. Moustafa Ali Alshammari</a:t>
            </a:r>
          </a:p>
          <a:p>
            <a:pPr defTabSz="257175">
              <a:spcBef>
                <a:spcPts val="563"/>
              </a:spcBef>
              <a:defRPr/>
            </a:pPr>
            <a:r>
              <a:rPr lang="en-US" sz="1600" kern="0" dirty="0">
                <a:solidFill>
                  <a:prstClr val="white"/>
                </a:solidFill>
              </a:rPr>
              <a:t>Pediatric Nursing </a:t>
            </a:r>
          </a:p>
          <a:p>
            <a:pPr defTabSz="257175">
              <a:spcBef>
                <a:spcPts val="563"/>
              </a:spcBef>
              <a:defRPr/>
            </a:pPr>
            <a:endParaRPr lang="en-US" sz="1600" kern="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163557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state of health; weight loss/gain (compare with growth charts); obesity; delays in physical, psychosocial, or language development; fatigue; weakness; malaise; difficulty with ADLs; chronic pain.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Skin texture, birthmarks, pigmentation; color changes (jaundice, cyanosis, mottling, pallor, bruising, petechiae); rashes, lesions; dryness; pruritus; hives; dermatitis; seborrhea; acne; mole changes; hair/nail disorders; pediculosis.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Size and shape (including fontanels); microcephaly, macrocephaly; injuries; headaches; dizziness.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problems (blurred, double vision, strabismus, photophobia); behaviors (sitting close to screen, squinting, rubbing eyes); corrective lenses; last exam; drainage; infections; tearing; eyelid edema.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Infections (otitis media/externa); ear pain; drainage; surgery (tympanostomy tubes); delayed speech; hearing loss; last hearing exam; tinnitus.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Frequent rhinorrhea; URIs; sinusitis; allergic rhinitis; congestion; allergies; mouth breathing; snoring; OSA; epistaxis; allergic salute/crease; dark eye circles; altered smell.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Mouth/Throat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Tooth eruption/loss; number of teeth; teething; dental care/fluoride; caries; first/last dental visit; pain; trauma; sores; candida; gum bleeding; tonsillar enlargement; tonsillectomy; postnasal drip; cleft lip/palate; sore throats; strep; dysphagia; hoarseness; abnormal cry.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Chest &amp; Neck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Chest: Pain, newborn breast enlargement, gynecomastia, lesions, discharge. Neck: Limited ROM, pain, stiffness, torticollis, thyroid enlargement, lymphadenopathy.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Lymphatics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Frequent infections, fevers, node pain/swelling/tenderness, hepatosplenomegaly, chills, night sweats, pallor.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Respiratory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Frequent infections, dyspnea, apnea, stridor, croup, pneumonia, CF, asthma, wheezing, chronic cough, sputum, exercise intolerance, cyanosis, TB exposure, last chest X-ray, smoke exposure.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Cardiovascular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Murmurs, congenital heart disease, poor feeding/weight gain, chest pain, cyanosis, tachypnea, tachycardia, hypertension, edema, cold extremities, palpitations, syncope, exercise intolerance, rheumatic fever, anemia, transfusion history.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Gastrointestinal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Appetite, intolerances, diet; abdominal pain; ulcers; nausea; vomiting; reflux; bowel changes; GI infections; diarrhea; flatulence; constipation; stool description; laxative use; blood in stool; jaundice; anal itching; fissures; pinworms.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Genitourinary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Dysuria, frequency, urgency, enuresis; UTIs; hematuria; polyuria/oliguria; congenital anomalies (epispadias, hypospadias, cryptorchidism, hydrocele, hernia); surgeries; testicular self-exam (adolescents); STIs; sexual activity.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Gynecologic (Adolescent females)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 of menarche, LMP, cycle length/duration, dysmenorrhea, heavy bleeding, discharge, abnormal bleeding, sexual activity, contraception, last Pap smear, obstetric history if relevant.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Musculoskeletal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Activity level, weakness, clumsiness, ataxia, lack of coordination, unusual movements; joint/muscle pain, cramps, swelling, sprains, fractures, mobility issues, stiffness, abnormal gait, limps, spinal curvatures.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Affect, mood, ataxia, tremors, tics, dizziness, syncope, tingling, sensory changes, paresthesia, seizures, LOC, memory loss, headaches, aphasia, speech problems, fears, nightmares, unusual habits.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Endocrine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Growth disturbances, obesity, polyuria, polyphagia, polydipsia, thyroid disease, type 1/2 diabetes, excessive sweating, salty skin, temperature intolerance, precocious/delayed puberty, hair distribution changes.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Hematologic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Anemia, pallor, lymphadenopathy, bleeding disorders, bruising, petechiae, gum bleeding, transfusions, toxic exposures, radiation, chemotherapy.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Psychosocial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Delays, behavior changes, tantrums, breath-holding spells, enuresis, school failure, withdrawal, irritability, sleep problems, depression, substance abuse, eating disorders, psychiatric disorders.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Get Started with 3D">
  <a:themeElements>
    <a:clrScheme name="أزرق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.potx" id="{2F811B51-3652-4B66-97AB-C34107939F72}" vid="{5A6FB77C-9CC0-4BAB-9431-7888FC98FA25}"/>
    </a:ext>
  </a:extLst>
</a:theme>
</file>

<file path=ppt/theme/theme3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748</Words>
  <Application>Microsoft Office PowerPoint</Application>
  <PresentationFormat>شاشة عريضة</PresentationFormat>
  <Paragraphs>44</Paragraphs>
  <Slides>20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2</vt:i4>
      </vt:variant>
      <vt:variant>
        <vt:lpstr>عناوين الشرائح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Segoe UI</vt:lpstr>
      <vt:lpstr>Segoe UI Light</vt:lpstr>
      <vt:lpstr>Office Theme</vt:lpstr>
      <vt:lpstr>Get Started with 3D</vt:lpstr>
      <vt:lpstr>Pediatric lab</vt:lpstr>
      <vt:lpstr>General</vt:lpstr>
      <vt:lpstr>Integument</vt:lpstr>
      <vt:lpstr>Head</vt:lpstr>
      <vt:lpstr>Eyes</vt:lpstr>
      <vt:lpstr>Ears</vt:lpstr>
      <vt:lpstr>Nose</vt:lpstr>
      <vt:lpstr>Mouth/Throat</vt:lpstr>
      <vt:lpstr>Chest &amp; Neck</vt:lpstr>
      <vt:lpstr>Lymphatics</vt:lpstr>
      <vt:lpstr>Respiratory</vt:lpstr>
      <vt:lpstr>Cardiovascular</vt:lpstr>
      <vt:lpstr>Gastrointestinal</vt:lpstr>
      <vt:lpstr>Genitourinary</vt:lpstr>
      <vt:lpstr>Gynecologic (Adolescent females)</vt:lpstr>
      <vt:lpstr>Musculoskeletal</vt:lpstr>
      <vt:lpstr>Neurologic</vt:lpstr>
      <vt:lpstr>Endocrine</vt:lpstr>
      <vt:lpstr>Hematologic</vt:lpstr>
      <vt:lpstr>Psychosocial Development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green lanter</dc:creator>
  <cp:keywords/>
  <dc:description>generated using python-pptx</dc:description>
  <cp:lastModifiedBy>green lanter</cp:lastModifiedBy>
  <cp:revision>5</cp:revision>
  <dcterms:created xsi:type="dcterms:W3CDTF">2013-01-27T09:14:16Z</dcterms:created>
  <dcterms:modified xsi:type="dcterms:W3CDTF">2025-10-01T20:45:20Z</dcterms:modified>
  <cp:category/>
</cp:coreProperties>
</file>