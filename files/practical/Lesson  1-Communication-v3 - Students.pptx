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3" r:id="rId4"/>
  </p:sldMasterIdLst>
  <p:notesMasterIdLst>
    <p:notesMasterId r:id="rId21"/>
  </p:notesMasterIdLst>
  <p:sldIdLst>
    <p:sldId id="257" r:id="rId5"/>
    <p:sldId id="258" r:id="rId6"/>
    <p:sldId id="259" r:id="rId7"/>
    <p:sldId id="263" r:id="rId8"/>
    <p:sldId id="288" r:id="rId9"/>
    <p:sldId id="296" r:id="rId10"/>
    <p:sldId id="289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284" r:id="rId20"/>
  </p:sldIdLst>
  <p:sldSz cx="12192000" cy="6858000"/>
  <p:notesSz cx="6858000" cy="9144000"/>
  <p:custDataLst>
    <p:tags r:id="rId2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00"/>
    <a:srgbClr val="3D3D3D"/>
    <a:srgbClr val="F5F5F5"/>
    <a:srgbClr val="000000"/>
    <a:srgbClr val="FFFFFF"/>
    <a:srgbClr val="000065"/>
    <a:srgbClr val="404040"/>
    <a:srgbClr val="384449"/>
    <a:srgbClr val="3A44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346" autoAdjust="0"/>
  </p:normalViewPr>
  <p:slideViewPr>
    <p:cSldViewPr snapToGrid="0">
      <p:cViewPr varScale="1">
        <p:scale>
          <a:sx n="34" d="100"/>
          <a:sy n="34" d="100"/>
        </p:scale>
        <p:origin x="11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7AA04-4B8F-4433-9FF2-50889DD834AA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D9FE36-68FE-4AA0-9109-625E17F9AE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980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30E2F48-597B-4515-A0C4-A94733CD50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41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74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83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606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IQ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03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AA443-1742-94B4-BF1E-745DF541F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3A5E807C-2EFA-900C-B3A7-41A0ACE42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04A0AC5B-8071-443F-72C3-B7A9C781D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9054238-ADEA-0E12-F4FE-24F7ABBB0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44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CDAE7-A76B-4F71-D5AD-CDD24732B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74D19F9-5DF2-616E-AB03-8452C201E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C614662-11BA-9455-FE50-CE4763B0D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595BBC01-F4D7-BB31-8F3B-A2ADAFC498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997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F2B86-4384-0CA1-2592-34946325A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506A0A2A-A906-64C0-58F2-1492A1F63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C0957166-182F-3DE6-BD68-010FA5B2A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D6A349C-A841-5806-3197-396A1BB7E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57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40C69-0056-5EF9-33BC-DCA2D2FA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451FD85-E937-0D81-B96A-3534DCE07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EB00E95C-E7B5-BC49-2B25-CD5329269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7D8BE15-5030-65EF-0DCA-13078D436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338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1CA2F-5B98-E2D4-7751-650DAE31C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47D61ACA-E902-28B7-DC03-78D5CE17FD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B19B55C-89BF-D633-4813-4332631A9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BF940D99-B2EE-BA3B-1DAE-97E8A41BD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17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6F191-B24E-69A5-C9FC-A214A478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24EC64BF-2A30-5B5E-2C97-4358C3680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1FA3F0AF-53AC-3BD7-92B4-33D51FF3A4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9D426FB9-4581-568F-2A7E-2BAA96052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86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F4B22-6D58-9BC6-1AFF-FD385E3F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1B62BFF2-1B50-903F-FCF8-B0C7667C0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2888AFA1-AF7E-B4A3-B4BB-1F485670C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23DB0F7A-462B-4D20-FCAD-CB956F898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764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ADBC3-7FFE-C5DF-76AF-29EAE7B816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69090F6C-EEF9-E05D-9F08-276AE6872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B456D7E6-AE24-91FD-54A1-ACA050ED9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4720D74-8599-EF00-F013-9F69DFB890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03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6660-BEE5-AE3A-2D9A-4A8A6F52F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A9842789-19CA-5CE1-27BE-F9A4081CE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D46A95BD-B3C3-6DE0-7A3B-C120455B7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8A56E1B3-CF3D-8FB0-A1F6-A383505BC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90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14112-1D36-B126-A3D9-5E417635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>
            <a:extLst>
              <a:ext uri="{FF2B5EF4-FFF2-40B4-BE49-F238E27FC236}">
                <a16:creationId xmlns:a16="http://schemas.microsoft.com/office/drawing/2014/main" id="{E494E641-B4FB-18DE-AE9B-0E85D1D3B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عنصر نائب للملاحظات 2">
            <a:extLst>
              <a:ext uri="{FF2B5EF4-FFF2-40B4-BE49-F238E27FC236}">
                <a16:creationId xmlns:a16="http://schemas.microsoft.com/office/drawing/2014/main" id="{FEDD5A47-1D21-C569-F6D1-F3E2E0BF4A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287F4E3-9FBE-457F-FA1E-4F7C76C43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D9FE36-68FE-4AA0-9109-625E17F9AE1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91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98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895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16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6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50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73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0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00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3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09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51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0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44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7934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4698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4275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0647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2595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74819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39500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41475"/>
            <a:ext cx="10363200" cy="445452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951420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Title and Diagram or Organiza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2051" y="533401"/>
            <a:ext cx="10883900" cy="10906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martArt Placeholder 2"/>
          <p:cNvSpPr>
            <a:spLocks noGrp="1"/>
          </p:cNvSpPr>
          <p:nvPr>
            <p:ph type="dgm" idx="1"/>
          </p:nvPr>
        </p:nvSpPr>
        <p:spPr>
          <a:xfrm>
            <a:off x="1217085" y="1905000"/>
            <a:ext cx="10814049" cy="4191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36700" y="62865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787900" y="62865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59900" y="62865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AE6B2289-310B-414E-BA55-48F50679036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0226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5077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518195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429165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49374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668508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1942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93600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280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9178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13054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96590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747458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7314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387649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406742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6234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4533123"/>
            <a:ext cx="12192000" cy="23248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40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Oval 3"/>
          <p:cNvSpPr/>
          <p:nvPr userDrawn="1"/>
        </p:nvSpPr>
        <p:spPr>
          <a:xfrm>
            <a:off x="5391415" y="3813043"/>
            <a:ext cx="1440160" cy="1440160"/>
          </a:xfrm>
          <a:prstGeom prst="ellipse">
            <a:avLst/>
          </a:prstGeom>
          <a:solidFill>
            <a:schemeClr val="accent1"/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5" name="Picture 2" descr="E:\002-KIMS BUSINESS\007-02-Fullslidesppt-Contents\20161228\02-edu\bulb-item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409" y="4013590"/>
            <a:ext cx="468171" cy="1039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1948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1" y="990600"/>
            <a:ext cx="9347199" cy="2235203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2401" y="3733800"/>
            <a:ext cx="9347199" cy="1219200"/>
          </a:xfrm>
        </p:spPr>
        <p:txBody>
          <a:bodyPr anchor="t"/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6636D-D922-432D-A958-524484B5923D}" type="datetimeFigureOut">
              <a:rPr lang="en-US"/>
              <a:pPr/>
              <a:t>9/30/2025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8FB93-0A08-4E7D-8E63-9EFA29F1E093}" type="slidenum">
              <a:rPr/>
              <a:pPr/>
              <a:t>‹#›</a:t>
            </a:fld>
            <a:endParaRPr/>
          </a:p>
        </p:txBody>
      </p:sp>
      <p:grpSp>
        <p:nvGrpSpPr>
          <p:cNvPr id="13" name="Group 12"/>
          <p:cNvGrpSpPr/>
          <p:nvPr/>
        </p:nvGrpSpPr>
        <p:grpSpPr>
          <a:xfrm>
            <a:off x="3274635" y="3475736"/>
            <a:ext cx="5642734" cy="54864"/>
            <a:chOff x="2455975" y="2588441"/>
            <a:chExt cx="4232051" cy="41148"/>
          </a:xfrm>
        </p:grpSpPr>
        <p:sp>
          <p:nvSpPr>
            <p:cNvPr id="14" name="Oval 13"/>
            <p:cNvSpPr/>
            <p:nvPr/>
          </p:nvSpPr>
          <p:spPr>
            <a:xfrm>
              <a:off x="6642306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sp>
          <p:nvSpPr>
            <p:cNvPr id="15" name="Oval 14"/>
            <p:cNvSpPr/>
            <p:nvPr/>
          </p:nvSpPr>
          <p:spPr>
            <a:xfrm>
              <a:off x="2455975" y="2588441"/>
              <a:ext cx="45720" cy="41148"/>
            </a:xfrm>
            <a:prstGeom prst="ellipse">
              <a:avLst/>
            </a:prstGeom>
            <a:solidFill>
              <a:schemeClr val="tx1"/>
            </a:solidFill>
            <a:ln w="26425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onstantia"/>
                <a:ea typeface="+mn-ea"/>
                <a:cs typeface="+mn-cs"/>
              </a:endParaRPr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2563229" y="2594391"/>
              <a:ext cx="4023360" cy="29249"/>
              <a:chOff x="2550323" y="3458731"/>
              <a:chExt cx="4023360" cy="3899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550323" y="3458731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  <p:cxnSp>
            <p:nvCxnSpPr>
              <p:cNvPr id="18" name="Straight Connector 17"/>
              <p:cNvCxnSpPr/>
              <p:nvPr/>
            </p:nvCxnSpPr>
            <p:spPr>
              <a:xfrm>
                <a:off x="2550323" y="3497729"/>
                <a:ext cx="4023360" cy="0"/>
              </a:xfrm>
              <a:prstGeom prst="lin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57204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914400" y="1641475"/>
            <a:ext cx="10363200" cy="4454525"/>
          </a:xfrm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788607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7084" y="1905000"/>
            <a:ext cx="5304367" cy="4191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4651" y="1905000"/>
            <a:ext cx="5306483" cy="41910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611C2-B6D9-4B74-8CBF-F809ED5A967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537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D37F66-C6E3-4359-AFDD-FB1DA6CD6D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388D98-C395-48B9-9BBA-2CF5308A5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4203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320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3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810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1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39151" y="267286"/>
            <a:ext cx="11704320" cy="6372666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 txBox="1">
            <a:spLocks/>
          </p:cNvSpPr>
          <p:nvPr/>
        </p:nvSpPr>
        <p:spPr>
          <a:xfrm>
            <a:off x="1524000" y="1333500"/>
            <a:ext cx="9144000" cy="17907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sz="4800" dirty="0">
                <a:solidFill>
                  <a:prstClr val="white"/>
                </a:solidFill>
              </a:rPr>
              <a:t>Communication in Pediatric Nursing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 txBox="1">
            <a:spLocks/>
          </p:cNvSpPr>
          <p:nvPr/>
        </p:nvSpPr>
        <p:spPr>
          <a:xfrm>
            <a:off x="1524000" y="3128009"/>
            <a:ext cx="9144000" cy="1287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</a:pPr>
            <a:r>
              <a:rPr lang="en-US" sz="2400" dirty="0">
                <a:solidFill>
                  <a:prstClr val="white"/>
                </a:solidFill>
                <a:latin typeface="Segoe UI Light"/>
              </a:rPr>
              <a:t>Communication in Pediatric Context 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8077762" y="5515029"/>
            <a:ext cx="3760738" cy="1011768"/>
          </a:xfrm>
          <a:prstGeom prst="rect">
            <a:avLst/>
          </a:prstGeom>
        </p:spPr>
        <p:txBody>
          <a:bodyPr numCol="1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Third Stage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Dr. Moustafa Ali Alshammari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rPr>
              <a:t>Pediatric Nursing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 panose="020B0502040204020203" pitchFamily="34" charset="0"/>
              <a:ea typeface="+mn-ea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363536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/>
              <a:t>LEARNING OUTCOMES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4434" y="1944154"/>
            <a:ext cx="10983132" cy="4338658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buClr>
                <a:srgbClr val="990000"/>
              </a:buClr>
              <a:buSzPct val="150000"/>
              <a:buFont typeface="+mj-lt"/>
              <a:buAutoNum type="arabicPeriod"/>
              <a:defRPr/>
            </a:pP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Define communication and explain why it is especially critical in pediatric nursing (for safety, trust, adherence).</a:t>
            </a:r>
          </a:p>
          <a:p>
            <a:pPr marL="457200" indent="-457200">
              <a:lnSpc>
                <a:spcPct val="100000"/>
              </a:lnSpc>
              <a:buClr>
                <a:srgbClr val="990000"/>
              </a:buClr>
              <a:buSzPct val="150000"/>
              <a:buFont typeface="+mj-lt"/>
              <a:buAutoNum type="arabicPeriod"/>
              <a:defRPr/>
            </a:pP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Choose appropriate communication strategies when interviewing parents and children (by age).</a:t>
            </a:r>
          </a:p>
          <a:p>
            <a:pPr marL="457200" indent="-457200">
              <a:lnSpc>
                <a:spcPct val="100000"/>
              </a:lnSpc>
              <a:buClr>
                <a:srgbClr val="990000"/>
              </a:buClr>
              <a:buSzPct val="150000"/>
              <a:buFont typeface="+mj-lt"/>
              <a:buAutoNum type="arabicPeriod"/>
              <a:defRPr/>
            </a:pP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Apply teach-back to pediatric families to ensure understanding.</a:t>
            </a:r>
          </a:p>
          <a:p>
            <a:pPr marL="457200" indent="-457200">
              <a:lnSpc>
                <a:spcPct val="100000"/>
              </a:lnSpc>
              <a:buClr>
                <a:srgbClr val="990000"/>
              </a:buClr>
              <a:buSzPct val="150000"/>
              <a:buFont typeface="+mj-lt"/>
              <a:buAutoNum type="arabicPeriod"/>
              <a:defRPr/>
            </a:pP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Use developmentally tailored language, nonverbal cues, and distraction in pediatric procedures.</a:t>
            </a:r>
          </a:p>
          <a:p>
            <a:pPr marL="457200" indent="-457200">
              <a:lnSpc>
                <a:spcPct val="100000"/>
              </a:lnSpc>
              <a:buClr>
                <a:srgbClr val="990000"/>
              </a:buClr>
              <a:buSzPct val="150000"/>
              <a:buFont typeface="+mj-lt"/>
              <a:buAutoNum type="arabicPeriod"/>
              <a:defRPr/>
            </a:pPr>
            <a:r>
              <a:rPr lang="en-US" alt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Reflect critically on barriers unique to pediatric settings and propose evidence-based mitigation.</a:t>
            </a:r>
          </a:p>
        </p:txBody>
      </p:sp>
      <p:cxnSp>
        <p:nvCxnSpPr>
          <p:cNvPr id="4" name="Straight Connector 8"/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ln w="28575">
            <a:solidFill>
              <a:srgbClr val="99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604434" y="1339439"/>
            <a:ext cx="67649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After completing this lecture, you will be able to:</a:t>
            </a:r>
          </a:p>
        </p:txBody>
      </p:sp>
    </p:spTree>
    <p:extLst>
      <p:ext uri="{BB962C8B-B14F-4D97-AF65-F5344CB8AC3E}">
        <p14:creationId xmlns:p14="http://schemas.microsoft.com/office/powerpoint/2010/main" val="151478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3"/>
          <p:cNvSpPr txBox="1"/>
          <p:nvPr/>
        </p:nvSpPr>
        <p:spPr>
          <a:xfrm>
            <a:off x="244929" y="265471"/>
            <a:ext cx="11691257" cy="207390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ts val="1800"/>
              </a:lnSpc>
              <a:spcAft>
                <a:spcPts val="600"/>
              </a:spcAft>
              <a:defRPr/>
            </a:pPr>
            <a:endParaRPr lang="en-US" sz="1200" dirty="0">
              <a:solidFill>
                <a:prstClr val="black">
                  <a:lumMod val="75000"/>
                  <a:lumOff val="25000"/>
                </a:prstClr>
              </a:solidFill>
              <a:cs typeface="Segoe UI" panose="020B0502040204020203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1536192"/>
            <a:ext cx="8589541" cy="640080"/>
          </a:xfrm>
        </p:spPr>
        <p:txBody>
          <a:bodyPr>
            <a:normAutofit/>
          </a:bodyPr>
          <a:lstStyle/>
          <a:p>
            <a:r>
              <a:rPr lang="en-US" sz="4000" dirty="0"/>
              <a:t>Communication in Pediatric Context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521208" y="2339375"/>
            <a:ext cx="11414978" cy="4253153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50000"/>
              </a:lnSpc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Definition: Communication is the exchange of meanings among people via a shared system of symbols (words, gestures, expressions).</a:t>
            </a:r>
            <a:endParaRPr lang="en-US" b="1" dirty="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It is both </a:t>
            </a:r>
            <a:r>
              <a:rPr lang="en-US" b="1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talking and listening </a:t>
            </a:r>
            <a:r>
              <a:rPr lang="en-US" dirty="0">
                <a:solidFill>
                  <a:srgbClr val="40404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(i.e., sending and receiving).Effective communication requires not just sending, but verifying that the receiver understood the meaning intended.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813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AB49E1-195D-497A-BB31-2158958CA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4" y="1507068"/>
            <a:ext cx="9038330" cy="4669896"/>
          </a:xfrm>
        </p:spPr>
        <p:txBody>
          <a:bodyPr>
            <a:noAutofit/>
          </a:bodyPr>
          <a:lstStyle/>
          <a:p>
            <a:pPr marL="342900" indent="-342900"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sz="2400" dirty="0">
                <a:solidFill>
                  <a:srgbClr val="99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Sender 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 the nurse, or parent)</a:t>
            </a:r>
          </a:p>
          <a:p>
            <a:pPr marL="342900" indent="-342900"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sz="2400" dirty="0">
                <a:solidFill>
                  <a:srgbClr val="99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Message 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(content, clarity)</a:t>
            </a:r>
          </a:p>
          <a:p>
            <a:pPr marL="342900" indent="-342900"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sz="2400" dirty="0">
                <a:solidFill>
                  <a:srgbClr val="99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Channel 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(verbal, nonverbal, visual aids)</a:t>
            </a:r>
          </a:p>
          <a:p>
            <a:pPr marL="342900" indent="-342900"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sz="2400" dirty="0">
                <a:solidFill>
                  <a:srgbClr val="99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Receiver(s) 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(child, parent)</a:t>
            </a:r>
          </a:p>
          <a:p>
            <a:pPr marL="342900" indent="-342900"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sz="2400" dirty="0">
                <a:solidFill>
                  <a:srgbClr val="99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Feedback 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(verbal or nonverbal responses)</a:t>
            </a:r>
          </a:p>
          <a:p>
            <a:pPr marL="342900" indent="-342900">
              <a:buClr>
                <a:srgbClr val="990000"/>
              </a:buClr>
              <a:buSzPct val="100000"/>
              <a:buFont typeface="Wingdings" panose="05000000000000000000" pitchFamily="2" charset="2"/>
              <a:buChar char=""/>
            </a:pPr>
            <a:r>
              <a:rPr lang="en-US" sz="2400" dirty="0">
                <a:solidFill>
                  <a:srgbClr val="99000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Context </a:t>
            </a:r>
            <a:r>
              <a:rPr lang="en-US" sz="2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(setting, developmental level, cultural background</a:t>
            </a:r>
            <a:endParaRPr lang="en-US" sz="2400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286" y="1994421"/>
            <a:ext cx="5604251" cy="3694658"/>
          </a:xfrm>
          <a:ln>
            <a:noFill/>
          </a:ln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7273F9-59F9-4FB3-9D34-82C64C4F8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Components of the Communication 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D8FF61-B8D7-4F52-8165-C133E2DF0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5930148" y="1994420"/>
            <a:ext cx="5604251" cy="3684937"/>
          </a:xfrm>
          <a:prstGeom prst="rect">
            <a:avLst/>
          </a:prstGeom>
          <a:noFill/>
          <a:ln w="101600">
            <a:solidFill>
              <a:schemeClr val="tx1">
                <a:alpha val="2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154C01-63E9-445A-ACB8-73C090B98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5930149" y="1994419"/>
            <a:ext cx="5604251" cy="3684938"/>
          </a:xfrm>
          <a:prstGeom prst="rect">
            <a:avLst/>
          </a:prstGeom>
          <a:noFill/>
          <a:ln w="25400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8" name="Straight Connector 8"/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  <p:sp>
        <p:nvSpPr>
          <p:cNvPr id="3" name="Rectangle 2"/>
          <p:cNvSpPr/>
          <p:nvPr/>
        </p:nvSpPr>
        <p:spPr>
          <a:xfrm>
            <a:off x="6638426" y="1994418"/>
            <a:ext cx="9378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446605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4" grpId="0" animBg="1"/>
      <p:bldP spid="15" grpId="0" animBg="1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D0896-0607-4AC3-034A-0A66F2848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AA9490-E011-3C14-1CC2-0C36B651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0"/>
            <a:ext cx="11587567" cy="507921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200" b="1" dirty="0"/>
              <a:t>1. Verbal Communication</a:t>
            </a:r>
          </a:p>
          <a:p>
            <a:pPr>
              <a:buNone/>
            </a:pPr>
            <a:r>
              <a:rPr lang="en-US" sz="3200" dirty="0"/>
              <a:t>Verbal communication uses </a:t>
            </a:r>
            <a:r>
              <a:rPr lang="en-US" sz="3200" i="1" dirty="0"/>
              <a:t>words</a:t>
            </a:r>
            <a:r>
              <a:rPr lang="en-US" sz="3200" dirty="0"/>
              <a:t> (spoken or sometimes written). The effectiveness depends on clarity, relevance, timing, tone, pacing, and avoiding jargon.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42F86A-DAC7-12A5-1214-EA9BEBB9E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1" cy="747763"/>
          </a:xfrm>
        </p:spPr>
        <p:txBody>
          <a:bodyPr>
            <a:noAutofit/>
          </a:bodyPr>
          <a:lstStyle/>
          <a:p>
            <a:r>
              <a:rPr lang="en-US" sz="4000" dirty="0"/>
              <a:t>Types of Communication: Verbal &amp; Nonverbal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D3F09461-EC92-30F3-B30B-0B17797E86EB}"/>
              </a:ext>
            </a:extLst>
          </p:cNvPr>
          <p:cNvCxnSpPr/>
          <p:nvPr/>
        </p:nvCxnSpPr>
        <p:spPr>
          <a:xfrm>
            <a:off x="604433" y="1432662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3960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F9EE7-3E24-8951-1355-D5818FC7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180C7DD-FB9D-3868-BCA7-5FA1C96E0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0"/>
            <a:ext cx="11587567" cy="5079219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3200" b="1" dirty="0"/>
              <a:t>Characteristics of effective verbal communication: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Brief, clear, well-timed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Appropriate pacing</a:t>
            </a:r>
            <a:r>
              <a:rPr lang="en-US" sz="3200" dirty="0"/>
              <a:t> — not too fast, not so slow that attention is lost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Avoid medical jargon</a:t>
            </a:r>
            <a:r>
              <a:rPr lang="en-US" sz="3200" dirty="0"/>
              <a:t>, especially when speaking with children or caregivers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Repeat key points</a:t>
            </a:r>
            <a:r>
              <a:rPr lang="en-US" sz="3200" dirty="0"/>
              <a:t> to reinforce essential messages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Check understanding</a:t>
            </a:r>
            <a:r>
              <a:rPr lang="en-US" sz="3200" dirty="0"/>
              <a:t> (ask for feedback)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Warmth, interest, empathy</a:t>
            </a:r>
            <a:r>
              <a:rPr lang="en-US" sz="3200" dirty="0"/>
              <a:t> conveyed in voice and phrasing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Avoid distractions, yes/no overuse, personal bias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Don’t monopolize conversation</a:t>
            </a:r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A7AB25-44FD-BB87-7BB7-E964CA917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1" cy="747763"/>
          </a:xfrm>
        </p:spPr>
        <p:txBody>
          <a:bodyPr>
            <a:noAutofit/>
          </a:bodyPr>
          <a:lstStyle/>
          <a:p>
            <a:r>
              <a:rPr lang="en-US" sz="4000" dirty="0"/>
              <a:t>Types of Communication: Verbal &amp; Nonverbal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3C04C7C-9A29-583D-8399-1664C392B534}"/>
              </a:ext>
            </a:extLst>
          </p:cNvPr>
          <p:cNvCxnSpPr/>
          <p:nvPr/>
        </p:nvCxnSpPr>
        <p:spPr>
          <a:xfrm>
            <a:off x="604433" y="1432662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442187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5" grpId="1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677C6-AF0C-C1B7-88A1-5E8C709D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6E4BFE-928C-C9B4-02F1-7275E9416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/>
          </a:bodyPr>
          <a:lstStyle/>
          <a:p>
            <a:pPr marL="457200" indent="-457200">
              <a:buClr>
                <a:srgbClr val="99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4400" dirty="0"/>
              <a:t>Nonverbal communication includes everything </a:t>
            </a:r>
            <a:r>
              <a:rPr lang="en-US" sz="4400" i="1" dirty="0"/>
              <a:t>other than the words</a:t>
            </a:r>
            <a:r>
              <a:rPr lang="en-US" sz="4400" dirty="0"/>
              <a:t> used: </a:t>
            </a:r>
            <a:r>
              <a:rPr lang="en-US" sz="4400" dirty="0">
                <a:solidFill>
                  <a:srgbClr val="C00000"/>
                </a:solidFill>
              </a:rPr>
              <a:t>gestures</a:t>
            </a:r>
            <a:r>
              <a:rPr lang="en-US" sz="4400" dirty="0"/>
              <a:t>, </a:t>
            </a:r>
            <a:r>
              <a:rPr lang="en-US" sz="4400" dirty="0">
                <a:solidFill>
                  <a:srgbClr val="C00000"/>
                </a:solidFill>
              </a:rPr>
              <a:t>facial expressions</a:t>
            </a:r>
            <a:r>
              <a:rPr lang="en-US" sz="4400" dirty="0"/>
              <a:t>, </a:t>
            </a:r>
            <a:r>
              <a:rPr lang="en-US" sz="4400" dirty="0">
                <a:solidFill>
                  <a:srgbClr val="C00000"/>
                </a:solidFill>
              </a:rPr>
              <a:t>posture</a:t>
            </a:r>
            <a:r>
              <a:rPr lang="en-US" sz="4400" dirty="0"/>
              <a:t>, </a:t>
            </a:r>
            <a:r>
              <a:rPr lang="en-US" sz="4400" dirty="0">
                <a:solidFill>
                  <a:srgbClr val="C00000"/>
                </a:solidFill>
              </a:rPr>
              <a:t>eye contact, touch, spatial distance, timing, and tone</a:t>
            </a:r>
            <a:r>
              <a:rPr lang="en-US" sz="4400" dirty="0"/>
              <a:t>. Many theorists believe that a large portion of meaning is carried nonverbally.</a:t>
            </a:r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3F4D6EE-E79D-D8E7-F519-A71DBC885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Nonverbal Communication in Pediatrics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A242EC65-42D5-E44B-DC9C-471331ECE1C8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931326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F2CE5-7B38-CF7B-2FDE-B0C8DD057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DA8B73-55B7-FFBF-5179-240899C27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sz="6000" b="1" dirty="0"/>
              <a:t>Reasons nonverbal is powerful:</a:t>
            </a:r>
            <a:endParaRPr lang="en-US" sz="6000" dirty="0"/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 dirty="0"/>
              <a:t>When verbal and nonverbal conflict, listeners tend to believe nonverbal cues.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 dirty="0"/>
              <a:t>Nonverbal cues often convey emotions, attitudes, and relational messages more than the words themselves.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000" dirty="0"/>
              <a:t>Nonverbal is continuous, often subconscious, and cross-cultural (though interpretations vary)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128371-3E98-B496-B72D-CA7F5EDAF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Nonverbal Communication in Pediatrics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EFCC0103-2171-991D-1E02-B5AB5D2A8545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558310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2E611-C491-63B5-5228-BCBA82DCE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5595AD-58FD-EAF6-497F-14CBACCE6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4" y="1836620"/>
            <a:ext cx="6116407" cy="4572752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Spatial relationships / proxemics</a:t>
            </a:r>
            <a:r>
              <a:rPr lang="en-US" sz="2800" dirty="0"/>
              <a:t> (how close you stand)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Appearance</a:t>
            </a:r>
            <a:r>
              <a:rPr lang="en-US" sz="2800" dirty="0"/>
              <a:t> (clothing, grooming)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Eye contact</a:t>
            </a:r>
            <a:endParaRPr lang="en-US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Body posture</a:t>
            </a:r>
            <a:r>
              <a:rPr lang="en-US" sz="2800" dirty="0"/>
              <a:t> (leaning forward, slouching, turned away)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77643EF-AD36-29BF-91F0-365E69468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Elements / dimensions of nonverbal communication: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DC45E52D-00B4-9E9B-036F-D203A30222B8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  <p:sp>
        <p:nvSpPr>
          <p:cNvPr id="7" name="مربع نص 6">
            <a:extLst>
              <a:ext uri="{FF2B5EF4-FFF2-40B4-BE49-F238E27FC236}">
                <a16:creationId xmlns:a16="http://schemas.microsoft.com/office/drawing/2014/main" id="{87E7864C-196C-1D58-4401-F6846DC8FF5C}"/>
              </a:ext>
            </a:extLst>
          </p:cNvPr>
          <p:cNvSpPr txBox="1"/>
          <p:nvPr/>
        </p:nvSpPr>
        <p:spPr>
          <a:xfrm>
            <a:off x="6520815" y="1659285"/>
            <a:ext cx="5320665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Gestures</a:t>
            </a:r>
            <a:r>
              <a:rPr lang="en-US" sz="3200" dirty="0"/>
              <a:t> (emphasizing, pointing)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Facial expressions</a:t>
            </a:r>
            <a:r>
              <a:rPr lang="en-US" sz="3200" dirty="0"/>
              <a:t> (smile, frown, raised eyebrows)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Timing / hesitation / pauses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Touch</a:t>
            </a:r>
            <a:r>
              <a:rPr lang="en-US" sz="3200" dirty="0"/>
              <a:t> (appropriate, comforting)</a:t>
            </a:r>
          </a:p>
        </p:txBody>
      </p:sp>
    </p:spTree>
    <p:extLst>
      <p:ext uri="{BB962C8B-B14F-4D97-AF65-F5344CB8AC3E}">
        <p14:creationId xmlns:p14="http://schemas.microsoft.com/office/powerpoint/2010/main" val="918329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318DB-327D-62FC-2F19-5295B12F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2A072F-2E8D-BEDE-CE9F-87A014F42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011" y="1196391"/>
            <a:ext cx="11355555" cy="5450069"/>
          </a:xfrm>
        </p:spPr>
        <p:txBody>
          <a:bodyPr>
            <a:normAutofit fontScale="77500" lnSpcReduction="20000"/>
          </a:bodyPr>
          <a:lstStyle/>
          <a:p>
            <a:pPr marL="457200" indent="-457200" algn="just">
              <a:lnSpc>
                <a:spcPct val="120000"/>
              </a:lnSpc>
              <a:buClr>
                <a:srgbClr val="990000"/>
              </a:buClr>
              <a:buSzPct val="75000"/>
              <a:buFont typeface="Wingdings" panose="05000000000000000000" pitchFamily="2" charset="2"/>
              <a:buChar char="Ø"/>
            </a:pPr>
            <a:r>
              <a:rPr lang="en-US" sz="4400" dirty="0"/>
              <a:t>A nurse enters a child’s room to explain a procedure. The nurse sits at the child’s eye level (nonverbal: reduces intimidation), uses a soft tone, and smiles gently. The nurse says, “I’m going to check your breathing for a few seconds.” The child nods. The mother asks, “Will it hurt?” The nurse pauses, touches the child’s shoulder (if acceptable), and answers truthfully, “You may feel a little pinch, but it will be fast, and I’ll be right here with you.” Because nonverbal and verbal align (gentle posture, reassurance), the child and parent are calmer.</a:t>
            </a:r>
            <a:endParaRPr lang="en-US" sz="32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760EF17-1766-213F-BDA9-A3DD1E459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Scenario: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9CA110AE-4A96-4DBC-8CD6-B590C4E76800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500145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F7FED-1512-2D30-C4A0-CED3BCAC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83EAFD-F342-75E8-979B-9124AFFC6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 fontScale="55000" lnSpcReduction="2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Infants (0–12 months)</a:t>
            </a:r>
            <a:endParaRPr lang="en-US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Principles:</a:t>
            </a:r>
            <a:endParaRPr lang="en-US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Allow the infant time to warm up to strangers.</a:t>
            </a:r>
            <a:endParaRPr lang="en-US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Respond to the infant’s cries in a timely manner.</a:t>
            </a:r>
            <a:endParaRPr lang="en-US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“motherese” (infant-directed speech), a soothing and calm voice.</a:t>
            </a:r>
            <a:endParaRPr lang="en-US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Talk to the infant directly (even though caregiver is present).</a:t>
            </a:r>
            <a:endParaRPr lang="en-US" sz="5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A226B66-B104-C8B2-60C0-03EEA26F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Developmental Level Communication Principles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8DCF9739-77D5-E0B4-D749-7AB6EAE69A0B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72270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4DB5B-18FE-274D-DA91-A10F9928D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485825A-6182-F886-FC78-0B3897C4A0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 fontScale="40000" lnSpcReduction="2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Toddlers (1–3 years)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6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Principles: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Approach at eye level if possible.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Approach the toddler carefully; the child may be fearful.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Integrate the toddler’s words for familiar objects or activities into care.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Prepare for procedures right before they are carried out.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dolls, storytelling, and picture books in conversations.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6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Stand at eye level (repeated to emphasize).</a:t>
            </a:r>
            <a:endParaRPr lang="en-US" sz="6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BE6CE1-3541-3142-6292-7184B739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Developmental Level Communication Principles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02D29A95-0E0E-A9D0-1E69-45919E740915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3447814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4AD05-176F-9ABE-A2CE-52C02FC0F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97EF6E-0F32-F374-FBFC-5A20FA65B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 fontScale="47500" lnSpcReduction="2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Preschoolers (3–5 years)</a:t>
            </a:r>
            <a:endParaRPr lang="en-US" sz="6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Principles:</a:t>
            </a:r>
            <a:endParaRPr lang="en-US" sz="6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7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Allow choices when appropriate.</a:t>
            </a:r>
            <a:endParaRPr lang="en-US" sz="6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7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play, storytelling, puppets, and third parties.</a:t>
            </a:r>
            <a:endParaRPr lang="en-US" sz="6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7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Speak honestly, use simple language, and be concise.</a:t>
            </a:r>
            <a:endParaRPr lang="en-US" sz="6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72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Prepare for procedures 1 hour or less before they occur.</a:t>
            </a:r>
            <a:endParaRPr lang="en-US" sz="6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A2AF68-1440-4AD9-17E3-3BAB3B13A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Developmental Level Communication Principles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CFC4D949-6EF1-1808-B98C-3B1465DB6EDC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855528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A5BAC-790D-414D-E4E9-13316ADA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DE22D3-80E7-2BBC-1924-DCB3A9A3E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 fontScale="40000" lnSpcReduction="2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School-Age Children (6–12 years)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0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Principles: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books, diagrams, and videos to prepare for procedures.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Prepare for procedures several days in advance.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0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Allow honest expression of feelings and adequate time for questions.</a:t>
            </a:r>
            <a:endParaRPr lang="en-US" sz="7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EADA1D1-D02C-B02E-40D7-67A3F1B9A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Developmental Level Communication Principles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65C10BA1-C8B5-8C83-4D2C-02F46091FE5F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1034054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5D1A-B7CC-1698-3E53-55A3D0AB8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842D6C-13B3-1DC2-AFBF-0EC157322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3" cy="4572752"/>
          </a:xfrm>
        </p:spPr>
        <p:txBody>
          <a:bodyPr>
            <a:normAutofit fontScale="32500" lnSpcReduction="20000"/>
          </a:bodyPr>
          <a:lstStyle/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96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Adolescents (13–18 years)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0" marR="0" algn="l" rtl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88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Principles: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Prepare up to 1 week prior to experiences.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Respect the adolescent’s need for privacy.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appropriate medical terminology (but explain it).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Use creative methods to explain experiences and procedures.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rtl="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8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Respect the adolescent’s right to refuse treatment (within legal/ethical limits).</a:t>
            </a:r>
            <a:endParaRPr lang="en-US" sz="8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708074D-27CC-B49F-B11B-278A4EB08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Developmental Level Communication Principles </a:t>
            </a:r>
          </a:p>
        </p:txBody>
      </p:sp>
      <p:cxnSp>
        <p:nvCxnSpPr>
          <p:cNvPr id="11" name="Straight Connector 8">
            <a:extLst>
              <a:ext uri="{FF2B5EF4-FFF2-40B4-BE49-F238E27FC236}">
                <a16:creationId xmlns:a16="http://schemas.microsoft.com/office/drawing/2014/main" id="{4F6AE981-54B9-A648-38AB-700AED81A30E}"/>
              </a:ext>
            </a:extLst>
          </p:cNvPr>
          <p:cNvCxnSpPr/>
          <p:nvPr/>
        </p:nvCxnSpPr>
        <p:spPr>
          <a:xfrm>
            <a:off x="604434" y="1196391"/>
            <a:ext cx="10983132" cy="0"/>
          </a:xfrm>
          <a:prstGeom prst="line">
            <a:avLst/>
          </a:prstGeom>
          <a:noFill/>
          <a:ln w="28575" cap="flat" cmpd="sng" algn="ctr">
            <a:solidFill>
              <a:srgbClr val="9900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388668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4929" y="265471"/>
            <a:ext cx="11691257" cy="207390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7" name="Text Placeholder 1"/>
          <p:cNvSpPr txBox="1">
            <a:spLocks/>
          </p:cNvSpPr>
          <p:nvPr/>
        </p:nvSpPr>
        <p:spPr>
          <a:xfrm>
            <a:off x="3959352" y="1088148"/>
            <a:ext cx="4415341" cy="7680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Thank</a:t>
            </a: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 </a:t>
            </a: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Light"/>
                <a:ea typeface="+mn-ea"/>
                <a:cs typeface="+mn-cs"/>
              </a:rPr>
              <a:t>you</a:t>
            </a:r>
            <a:endParaRPr kumimoji="0" lang="ko-KR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1497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F1511E2A-0098-47A4-B460-5937DD5B738A}"/>
  <p:tag name="ISPRING_RESOURCE_FOLDER" val="D:\WD SmartWare.swstor\DESKTOP-VOC5JHK\Volume.2d9d2026.0000.0000.0000.100000000000\Volume.c170ae01.b13c.11e0.9df8.806d6172696f\Smart\college of altoosi university\1st Year\1st semister\NUR101\Topics\New folder\Communication_3\"/>
  <p:tag name="ISPRING_RESOURCE_FOLDER_STATIC" val="D:\WD SmartWare.swstor\DESKTOP-VOC5JHK\Volume.2d9d2026.0000.0000.0000.100000000000\Volume.c170ae01.b13c.11e0.9df8.806d6172696f\Smart\college of altoosi university\1st Year\1st semister\NUR101\Topics\New folder\Communication_3\"/>
  <p:tag name="ISPRING_PRESENTATION_PATH" val="D:\WD SmartWare.swstor\DESKTOP-VOC5JHK\Volume.2d9d2026.0000.0000.0000.100000000000\Volume.c170ae01.b13c.11e0.9df8.806d6172696f\Smart\college of altoosi university\1st Year\1st semister\NUR101\Topics\New folder\Communication.pptx"/>
  <p:tag name="ISPRING_PROJECT_FOLDER_UPDATED" val="1"/>
  <p:tag name="ISPRING_SCREEN_RECS_UPDATED" val="D:\WD SmartWare.swstor\DESKTOP-VOC5JHK\Volume.2d9d2026.0000.0000.0000.100000000000\Volume.c170ae01.b13c.11e0.9df8.806d6172696f\Smart\college of altoosi university\1st Year\1st semister\NUR101\Topics\New folder\Communication_3\"/>
  <p:tag name="ISPRING_ULTRA_SCORM_COURSE_ID" val="1A4C8347-622B-4B83-ADD9-326D55369637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ScV0cjtE77+wIAALAIAAAUAAAAdW5pdmVyc2FsL3BsYXllci54bWytVd9P2zAQfi7S/ofI79gtHQOqBMSQ0B7GhNSx7a0yiZt4TeLMdgjlr9/Zzu+lbEh7aJWc7/vufPfdxb96zlLviUnFRR6gBZ4jj+WhiHgeB+jh6+3xObq6fHfkFyndM+nxKEBlzg2ApsiLmAolLzSA76lOAtQzYGBGXiG5kFzvgfsUuNtIJ0v07mgGLrkKUKJ1sSKkqirMFSDyWIm0NCQKhyIjhWSK5ZpJ4tJAXoNd6b+j4ZeJnOh9wVQPWei3B65JWo5nxQck1RILGZOT+XxBftx9XocJy+gxz5WmeciQB5Wc2VI+0nB3J6IyZcrYZr5Lcs20NklY28zXK744zz0lwwA5h03GlKIxUzjNY0QclkyA/W1KVVLzqAGt4VU7XvNav4153zRutnOkcy7Kx5SrBI76kM46CfTJMKqf2etaBT00Cro1TMiT7FfJJYvs67dWjPMFcgFbxdk8sapCOICnWxpqIfc3AAMV1R3EbdOwaxq2oJYDt9HXHQVqbrtlVJeSNaWa+U88YuILlZIaWVxqWTKfjIw1lgzBPnFXrpvUNcRPdJae/kNvjN+oNT/Va52xgP/RmE9A1NaE5xF7vuXgo1kGNdUMim1sWBcpNjG7nFT5mPV0PTC5HOumwEU8TWXMYAwjqinp7OQQlEmqwCUs5QjbOzgITnicpPDTkwzj04M0GZW7SYbewUFwKsLdBLQ1t2Uk4zqOxNQqyCcT68QPS6VFxl+sPAd7Rq+sDl8buebouuDtwdn8j1EcxGgGc4smVpd56u2r5vDezKlWnc+mcJaBWmEemC4L59XMQlmMfCK2pWWqb/o5NfuwBx3lPDUd01zfQe+iWvMX5lU8Ml+6xdLUJGFGMwH6cL7sMUA/YbsMwlvToYhbkTd1wJjYN/dvK9ps+bp1ruuHOuxDDZ84qxzGzdRHUEcsRZlHox7iovuIqBR22rVk1EvZFm60OAGRiiJA7+GhvvPF6UV35bPFRYO1ed27wC6XN6z0OuFOQaTWdXsRv94N8PgbUEsDBBQAAgAIAEYdIk18pNONhi8AAH5NAAAXAAAAdW5pdmVyc2FsL3VuaXZlcnNhbC5wbmftfHlYUunfN5Vl1sxUWlNNpi2ImVvapJkKLTaKS06WOuZCM2pqiqSMCypS1kw5lRsKmQttjuVaLhBuVFMhUWI2SoqCJUguSIKCgMAL1jQ1v/m97/Vcz/O81/O+1/zRcu7vOff9XT/fz33O4WR+e8D18yVfLQEAAJ9D3Vx8AAAdPQBg/oXFizQjmRWvOjX/zEP6uO4F1HQYjmgOdCL2eO0BAO5kL539fqHmWO+EWwASAPjiN+2feVTEzTAAwMsA6rLncHKIYECY3eAfDDmhAqkAakAe+LnOuiGDFxGP8137Dp/bggNkHgHucMsF6Jkt0YdDN5w57rX8SOiCvuUNfXs/W74V5xdj1vClVIFeJjUr94eklvT2DihKkc/GSlrqtjNryccS+f2p7O310qKOptmpcohzKq/AvyMkXcYrMVbPUDW63fu5wQEzrB6ZJ2/x0w8Lb9yuGbsdPLLgSKLJ/cratiOxizUDMbCUU8HQtxi1FMPTGn1vxA3yFmSsPRfQtaxlxBQig5L1NQc714/osg9Xa8cPZOcNLuZRrs2I8JSgmlBFmnoe4GTgfuiJM5763kVCCABwojIICj3BQUtbO1a3vV2ILfa4uxb7sDaNZ454qxRiKP2JS63i1UaY2ckBCWd22J4+zRQcS1OLnZRPI8CHaugicc9F7l1/5V1ekHyyLOkNys7hcbUcvABwz6YpL2/wGSJd3MviqCTM9DgMi8VOTKSuTxo/zKqfOOapr+Z6q8L8h8Nsi2sJs1zTJHpp8uvMeEXgqyGNXwq8BuM5EoeepDZxyQAx0FpPVHwxPC5vLCD9DdJeETJNlprcD2SLcAPkxjG8pV7NUNo8wNFj/n76FpjnHWFD1Qj0WOz8PuuI8WMFOnToiSUZnk8V4aSuNgMFejy1Kgb74MaRpPr+qrwNDAYP6MhkubTA2mrHSn8kZVw5krTYZB4A0MJuLNDJhbopfgKH37eefWA9Trzo6dKXGIAfgwdD4mQvqWBJn6jd8cu+piAhgtTadIle6NkibRUOwLGsZ3V2847T+9rOlrISyL4me2oiUFakpDVpM78Zsy09RrDh5P4wNMt+rI8ou+zPZTU5HVOmCwaW9JqWuaSu3kep4ZSX8PvicPzLvFbVTvJsLyNd0jjElagVFLXic6k16xghsf/uWpMnz7bqifqP4OYJUC+sGcgK5Swf1VUa6kCNwfNRjiFtRCRDas4iCQ8R4dRMSVBFFpZXEMOMpeCTrH2pWWhqjmqNA36Ur8kv4sQRcOxy2U+OBmfsbOguzYTDkoV7exphoyxWifh8quQZjxjcM41VEIOtXJsFQR1h1+BFQ1wisrVkX2xtwbyzxYEsyS6tPwmtjNAXYa/7J6KLtkVk4BPIwkKLCNuSadnlaXiwFT+6RzlGUY1NpFhFqFUFsqpoahQpNzwAL6Y1EeGO6VZCZHFiDbwoBFMV1IF+Jjum9pxFsgLwcLnesZ5wViKl3orE7IGdLfLV59rJ+ZFtw3xnuniWVhfUIb4qwFN3KogJ5GKfqyUIx1ij8nFm1kANaaiBH9qm2x3XcahAxyFR3d9h03cHqXCQRH5Gs+lLXk6/pqOplEcFOB3Zo12Uk64hrdHYx3Z32q2HvFh2Y2I6Kn0jgnLXXvYIzJqmxzsvdLEihRITetu8FsW3EIPDKLw7dcKr/MSSWD/o7XxocqrubtAD5Rln7Jsqxo1K2sMKryv1GFCUIJUdhsZJFby7guwFw2vgrMTiRGd8vRJMHWE0dhlXUgyznUTt0QZqCwQ/n462WVFd/AYf3FgUoM9FsULIDObseIQsPqMfJM5F11cFdyBvwvFjDsdKIUrG3tLzAeysFfDim1nI0mJmHbC9zm/512bA+HFNgP2+DlPwGNsAgOK8aNndPaAFysqf4fo5sGF8HRh7x+5OJPbC7DW2t7woCKGwRJA4YNaUwqrWXpO3op3+I5riUbqgohxOIQwmLcbCM0qmzVbb5jLiWFxner1XyEXYBF7vlchuk0KKZzkcaz5vGHEL0iNqi1C38ywQ1FFr+4AewlDC3UKTPSCmgHy5FuVU36LJ0Qhng1GJIQ25BV9f45zUZ7OZiSxWrd+Ziw581UO300QKi8YxhiwCwSHw5l9h+LEAAp08QER0mPBLwx2Y4ZMaaCsf7FOB9qT3xtYOhr/OhctpCVYkdB+TWNX6YE1hPgm9iRpDx5FY3otx2EzPH3G1W46hQfPfZalhKLSTDe1EYKlA3m72vM6sgnBZOn+GXPz6yio9Lwmt6Xy+zmrnDh9MFQ8NqQW2T+IxpzcIgd9ZNR+3rwdG4sVO7Q93MutbvK4p/Ac2ZycREaxGupdjLJfcZcQfleEJ2KpaTSR44l3x4zwpZMgbJ3D8mevURx5uqfPqoHCWadLtvgZbNMVGZ1XGFZ6colRJsT/P2rK9N/RV5gjWwOfnwNj18OZqw+tea/qaxO4ZhpvH6oOb2aD9Ggua09dn3QG2c7cpGqjWj3azbXKgSNCLAKaKuJtlxwpTxODhdVYwJJqQd6V186ucIYtpKYliyNdg2d4rys/4Tj75DfBa+jMrPZG4lCD2Sw9HmevV1WBiufGSZ0Olgnhy9XleHCtOdEnCoKQ9m3Ziv6sceihpzIFqCKHGcl4kNgsMWbLhNpI4iho5tECbXOZmeqLzqYqFrXhYy/aD7bwqBIJ3Mf11SYLsp5bqMVOTwis8vJRYo6zjSKLH6jCxtdWMSQV8M/Z8YnEMp0PWiWy2sg/Nu0T91euuOZlD959g8Se302INZohWeFZTZDY8zGcAF9E1EEtquqhK7QGpq9Putsfh5IrmFmEvpQSBk1KfTK9cIEh0JSFXxT6WUjAdww64MXhGMU/gkEMX8CGMRklxhyw82HzeZdXdwhv8FPOAnlIMfai4PCWEiqJmNdrcgHAMm+FYgSJU015v3c3LO1mZsB2UaWjNwQAAg34H9Q03Yh++GFZoAti/1T1jc1hect/ftdQtGmoCOLle20QAt68DtZ04MV9H27Oz8rQHLw9q+zTA0X2+5u+jfC+YWs5kaEf+/UmuUO3B+H9k5ku/H/J2TpD0IxklrTOvz0ds2rR2qS0oLObm4wto7TxH93JmHtvPEZF1hxasyCWYhu57fO74+BrtHPfOpGtb1aUvzp1rsVm7ueJOqItWAwP9FWvLvnL8Rrvmto0rcg/+I/gfKshzED1Yal3sPDN4OiJJw+86BCROeiILTlpfUHzIkVIc3RFAzP0QbO4MliYpSWIHHHiaHdARcPD2xcOh1HPalAIBqYRUYSup+AxjA99KXP5hMQeV4ZDrUkkBEgJcBpl9e9Ej/rNbj7NWaFPT0y0L0s1NBa32WpKxT4Id89iReOFdxsXPBhxoikDmNmQMXlPQpn/9aLYpg4kQle4pUw0JfOxHsvKGKKcmgiqQF9AvVuus7vWugXS/tLmmyfiTerTJcsJOaZZlt8NjcMCXOooJU3vTj4QRDqjYOeEW3z23GenxYp+L6zfPFUSOIaZC70fDQM2sjcX+y88Yev/priHvHaeyQj0SsuJCepZk5AxBP9L5FqgzLuZWh03FhX8nwfWWb1jsUPqx047PX0/FjRpeZ7Qt3NM+eeMjSw8bvNlJPMxfY7nabPHerI9VL7+8m3qnbBfVzerIv9PObc/yeKdPHK2zS2ttyM9/ez5+IxX7UZQPeV0ZeulTMhT+txolr/2PTB0nbJXi6K7c5L/zLzfn2u6/NS2SHHlww9/pFDpFdvs3Eot6xL+RHO4t3/L3Eemg3/w3kp46v5V/H5Drxf7/RqK4sXXJp4bisPzh+7rGLXceVTN+WwYJKg0dLwr/i5YvvIsjfsyd2n/qU/9BXpU+3//il/mf5oujsEX8uYEwgNu/DPpXma5R8pXik/9SgC1vHyyNSOqPc3XQgxxz4Bc3PyV8WD0sK6wOzXCW5mMnQ/ORvstj/gxG5rkLf1pyrn3L/xeCoOBS1HBhvRY+Pj+w0Vrjmom24egCIrg3yfFjZ/rjNc4cHCeyYlNPO07cHRofKSe03emOM+GnraJxVRIWApL69r4uwgKFjnfUAudEvBFW/MtJC0aKQ83H0/jpT9G4DtghzyvZNv4OGylSdipjokXcsY4ZQlhpooXECVGfo16+DrXwz5QY9SnQoV3PBjcFliYZcDfrabZGAURE7U1+dI19b42Jwej4ix5L05fKppY8Ti2CenwM2WxJLhUfZwGj+bksGjpyDEdrMqzlmNJsFHlhqH7VJcGd4zQ0DX18LPB5ZxeHFJldHgT/M9kqPUC3fKE5mXBcxPx1KF9n0RenPX9hceUqhZCz/no1Aqts2YXRZMl4T2OSSUNC4W5+Sk+4OqiDaOkQy03uBY0FHuzssIdt7zUqcY11ZIobKRfBDsxxlqlwW7tNYPw6uC0BGaVoYD2V4/oPBBKGwoIVbvs6KktCe0gKgmKjf9FHpudlHi/6UWobB0f8xuDuZE3V3tDQuR5SQyYiT8BycaaJDE3p8ePp80uHjins9BD8F3lwZKplAMd2V3YVwwVtaeZS5+3hSFWpJHwm/kvokpOJBwR3Rpn8mV5TajAbD+Q3BYHw3n8WfAJNZwe2z9MnNYANksFfs8oFWMFlz556CxrT84K4IgVEo4eG1/ULi+DiHTS53Ubvupb19iOMcII4kupsXb0ysnaYn6ZgefQ5NO4NLSRakAroShm3jaisFN8ygpHTPvZy0e81ZZcfDqeEXBWa/parl+hRFBPBavEhDDWEWkrPV3nUtQUfqKshNEj5GmvQ7hk31Ml7JCNC166OWyVqW3hAbGUr9nuzhafzBof/bOfkprAHuy5f8cO+9DyDNxhpeQS2XRty4Mx2h47mJX3mk8pAGbYlnNKaR5hW4HQ0+TEeqM8lspr1RAmFiQdQzPuiWRbaPd5K6bo6bxyLbGeuXEHPhhxWtPMOfVQ1X1jq1cHUXyrTBKZdAcyQQm/RipN2AYyHzsz64DxoPBHBZMUdqePUAd1udYI4/BLXOgQ0pyHbbIo/0GW8HTvbLnCV0OVAJhKMXpETf6MEk5U7LfjObI2c+k2N1Z/4321iMJU+P8TEQHi8yDNmu0OWZ5rCf6reO2Q9YkwBPQHqKtxJSuit8RJh+/0wzlSB6UThyYgiSeypRnF7unK6kZvsMCEK/gKKOUAXw8A/99as0s1N6C03IWHFT5v6pRX5OfTyfxjgP4L/vSBl8tFqhOcCFxf2pQsrPiSn8/TvhyJq2+SjF0dOnmtnYO9sDHX5A0Z8vMEybq+HdeuPoUc2bIonrjOwtTsc+hj8X7pTe3+RgWLYnoKSzIoZBO2GzVEkbxE9Ma91tkMVq4Ygqutphtav71CNHBVT5RB0oqY1lSifGyuf9wYnDTQGkDFeE8iJ1OlLt9fPlfZhUGv85OwMFQJOHb1V/oT6I/e6sTLSoRC8SphMdUzM3jP98vbnc2d2am+xrjsU4gA8u3Ihir97Rxx4P8p/z/QaG8gcEdyCDSIHiQ6eQaQNreMNNU9dXYa+WWxBqGOgJ5C80Ef978HqMnfzuu4hVurMq7N0qOgW3XVZBfU82ew9FqNENFM69W6v3Ni05YKucdrttKeX8H+00ln02VGbrNkd6uPxTxnc0DXdQ49b/oBALsW1ymho57T62VFjmHLUn07Ncng/aaODcLOuMIXZ/CTTBsLfrMt6F871lyM0VGA807T0JY0H1jKBWNkLbwg6lMaoCyqtFawpiOHERqDWofsklvQxSz7cP6C5tdFJMV6PSL6wTHn6JyFGrUhC/IbhO3LITFGyMJXTHLi6d6IloaCKYVOZ4IUpog/xUjCpqwsovbfTxt/b8eNzbjebhaAo57hFiUJIUT/+ElKUFtE7oKER7xdX2uDqlAuWOd1uLq7ll8E5XTUR8Wx+i2BrNImEm006R6fuNHhz3Mep60k+1RjTEsQ2tscTUifIAyIwWWl3R/16NSU5NKqkihHX0xW7/ad7SRTFwDoPTKk3evRQbcmLjSLSOly2MdJnruVa5a3UKdxdDmwHNkWV7SnKFwbqhykSL2hYTyhpgp0qRMMDQp4xmBYMpjhv+nlXDb9FFHsGJyZGk5h0stHl8tKU0YTsONV5yvG9Tl0Ug+vWOjiTPWybTlGZNTrKvjfbLhNhso+IGOuzETVa0uVuPjsbeK0ayPZza+CRL3LL8CFNvzsu0agkp2ah3sVMATKQ+C1ykr+5bo9TWZBLeYVvTDXNC93XvASHFXu+rHeCMTx6XD2ajZSOhh2siYoXGO6GR+471rJdYfphDyhBbPcMv0U3NkSyXEBjhQ2m9MxUkATaJqEHQnNYb/BS+aarsFJFkRJnjLx7blbws+Sljf1cEkdyGpJWNGw6Wig5cNJTP7sMGMn/XdV2D8Xi2eGtsKrNutKBJJiDZhnzBX2VEkH1LBraSTl/JWUhpfWBunPfstZY2U2g22QOvdVOxqCuPiLrZMflTONRunushdtGMN8UYueSoAHRF9Z6edBUCYRUwBmBpUGu0E72q85YoSbEeC9wfI66q/ayjrCyYJ6Zrq1ZtmenIm/DkYrQYv9FF9wztpIHiMFLTo/NFOnkIm+m+xWefz/nMQu9PE0SRCSRVy3qThQUp2qnOlGY/ZULbBG3BAAF+5zY7p7RmKRvQWI0r5I/2EDHsYIPL8GN8gtQ78iQ4levOjzms220aYl0SR8GeYlO/Va/gVLWCU45wU70LyGopsqbtboBhJXWC+JbvR6yqMvqnIQWkbdAfMEa7XMqGCntsP6U8Kvvntj1IlBPV66hiTChO10+XmU1tCiSj9nwBjsWwPZWsXRavHywxOAdryg1eRuiqGvgSd0BB65ZHw/Qb9BL8whkqyZ2u5+RcNZ/w5YTNIyigRdXmLdBWlkGiU0l7UuvkQuW5WaEy+qfBM1hwdXzQAOqJOuUZp+EtL/DYAYxRG3LI7Gqdp4qZTpRdRD6LQ0MbWbXtZQ2iKuIlQ2hMBAevR8doO+S2giOom8/KOSE5yjlwv3TSfO/MbmPimLVDrDD6bnDGkg1xxwrPP1HFQ/pKM9QvG7ijfe44QxmPX+vzNhAw/heGprCPgNiRsB0cwHFPoYZiGNi+ydQLF+5etdkJ3fV7HFRc61EqiunLMzZe8XrCR6z+Yr18jzPwUrK5uVmX8RfCD+VI2BNmsMVxa6puvs8fjlduXXxay0my7bTDd+jHTuId0P2e8tYsHDrB42AzKLKmc3p5RZC4K30WIf098QNg8N8naPkIYCHISTDd0DtVgPBTK7GHDxwcm0q1ZF9UNUfP/t+YhV3mcrX4KhETGaga2Z7eXffQyhSVCptKS8GbB/erPseNbjDQLXz9zvmHYPMwS0BlvUep+1NNRuFIAdZOGQZeOaoTEyf/OMCnrd6ypuuty1UW0SfCCapxtam98aprl8M/7FnsxC/Pm89Ad4k/v2Qd8HQu06q7dJikYhuTUAPreNsof5xC8IlzBIy+2oZ/b+BChyhm9e2xM81W2dpPzJCLSOo9WI8S1moLD65Dfdh39IjgqmnYREQ+fPsd7dKPVzCPGhIR8akE5P5YfvZeUTkfv1cDOQ6P+XDBiT6oP654rmV73UcydfZVD5n1O36L01OtUfNKTFetR+6If6rOSbg+NfTqQTtQ9EIb6fJh70REEUvM+3VUtjOVE0fRcTYzHGIlwF03wIdjnIiCYY0x7IYZ9zDzDVWyAj12ejx0AgpB4MZsVaLrBExZKN3S+Po+TqFFzA8c1iv12HbTFqYCUz8C7/aDXTIAZ+2qnevyJAu3gphZkNUM2NLbs8W8wd0AqTtm7P7v0tJf6+Z1SH9G5+1A8u8QbaFDf2/JK1MGwvk9BWs3BQITQWX+M+fMnnwxqFcy3cSe+I19Uw43+Goh6OJVPVdhS1hdQZ0xrf87k6ilTzzQE+4gogJxGceXPILbzLemaQcr2fgqAaFlsuc3t6rmRnl7Lntmf5YirI/9d7acA40hwZtK7XPhGbmZB4oaohQeL4OFG2NDAtmEU2ozx6aYm94qg59FbY3X4NAWfik5cBeEPU4CT+20TZaJG5lMN6CWdrMP1nSGPQr0E1Ogd62WGqLYjSpEDphCsmKn1qWHpXF/eT5llWpNpsf3yoghPITj5jlcNcIBj4LYFqZClb55QbMsbma/iNWgfpAgUBd2MkvmJUcOKXyVYIMCtNtsZlpFDC2xE8/TK0a0iEXh/v6AMM4quAlDmwU6/zTnNnZYX6KYGhR9YWxpXVbtelzNMLyLE6n8KRUuDwyynihm21clPHSN9PCle3ALXTb51HGMDdbsyMHsuqUKIOr44S917yfnHv+EMq9hOV/k2rkSxNfX6WH3uO3/11O8TrzNmDzPEfxtDNlXpE448/bz4CwpflLu2+Ax/qaP9MoowYH4OFH4ostoqnBB27EZykF559e8pvfQJjG5c9HfREeHNacrrT9SLOcCH1CNiBsr7GgBCAomS9LXQB/rY8+lQOvx6ROb4fVI8znyR9cMREuiXy013xx3yRu4V7HEEjUE7IfdVxKl/Qem6qoan/mng4SBx0Pv3e58druP1U1yPVbOWWQz3PUldO8IGu96zQpQUv55bRk4kwMS+2cccNrkAV2SCxazos3N80rdjVffiT+Ka/OsBbCNwwNAJ4z3CdCXiY8A0HoqKwpxv2dtVu+fVdPDg3A5blDbuzprtULlY4/yre8C/wWPZdhb/MlHeaL9f9D9fh/Kl/UBJnfkT513XjgLmhToGfpEKqm9gP0XG3UUvkIjlolTaq1nc/K5yeXjkX/ea/VJSz/A+K4uHzzP1DwDWqkDN+hGkaohscZqnFGh2pwmWpwfL0wWXcb2QkvLu7QYuLH+FrPAKcmMoOTSgZQ/JJ73/AcSvnyIx/JTcGTmfE+82I8PvZEpCV7P6B8I2O68cO9tgbccdt5MS8+utRjRy6AGGX5YQNXXXbZ7aG16rV1XVy3tAQe+OfzhuhbIP1cKHdZ+tsFdqNXzxptpQhjWJ/OtNjkPtFM78CLf0b/Gf1n9L96NPhX4MxDU/CdQ9WBchJGQbJP5ua6hgSS+tO5C4xndpNnncjV0lYhupnOH2Dvn/BGagCjNbE/Xc1RDnAGAqwgX36MDd0um/J1WImR0LeFjLRjUuQcnQ2i5If9wInGjp0/MLP5Fo5g+mh3c4k41loazlG8mFJMPdqNST1rKG2q/giNDxtkfqsfw9poch+iFkMIaAWLw0YPJImaJdt7vOvEvyjOanjngE5zqzsH1EsuFdR5+QwkEmnyKnpcn4h3o9WSAT+GwjjCg3HhwY54YgutzSHWMVHYG0FwTh2/Q01kWWSzEExj4bEjn2LRVeBL4j73DMkXJ3ncJK8u76zrXi3YtGd1njWbDYSetzGa9iGI3Wy8up1nQReY9rZRLrY/bClYbWYrz/66QaA5U0CipQEFKm6JPrl1nJPVPZGEVbLa0Gtz6L1garsdHCWhkXl2rLqgmiXnxogf0VgfL+Be6G04Xlako+QmAaNqm+zhXSXcaNAktOjriLwSaILjN74WFuE/cLJYS34KqnHPKE5Vk+bb9iKkplgprymSWaSyeWMtJTFx/LS8NLjCGsE/FvCv1hUF6B+mX6+m39iFHSO2tPoQMjE4KXaEyPAB/5DjP8ly1Ok707JVTx7+nEPYqiT7KqbwilASjxxSJkBu/5sQ2eB1WqvoXMqqhXCC+IZhu+MKny+5Kb76N1zeqGP3YDB9dpuVYCVP7J4hnuA8+xuL/QP0w35gw4TVyguNCXToj6BJs0V902lTGwzUQQf6gC1RCD7CQJ32+wbh3nZeBTDSOCJSaOd2tbODogw+LZn8udhVoVjUGvOCfSeHDlf3h0zb68WDBbN1ViPnfykK/7QJnck7ytIQZK6vUrUZUJhPkLrL+szfwIMlQtPXhS4R8ew8Qd8NZ+yMKgUrjqKdaSmBZbHU6AwiGkeCb+9FsPh3yRdxFRvOeb5FtqycrxzK9dlAr2+DlSIjpbcglCL43662rfaTXrlphXsG/JB+8a//jP4z+s/o/4VRM72XNTAVD2b1F3JJD04a8D0AOgmnIdEfVS7PgDDj4nAVQDT5lOVGENA9zXpHh0SGjI/PvygSIDCKcW23dCADhnH8xNKh638+iN5k6/4Bgzdt+s8IfnRTTQhVWRcNRj48H+zcSAOKdCEz89ZNd+5bNjBz4PysxQfF1uvPdf2wPx9vf5GpQaR8nTrPD/OfddEgsPv8gA8v+lzddw340s7klMVHaxzUjynK24370Off5GzRI3pBN9A/Uk3T9n8F5oR/cO4u4Fws2m3/Uef/EXUcbwCThwsjOozSZ17V6xolH+XPvXkxPKt9GhAh7UcytA9KWpFqpZTzHXIsT9zWjppi8cdQUkcpYvjT2RPdoCe0PyRwzzAtTf7BX398u1mbuMMxyWBs3IBc3DXoB+LH5eqhKeglGatDkr9PQhWyYpsFj8scPjWEtd8jwzNf2Cplr2Om457f2Cl0areT9ZUTrkQ8GFhyhmc+1StsSYCjMOMrV8MJieQySsnOWmC7oCHJvcH2CgdsAsX0J7bEsCBGSrKUZYz81ODmcQ6wPQxF8B8SH8iIwWevt8BmJrBLcqYL86VC28gxH8+wAQGJo+pzgeBZohjx4OllExIa0JmE5zkc6Gnk2tV5x25W+PNLaWk9jUgaz05LEKJrTHtrBkJiKwt0zL6KJ5eESqL4yU8/jYbA1mQP6H7hSmvYQG1eJrrIM+J1sbIP6Lh/HySXccaJxY2W0OS4/M/IrZ4tCl711251iNjaMq++ei9JtEPtYLtLm3qLiyT6kYuv/mF+KZeIIzERqVV/WaMz74pXstRscQV3ldzz1+3PD6zIoXvAfdigIXQFr7dc3ddVw0+8VrYeU7hyfmE/KemrBttrnLaB9IQLiakBpXQPaumnmfiFmZ5tVCziPkfDeuWbfxJYyum0VILdWgSNZ2hNV2RbaTg+BXvFu7k0afGN4shboBl6WFFxRGw9p63E3+h0lfBFLAI1UX/jk9wlnsfpCARThSci5vc3JHSHUbwGWeYiKGimOvK79JirMCZbTqBDQWzyRZ6oRcRZclJDIxMd4YRxWIGOgx9kkpEoUFl5ZAD5fUvO91Pb8t8wbPgki5VZNp/WVXADsP2hvQG3DIh9m4gq9MzfvqdDZ5ctagJS0fnLqarA9AsbsRIiTH3gZDoqi6n64r7IUD5W+JA/I/hOOXkkvlgVVI/B8Yr7JLK+DhuYhvI+2rfkIi8uy/kvywwvW/3E7r+iFptjoJ2qB2pbviV+yPvT+j+br6OECSHCeNVlytPCf4lRhzlAznPPQP1rIWkfeDZqNlNR4fdQdKyucdoJktMEmW9kvH+n6C/V25ukf8EKopx60UyvXtM+zUJQ0EkBWdv/Ym0S9O29BcuKB+Ko65trvWBftU+WfRrcooP63NBFaOhyhpP4aWyrIewvRk7kDb46awxulrJTk/BYDRDsgZ7g/msayxf81C3Kn5/ERvEnln35q2G7vO3rnCGPf3GLbOi0rGi+GUBOsTzBFgHVv+1xz2ip353l+Kne633024n/tJN/1Pm/pI6P/u1g9Uy2OnnI0VJU/99BDP8R/CP4R/CP4H+ywLpt5vXFqJPn2tdhba59gFTtK0zj3f6wVpv1y1fIULZ2YRdu/oGlozRTglPqSBk+1nOpi0tHYujexz8ff/ry7H/pK32A8ZYRKkQ1uVZ75X9iZoebwGSVjM8Aq2UMAvrtaWOnVEYqG6l9vLa+pNi/w5pfKK6e0NVcYPaGf6J7NupLB/VMJUVeufSZuA4uiVL4U0v3d6h38cmrrfTapK3CklZxidDCW/IdLw3J7lZqFn5Zh0CPBboqXk+Eh5XiFX4D/BBiIfyL5uw0bylZvTrhVd4gljAbhsqgWvGDBwh0+dMIcP2h6sAUBYuTLtH+0PtzOmWWZ03Qvu7maKx4SWXfLh0TPzTwbpG8xLxaCkseaFIp8gTyhNY0Rl+i9lEojFRjyZEqUtiMdt/+x5HNUo1mlVJxnVwi36rK3TU1sLdjAWCnCerO1NZ05k4/Y+UbV7pigG7X3RaYIxT4Ujakv8o72rMINKdPe9iYVonY177VsKahLEf2bYuF+3ARe79CoOiBiTA8K85Z9LLcsD1URSS1ChqvbTCYlLSeI7VNV/O/dOq1htUjiNFjImRuZlJPI13ZVjAawd0aGwpv7mcaQiD0AI4wybdGsd7NQQI+fV0MAByAhuy8q2GWdM5q4o0mYetxgiVNOrMVBmw6Af225HeLCgXypmeFbQCd6dlUAU8pPOpncLclvt/7aXwVOovK48UJTftRq5wf7bayNu0yOyNqfcJb6ShI7XH/mRicbtTn6GE7MgGbVv8Em/mpLjKyQ7HWYcou3riP1yiIJ7AY4oQCHfuh9W6KlsB2FABQDhRuq0r3fnl5tE1agSaCOGOjbcZ7oSeuSIjjaNPpwjCJQas42fT+M6yQJkrF035ss6IXBcXWiiI2cUAjhTEk+DWlU9j8tjT/3TW1aATj3WoOkPLrgiMBndbNx5myChSWdTO2me8EOHkol1HhT9kcczBBndoNDsRylDWjQoMtela3vF5WJLS2+LAoeYG0hw2tR55NV7YlVQO/O3AJiXJ4nkVEv8gKgEMunyFIt8f3sl4mNT+XBX8zndbyRTdco3fNvgSWxo9j3w7YAW6jUWMynPqL+z7Ta6Y0Jm0xdrw5od5v9sciPGA1PvP7HvPFsTWjqUnmHhmjM1eBL2F/TJBY28dvSRs9RNhK4rgmsAD3JHDZsmnfCuoVf0G9rwxhVEkd3JSvg/8dFNPdBEJshCCKVurILJKnA36s8Qfbdq7ertRs3kWS3Iw3atAeaxaJNOaqSJ0X0JPVXaX0ymgk5NLZj9tYA6N5g9qPFfQyKarp+nJCunwwM+4jHcqfhC/JuBm7DvCS6GqMbphtPUqvoF7VqBAOU/Qxn1C/h5GqgN8d4yTgD2oyuK8c6DbvBBtjic+MUJyOexYvejzdPlRMi1ewuanPfznp+UCMhma++KXY7ytudJGnVMHdqeQ6GojTCTyXVnv5WgeunQiJykWSfU3uKzT1VS9Mlzbblwog9NWUmUfxrNxRoiZem/klHj6W2XP/pxvKNd5lLQIQx5rUumWhvs5fahOZzrgXrio3N7lvEv6gGwTjB7R1N0cZb//uq/XZlVjqLgQ/229JQ0LhJVICarrNUqg+8b358r5EpbTG6029E4wJGpS1+dOHOlntNoGTtxnkqlWr8L7OxpsXvEQynJOGCtOJzUGt2MGrZ436qumiRsxMBWvCV1FsSsIioRXT/D90a5nq8mieX9aXCOuGLwCwEgrVE9usv7XglZTC0en+40yetH4Z+s0+xAy6jPMrnjPUZ1OR5DH8XQC+lp6wuTv0eaVkLY3MBUvofQ7D6dyUCdca/zpwNsxKmh3KvRtQyrFXoHFfoCwu02fR803mnRBU8EMboMl5p273gUQ2Z8DZEFWyw6ma2GZSv8ppbc52KGKE2TgmiC5rEoQ0entMBHp0fF+9cu0tbXR/TfuyVY4+CuOXeeWLFc9RNOHx60NcaVsVghJqiaFGCS3gBm/P3zTKDmlkuHlADjKElco6VVJveB2YUgtSCn80+yxPklwVLpAOoQ3lUr18nXuNlaXZUSGBtjY1xKgOevxgVWwzE9HcgOMlKpnucyl2o3FUGYrFbFtmuWQuhHztPegnnIVWm6IMmG4OndbRJnvUCn/QlCD4KjyeMEUNOG59bqq2K4IDpEinWBOVKZ4pmnSwJGPgvSiTPYGwKAU3nZ/U5JdnQc+RzNQ4J55tZ3wzfalK07GYNSlgYpJu2GBwkQ6J2GiyIHoRqyJ8zjltJByxTX7kVmyzJq/TWMGX+f3MnVOhunNBQ65SF+2pK75C9JciyVv1XnvA5F2xqKKdptEGA5LRFNjihr0/yBSdbRXUG/6C7V3lA/x97hmR2aGsdNmaxxqMk/XeNMLucJ8/2OfLoOJmf/OpRshJHNPoz5FzLjhmCUdPN/rMlVoexmWZ5eJrTXDA0dQKzgKrrTRhQGHVN0Wz/IXnq4Smdwq5j+OLEou3Kh/ebVVcUZa+AD1nTk/QjhNygdIdfJwCv/pmh7keLuDAVKBN3pTQ802wP3R5d2jdN9DbrzlqJYcxQVGrBpa5WNPravp0k6+Pyl767LjVWoXATJWV9VnN5fDX0VFjlbUFc/mreLLmsGXtYdLngBjv6dR7+0vwEldpH5Do9RbrWSqe6FRJsUQn7ECI2uqUnxU3WuL1jTEk+JAzqFWrEX9gImmCr4kKBhIq2/Sd2uZ0lZC5wz1DjShEM4O/ScBsNQOIfkvhlySVtgrRQkfFEEQ1xERJmzloifbzGs3w/IXb/JyNA3Gn36D6ICBoI/hfFWyHlMp0j8kmMsRs+BzmOgtRjNS5DBrhQDtBD7yKHhJXJ/edQcmag2wvvyH694hTvRQ374swgLvnRm1GfBUXgIL0hiTicEqXUVFiK6e2C/PUbkRttO+FEafSSk9Uf9AZFJ2vsxQyc39ZR7rYHoP01+HqTjsZy9pdE1lhrPFD65fOFGo8uahbzI5v/J39M662W35Tm0ovqsLJwep3sY24ofwtd2r/nrZhebxiDk5LXY1QN2aDBzflNeqN1gHPSRS9Ioz9y4hrLMrm7zkcXcZ7R94YyFaVAGj73TMkurfq4bAsCxiXXJO3AbLuXWRzkpbMShDqxIDPDmto0q2shbOe02nj6gyMOtvLhNGIq0DB5/x2+Mh2dldtNJP1vvbQU9kBqjjatGSZXyNa21/stKTMAmP80r/Obk+1ZrmDp254FWNn0/NCLRuV11pPb+iVlpTxb72DgC4CUq14Uwd8IwzF6m/I9jY6384bfzEhFf1UO7ZFT7T9oLPRZveMDgNvpzuKNXtg88eH/DHT/gyVvFYtHyeoRgiXnpZDlCMDVPedsEV3R2XxK7rFNvJFspZrGxh37FZ0MBshkYfmmqDT2pssgd8YI9BorsVKulcvRFfAK7V4MSLjEyAzy9T7QeXR2OnZA5fgomY3ihOWbYGg0HkilFxpGxVLZ+nIv+0emgNTlKVxdtr4BjqrGVDXNnC2LAZLBeLx1vGNGqjrJ1Y5t+EtPS/PWnAjrqU4aQh4yeyeB7OfZ7QBzqUh1SqhOt0Ujx/Tfr5IPS5NF0qfQLdQay+vEad0i3mbNNgbti3GYBJ48XhpqJdi1s+jFNEdd3kuT6Nt7x67XdNj0i2aSwzkClQM7haxUpsGNbOEmW6hTqD/XN+q1vTUNj/wl4q74Sb3q78dILARs48R4yHO40tPNoDp0HDcNIsLN6SIzCminwWX9u0wG56u4NP3H2ZQQc/iFE4sFDS3k93T+KsW4RkJc6vV14bf6fKBB2rLA05Qz/LpnKXEqhRDDXIGSmje6XVphpIy4Jv+OOr62qJZ1x23LvASKVMelMOx1MlK0KOWkOk08jlNgtPNJWYcebYxkFxKChIovmyYM415dW4pcIf54rzjilHivJOC5jlO+TmxIuUz7RoF6meDndlrv3bPyMob/NoX+0NIbUpbkMu/4UwcBVtqNS3VO3bIeZHWIfIeUpsveNHqq8A3h43t2yMweOwTizHSZNxp8h9TPXw247qVdHAgkaHlkZsI0Np015fXRlVaHvnmuauxpr1rWNcuWe1nlZCgGe0rPLVeW5AoMhhzd5t61Q+QyTCj7huXmJWl1qtzGft9GbTKBkZEbbEu4IR77GOhIfXKHDeuJj/hKK2C9Psv+N+r+Q1cW+EseRnarPe8TmeNrBGmaKzXvoZjbXrFkISZOYtJ/u3MJaaimiOvFmlSm6nEkQwdP6gIEqbUpMNe/pK2iNLEaY05JGheJTPylyq+1exsjsGvS+B+miaWzh8fEKYnBSz6o6yDwMYJ69VuvEurZeMFWvpOS6DsjKsUbGewRI5ba4YeXV2K19muygnmnlJ0JLXVK1g6c78s8rmigSpwHQvEOkYY/U6zFSMdCdn98oeDt4VOiMr90IkXCS07f3yVt6FmbNXtsRPtlccLp/hCAy68R9ZksVj1dpn6hNRuvOrQcs2V1NhfHfrBVrsYjtMKzArdAp3y17muRr1K9bisdkVqAC6hG6w5a5v53+wCO4rSRVhCvrl2l/giN33Qq7ZF5P7nx76mXhBUDUHaPWRx1tQCxC6FejJWu73cGTyyMC8YmjMrVKsQ5I1/fFUsxFwvzx+Gnh7n4WFWSdoTiZvF6ikAhNHbq17Q3LIyEjq6T/tdMgB0/wGXmr1HM/4XUEsDBBQAAgAIAEYdIk0PEy3PTAAAAGoAAAAbAAAAdW5pdmVyc2FsL3VuaXZlcnNhbC5wbmcueG1ss7GvyM1RKEstKs7Mz7NVMtQzULK34+WyKShKLctMLVeoAIoBBSFASaHSVsnECMEtz0wpybBVMjdGUpKRmpmeUWKrZGpiARfUBxoJAFBLAQIAABQAAgAIAEScV0cjtE77+wIAALAIAAAUAAAAAAAAAAEAAAAAAAAAAAB1bml2ZXJzYWwvcGxheWVyLnhtbFBLAQIAABQAAgAIAEYdIk18pNONhi8AAH5NAAAXAAAAAAAAAAAAAAAAAC0DAAB1bml2ZXJzYWwvdW5pdmVyc2FsLnBuZ1BLAQIAABQAAgAIAEYdIk0PEy3PTAAAAGoAAAAbAAAAAAAAAAEAAAAAAOgyAAB1bml2ZXJzYWwvdW5pdmVyc2FsLnBuZy54bWxQSwUGAAAAAAMAAwDQAAAAbTMAAAAA"/>
  <p:tag name="ISPRING_PRESENTATION_TITLE" val="Communication"/>
</p:tagLst>
</file>

<file path=ppt/theme/theme1.xml><?xml version="1.0" encoding="utf-8"?>
<a:theme xmlns:a="http://schemas.openxmlformats.org/drawingml/2006/main" name="1_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3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4.xml><?xml version="1.0" encoding="utf-8"?>
<a:theme xmlns:a="http://schemas.openxmlformats.org/drawingml/2006/main" name="2_Get Started with 3D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ring your presentations to life with 3DTF16411177.potx" id="{2F811B51-3652-4B66-97AB-C34107939F72}" vid="{5A6FB77C-9CC0-4BAB-9431-7888FC98FA25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912</Words>
  <Application>Microsoft Office PowerPoint</Application>
  <PresentationFormat>شاشة عريضة</PresentationFormat>
  <Paragraphs>108</Paragraphs>
  <Slides>16</Slides>
  <Notes>16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9</vt:i4>
      </vt:variant>
      <vt:variant>
        <vt:lpstr>نسق</vt:lpstr>
      </vt:variant>
      <vt:variant>
        <vt:i4>4</vt:i4>
      </vt:variant>
      <vt:variant>
        <vt:lpstr>عناوين الشرائح</vt:lpstr>
      </vt:variant>
      <vt:variant>
        <vt:i4>16</vt:i4>
      </vt:variant>
    </vt:vector>
  </HeadingPairs>
  <TitlesOfParts>
    <vt:vector size="29" baseType="lpstr">
      <vt:lpstr>Aptos</vt:lpstr>
      <vt:lpstr>Arial</vt:lpstr>
      <vt:lpstr>Calibri</vt:lpstr>
      <vt:lpstr>Constantia</vt:lpstr>
      <vt:lpstr>Segoe UI</vt:lpstr>
      <vt:lpstr>Segoe UI Light</vt:lpstr>
      <vt:lpstr>Segoe UI Semibold</vt:lpstr>
      <vt:lpstr>Times New Roman</vt:lpstr>
      <vt:lpstr>Wingdings</vt:lpstr>
      <vt:lpstr>1_Office Theme</vt:lpstr>
      <vt:lpstr>1_Get Started with 3D</vt:lpstr>
      <vt:lpstr>Get Started with 3D</vt:lpstr>
      <vt:lpstr>2_Get Started with 3D</vt:lpstr>
      <vt:lpstr>عرض تقديمي في PowerPoint</vt:lpstr>
      <vt:lpstr>LEARNING OUTCOMES</vt:lpstr>
      <vt:lpstr>Communication in Pediatric Context</vt:lpstr>
      <vt:lpstr>Components of the Communication Process</vt:lpstr>
      <vt:lpstr>Types of Communication: Verbal &amp; Nonverbal </vt:lpstr>
      <vt:lpstr>Types of Communication: Verbal &amp; Nonverbal </vt:lpstr>
      <vt:lpstr>Nonverbal Communication in Pediatrics</vt:lpstr>
      <vt:lpstr>Nonverbal Communication in Pediatrics</vt:lpstr>
      <vt:lpstr>Elements / dimensions of nonverbal communication:</vt:lpstr>
      <vt:lpstr>Scenario: </vt:lpstr>
      <vt:lpstr>Developmental Level Communication Principles </vt:lpstr>
      <vt:lpstr>Developmental Level Communication Principles </vt:lpstr>
      <vt:lpstr>Developmental Level Communication Principles </vt:lpstr>
      <vt:lpstr>Developmental Level Communication Principles </vt:lpstr>
      <vt:lpstr>Developmental Level Communication Principles 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dc:creator>green lanter</dc:creator>
  <cp:lastModifiedBy>green lanter</cp:lastModifiedBy>
  <cp:revision>212</cp:revision>
  <dcterms:created xsi:type="dcterms:W3CDTF">2018-09-01T21:54:30Z</dcterms:created>
  <dcterms:modified xsi:type="dcterms:W3CDTF">2025-09-30T18:33:39Z</dcterms:modified>
</cp:coreProperties>
</file>