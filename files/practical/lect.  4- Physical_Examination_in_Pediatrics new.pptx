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30"/>
  </p:notesMasterIdLst>
  <p:sldIdLst>
    <p:sldId id="32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29" r:id="rId23"/>
    <p:sldId id="275" r:id="rId24"/>
    <p:sldId id="276" r:id="rId25"/>
    <p:sldId id="330" r:id="rId26"/>
    <p:sldId id="277" r:id="rId27"/>
    <p:sldId id="278" r:id="rId28"/>
    <p:sldId id="29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B97A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76998" autoAdjust="0"/>
  </p:normalViewPr>
  <p:slideViewPr>
    <p:cSldViewPr snapToGrid="0" snapToObjects="1">
      <p:cViewPr varScale="1">
        <p:scale>
          <a:sx n="81" d="100"/>
          <a:sy n="81" d="100"/>
        </p:scale>
        <p:origin x="144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A7C354B-8AA7-4AD7-B7DB-7F15861514D9}" type="datetimeFigureOut">
              <a:rPr lang="ar-IQ" smtClean="0"/>
              <a:t>17/08/1447</a:t>
            </a:fld>
            <a:endParaRPr lang="ar-IQ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IQ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8AABBF7-E0DC-454D-ACB8-55F686B9B48C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298236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ar-IQ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22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85154-1C45-4C5D-8B1E-2416BECCE50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22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552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10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385297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11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808754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13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762950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Finding</a:t>
            </a:r>
            <a:r>
              <a:rPr lang="en-US" sz="2000" dirty="0"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lang="en-US" sz="2000" dirty="0"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 Lids usually edematous</a:t>
            </a:r>
            <a:r>
              <a:rPr lang="en-US" sz="2000" dirty="0">
                <a:effectLst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Swelling of the eyelids is common in the first few days after birth due to pressure during delivery or eye ointment administration.</a:t>
            </a:r>
            <a:r>
              <a:rPr lang="en-US" sz="2000" dirty="0"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 Iris color—slate gray, dark blue, or brown; absence of tears</a:t>
            </a:r>
            <a:r>
              <a:rPr lang="en-US" sz="2000" dirty="0">
                <a:effectLst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Newborn iris color is often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 permanent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at birth; melanin develops over several months. Newborns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 not produce tears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until the lacrimal ducts mature (around 2–4 weeks of age).</a:t>
            </a:r>
            <a:r>
              <a:rPr lang="en-US" sz="2000" dirty="0"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 Presence of red reflex</a:t>
            </a:r>
            <a:r>
              <a:rPr lang="en-US" sz="2000" dirty="0">
                <a:effectLst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red reflex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a bright reddish-orange reflection from the retina when a light is shone into the pupil (using an ophthalmoscope). It indicates a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clear visual pathway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Absence may suggest cataracts or retinoblastoma.</a:t>
            </a:r>
            <a:r>
              <a:rPr lang="en-US" sz="2000" dirty="0"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d. Corneal reflex (response to touch)</a:t>
            </a:r>
            <a:r>
              <a:rPr lang="en-US" sz="2000" dirty="0">
                <a:effectLst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corneal reflex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tests the infant’s protective mechanism — blinking in response to gentle touch on the cornea.</a:t>
            </a:r>
            <a:r>
              <a:rPr lang="en-US" sz="2000" dirty="0"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e. Pupillary reflex (response to light)</a:t>
            </a:r>
            <a:r>
              <a:rPr lang="en-US" sz="2000" dirty="0">
                <a:effectLst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Shining a light into the eye should cause the pupil to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constrict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showing an intact cranial nerve II (optic) and III (oculomotor).</a:t>
            </a:r>
            <a:r>
              <a:rPr lang="en-US" sz="2000" dirty="0"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f. Blink reflex (response to light or touch)</a:t>
            </a:r>
            <a:r>
              <a:rPr lang="en-US" sz="2000" dirty="0">
                <a:effectLst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newborn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blinks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when exposed to bright light or gentle touch. It is a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protective reflex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part of normal neurological function.</a:t>
            </a:r>
            <a:r>
              <a:rPr lang="en-US" sz="2000" dirty="0"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g. Rudimentary fixation on objects and ability to follow to midline</a:t>
            </a:r>
            <a:r>
              <a:rPr lang="en-US" sz="2000" dirty="0">
                <a:effectLst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Newborns can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focus briefly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on objects about 8–12 inches away (distance to caregiver’s face) and may follow movement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the midline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2000" dirty="0">
                <a:effectLst/>
              </a:rPr>
              <a:t> </a:t>
            </a:r>
            <a:endParaRPr lang="ar-IQ" sz="2000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19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764332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Finding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 Position—Top of pinna on horizontal line with outer canthus of eye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upper edge of the ear (pinna) should be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 or above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 imaginary line drawn from the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outer corner of the eye (canthus)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Low-set ears may be associated with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chromosomal abnormalities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(e.g., Down syndrome, renal anomalies).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 Startle reflex (Moro reflex) elicited by a loud, sudden noise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exposed to a loud sound, the newborn should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startle, extend arms, and then flex them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— this indicates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 auditory response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intact neurological function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 Pinna flexible, cartilage present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pinna should feel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soft but elastic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 well-formed cartilage indicates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term maturity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In preterm infants, ears may be soft and stay folded.</a:t>
            </a:r>
            <a:r>
              <a:rPr lang="en-US" dirty="0">
                <a:effectLst/>
              </a:rPr>
              <a:t> </a:t>
            </a: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Finding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 Nasal patency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Newborns are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obligate nose breathers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meaning they breathe mainly through their nose. Both nostrils should be open.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Blocked nares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can cause respiratory distress during feeding.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 Nasal discharge—Thin, white mucus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small amount of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clear or milky mucus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normal and helps clean the nasal passages. Thick, yellow, or green discharge may indicate infection.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 Sneezing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Sneezing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newborns is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helps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clear nasal passages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mucus or amniotic fluid. It is not a sign of a cold in the first few days.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d. Milia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Milia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are tiny white papules (sebaceous cysts) seen on the nose and cheeks due to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blocked sebaceous glands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They are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harmless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disappear within weeks.</a:t>
            </a:r>
            <a:r>
              <a:rPr lang="en-US" dirty="0">
                <a:effectLst/>
              </a:rPr>
              <a:t> </a:t>
            </a:r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20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1885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Finding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 Intact, high-arched palate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palate (roof of the mouth) should be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intact without clefts or openings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A slightly high arch is normal. A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cleft palate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can interfere with feeding and increase aspiration risk.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 Uvula in midline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uvula should hang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centrally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A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deviated or bifid uvula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may suggest submucous cleft palate.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 Frenulum of tongue (lingual frenulum)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frenulum connects the tongue to the floor of the mouth. If it is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too short (“tongue-tie” or ankyloglossia)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it can affect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breastfeeding and speech later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d. Frenulum of upper lip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upper labial frenulum connects the inner upper lip to the gum. A prominent frenulum is common and usually benign, unless it interferes with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feeding or dental eruption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later.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e. Sucking reflex—Strong and coordinated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newborn should demonstrate a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rhythmic sucking pattern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which indicates intact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cranial nerves V, VII, IX, and XII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feeding readiness.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f. Rooting reflex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the baby’s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cheek or lip is stroked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the infant turns toward the stimulus and opens the mouth—helps locate the breast/nipple.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g. Gag reflex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Touching the back of the throat elicits a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gagging or coughing response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protecting from aspiration.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h. Absent or minimal salivation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newborns, salivary glands are immature, so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drooling is minimal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Excessive drooling may indicate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esophageal atresia or tracheoesophageal fistula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Vigorous cry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strong, lusty cry indicates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good respiratory effort and neurologic health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A weak, high-pitched, or hoarse cry can signal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neurological damage, prematurity, or laryngeal problems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dirty="0">
                <a:effectLst/>
              </a:rPr>
              <a:t> </a:t>
            </a:r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21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519295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/>
              <a:t>Neck: Short, thick, tonic neck reflex</a:t>
            </a:r>
            <a:endParaRPr lang="en-US" sz="1600" dirty="0"/>
          </a:p>
          <a:p>
            <a:pPr algn="l">
              <a:buNone/>
            </a:pPr>
            <a:r>
              <a:rPr lang="en-US" sz="1600" dirty="0"/>
              <a:t>The newborn neck appears </a:t>
            </a:r>
            <a:r>
              <a:rPr lang="en-US" sz="1600" b="1" dirty="0"/>
              <a:t>short and thick</a:t>
            </a:r>
            <a:r>
              <a:rPr lang="en-US" sz="1600" dirty="0"/>
              <a:t> due to undeveloped neck muscles and fat pads. The </a:t>
            </a:r>
            <a:r>
              <a:rPr lang="en-US" sz="1600" b="1" dirty="0"/>
              <a:t>tonic neck reflex (fencing position)</a:t>
            </a:r>
            <a:r>
              <a:rPr lang="en-US" sz="1600" dirty="0"/>
              <a:t> is elicited when the infant’s head is turned to one side; the arm and leg on that side extend, while the opposite side flexes — showing normal neuromuscular tone.</a:t>
            </a:r>
          </a:p>
          <a:p>
            <a:pPr algn="l">
              <a:buNone/>
            </a:pPr>
            <a:endParaRPr lang="en-US" sz="1600" dirty="0"/>
          </a:p>
          <a:p>
            <a:pPr algn="l">
              <a:buNone/>
            </a:pPr>
            <a:endParaRPr lang="en-US" sz="1600" dirty="0"/>
          </a:p>
          <a:p>
            <a:pPr algn="l">
              <a:buNone/>
            </a:pPr>
            <a:endParaRPr lang="en-US" sz="1600" dirty="0"/>
          </a:p>
          <a:p>
            <a:pPr algn="l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Finding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 Anteroposterior and lateral diameters equal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chest of a newborn is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nearly circular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meaning the front-to-back (AP) and side-to-side (lateral) diameters are approximately the same. This is a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 chest shape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infancy.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 Slight sternal retractions evident during inspiration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Mild inward movement of the sternum during inspiration may occur due to the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soft chest wall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neonates. Marked or persistent retractions indicate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respiratory distress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 Xiphoid process evident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xiphoid process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(bottom tip of the sternum) may protrude slightly and is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visible or palpable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— a normal finding in newborns due to thin chest wall.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d. Breast enlargement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Temporary breast swelling may occur in both sexes due to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maternal hormones (estrogen)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crossing the placenta. Occasionally, a small amount of milky secretion (“witch’s milk”) may appear.</a:t>
            </a:r>
            <a:r>
              <a:rPr lang="en-US" sz="1600" dirty="0">
                <a:effectLst/>
              </a:rPr>
              <a:t> </a:t>
            </a:r>
            <a:endParaRPr lang="en-US" sz="1600" dirty="0"/>
          </a:p>
          <a:p>
            <a:pPr algn="l">
              <a:buNone/>
            </a:pPr>
            <a:endParaRPr lang="en-US" sz="1600" dirty="0"/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Finding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 Spine intact; no openings, masses, or prominent curves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spinal column should be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straight and continuous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without dimples, tufts of hair, or open areas. Any defect may indicate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spina bifida or meningocele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 Trunk incurvation reflex (Galant reflex)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one side of the newborn’s back is stroked, the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trunk curves toward that side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This indicates a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 spinal cord and peripheral nerve function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 Anal reflex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Touching or lightly scratching the anal area causes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constriction (wink reflex)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— a sign of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intact sacral spinal nerves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d. Patent anal opening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anus should be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 and open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Absence or abnormal placement indicates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imperforate anus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 surgical emergency.</a:t>
            </a:r>
            <a:r>
              <a:rPr lang="en-US" sz="1600" dirty="0">
                <a:effectLst/>
              </a:rPr>
              <a:t>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e. Passage of meconium within 48 hours</a:t>
            </a:r>
            <a:r>
              <a:rPr lang="en-US" sz="1600" dirty="0">
                <a:effectLst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Newborns usually pass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meconium (black, tarry stool)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within the first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24–48 hours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Delayed passage may indicate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intestinal obstruction or Hirschsprung’s disease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600" dirty="0">
                <a:effectLst/>
              </a:rPr>
              <a:t> </a:t>
            </a:r>
            <a:endParaRPr lang="ar-IQ" sz="1600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22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062930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23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909915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Finding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 Extremities usually maintain some degree of flexion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 newborn posture is characterized by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flexed arms and legs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reflecting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good muscle tone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neurological maturity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Flaccid posture or extended limbs may indicate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prematurity or CNS depression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 Extension of an extremity followed by previous position of flexion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an extremity is gently extended, it should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return to the flexed position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—a sign of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 muscle tone and reflex activity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 Head lag while sitting, but momentary ability to hold head erect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pulled from lying to sitting, the newborn’s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head lags behind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because neck muscles are weak. Brief head control indicates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 neuromuscular development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age.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d. Able to turn head from side to side when prone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placed on the abdomen, the newborn can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lift the head slightly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turn it to either side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demonstrating early neck muscle strength and airway protection.</a:t>
            </a:r>
            <a:r>
              <a:rPr lang="en-US" dirty="0">
                <a:effectLst/>
              </a:rPr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e. Able to hold head in horizontal line with back when held prone</a:t>
            </a:r>
            <a:r>
              <a:rPr lang="en-US" dirty="0">
                <a:effectLst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the newborn is held in a prone (ventral suspension) position, the head should align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a straight line with the spine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due to developing muscle tone.</a:t>
            </a:r>
            <a:r>
              <a:rPr lang="en-US" dirty="0">
                <a:effectLst/>
              </a:rPr>
              <a:t> </a:t>
            </a:r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ABBF7-E0DC-454D-ACB8-55F686B9B48C}" type="slidenum">
              <a:rPr lang="ar-IQ" smtClean="0"/>
              <a:t>24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771682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Slide Image Placeholder 1">
            <a:extLst>
              <a:ext uri="{FF2B5EF4-FFF2-40B4-BE49-F238E27FC236}">
                <a16:creationId xmlns:a16="http://schemas.microsoft.com/office/drawing/2014/main" id="{91D2B997-3B4D-AF77-080D-31FAD0FC2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  <p:txBody>
          <a:bodyPr/>
          <a:lstStyle/>
          <a:p>
            <a:endParaRPr lang="ar-IQ"/>
          </a:p>
        </p:txBody>
      </p:sp>
      <p:sp>
        <p:nvSpPr>
          <p:cNvPr id="216067" name="Notes Placeholder 2">
            <a:extLst>
              <a:ext uri="{FF2B5EF4-FFF2-40B4-BE49-F238E27FC236}">
                <a16:creationId xmlns:a16="http://schemas.microsoft.com/office/drawing/2014/main" id="{53D4B4A4-488D-69D2-9A5B-C9B083FFB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ar-IQ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02E49-F005-C36C-207D-F001BA845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0E922-9527-4EBC-AF00-C6EAA99F03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2" y="262787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27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35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28588" lvl="0" indent="-128588">
              <a:lnSpc>
                <a:spcPct val="150000"/>
              </a:lnSpc>
              <a:spcAft>
                <a:spcPts val="675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902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75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675"/>
              </a:spcAft>
              <a:buSzPct val="25000"/>
              <a:buFont typeface="Segoe UI" panose="020B0502040204020203" pitchFamily="34" charset="0"/>
              <a:buChar char=" "/>
              <a:defRPr sz="675"/>
            </a:lvl1pPr>
            <a:lvl2pPr marL="225922" indent="4466">
              <a:spcBef>
                <a:spcPts val="338"/>
              </a:spcBef>
              <a:spcAft>
                <a:spcPts val="675"/>
              </a:spcAft>
              <a:buFont typeface="Segoe UI" panose="020B0502040204020203" pitchFamily="34" charset="0"/>
              <a:buChar char=" "/>
              <a:defRPr sz="675"/>
            </a:lvl2pPr>
            <a:lvl3pPr marL="642938" indent="-128588">
              <a:buFont typeface="Segoe UI" panose="020B0502040204020203" pitchFamily="34" charset="0"/>
              <a:buChar char=" "/>
              <a:defRPr/>
            </a:lvl3pPr>
            <a:lvl4pPr marL="900113" indent="-128588">
              <a:buFont typeface="Segoe UI" panose="020B0502040204020203" pitchFamily="34" charset="0"/>
              <a:buChar char=" "/>
              <a:defRPr/>
            </a:lvl4pPr>
            <a:lvl5pPr marL="1157288" indent="-128588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1493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675"/>
              </a:spcAft>
              <a:buSzPct val="25000"/>
              <a:buFont typeface="Segoe UI" panose="020B0502040204020203" pitchFamily="34" charset="0"/>
              <a:buChar char=" "/>
              <a:defRPr sz="675"/>
            </a:lvl1pPr>
            <a:lvl2pPr marL="225922" indent="4466">
              <a:spcBef>
                <a:spcPts val="338"/>
              </a:spcBef>
              <a:spcAft>
                <a:spcPts val="675"/>
              </a:spcAft>
              <a:buFont typeface="Segoe UI" panose="020B0502040204020203" pitchFamily="34" charset="0"/>
              <a:buChar char=" "/>
              <a:defRPr sz="675"/>
            </a:lvl2pPr>
            <a:lvl3pPr marL="642938" indent="-128588">
              <a:buFont typeface="Segoe UI" panose="020B0502040204020203" pitchFamily="34" charset="0"/>
              <a:buChar char=" "/>
              <a:defRPr/>
            </a:lvl3pPr>
            <a:lvl4pPr marL="900113" indent="-128588">
              <a:buFont typeface="Segoe UI" panose="020B0502040204020203" pitchFamily="34" charset="0"/>
              <a:buChar char=" "/>
              <a:defRPr/>
            </a:lvl4pPr>
            <a:lvl5pPr marL="1157288" indent="-128588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8252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4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675"/>
              </a:spcAft>
              <a:buSzPct val="25000"/>
              <a:buFont typeface="Segoe UI" panose="020B0502040204020203" pitchFamily="34" charset="0"/>
              <a:buChar char=" "/>
              <a:defRPr sz="675"/>
            </a:lvl1pPr>
            <a:lvl2pPr marL="225922" indent="4466" algn="l">
              <a:spcBef>
                <a:spcPts val="338"/>
              </a:spcBef>
              <a:spcAft>
                <a:spcPts val="675"/>
              </a:spcAft>
              <a:buFont typeface="Segoe UI" panose="020B0502040204020203" pitchFamily="34" charset="0"/>
              <a:buChar char=" "/>
              <a:defRPr sz="675"/>
            </a:lvl2pPr>
            <a:lvl3pPr marL="642938" indent="-128588">
              <a:buFont typeface="Segoe UI" panose="020B0502040204020203" pitchFamily="34" charset="0"/>
              <a:buChar char=" "/>
              <a:defRPr/>
            </a:lvl3pPr>
            <a:lvl4pPr marL="900113" indent="-128588">
              <a:buFont typeface="Segoe UI" panose="020B0502040204020203" pitchFamily="34" charset="0"/>
              <a:buChar char=" "/>
              <a:defRPr/>
            </a:lvl4pPr>
            <a:lvl5pPr marL="1157288" indent="-128588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40" y="1507068"/>
            <a:ext cx="7143905" cy="4669896"/>
          </a:xfrm>
        </p:spPr>
        <p:txBody>
          <a:bodyPr anchor="ctr"/>
          <a:lstStyle>
            <a:lvl1pPr marL="0" indent="0">
              <a:spcAft>
                <a:spcPts val="675"/>
              </a:spcAft>
              <a:buSzPct val="25000"/>
              <a:buFont typeface="Segoe UI" panose="020B0502040204020203" pitchFamily="34" charset="0"/>
              <a:buChar char=" "/>
              <a:defRPr sz="675"/>
            </a:lvl1pPr>
            <a:lvl2pPr marL="225922" indent="4466">
              <a:spcBef>
                <a:spcPts val="338"/>
              </a:spcBef>
              <a:spcAft>
                <a:spcPts val="675"/>
              </a:spcAft>
              <a:buFont typeface="Segoe UI" panose="020B0502040204020203" pitchFamily="34" charset="0"/>
              <a:buChar char=" "/>
              <a:defRPr sz="675"/>
            </a:lvl2pPr>
            <a:lvl3pPr marL="642938" indent="-128588">
              <a:buFont typeface="Segoe UI" panose="020B0502040204020203" pitchFamily="34" charset="0"/>
              <a:buChar char=" "/>
              <a:defRPr/>
            </a:lvl3pPr>
            <a:lvl4pPr marL="900113" indent="-128588">
              <a:buFont typeface="Segoe UI" panose="020B0502040204020203" pitchFamily="34" charset="0"/>
              <a:buChar char=" "/>
              <a:defRPr/>
            </a:lvl4pPr>
            <a:lvl5pPr marL="1157288" indent="-128588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4628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4" y="26278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2" y="262788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202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35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675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675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675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675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563"/>
              </a:spcBef>
              <a:spcAft>
                <a:spcPts val="675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563"/>
              </a:spcBef>
              <a:spcAft>
                <a:spcPts val="675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563"/>
              </a:spcBef>
              <a:spcAft>
                <a:spcPts val="675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563"/>
              </a:spcBef>
              <a:spcAft>
                <a:spcPts val="675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563"/>
              </a:spcBef>
              <a:spcAft>
                <a:spcPts val="675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381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013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2447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013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3582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5771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>
            <a:off x="6480044" y="1508790"/>
            <a:ext cx="5711957" cy="3840427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49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0273" y="0"/>
            <a:ext cx="4451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815" indent="0">
              <a:buNone/>
              <a:defRPr sz="2099"/>
            </a:lvl2pPr>
            <a:lvl3pPr marL="685628" indent="0">
              <a:buNone/>
              <a:defRPr sz="1799"/>
            </a:lvl3pPr>
            <a:lvl4pPr marL="1028443" indent="0">
              <a:buNone/>
              <a:defRPr sz="1500"/>
            </a:lvl4pPr>
            <a:lvl5pPr marL="1371257" indent="0">
              <a:buNone/>
              <a:defRPr sz="1500"/>
            </a:lvl5pPr>
            <a:lvl6pPr marL="1714072" indent="0">
              <a:buNone/>
              <a:defRPr sz="1500"/>
            </a:lvl6pPr>
            <a:lvl7pPr marL="2056886" indent="0">
              <a:buNone/>
              <a:defRPr sz="1500"/>
            </a:lvl7pPr>
            <a:lvl8pPr marL="2399700" indent="0">
              <a:buNone/>
              <a:defRPr sz="1500"/>
            </a:lvl8pPr>
            <a:lvl9pPr marL="2742515" indent="0">
              <a:buNone/>
              <a:defRPr sz="15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61398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8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5"/>
            <a:ext cx="10972800" cy="4530725"/>
          </a:xfrm>
        </p:spPr>
        <p:txBody>
          <a:bodyPr/>
          <a:lstStyle/>
          <a:p>
            <a:pPr lvl="0"/>
            <a:endParaRPr lang="ar-JO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65A56-3191-4507-AE7B-C8F476156A03}" type="slidenum">
              <a:rPr lang="ar-SA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5303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275840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54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8148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5994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24888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3207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99730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1079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280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>
            <a:off x="6480043" y="1508788"/>
            <a:ext cx="5711957" cy="3840427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99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0273" y="0"/>
            <a:ext cx="445149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448" indent="0">
              <a:buNone/>
              <a:defRPr sz="3732"/>
            </a:lvl2pPr>
            <a:lvl3pPr marL="1218895" indent="0">
              <a:buNone/>
              <a:defRPr sz="3199"/>
            </a:lvl3pPr>
            <a:lvl4pPr marL="1828343" indent="0">
              <a:buNone/>
              <a:defRPr sz="2666"/>
            </a:lvl4pPr>
            <a:lvl5pPr marL="2437790" indent="0">
              <a:buNone/>
              <a:defRPr sz="2666"/>
            </a:lvl5pPr>
            <a:lvl6pPr marL="3047238" indent="0">
              <a:buNone/>
              <a:defRPr sz="2666"/>
            </a:lvl6pPr>
            <a:lvl7pPr marL="3656686" indent="0">
              <a:buNone/>
              <a:defRPr sz="2666"/>
            </a:lvl7pPr>
            <a:lvl8pPr marL="4266133" indent="0">
              <a:buNone/>
              <a:defRPr sz="2666"/>
            </a:lvl8pPr>
            <a:lvl9pPr marL="4875581" indent="0">
              <a:buNone/>
              <a:defRPr sz="2666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037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ar-JO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7BD0D-AF44-4EF4-B0BC-3F954D96C8A3}" type="datetime1">
              <a:rPr lang="en-US"/>
              <a:pPr>
                <a:defRPr/>
              </a:pPr>
              <a:t>2/4/2026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65A56-3191-4507-AE7B-C8F476156A03}" type="slidenum">
              <a:rPr lang="ar-SA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68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013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5" y="448632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86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lang="en-US" sz="1575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84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306" y="259307"/>
            <a:ext cx="11764371" cy="6387153"/>
          </a:xfrm>
          <a:prstGeom prst="rect">
            <a:avLst/>
          </a:prstGeom>
          <a:solidFill>
            <a:srgbClr val="DCB97A"/>
          </a:solidFill>
          <a:ln>
            <a:solidFill>
              <a:srgbClr val="DCB9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514350">
              <a:spcBef>
                <a:spcPct val="0"/>
              </a:spcBef>
              <a:defRPr/>
            </a:pPr>
            <a:endParaRPr lang="en-US" sz="3375" dirty="0">
              <a:solidFill>
                <a:prstClr val="white"/>
              </a:solidFill>
              <a:latin typeface="Segoe UI Light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7230" y="2688610"/>
            <a:ext cx="8655584" cy="1268362"/>
          </a:xfrm>
        </p:spPr>
        <p:txBody>
          <a:bodyPr anchor="ctr"/>
          <a:lstStyle/>
          <a:p>
            <a:r>
              <a:rPr lang="en-US" sz="21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Physical examination</a:t>
            </a:r>
            <a:endParaRPr lang="ar-IQ" sz="210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64945"/>
          <a:stretch/>
        </p:blipFill>
        <p:spPr>
          <a:xfrm>
            <a:off x="1860254" y="5015057"/>
            <a:ext cx="8629650" cy="792978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730368" y="3929241"/>
            <a:ext cx="2530601" cy="1171315"/>
          </a:xfrm>
          <a:prstGeom prst="rect">
            <a:avLst/>
          </a:prstGeom>
        </p:spPr>
        <p:txBody>
          <a:bodyPr numCol="1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14350">
              <a:lnSpc>
                <a:spcPct val="300000"/>
              </a:lnSpc>
              <a:spcBef>
                <a:spcPts val="1013"/>
              </a:spcBef>
              <a:defRPr/>
            </a:pPr>
            <a:endParaRPr lang="ar-IQ" sz="788" dirty="0">
              <a:solidFill>
                <a:prstClr val="white"/>
              </a:solidFill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FA1911A5-6CC9-87F9-8318-63988B6D5F84}"/>
              </a:ext>
            </a:extLst>
          </p:cNvPr>
          <p:cNvSpPr txBox="1"/>
          <p:nvPr/>
        </p:nvSpPr>
        <p:spPr>
          <a:xfrm>
            <a:off x="1037230" y="1378425"/>
            <a:ext cx="9002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14350">
              <a:spcBef>
                <a:spcPct val="0"/>
              </a:spcBef>
              <a:defRPr/>
            </a:pPr>
            <a:r>
              <a:rPr lang="en-US" altLang="ar-IQ" sz="3600" dirty="0">
                <a:solidFill>
                  <a:prstClr val="white"/>
                </a:solidFill>
                <a:latin typeface="Segoe UI Light"/>
                <a:ea typeface="Segoe UI Black" panose="020B0A02040204020203" pitchFamily="34" charset="0"/>
                <a:cs typeface="Segoe UI Light" panose="020B0502040204020203" pitchFamily="34" charset="0"/>
              </a:rPr>
              <a:t>Pediatric Physical Assessment</a:t>
            </a:r>
            <a:endParaRPr lang="en-US" sz="3600" dirty="0">
              <a:solidFill>
                <a:prstClr val="white"/>
              </a:solidFill>
              <a:latin typeface="Segoe UI Light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3E581DF-7DFE-34EF-4F01-3ECD273CF713}"/>
              </a:ext>
            </a:extLst>
          </p:cNvPr>
          <p:cNvSpPr txBox="1">
            <a:spLocks/>
          </p:cNvSpPr>
          <p:nvPr/>
        </p:nvSpPr>
        <p:spPr>
          <a:xfrm>
            <a:off x="7582321" y="4993521"/>
            <a:ext cx="3090228" cy="1171315"/>
          </a:xfrm>
          <a:prstGeom prst="rect">
            <a:avLst/>
          </a:prstGeom>
        </p:spPr>
        <p:txBody>
          <a:bodyPr numCol="1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defTabSz="342900">
              <a:spcBef>
                <a:spcPts val="750"/>
              </a:spcBef>
              <a:defRPr/>
            </a:pPr>
            <a:r>
              <a:rPr lang="en-US" kern="0" dirty="0">
                <a:solidFill>
                  <a:prstClr val="white"/>
                </a:solidFill>
              </a:rPr>
              <a:t>Third Stage</a:t>
            </a:r>
          </a:p>
          <a:p>
            <a:pPr defTabSz="342900">
              <a:spcBef>
                <a:spcPts val="750"/>
              </a:spcBef>
              <a:defRPr/>
            </a:pPr>
            <a:r>
              <a:rPr lang="en-US" kern="0" dirty="0">
                <a:solidFill>
                  <a:prstClr val="white"/>
                </a:solidFill>
              </a:rPr>
              <a:t>Dr. Moustafa Ali Alshammari</a:t>
            </a:r>
          </a:p>
          <a:p>
            <a:pPr defTabSz="342900">
              <a:spcBef>
                <a:spcPts val="750"/>
              </a:spcBef>
              <a:defRPr/>
            </a:pPr>
            <a:r>
              <a:rPr lang="en-US" kern="0" dirty="0">
                <a:solidFill>
                  <a:prstClr val="white"/>
                </a:solidFill>
              </a:rPr>
              <a:t>Pediatric Nursing </a:t>
            </a:r>
          </a:p>
          <a:p>
            <a:pPr defTabSz="342900">
              <a:spcBef>
                <a:spcPts val="750"/>
              </a:spcBef>
              <a:defRPr/>
            </a:pPr>
            <a:endParaRPr lang="en-US" kern="0" dirty="0">
              <a:solidFill>
                <a:prstClr val="white"/>
              </a:solidFill>
            </a:endParaRPr>
          </a:p>
        </p:txBody>
      </p:sp>
      <p:pic>
        <p:nvPicPr>
          <p:cNvPr id="5" name="صورة 4" descr="صورة تحتوي على الوجه الإنساني, طفل صغير, تلبيس, شخص">
            <a:extLst>
              <a:ext uri="{FF2B5EF4-FFF2-40B4-BE49-F238E27FC236}">
                <a16:creationId xmlns:a16="http://schemas.microsoft.com/office/drawing/2014/main" id="{21F50840-7BD4-B97E-3D0C-81EF56481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729" y="1967473"/>
            <a:ext cx="2241008" cy="292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63557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Define physical examination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Illustrate types of physical examination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Explain preparation of the environment (examination room)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Identify the sequence of pediatric physical examination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Physical examination: Essential part of pediatric health assessment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Requires strong physical assessment skills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Knowledge of child development is critical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Key techniques: Inspection, palpation, percussion, auscultation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Pediatric vs. Adult Examination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Pediatric exam differs by </a:t>
            </a:r>
            <a:r>
              <a:rPr dirty="0">
                <a:solidFill>
                  <a:srgbClr val="DCB97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dirty="0">
                <a:solidFill>
                  <a:srgbClr val="DCB97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developmental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level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Approach &amp; </a:t>
            </a:r>
            <a:r>
              <a:rPr dirty="0">
                <a:solidFill>
                  <a:srgbClr val="DCB97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sequence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tailored to child’s stage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Importance of comfort and cooperation (Chiocca, 2015)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Types of Physical Examination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Complete (Head-to-Toe): New patients, annual visits, school/sports physicals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Focused Examination: Based on chief complaint, performed during illness, injury, or emergency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Examination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Inspection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Palpation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Percussion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Auscultation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Abdomen sequence: Inspection → Auscultation → Palpation → Percussion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Use of Senses in Exam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Sight: color, respiratory effort, posture, gait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Smell: hygiene, infections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Touch: masses, skin changes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Hearing: body sounds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Preparation of the 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Consider age &amp; developmental level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Build </a:t>
            </a:r>
            <a:r>
              <a:rPr dirty="0">
                <a:solidFill>
                  <a:srgbClr val="DCB97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rapport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: play with infants, conversation with older children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Allow handling of equipment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Example: Listening to parent’s heart with stethoscope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Preparation of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Comfortable temperature, well lit, nonthreatening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Age-appropriate decoration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Keep instruments out of sight until needed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Childproof environment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Toys &amp; reading material for distraction &amp; assessment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 Ensure privacy at all 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Sequence of Examination by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Newborns (0–6 months): Supine, radiant warmer, diaper only, least distressing exam first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Older Infants (6–12 months): Parent’s lap if anxious, stranger anxiety begins at 7–8 months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4B78DCE7-3A36-4BE9-0DCC-B0EFD24E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50" y="4686300"/>
            <a:ext cx="3219450" cy="2171700"/>
          </a:xfrm>
          <a:prstGeom prst="rect">
            <a:avLst/>
          </a:prstGeom>
        </p:spPr>
      </p:pic>
      <p:pic>
        <p:nvPicPr>
          <p:cNvPr id="7" name="صورة 6" descr="صورة تحتوي على شخص, تلبيس, الوجه الإنساني, صبي">
            <a:extLst>
              <a:ext uri="{FF2B5EF4-FFF2-40B4-BE49-F238E27FC236}">
                <a16:creationId xmlns:a16="http://schemas.microsoft.com/office/drawing/2014/main" id="{FF8D9E6D-8C82-5DA3-5ABD-2BA5740C1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262" y="4686300"/>
            <a:ext cx="2171288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Toddlers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463553" cy="4525963"/>
          </a:xfrm>
        </p:spPr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Exam on parent’s lap or table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Use play &amp; distraction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Stranger anxiety decreases ~18 months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Often negativistic → Offer simple choices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Praise cooperation</a:t>
            </a:r>
          </a:p>
        </p:txBody>
      </p:sp>
      <p:pic>
        <p:nvPicPr>
          <p:cNvPr id="5" name="صورة 4" descr="صورة تحتوي على شخص, سماء, تلبيس, الوجه الإنساني">
            <a:extLst>
              <a:ext uri="{FF2B5EF4-FFF2-40B4-BE49-F238E27FC236}">
                <a16:creationId xmlns:a16="http://schemas.microsoft.com/office/drawing/2014/main" id="{9B277CBC-D4FB-BCD9-F2AA-B68102DC6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220" y="3550024"/>
            <a:ext cx="5218780" cy="3307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Preschoolers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7924800" cy="4525963"/>
          </a:xfrm>
        </p:spPr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Exam table with parent nearby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Use dolls/toys for demonstration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Provide gown, remove clothes except underwear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Concrete thinkers, magical thinking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Protect modesty, careful with word choices</a:t>
            </a:r>
          </a:p>
        </p:txBody>
      </p:sp>
      <p:pic>
        <p:nvPicPr>
          <p:cNvPr id="5" name="صورة 4" descr="صورة تحتوي على تلبيس, شخص, الوجه الإنساني, ابتسامة">
            <a:extLst>
              <a:ext uri="{FF2B5EF4-FFF2-40B4-BE49-F238E27FC236}">
                <a16:creationId xmlns:a16="http://schemas.microsoft.com/office/drawing/2014/main" id="{25AD3014-A3AD-F9D6-6656-F3DB291EF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484" y="2447924"/>
            <a:ext cx="3657600" cy="2809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A042C51-0ACE-419E-A039-04AD72522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tr-TR" sz="3600">
                <a:latin typeface="Segoe UI" panose="020B0502040204020203" pitchFamily="34" charset="0"/>
                <a:cs typeface="Segoe UI" panose="020B0502040204020203" pitchFamily="34" charset="0"/>
              </a:rPr>
              <a:t>School-aged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- Exam table, provide gown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- Younger may prefer parent, older may prefer privacy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- Explain procedures, encourage participation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- See exam as fun/learning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- Head-to-toe with genitalia last</a:t>
            </a: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638CCC06-AB99-9886-9D91-839F069A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38" r="6692" b="3"/>
          <a:stretch>
            <a:fillRect/>
          </a:stretch>
        </p:blipFill>
        <p:spPr>
          <a:xfrm>
            <a:off x="6788384" y="613148"/>
            <a:ext cx="2212848" cy="2130052"/>
          </a:xfrm>
          <a:prstGeom prst="rect">
            <a:avLst/>
          </a:prstGeom>
        </p:spPr>
      </p:pic>
      <p:pic>
        <p:nvPicPr>
          <p:cNvPr id="5" name="صورة 4" descr="صورة تحتوي على تلبيس, شخص, الوجه الإنساني, داخلي">
            <a:extLst>
              <a:ext uri="{FF2B5EF4-FFF2-40B4-BE49-F238E27FC236}">
                <a16:creationId xmlns:a16="http://schemas.microsoft.com/office/drawing/2014/main" id="{546432A8-97C4-CE54-E17E-FA2F1E4944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05" b="3"/>
          <a:stretch>
            <a:fillRect/>
          </a:stretch>
        </p:blipFill>
        <p:spPr>
          <a:xfrm>
            <a:off x="9140952" y="613147"/>
            <a:ext cx="2212848" cy="2130052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5420A3CA-0F3C-C513-AB8F-3E36580108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7" r="8077"/>
          <a:stretch/>
        </p:blipFill>
        <p:spPr>
          <a:xfrm>
            <a:off x="6788383" y="3067076"/>
            <a:ext cx="4565417" cy="324260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Adolescents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7667625" cy="4525963"/>
          </a:xfrm>
        </p:spPr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Exam table, gown, undress in private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Confidentiality is critical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Offer choice of parent presence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Address teen directly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Head-to-toe with genitalia last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Discuss sexuality, body development, emphasize normalcy</a:t>
            </a:r>
          </a:p>
        </p:txBody>
      </p:sp>
      <p:pic>
        <p:nvPicPr>
          <p:cNvPr id="5" name="صورة 4" descr="صورة تحتوي على شخص, الوجه الإنساني, تلبيس, حائط">
            <a:extLst>
              <a:ext uri="{FF2B5EF4-FFF2-40B4-BE49-F238E27FC236}">
                <a16:creationId xmlns:a16="http://schemas.microsoft.com/office/drawing/2014/main" id="{44C2C19A-EE95-99A3-69AC-9620B31AF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225" y="3374951"/>
            <a:ext cx="3914775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Physical Assessment of the Newborn (General Measurements)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Head circumference: 33–35 cm (2–3 cm &gt; chest)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Chest circumference: 30.5–33 cm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Crown-to-rump: 31–35 cm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Head-to-heel: 48–53 cm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Birth weight: 2700–4000 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Newborn 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Temperature: 36.5–37 °C (Axillary)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HR: 110–160 bpm (Apical)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RR: 30–60 breaths/min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BP: 65/41 mmHg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tr-TR" sz="5000" dirty="0">
                <a:latin typeface="Segoe UI" panose="020B0502040204020203" pitchFamily="34" charset="0"/>
                <a:cs typeface="Segoe UI" panose="020B0502040204020203" pitchFamily="34" charset="0"/>
              </a:rPr>
              <a:t>Newborn General </a:t>
            </a:r>
            <a:r>
              <a:rPr lang="tr-TR" sz="5000" dirty="0" err="1">
                <a:latin typeface="Segoe UI" panose="020B0502040204020203" pitchFamily="34" charset="0"/>
                <a:cs typeface="Segoe UI" panose="020B0502040204020203" pitchFamily="34" charset="0"/>
              </a:rPr>
              <a:t>Appearance</a:t>
            </a:r>
            <a:endParaRPr lang="tr-TR" sz="5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919" y="2599509"/>
            <a:ext cx="10886443" cy="3435531"/>
          </a:xfrm>
        </p:spPr>
        <p:txBody>
          <a:bodyPr anchor="ctr">
            <a:normAutofit/>
          </a:bodyPr>
          <a:lstStyle/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Flexed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posture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head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extremities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- Skin: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Puffy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smooth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at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birth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pink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/flaky/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dry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day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2–3</a:t>
            </a:r>
          </a:p>
          <a:p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Vernix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caseosa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lanugo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acrocyanosis</a:t>
            </a:r>
            <a:r>
              <a:rPr lang="tr-TR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3600" dirty="0" err="1">
                <a:latin typeface="Segoe UI" panose="020B0502040204020203" pitchFamily="34" charset="0"/>
                <a:cs typeface="Segoe UI" panose="020B0502040204020203" pitchFamily="34" charset="0"/>
              </a:rPr>
              <a:t>common</a:t>
            </a:r>
            <a:endParaRPr lang="tr-TR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tr-TR" sz="4800">
                <a:latin typeface="Segoe UI" panose="020B0502040204020203" pitchFamily="34" charset="0"/>
                <a:cs typeface="Segoe UI" panose="020B0502040204020203" pitchFamily="34" charset="0"/>
              </a:rPr>
              <a:t>Head &amp; Fontanels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- Anterior fontanel: Diamond-shaped (2.5–4 cm)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- Posterior fontanel: Triangular (0.5–1 cm)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- Should be flat &amp; firm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5FB4F252-4454-A76B-E458-E222B7077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549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tr-TR" sz="5400" dirty="0">
                <a:latin typeface="Segoe UI" panose="020B0502040204020203" pitchFamily="34" charset="0"/>
                <a:cs typeface="Segoe UI" panose="020B0502040204020203" pitchFamily="34" charset="0"/>
              </a:rPr>
              <a:t>Newborn </a:t>
            </a:r>
            <a:r>
              <a:rPr lang="tr-TR" sz="5400" dirty="0" err="1">
                <a:latin typeface="Segoe UI" panose="020B0502040204020203" pitchFamily="34" charset="0"/>
                <a:cs typeface="Segoe UI" panose="020B0502040204020203" pitchFamily="34" charset="0"/>
              </a:rPr>
              <a:t>Eyes</a:t>
            </a:r>
            <a:endParaRPr lang="tr-TR" sz="5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a. Lids usually edematous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b. Iris color—slate gray, dark blue, brown; absence of tears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c. Presence of red reflex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d. Corneal reflex in response to touch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e. Pupillary reflex in response to light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f. Blink reflex in response to light or touch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g. Rudimentary fixation on objects and ability to follow to midline</a:t>
            </a:r>
          </a:p>
        </p:txBody>
      </p:sp>
      <p:pic>
        <p:nvPicPr>
          <p:cNvPr id="1026" name="Picture 2" descr="Baby was born with almost black iris'. Like couldn't even tell the pupil  apart. This is what's they've lightened to. I can't tell what color they  would be. Gray blue? What would">
            <a:extLst>
              <a:ext uri="{FF2B5EF4-FFF2-40B4-BE49-F238E27FC236}">
                <a16:creationId xmlns:a16="http://schemas.microsoft.com/office/drawing/2014/main" id="{57D3A9B2-E710-D4D4-2443-9B9F524AE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795" y="744649"/>
            <a:ext cx="2678863" cy="227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d reflex ...">
            <a:extLst>
              <a:ext uri="{FF2B5EF4-FFF2-40B4-BE49-F238E27FC236}">
                <a16:creationId xmlns:a16="http://schemas.microsoft.com/office/drawing/2014/main" id="{04F69457-8848-8061-84F1-C773AE910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795" y="3045715"/>
            <a:ext cx="2678863" cy="105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DB339-BD65-0724-9A50-59785981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195D7-EC38-4FD3-6EFA-E5BBFEF3F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Newborn Ears, Nose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AF465-5E0B-2530-B999-45A0EF46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>
                <a:latin typeface="Segoe UI" panose="020B0502040204020203" pitchFamily="34" charset="0"/>
                <a:cs typeface="Segoe UI" panose="020B0502040204020203" pitchFamily="34" charset="0"/>
              </a:rPr>
              <a:t>. Position—Top of pinna on horizontal line with outer canthus of eye</a:t>
            </a:r>
          </a:p>
          <a:p>
            <a:pPr>
              <a:lnSpc>
                <a:spcPct val="90000"/>
              </a:lnSpc>
            </a:pPr>
            <a:r>
              <a:rPr lang="en-US" sz="3000">
                <a:latin typeface="Segoe UI" panose="020B0502040204020203" pitchFamily="34" charset="0"/>
                <a:cs typeface="Segoe UI" panose="020B0502040204020203" pitchFamily="34" charset="0"/>
              </a:rPr>
              <a:t>b. Startle reflex elicited by a loud, sudden noise</a:t>
            </a:r>
          </a:p>
          <a:p>
            <a:pPr>
              <a:lnSpc>
                <a:spcPct val="90000"/>
              </a:lnSpc>
            </a:pPr>
            <a:r>
              <a:rPr lang="en-US" sz="3000">
                <a:latin typeface="Segoe UI" panose="020B0502040204020203" pitchFamily="34" charset="0"/>
                <a:cs typeface="Segoe UI" panose="020B0502040204020203" pitchFamily="34" charset="0"/>
              </a:rPr>
              <a:t>c. Pinna flexible, cartilage present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000" b="1">
                <a:latin typeface="Segoe UI" panose="020B0502040204020203" pitchFamily="34" charset="0"/>
                <a:cs typeface="Segoe UI" panose="020B0502040204020203" pitchFamily="34" charset="0"/>
              </a:rPr>
              <a:t>Nose</a:t>
            </a:r>
          </a:p>
          <a:p>
            <a:pPr>
              <a:lnSpc>
                <a:spcPct val="90000"/>
              </a:lnSpc>
            </a:pPr>
            <a:r>
              <a:rPr lang="en-US" sz="3000">
                <a:latin typeface="Segoe UI" panose="020B0502040204020203" pitchFamily="34" charset="0"/>
                <a:cs typeface="Segoe UI" panose="020B0502040204020203" pitchFamily="34" charset="0"/>
              </a:rPr>
              <a:t>a. Nasal patency</a:t>
            </a:r>
          </a:p>
          <a:p>
            <a:pPr>
              <a:lnSpc>
                <a:spcPct val="90000"/>
              </a:lnSpc>
            </a:pPr>
            <a:r>
              <a:rPr lang="en-US" sz="3000">
                <a:latin typeface="Segoe UI" panose="020B0502040204020203" pitchFamily="34" charset="0"/>
                <a:cs typeface="Segoe UI" panose="020B0502040204020203" pitchFamily="34" charset="0"/>
              </a:rPr>
              <a:t>b. Nasal discharge—Thin, white mucus</a:t>
            </a:r>
          </a:p>
          <a:p>
            <a:pPr>
              <a:lnSpc>
                <a:spcPct val="90000"/>
              </a:lnSpc>
            </a:pPr>
            <a:r>
              <a:rPr lang="en-US" sz="3000">
                <a:latin typeface="Segoe UI" panose="020B0502040204020203" pitchFamily="34" charset="0"/>
                <a:cs typeface="Segoe UI" panose="020B0502040204020203" pitchFamily="34" charset="0"/>
              </a:rPr>
              <a:t>c. Sneezing</a:t>
            </a:r>
          </a:p>
          <a:p>
            <a:pPr>
              <a:lnSpc>
                <a:spcPct val="90000"/>
              </a:lnSpc>
            </a:pPr>
            <a:r>
              <a:rPr lang="en-US" sz="3000">
                <a:latin typeface="Segoe UI" panose="020B0502040204020203" pitchFamily="34" charset="0"/>
                <a:cs typeface="Segoe UI" panose="020B0502040204020203" pitchFamily="34" charset="0"/>
              </a:rPr>
              <a:t>d. Milia</a:t>
            </a:r>
          </a:p>
        </p:txBody>
      </p:sp>
    </p:spTree>
    <p:extLst>
      <p:ext uri="{BB962C8B-B14F-4D97-AF65-F5344CB8AC3E}">
        <p14:creationId xmlns:p14="http://schemas.microsoft.com/office/powerpoint/2010/main" val="2913995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Nose, Mouth &amp; Throat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Mouth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: a.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Intact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high-arched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palate</a:t>
            </a:r>
            <a:endParaRPr lang="tr-TR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b.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Uvula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in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midline</a:t>
            </a:r>
            <a:endParaRPr lang="tr-TR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c.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Frenulum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tongue</a:t>
            </a:r>
            <a:endParaRPr lang="tr-TR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d.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Frenulum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upper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lip</a:t>
            </a:r>
            <a:endParaRPr lang="tr-TR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e.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Sucking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reflex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—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Strong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coordinated</a:t>
            </a:r>
            <a:endParaRPr lang="tr-TR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f.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Rooting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reflex</a:t>
            </a:r>
            <a:endParaRPr lang="tr-TR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g. Gag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reflex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i.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Absent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minimal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salivation</a:t>
            </a:r>
            <a:endParaRPr lang="tr-TR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j.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Vigorous</a:t>
            </a:r>
            <a:r>
              <a:rPr lang="tr-TR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cry</a:t>
            </a:r>
            <a:endParaRPr lang="tr-TR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Neck, Chest, Back, Rectum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Neck: 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Short, thick, tonic neck reflex</a:t>
            </a: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Chest: 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a. Anteroposterior and lateral diameters equal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b. Slight sternal retractions evident during inspiration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c. Xiphoid process evident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d. Breast enlargement</a:t>
            </a:r>
            <a:endParaRPr lang="ar-IQ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Back: 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a. Spine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intact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openings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masses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prominent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curves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b.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Trunk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incurvation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reflex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Galant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reflex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), 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c. Anal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reflex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d. Patent anal opening,  Passage of meconium within 48 hours 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0" name="Picture 2" descr="Physio360 | The Galant Reflex is a ...">
            <a:extLst>
              <a:ext uri="{FF2B5EF4-FFF2-40B4-BE49-F238E27FC236}">
                <a16:creationId xmlns:a16="http://schemas.microsoft.com/office/drawing/2014/main" id="{8B196805-28B7-DA6B-1DBD-DDE7C0C0A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922" y="-77901"/>
            <a:ext cx="2991078" cy="299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CD909-2827-1C76-130D-A592F6B1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DDDE3-4A8E-8817-B55F-BACFA545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Extremities</a:t>
            </a:r>
          </a:p>
        </p:txBody>
      </p:sp>
      <p:pic>
        <p:nvPicPr>
          <p:cNvPr id="3074" name="Picture 2" descr="Plantar Surface - Ballard Score">
            <a:extLst>
              <a:ext uri="{FF2B5EF4-FFF2-40B4-BE49-F238E27FC236}">
                <a16:creationId xmlns:a16="http://schemas.microsoft.com/office/drawing/2014/main" id="{3868DC66-6627-8427-937F-362605215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6" y="2893476"/>
            <a:ext cx="4309533" cy="322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2E315-109B-0D99-2A27-F9F98E90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a. Ten fingers and ten toes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b. Full range of motion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c. Nail beds pink, with transient cyanosis immediately after birth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d. Creases on anterior two thirds of sole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e. Sole usually flat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f. Symmetry of extremities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g. Equal muscle tone bilaterally, especially resistance to opposing flexion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h. Equal bilateral brachial and femoral pulses</a:t>
            </a:r>
          </a:p>
        </p:txBody>
      </p:sp>
    </p:spTree>
    <p:extLst>
      <p:ext uri="{BB962C8B-B14F-4D97-AF65-F5344CB8AC3E}">
        <p14:creationId xmlns:p14="http://schemas.microsoft.com/office/powerpoint/2010/main" val="234938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Neuromuscular</a:t>
            </a:r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a. Extremities usually maintain some degree of flexion.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b. Extension of an extremity followed by previous position of flexion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c. Head lag while sitting, but momentary ability to hold head erect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d. Able to turn head from side to side when prone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e. Able to hold head in horizontal line with back when held prone</a:t>
            </a:r>
            <a:endParaRPr lang="ar-IQ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Equipment of physical assessment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A4C84E33-1BB1-8084-0F21-A515B5B68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238" y="612553"/>
            <a:ext cx="4717548" cy="563289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2BFA77-7F13-59F8-014E-C1C67DC6E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4475" y="261938"/>
            <a:ext cx="11691938" cy="2125662"/>
          </a:xfrm>
          <a:prstGeom prst="rect">
            <a:avLst/>
          </a:prstGeom>
          <a:solidFill>
            <a:srgbClr val="DCB97A"/>
          </a:solidFill>
          <a:ln>
            <a:solidFill>
              <a:srgbClr val="DCB97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5043" name="Text Placeholder 1">
            <a:extLst>
              <a:ext uri="{FF2B5EF4-FFF2-40B4-BE49-F238E27FC236}">
                <a16:creationId xmlns:a16="http://schemas.microsoft.com/office/drawing/2014/main" id="{51192D33-4BD6-8803-6162-4BCD07099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1087438"/>
            <a:ext cx="441483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 pitchFamily="34" charset="0"/>
                <a:ea typeface="굴림" panose="020B0600000101010101" pitchFamily="34" charset="-127"/>
                <a:cs typeface="+mn-cs"/>
              </a:rPr>
              <a:t>Thank</a:t>
            </a:r>
            <a:r>
              <a:rPr kumimoji="0" lang="en-US" altLang="ko-KR" sz="4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굴림" panose="020B0600000101010101" pitchFamily="34" charset="-127"/>
                <a:cs typeface="+mn-cs"/>
              </a:rPr>
              <a:t> </a:t>
            </a:r>
            <a:r>
              <a:rPr kumimoji="0" lang="en-US" altLang="ko-KR" sz="4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 pitchFamily="34" charset="0"/>
                <a:ea typeface="굴림" panose="020B0600000101010101" pitchFamily="34" charset="-127"/>
                <a:cs typeface="+mn-cs"/>
              </a:rPr>
              <a:t>you</a:t>
            </a:r>
            <a:endParaRPr kumimoji="0" lang="ko-KR" altLang="en-US" sz="4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 pitchFamily="34" charset="0"/>
              <a:ea typeface="굴림" panose="020B0600000101010101" pitchFamily="34" charset="-127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et Started with 3D">
  <a:themeElements>
    <a:clrScheme name="أزرق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3.xml><?xml version="1.0" encoding="utf-8"?>
<a:theme xmlns:a="http://schemas.openxmlformats.org/drawingml/2006/main" name="1_Get Started with 3D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2431</Words>
  <Application>Microsoft Office PowerPoint</Application>
  <PresentationFormat>شاشة عريضة</PresentationFormat>
  <Paragraphs>172</Paragraphs>
  <Slides>26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3</vt:i4>
      </vt:variant>
      <vt:variant>
        <vt:lpstr>عناوين الشرائح</vt:lpstr>
      </vt:variant>
      <vt:variant>
        <vt:i4>26</vt:i4>
      </vt:variant>
    </vt:vector>
  </HeadingPairs>
  <TitlesOfParts>
    <vt:vector size="34" baseType="lpstr">
      <vt:lpstr>Aptos</vt:lpstr>
      <vt:lpstr>Arial</vt:lpstr>
      <vt:lpstr>Calibri</vt:lpstr>
      <vt:lpstr>Segoe UI</vt:lpstr>
      <vt:lpstr>Segoe UI Light</vt:lpstr>
      <vt:lpstr>Office Theme</vt:lpstr>
      <vt:lpstr>Get Started with 3D</vt:lpstr>
      <vt:lpstr>1_Get Started with 3D</vt:lpstr>
      <vt:lpstr>Physical examination</vt:lpstr>
      <vt:lpstr>Objectives</vt:lpstr>
      <vt:lpstr>Definition</vt:lpstr>
      <vt:lpstr>Pediatric vs. Adult Examination</vt:lpstr>
      <vt:lpstr>Types of Physical Examination</vt:lpstr>
      <vt:lpstr>Examination Techniques</vt:lpstr>
      <vt:lpstr>Use of Senses in Exam</vt:lpstr>
      <vt:lpstr>Preparation of the Child</vt:lpstr>
      <vt:lpstr>Preparation of the Environment</vt:lpstr>
      <vt:lpstr>Sequence of Examination by Age</vt:lpstr>
      <vt:lpstr>Toddlers</vt:lpstr>
      <vt:lpstr>Preschoolers</vt:lpstr>
      <vt:lpstr>School-aged Children</vt:lpstr>
      <vt:lpstr>Adolescents</vt:lpstr>
      <vt:lpstr>Physical Assessment of the Newborn (General Measurements)</vt:lpstr>
      <vt:lpstr>Newborn Vital Signs</vt:lpstr>
      <vt:lpstr>Newborn General Appearance</vt:lpstr>
      <vt:lpstr>Head &amp; Fontanels</vt:lpstr>
      <vt:lpstr>Newborn Eyes</vt:lpstr>
      <vt:lpstr>Newborn Ears, Nose</vt:lpstr>
      <vt:lpstr>Nose, Mouth &amp; Throat</vt:lpstr>
      <vt:lpstr>Neck, Chest, Back, Rectum</vt:lpstr>
      <vt:lpstr>Extremities</vt:lpstr>
      <vt:lpstr>Neuromuscular System</vt:lpstr>
      <vt:lpstr>Equipment of physical assessment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green lanter</dc:creator>
  <cp:keywords/>
  <dc:description>generated using python-pptx</dc:description>
  <cp:lastModifiedBy>green lanter</cp:lastModifiedBy>
  <cp:revision>10</cp:revision>
  <dcterms:created xsi:type="dcterms:W3CDTF">2013-01-27T09:14:16Z</dcterms:created>
  <dcterms:modified xsi:type="dcterms:W3CDTF">2026-02-04T19:20:52Z</dcterms:modified>
  <cp:category/>
</cp:coreProperties>
</file>