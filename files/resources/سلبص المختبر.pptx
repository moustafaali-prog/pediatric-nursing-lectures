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_rels/notesSlide2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2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2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2.xml"/></Relationships>
</file>

<file path=ppt/notesSlides/_rels/notesSlide2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2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2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2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2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2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2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9.xml"/></Relationships>
</file>

<file path=ppt/notesSlides/_rels/notesSlide2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2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2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2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2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2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2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_rels/notesSlide2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7.xml"/></Relationships>
</file>

<file path=ppt/notesSlides/_rels/notesSlide2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_rels/notesSlide2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9.xml"/></Relationships>
</file>

<file path=ppt/notesSlides/_rels/notesSlide2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0.xml"/></Relationships>
</file>

<file path=ppt/notesSlides/_rels/notesSlide2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1.xml"/></Relationships>
</file>

<file path=ppt/notesSlides/_rels/notesSlide2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2.xml"/></Relationships>
</file>

<file path=ppt/notesSlides/_rels/notesSlide2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3.xml"/></Relationships>
</file>

<file path=ppt/notesSlides/_rels/notesSlide2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4.xml"/></Relationships>
</file>

<file path=ppt/notesSlides/_rels/notesSlide2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_rels/notesSlide2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6.xml"/></Relationships>
</file>

<file path=ppt/notesSlides/_rels/notesSlide2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7.xml"/></Relationships>
</file>

<file path=ppt/notesSlides/_rels/notesSlide2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8.xml"/></Relationships>
</file>

<file path=ppt/notesSlides/_rels/notesSlide2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_rels/notesSlide2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0.xml"/></Relationships>
</file>

<file path=ppt/notesSlides/_rels/notesSlide2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1.xml"/></Relationships>
</file>

<file path=ppt/notesSlides/_rels/notesSlide2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2.xml"/></Relationships>
</file>

<file path=ppt/notesSlides/_rels/notesSlide2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3.xml"/></Relationships>
</file>

<file path=ppt/notesSlides/_rels/notesSlide2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4.xml"/></Relationships>
</file>

<file path=ppt/notesSlides/_rels/notesSlide2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5.xml"/></Relationships>
</file>

<file path=ppt/notesSlides/_rels/notesSlide2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6.xml"/></Relationships>
</file>

<file path=ppt/notesSlides/_rels/notesSlide2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7.xml"/></Relationships>
</file>

<file path=ppt/notesSlides/_rels/notesSlide2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8.xml"/></Relationships>
</file>

<file path=ppt/notesSlides/_rels/notesSlide2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9.xml"/></Relationships>
</file>

<file path=ppt/notesSlides/_rels/notesSlide2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/Relationships>
</file>

<file path=ppt/notesSlides/_rels/notesSlide2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1.xml"/></Relationships>
</file>

<file path=ppt/notesSlides/_rels/notesSlide2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2.xml"/></Relationships>
</file>

<file path=ppt/notesSlides/_rels/notesSlide2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3.xml"/></Relationships>
</file>

<file path=ppt/notesSlides/_rels/notesSlide2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4.xml"/></Relationships>
</file>

<file path=ppt/notesSlides/_rels/notesSlide2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5.xml"/></Relationships>
</file>

<file path=ppt/notesSlides/_rels/notesSlide2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6.xml"/></Relationships>
</file>

<file path=ppt/notesSlides/_rels/notesSlide2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7.xml"/></Relationships>
</file>

<file path=ppt/notesSlides/_rels/notesSlide2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8.xml"/></Relationships>
</file>

<file path=ppt/notesSlides/_rels/notesSlide2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generated from سلبص المختبر.pdf (125 pages). Source text is reproduced verbatim in the notes of every content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objectives taken verbatim from page 31 of سلبص المختبر.pdf.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objectives taken verbatim from page 37 of سلبص المختبر.pdf.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objectives taken verbatim from page 43 of سلبص المختبر.pdf.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objectives taken verbatim from page 47 of سلبص المختبر.pdf.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objectives taken verbatim from page 98 of سلبص المختبر.pdf.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objectives taken verbatim from page 113 of سلبص المختبر.pdf.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Clinical </a:t>
            </a:r>
          </a:p>
          <a:p>
            <a:r>
              <a:t>Manual of  </a:t>
            </a:r>
          </a:p>
          <a:p>
            <a:r>
              <a:t>Pediatric  </a:t>
            </a:r>
          </a:p>
          <a:p>
            <a:r>
              <a:t>Nursing </a:t>
            </a:r>
          </a:p>
          <a:p>
            <a:r>
              <a:t>     </a:t>
            </a:r>
          </a:p>
          <a:p>
            <a:r>
              <a:t> </a:t>
            </a:r>
          </a:p>
          <a:p>
            <a:r>
              <a:t>3llli fadhil </a:t>
            </a:r>
          </a:p>
          <a:p>
            <a:r>
              <a:t>Prepared by: </a:t>
            </a:r>
          </a:p>
          <a:p>
            <a:r>
              <a:t>MSN. Mohammed Talib  </a:t>
            </a:r>
          </a:p>
          <a:p>
            <a:r>
              <a:t>MSN. Ali Fadhil Obaid </a:t>
            </a:r>
          </a:p>
          <a:p>
            <a:r>
              <a:t>MSN. Maha Ahmed </a:t>
            </a:r>
          </a:p>
          <a:p>
            <a:r>
              <a:t>BSN. Marwah Shakir </a:t>
            </a:r>
          </a:p>
          <a:p>
            <a:r>
              <a:t>Supervised by head of pediatric nursing </a:t>
            </a:r>
          </a:p>
          <a:p>
            <a:r>
              <a:t>department: </a:t>
            </a:r>
          </a:p>
          <a:p>
            <a:r>
              <a:t>Assist. Prof. Dr. Nuhad Mohammed  </a:t>
            </a:r>
          </a:p>
          <a:p>
            <a:r>
              <a:t> </a:t>
            </a:r>
          </a:p>
          <a:p>
            <a:r>
              <a:t>Edited By:  Ali Fadhil   </a:t>
            </a:r>
          </a:p>
          <a:p>
            <a:r>
              <a:t>University of Babylon </a:t>
            </a:r>
          </a:p>
          <a:p>
            <a:r>
              <a:t>College of Nursing </a:t>
            </a:r>
          </a:p>
          <a:p>
            <a:r>
              <a:t>Pediatric nursing department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List of Content                                                                          1 </a:t>
            </a:r>
          </a:p>
          <a:p>
            <a:r>
              <a:t>Contents </a:t>
            </a:r>
          </a:p>
          <a:p>
            <a:r>
              <a:t>Communication ........................................................................................... 5 </a:t>
            </a:r>
          </a:p>
          <a:p>
            <a:r>
              <a:t>What is communication? ......................................................................... 6 </a:t>
            </a:r>
          </a:p>
          <a:p>
            <a:r>
              <a:t>What are the types of Communication? .................................................. 6 </a:t>
            </a:r>
          </a:p>
          <a:p>
            <a:r>
              <a:t>1- Verbal communication: .................................................................... 6 </a:t>
            </a:r>
          </a:p>
          <a:p>
            <a:r>
              <a:t>2-NONVERBAL COMMUNICATION .............................................. 6 </a:t>
            </a:r>
          </a:p>
          <a:p>
            <a:r>
              <a:t>Pediatric Health History............................................................................ 10 </a:t>
            </a:r>
          </a:p>
          <a:p>
            <a:r>
              <a:t>The Health History ................................................................................ 11 </a:t>
            </a:r>
          </a:p>
          <a:p>
            <a:r>
              <a:t>Types of Pediatric Health Histories ....................................................... 11 </a:t>
            </a:r>
          </a:p>
          <a:p>
            <a:r>
              <a:t>1. Initial (comprehensive) health history........................................... 11 </a:t>
            </a:r>
          </a:p>
          <a:p>
            <a:r>
              <a:t>2.  Interval (well-child) health history ............................................... 11 </a:t>
            </a:r>
          </a:p>
          <a:p>
            <a:r>
              <a:t>3. Focused (episodic) health history .................................................. 11 </a:t>
            </a:r>
          </a:p>
          <a:p>
            <a:r>
              <a:t>4. Follow-up health history ............................................................... 11 </a:t>
            </a:r>
          </a:p>
          <a:p>
            <a:r>
              <a:t>5. Emergency health history .............................................................. 11 </a:t>
            </a:r>
          </a:p>
          <a:p>
            <a:r>
              <a:t>DATA COLLECTION .......................................................................... 12 </a:t>
            </a:r>
          </a:p>
          <a:p>
            <a:r>
              <a:t>1. Subjective data. ............................................................................. 12 </a:t>
            </a:r>
          </a:p>
          <a:p>
            <a:r>
              <a:t>2. Objective data.. .......................................................................... …12 </a:t>
            </a:r>
          </a:p>
          <a:p>
            <a:r>
              <a:t>Methods of Data Collection ................................................................... 12 </a:t>
            </a:r>
          </a:p>
          <a:p>
            <a:r>
              <a:t>How to Conduct a Pediatric History Interview ..................................... 12 </a:t>
            </a:r>
          </a:p>
          <a:p>
            <a:r>
              <a:t>Infants and Young Children ............................................................... 13 </a:t>
            </a:r>
          </a:p>
          <a:p>
            <a:r>
              <a:t>School-Aged Children and Adolescents ............................................. 13 </a:t>
            </a:r>
          </a:p>
          <a:p>
            <a:r>
              <a:t>Age-specific interview and assessment tips. ......................................... 13 </a:t>
            </a:r>
          </a:p>
          <a:p>
            <a:r>
              <a:t>Infant ................................................................................................... 13 </a:t>
            </a:r>
          </a:p>
          <a:p>
            <a:r>
              <a:t>Toddler ................................................................................................ 14 </a:t>
            </a:r>
          </a:p>
          <a:p>
            <a:r>
              <a:t>Preschool child ................................................................................... 14 </a:t>
            </a:r>
          </a:p>
          <a:p>
            <a:r>
              <a:t>School-age child ................................................................................. 15 </a:t>
            </a:r>
          </a:p>
          <a:p>
            <a:r>
              <a:t>Adolescent .......................................................................................... 15 </a:t>
            </a:r>
          </a:p>
          <a:p>
            <a:r>
              <a:t>Review of systems: ................................................................................ 16 </a:t>
            </a:r>
          </a:p>
          <a:p>
            <a:r>
              <a:t>Physical examination ................................................................................ 21 </a:t>
            </a:r>
          </a:p>
          <a:p>
            <a:r>
              <a:t>There are two types of physical examination: ....................................... 22 </a:t>
            </a:r>
          </a:p>
          <a:p>
            <a:r>
              <a:t>B.Focused physical examination ........................................................ 22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List of Content                                                                          1 </a:t>
            </a:r>
          </a:p>
          <a:p>
            <a:r>
              <a:t>Contents </a:t>
            </a:r>
          </a:p>
          <a:p>
            <a:r>
              <a:t>Communication ........................................................................................... 5 </a:t>
            </a:r>
          </a:p>
          <a:p>
            <a:r>
              <a:t>What is communication? ......................................................................... 6 </a:t>
            </a:r>
          </a:p>
          <a:p>
            <a:r>
              <a:t>What are the types of Communication? .................................................. 6 </a:t>
            </a:r>
          </a:p>
          <a:p>
            <a:r>
              <a:t>1- Verbal communication: .................................................................... 6 </a:t>
            </a:r>
          </a:p>
          <a:p>
            <a:r>
              <a:t>2-NONVERBAL COMMUNICATION .............................................. 6 </a:t>
            </a:r>
          </a:p>
          <a:p>
            <a:r>
              <a:t>Pediatric Health History............................................................................ 10 </a:t>
            </a:r>
          </a:p>
          <a:p>
            <a:r>
              <a:t>The Health History ................................................................................ 11 </a:t>
            </a:r>
          </a:p>
          <a:p>
            <a:r>
              <a:t>Types of Pediatric Health Histories ....................................................... 11 </a:t>
            </a:r>
          </a:p>
          <a:p>
            <a:r>
              <a:t>1. Initial (comprehensive) health history........................................... 11 </a:t>
            </a:r>
          </a:p>
          <a:p>
            <a:r>
              <a:t>2.  Interval (well-child) health history ............................................... 11 </a:t>
            </a:r>
          </a:p>
          <a:p>
            <a:r>
              <a:t>3. Focused (episodic) health history .................................................. 11 </a:t>
            </a:r>
          </a:p>
          <a:p>
            <a:r>
              <a:t>4. Follow-up health history ............................................................... 11 </a:t>
            </a:r>
          </a:p>
          <a:p>
            <a:r>
              <a:t>5. Emergency health history .............................................................. 11 </a:t>
            </a:r>
          </a:p>
          <a:p>
            <a:r>
              <a:t>DATA COLLECTION .......................................................................... 12 </a:t>
            </a:r>
          </a:p>
          <a:p>
            <a:r>
              <a:t>1. Subjective data. ............................................................................. 12 </a:t>
            </a:r>
          </a:p>
          <a:p>
            <a:r>
              <a:t>2. Objective data.. .......................................................................... …12 </a:t>
            </a:r>
          </a:p>
          <a:p>
            <a:r>
              <a:t>Methods of Data Collection ................................................................... 12 </a:t>
            </a:r>
          </a:p>
          <a:p>
            <a:r>
              <a:t>How to Conduct a Pediatric History Interview ..................................... 12 </a:t>
            </a:r>
          </a:p>
          <a:p>
            <a:r>
              <a:t>Infants and Young Children ............................................................... 13 </a:t>
            </a:r>
          </a:p>
          <a:p>
            <a:r>
              <a:t>School-Aged Children and Adolescents ............................................. 13 </a:t>
            </a:r>
          </a:p>
          <a:p>
            <a:r>
              <a:t>Age-specific interview and assessment tips. ......................................... 13 </a:t>
            </a:r>
          </a:p>
          <a:p>
            <a:r>
              <a:t>Infant ................................................................................................... 13 </a:t>
            </a:r>
          </a:p>
          <a:p>
            <a:r>
              <a:t>Toddler ................................................................................................ 14 </a:t>
            </a:r>
          </a:p>
          <a:p>
            <a:r>
              <a:t>Preschool child ................................................................................... 14 </a:t>
            </a:r>
          </a:p>
          <a:p>
            <a:r>
              <a:t>School-age child ................................................................................. 15 </a:t>
            </a:r>
          </a:p>
          <a:p>
            <a:r>
              <a:t>Adolescent .......................................................................................... 15 </a:t>
            </a:r>
          </a:p>
          <a:p>
            <a:r>
              <a:t>Review of systems: ................................................................................ 16 </a:t>
            </a:r>
          </a:p>
          <a:p>
            <a:r>
              <a:t>Physical examination ................................................................................ 21 </a:t>
            </a:r>
          </a:p>
          <a:p>
            <a:r>
              <a:t>There are two types of physical examination: ....................................... 22 </a:t>
            </a:r>
          </a:p>
          <a:p>
            <a:r>
              <a:t>B.Focused physical examination ........................................................ 22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List of Content                                                                          1 </a:t>
            </a:r>
          </a:p>
          <a:p>
            <a:r>
              <a:t>Contents </a:t>
            </a:r>
          </a:p>
          <a:p>
            <a:r>
              <a:t>Communication ........................................................................................... 5 </a:t>
            </a:r>
          </a:p>
          <a:p>
            <a:r>
              <a:t>What is communication? ......................................................................... 6 </a:t>
            </a:r>
          </a:p>
          <a:p>
            <a:r>
              <a:t>What are the types of Communication? .................................................. 6 </a:t>
            </a:r>
          </a:p>
          <a:p>
            <a:r>
              <a:t>1- Verbal communication: .................................................................... 6 </a:t>
            </a:r>
          </a:p>
          <a:p>
            <a:r>
              <a:t>2-NONVERBAL COMMUNICATION .............................................. 6 </a:t>
            </a:r>
          </a:p>
          <a:p>
            <a:r>
              <a:t>Pediatric Health History............................................................................ 10 </a:t>
            </a:r>
          </a:p>
          <a:p>
            <a:r>
              <a:t>The Health History ................................................................................ 11 </a:t>
            </a:r>
          </a:p>
          <a:p>
            <a:r>
              <a:t>Types of Pediatric Health Histories ....................................................... 11 </a:t>
            </a:r>
          </a:p>
          <a:p>
            <a:r>
              <a:t>1. Initial (comprehensive) health history........................................... 11 </a:t>
            </a:r>
          </a:p>
          <a:p>
            <a:r>
              <a:t>2.  Interval (well-child) health history ............................................... 11 </a:t>
            </a:r>
          </a:p>
          <a:p>
            <a:r>
              <a:t>3. Focused (episodic) health history .................................................. 11 </a:t>
            </a:r>
          </a:p>
          <a:p>
            <a:r>
              <a:t>4. Follow-up health history ............................................................... 11 </a:t>
            </a:r>
          </a:p>
          <a:p>
            <a:r>
              <a:t>5. Emergency health history .............................................................. 11 </a:t>
            </a:r>
          </a:p>
          <a:p>
            <a:r>
              <a:t>DATA COLLECTION .......................................................................... 12 </a:t>
            </a:r>
          </a:p>
          <a:p>
            <a:r>
              <a:t>1. Subjective data. ............................................................................. 12 </a:t>
            </a:r>
          </a:p>
          <a:p>
            <a:r>
              <a:t>2. Objective data.. .......................................................................... …12 </a:t>
            </a:r>
          </a:p>
          <a:p>
            <a:r>
              <a:t>Methods of Data Collection ................................................................... 12 </a:t>
            </a:r>
          </a:p>
          <a:p>
            <a:r>
              <a:t>How to Conduct a Pediatric History Interview ..................................... 12 </a:t>
            </a:r>
          </a:p>
          <a:p>
            <a:r>
              <a:t>Infants and Young Children ............................................................... 13 </a:t>
            </a:r>
          </a:p>
          <a:p>
            <a:r>
              <a:t>School-Aged Children and Adolescents ............................................. 13 </a:t>
            </a:r>
          </a:p>
          <a:p>
            <a:r>
              <a:t>Age-specific interview and assessment tips. ......................................... 13 </a:t>
            </a:r>
          </a:p>
          <a:p>
            <a:r>
              <a:t>Infant ................................................................................................... 13 </a:t>
            </a:r>
          </a:p>
          <a:p>
            <a:r>
              <a:t>Toddler ................................................................................................ 14 </a:t>
            </a:r>
          </a:p>
          <a:p>
            <a:r>
              <a:t>Preschool child ................................................................................... 14 </a:t>
            </a:r>
          </a:p>
          <a:p>
            <a:r>
              <a:t>School-age child ................................................................................. 15 </a:t>
            </a:r>
          </a:p>
          <a:p>
            <a:r>
              <a:t>Adolescent .......................................................................................... 15 </a:t>
            </a:r>
          </a:p>
          <a:p>
            <a:r>
              <a:t>Review of systems: ................................................................................ 16 </a:t>
            </a:r>
          </a:p>
          <a:p>
            <a:r>
              <a:t>Physical examination ................................................................................ 21 </a:t>
            </a:r>
          </a:p>
          <a:p>
            <a:r>
              <a:t>There are two types of physical examination: ....................................... 22 </a:t>
            </a:r>
          </a:p>
          <a:p>
            <a:r>
              <a:t>B.Focused physical examination ........................................................ 22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List of Content                                                                          1 </a:t>
            </a:r>
          </a:p>
          <a:p>
            <a:r>
              <a:t>Contents </a:t>
            </a:r>
          </a:p>
          <a:p>
            <a:r>
              <a:t>Communication ........................................................................................... 5 </a:t>
            </a:r>
          </a:p>
          <a:p>
            <a:r>
              <a:t>What is communication? ......................................................................... 6 </a:t>
            </a:r>
          </a:p>
          <a:p>
            <a:r>
              <a:t>What are the types of Communication? .................................................. 6 </a:t>
            </a:r>
          </a:p>
          <a:p>
            <a:r>
              <a:t>1- Verbal communication: .................................................................... 6 </a:t>
            </a:r>
          </a:p>
          <a:p>
            <a:r>
              <a:t>2-NONVERBAL COMMUNICATION .............................................. 6 </a:t>
            </a:r>
          </a:p>
          <a:p>
            <a:r>
              <a:t>Pediatric Health History............................................................................ 10 </a:t>
            </a:r>
          </a:p>
          <a:p>
            <a:r>
              <a:t>The Health History ................................................................................ 11 </a:t>
            </a:r>
          </a:p>
          <a:p>
            <a:r>
              <a:t>Types of Pediatric Health Histories ....................................................... 11 </a:t>
            </a:r>
          </a:p>
          <a:p>
            <a:r>
              <a:t>1. Initial (comprehensive) health history........................................... 11 </a:t>
            </a:r>
          </a:p>
          <a:p>
            <a:r>
              <a:t>2.  Interval (well-child) health history ............................................... 11 </a:t>
            </a:r>
          </a:p>
          <a:p>
            <a:r>
              <a:t>3. Focused (episodic) health history .................................................. 11 </a:t>
            </a:r>
          </a:p>
          <a:p>
            <a:r>
              <a:t>4. Follow-up health history ............................................................... 11 </a:t>
            </a:r>
          </a:p>
          <a:p>
            <a:r>
              <a:t>5. Emergency health history .............................................................. 11 </a:t>
            </a:r>
          </a:p>
          <a:p>
            <a:r>
              <a:t>DATA COLLECTION .......................................................................... 12 </a:t>
            </a:r>
          </a:p>
          <a:p>
            <a:r>
              <a:t>1. Subjective data. ............................................................................. 12 </a:t>
            </a:r>
          </a:p>
          <a:p>
            <a:r>
              <a:t>2. Objective data.. .......................................................................... …12 </a:t>
            </a:r>
          </a:p>
          <a:p>
            <a:r>
              <a:t>Methods of Data Collection ................................................................... 12 </a:t>
            </a:r>
          </a:p>
          <a:p>
            <a:r>
              <a:t>How to Conduct a Pediatric History Interview ..................................... 12 </a:t>
            </a:r>
          </a:p>
          <a:p>
            <a:r>
              <a:t>Infants and Young Children ............................................................... 13 </a:t>
            </a:r>
          </a:p>
          <a:p>
            <a:r>
              <a:t>School-Aged Children and Adolescents ............................................. 13 </a:t>
            </a:r>
          </a:p>
          <a:p>
            <a:r>
              <a:t>Age-specific interview and assessment tips. ......................................... 13 </a:t>
            </a:r>
          </a:p>
          <a:p>
            <a:r>
              <a:t>Infant ................................................................................................... 13 </a:t>
            </a:r>
          </a:p>
          <a:p>
            <a:r>
              <a:t>Toddler ................................................................................................ 14 </a:t>
            </a:r>
          </a:p>
          <a:p>
            <a:r>
              <a:t>Preschool child ................................................................................... 14 </a:t>
            </a:r>
          </a:p>
          <a:p>
            <a:r>
              <a:t>School-age child ................................................................................. 15 </a:t>
            </a:r>
          </a:p>
          <a:p>
            <a:r>
              <a:t>Adolescent .......................................................................................... 15 </a:t>
            </a:r>
          </a:p>
          <a:p>
            <a:r>
              <a:t>Review of systems: ................................................................................ 16 </a:t>
            </a:r>
          </a:p>
          <a:p>
            <a:r>
              <a:t>Physical examination ................................................................................ 21 </a:t>
            </a:r>
          </a:p>
          <a:p>
            <a:r>
              <a:t>There are two types of physical examination: ....................................... 22 </a:t>
            </a:r>
          </a:p>
          <a:p>
            <a:r>
              <a:t>B.Focused physical examination ........................................................ 22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List of Content                                                                          1 </a:t>
            </a:r>
          </a:p>
          <a:p>
            <a:r>
              <a:t>Contents </a:t>
            </a:r>
          </a:p>
          <a:p>
            <a:r>
              <a:t>Communication ........................................................................................... 5 </a:t>
            </a:r>
          </a:p>
          <a:p>
            <a:r>
              <a:t>What is communication? ......................................................................... 6 </a:t>
            </a:r>
          </a:p>
          <a:p>
            <a:r>
              <a:t>What are the types of Communication? .................................................. 6 </a:t>
            </a:r>
          </a:p>
          <a:p>
            <a:r>
              <a:t>1- Verbal communication: .................................................................... 6 </a:t>
            </a:r>
          </a:p>
          <a:p>
            <a:r>
              <a:t>2-NONVERBAL COMMUNICATION .............................................. 6 </a:t>
            </a:r>
          </a:p>
          <a:p>
            <a:r>
              <a:t>Pediatric Health History............................................................................ 10 </a:t>
            </a:r>
          </a:p>
          <a:p>
            <a:r>
              <a:t>The Health History ................................................................................ 11 </a:t>
            </a:r>
          </a:p>
          <a:p>
            <a:r>
              <a:t>Types of Pediatric Health Histories ....................................................... 11 </a:t>
            </a:r>
          </a:p>
          <a:p>
            <a:r>
              <a:t>1. Initial (comprehensive) health history........................................... 11 </a:t>
            </a:r>
          </a:p>
          <a:p>
            <a:r>
              <a:t>2.  Interval (well-child) health history ............................................... 11 </a:t>
            </a:r>
          </a:p>
          <a:p>
            <a:r>
              <a:t>3. Focused (episodic) health history .................................................. 11 </a:t>
            </a:r>
          </a:p>
          <a:p>
            <a:r>
              <a:t>4. Follow-up health history ............................................................... 11 </a:t>
            </a:r>
          </a:p>
          <a:p>
            <a:r>
              <a:t>5. Emergency health history .............................................................. 11 </a:t>
            </a:r>
          </a:p>
          <a:p>
            <a:r>
              <a:t>DATA COLLECTION .......................................................................... 12 </a:t>
            </a:r>
          </a:p>
          <a:p>
            <a:r>
              <a:t>1. Subjective data. ............................................................................. 12 </a:t>
            </a:r>
          </a:p>
          <a:p>
            <a:r>
              <a:t>2. Objective data.. .......................................................................... …12 </a:t>
            </a:r>
          </a:p>
          <a:p>
            <a:r>
              <a:t>Methods of Data Collection ................................................................... 12 </a:t>
            </a:r>
          </a:p>
          <a:p>
            <a:r>
              <a:t>How to Conduct a Pediatric History Interview ..................................... 12 </a:t>
            </a:r>
          </a:p>
          <a:p>
            <a:r>
              <a:t>Infants and Young Children ............................................................... 13 </a:t>
            </a:r>
          </a:p>
          <a:p>
            <a:r>
              <a:t>School-Aged Children and Adolescents ............................................. 13 </a:t>
            </a:r>
          </a:p>
          <a:p>
            <a:r>
              <a:t>Age-specific interview and assessment tips. ......................................... 13 </a:t>
            </a:r>
          </a:p>
          <a:p>
            <a:r>
              <a:t>Infant ................................................................................................... 13 </a:t>
            </a:r>
          </a:p>
          <a:p>
            <a:r>
              <a:t>Toddler ................................................................................................ 14 </a:t>
            </a:r>
          </a:p>
          <a:p>
            <a:r>
              <a:t>Preschool child ................................................................................... 14 </a:t>
            </a:r>
          </a:p>
          <a:p>
            <a:r>
              <a:t>School-age child ................................................................................. 15 </a:t>
            </a:r>
          </a:p>
          <a:p>
            <a:r>
              <a:t>Adolescent .......................................................................................... 15 </a:t>
            </a:r>
          </a:p>
          <a:p>
            <a:r>
              <a:t>Review of systems: ................................................................................ 16 </a:t>
            </a:r>
          </a:p>
          <a:p>
            <a:r>
              <a:t>Physical examination ................................................................................ 21 </a:t>
            </a:r>
          </a:p>
          <a:p>
            <a:r>
              <a:t>There are two types of physical examination: ....................................... 22 </a:t>
            </a:r>
          </a:p>
          <a:p>
            <a:r>
              <a:t>B.Focused physical examination ........................................................ 22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List of Content                                                                          2 </a:t>
            </a:r>
          </a:p>
          <a:p>
            <a:r>
              <a:t>EXAMINATION TECHNIQUES ......................................................... 22 </a:t>
            </a:r>
          </a:p>
          <a:p>
            <a:r>
              <a:t>PREPARATION OF THE CHILD........................................................ 23 </a:t>
            </a:r>
          </a:p>
          <a:p>
            <a:r>
              <a:t>Preparation of the Environment ............................................................. 23 </a:t>
            </a:r>
          </a:p>
          <a:p>
            <a:r>
              <a:t>Sequence of Pediatric Physical Examination According to Age and </a:t>
            </a:r>
          </a:p>
          <a:p>
            <a:r>
              <a:t>Developmental Level ............................................................................. 24 </a:t>
            </a:r>
          </a:p>
          <a:p>
            <a:r>
              <a:t>PHYSICAL ASSESSMENT OF THE NEWBORN ............................. 26 </a:t>
            </a:r>
          </a:p>
          <a:p>
            <a:r>
              <a:t>Anthropometric measurements ................................................................. 30 </a:t>
            </a:r>
          </a:p>
          <a:p>
            <a:r>
              <a:t>Anthropometry ....................................................................................... 31 </a:t>
            </a:r>
          </a:p>
          <a:p>
            <a:r>
              <a:t>Weight measured: ................................................................................... 31 </a:t>
            </a:r>
          </a:p>
          <a:p>
            <a:r>
              <a:t>Weight progression (1-12 month).......................................................... 31 </a:t>
            </a:r>
          </a:p>
          <a:p>
            <a:r>
              <a:t>Height or Length .................................................................................... 31 </a:t>
            </a:r>
          </a:p>
          <a:p>
            <a:r>
              <a:t>Head circumference: .............................................................................. 33 </a:t>
            </a:r>
          </a:p>
          <a:p>
            <a:r>
              <a:t>Chest circumference: ............................................................................. 34 </a:t>
            </a:r>
          </a:p>
          <a:p>
            <a:r>
              <a:t>Body Mass Index ................................................................................... 35 </a:t>
            </a:r>
          </a:p>
          <a:p>
            <a:r>
              <a:t>Physiologic measurements ........................................................................ 36 </a:t>
            </a:r>
          </a:p>
          <a:p>
            <a:r>
              <a:t>Temperature ........................................................................................... 37 </a:t>
            </a:r>
          </a:p>
          <a:p>
            <a:r>
              <a:t>Respiration ............................................................................................. 40 </a:t>
            </a:r>
          </a:p>
          <a:p>
            <a:r>
              <a:t>Blood Pressure ....................................................................................... 41 </a:t>
            </a:r>
          </a:p>
          <a:p>
            <a:r>
              <a:t>Reflexes ..................................................................................................... 42 </a:t>
            </a:r>
          </a:p>
          <a:p>
            <a:r>
              <a:t>Primitive reflexes ................................................................................ 43 </a:t>
            </a:r>
          </a:p>
          <a:p>
            <a:r>
              <a:t>1.Rooting reflex:… ............................................................................. 43 </a:t>
            </a:r>
          </a:p>
          <a:p>
            <a:r>
              <a:t>2.Sucking reflex:… ............................................................................. 43 </a:t>
            </a:r>
          </a:p>
          <a:p>
            <a:r>
              <a:t>3.Startle reflexes:… ............................................................................ 43 </a:t>
            </a:r>
          </a:p>
          <a:p>
            <a:r>
              <a:t>4.The tonic neck reflex. .................................................... …….……43 </a:t>
            </a:r>
          </a:p>
          <a:p>
            <a:r>
              <a:t>5.The Moro reflex:.. ............................................................................ 43 </a:t>
            </a:r>
          </a:p>
          <a:p>
            <a:r>
              <a:t>6.The grasping reflex. ......................................................................... 43 </a:t>
            </a:r>
          </a:p>
          <a:p>
            <a:r>
              <a:t>7.The Babinski reflex: ........................................................................ 43 </a:t>
            </a:r>
          </a:p>
          <a:p>
            <a:r>
              <a:t>8.Dancing (or stepping) reflex:........................................................... 43 </a:t>
            </a:r>
          </a:p>
          <a:p>
            <a:r>
              <a:t>9.Palmar grasp:… ............................................................................... 43 </a:t>
            </a:r>
          </a:p>
          <a:p>
            <a:r>
              <a:t>10.Plantar grasp:.. ............................................................................... 43 </a:t>
            </a:r>
          </a:p>
          <a:p>
            <a:r>
              <a:t>11.Protective reflexes: ........................................................................ 43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List of Content                                                                          2 </a:t>
            </a:r>
          </a:p>
          <a:p>
            <a:r>
              <a:t>EXAMINATION TECHNIQUES ......................................................... 22 </a:t>
            </a:r>
          </a:p>
          <a:p>
            <a:r>
              <a:t>PREPARATION OF THE CHILD........................................................ 23 </a:t>
            </a:r>
          </a:p>
          <a:p>
            <a:r>
              <a:t>Preparation of the Environment ............................................................. 23 </a:t>
            </a:r>
          </a:p>
          <a:p>
            <a:r>
              <a:t>Sequence of Pediatric Physical Examination According to Age and </a:t>
            </a:r>
          </a:p>
          <a:p>
            <a:r>
              <a:t>Developmental Level ............................................................................. 24 </a:t>
            </a:r>
          </a:p>
          <a:p>
            <a:r>
              <a:t>PHYSICAL ASSESSMENT OF THE NEWBORN ............................. 26 </a:t>
            </a:r>
          </a:p>
          <a:p>
            <a:r>
              <a:t>Anthropometric measurements ................................................................. 30 </a:t>
            </a:r>
          </a:p>
          <a:p>
            <a:r>
              <a:t>Anthropometry ....................................................................................... 31 </a:t>
            </a:r>
          </a:p>
          <a:p>
            <a:r>
              <a:t>Weight measured: ................................................................................... 31 </a:t>
            </a:r>
          </a:p>
          <a:p>
            <a:r>
              <a:t>Weight progression (1-12 month).......................................................... 31 </a:t>
            </a:r>
          </a:p>
          <a:p>
            <a:r>
              <a:t>Height or Length .................................................................................... 31 </a:t>
            </a:r>
          </a:p>
          <a:p>
            <a:r>
              <a:t>Head circumference: .............................................................................. 33 </a:t>
            </a:r>
          </a:p>
          <a:p>
            <a:r>
              <a:t>Chest circumference: ............................................................................. 34 </a:t>
            </a:r>
          </a:p>
          <a:p>
            <a:r>
              <a:t>Body Mass Index ................................................................................... 35 </a:t>
            </a:r>
          </a:p>
          <a:p>
            <a:r>
              <a:t>Physiologic measurements ........................................................................ 36 </a:t>
            </a:r>
          </a:p>
          <a:p>
            <a:r>
              <a:t>Temperature ........................................................................................... 37 </a:t>
            </a:r>
          </a:p>
          <a:p>
            <a:r>
              <a:t>Respiration ............................................................................................. 40 </a:t>
            </a:r>
          </a:p>
          <a:p>
            <a:r>
              <a:t>Blood Pressure ....................................................................................... 41 </a:t>
            </a:r>
          </a:p>
          <a:p>
            <a:r>
              <a:t>Reflexes ..................................................................................................... 42 </a:t>
            </a:r>
          </a:p>
          <a:p>
            <a:r>
              <a:t>Primitive reflexes ................................................................................ 43 </a:t>
            </a:r>
          </a:p>
          <a:p>
            <a:r>
              <a:t>1.Rooting reflex:… ............................................................................. 43 </a:t>
            </a:r>
          </a:p>
          <a:p>
            <a:r>
              <a:t>2.Sucking reflex:… ............................................................................. 43 </a:t>
            </a:r>
          </a:p>
          <a:p>
            <a:r>
              <a:t>3.Startle reflexes:… ............................................................................ 43 </a:t>
            </a:r>
          </a:p>
          <a:p>
            <a:r>
              <a:t>4.The tonic neck reflex. .................................................... …….……43 </a:t>
            </a:r>
          </a:p>
          <a:p>
            <a:r>
              <a:t>5.The Moro reflex:.. ............................................................................ 43 </a:t>
            </a:r>
          </a:p>
          <a:p>
            <a:r>
              <a:t>6.The grasping reflex. ......................................................................... 43 </a:t>
            </a:r>
          </a:p>
          <a:p>
            <a:r>
              <a:t>7.The Babinski reflex: ........................................................................ 43 </a:t>
            </a:r>
          </a:p>
          <a:p>
            <a:r>
              <a:t>8.Dancing (or stepping) reflex:........................................................... 43 </a:t>
            </a:r>
          </a:p>
          <a:p>
            <a:r>
              <a:t>9.Palmar grasp:… ............................................................................... 43 </a:t>
            </a:r>
          </a:p>
          <a:p>
            <a:r>
              <a:t>10.Plantar grasp:.. ............................................................................... 43 </a:t>
            </a:r>
          </a:p>
          <a:p>
            <a:r>
              <a:t>11.Protective reflexes: ........................................................................ 43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List of Content                                                                          2 </a:t>
            </a:r>
          </a:p>
          <a:p>
            <a:r>
              <a:t>EXAMINATION TECHNIQUES ......................................................... 22 </a:t>
            </a:r>
          </a:p>
          <a:p>
            <a:r>
              <a:t>PREPARATION OF THE CHILD........................................................ 23 </a:t>
            </a:r>
          </a:p>
          <a:p>
            <a:r>
              <a:t>Preparation of the Environment ............................................................. 23 </a:t>
            </a:r>
          </a:p>
          <a:p>
            <a:r>
              <a:t>Sequence of Pediatric Physical Examination According to Age and </a:t>
            </a:r>
          </a:p>
          <a:p>
            <a:r>
              <a:t>Developmental Level ............................................................................. 24 </a:t>
            </a:r>
          </a:p>
          <a:p>
            <a:r>
              <a:t>PHYSICAL ASSESSMENT OF THE NEWBORN ............................. 26 </a:t>
            </a:r>
          </a:p>
          <a:p>
            <a:r>
              <a:t>Anthropometric measurements ................................................................. 30 </a:t>
            </a:r>
          </a:p>
          <a:p>
            <a:r>
              <a:t>Anthropometry ....................................................................................... 31 </a:t>
            </a:r>
          </a:p>
          <a:p>
            <a:r>
              <a:t>Weight measured: ................................................................................... 31 </a:t>
            </a:r>
          </a:p>
          <a:p>
            <a:r>
              <a:t>Weight progression (1-12 month).......................................................... 31 </a:t>
            </a:r>
          </a:p>
          <a:p>
            <a:r>
              <a:t>Height or Length .................................................................................... 31 </a:t>
            </a:r>
          </a:p>
          <a:p>
            <a:r>
              <a:t>Head circumference: .............................................................................. 33 </a:t>
            </a:r>
          </a:p>
          <a:p>
            <a:r>
              <a:t>Chest circumference: ............................................................................. 34 </a:t>
            </a:r>
          </a:p>
          <a:p>
            <a:r>
              <a:t>Body Mass Index ................................................................................... 35 </a:t>
            </a:r>
          </a:p>
          <a:p>
            <a:r>
              <a:t>Physiologic measurements ........................................................................ 36 </a:t>
            </a:r>
          </a:p>
          <a:p>
            <a:r>
              <a:t>Temperature ........................................................................................... 37 </a:t>
            </a:r>
          </a:p>
          <a:p>
            <a:r>
              <a:t>Respiration ............................................................................................. 40 </a:t>
            </a:r>
          </a:p>
          <a:p>
            <a:r>
              <a:t>Blood Pressure ....................................................................................... 41 </a:t>
            </a:r>
          </a:p>
          <a:p>
            <a:r>
              <a:t>Reflexes ..................................................................................................... 42 </a:t>
            </a:r>
          </a:p>
          <a:p>
            <a:r>
              <a:t>Primitive reflexes ................................................................................ 43 </a:t>
            </a:r>
          </a:p>
          <a:p>
            <a:r>
              <a:t>1.Rooting reflex:… ............................................................................. 43 </a:t>
            </a:r>
          </a:p>
          <a:p>
            <a:r>
              <a:t>2.Sucking reflex:… ............................................................................. 43 </a:t>
            </a:r>
          </a:p>
          <a:p>
            <a:r>
              <a:t>3.Startle reflexes:… ............................................................................ 43 </a:t>
            </a:r>
          </a:p>
          <a:p>
            <a:r>
              <a:t>4.The tonic neck reflex. .................................................... …….……43 </a:t>
            </a:r>
          </a:p>
          <a:p>
            <a:r>
              <a:t>5.The Moro reflex:.. ............................................................................ 43 </a:t>
            </a:r>
          </a:p>
          <a:p>
            <a:r>
              <a:t>6.The grasping reflex. ......................................................................... 43 </a:t>
            </a:r>
          </a:p>
          <a:p>
            <a:r>
              <a:t>7.The Babinski reflex: ........................................................................ 43 </a:t>
            </a:r>
          </a:p>
          <a:p>
            <a:r>
              <a:t>8.Dancing (or stepping) reflex:........................................................... 43 </a:t>
            </a:r>
          </a:p>
          <a:p>
            <a:r>
              <a:t>9.Palmar grasp:… ............................................................................... 43 </a:t>
            </a:r>
          </a:p>
          <a:p>
            <a:r>
              <a:t>10.Plantar grasp:.. ............................................................................... 43 </a:t>
            </a:r>
          </a:p>
          <a:p>
            <a:r>
              <a:t>11.Protective reflexes: ........................................................................ 43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List of Content                                                                          2 </a:t>
            </a:r>
          </a:p>
          <a:p>
            <a:r>
              <a:t>EXAMINATION TECHNIQUES ......................................................... 22 </a:t>
            </a:r>
          </a:p>
          <a:p>
            <a:r>
              <a:t>PREPARATION OF THE CHILD........................................................ 23 </a:t>
            </a:r>
          </a:p>
          <a:p>
            <a:r>
              <a:t>Preparation of the Environment ............................................................. 23 </a:t>
            </a:r>
          </a:p>
          <a:p>
            <a:r>
              <a:t>Sequence of Pediatric Physical Examination According to Age and </a:t>
            </a:r>
          </a:p>
          <a:p>
            <a:r>
              <a:t>Developmental Level ............................................................................. 24 </a:t>
            </a:r>
          </a:p>
          <a:p>
            <a:r>
              <a:t>PHYSICAL ASSESSMENT OF THE NEWBORN ............................. 26 </a:t>
            </a:r>
          </a:p>
          <a:p>
            <a:r>
              <a:t>Anthropometric measurements ................................................................. 30 </a:t>
            </a:r>
          </a:p>
          <a:p>
            <a:r>
              <a:t>Anthropometry ....................................................................................... 31 </a:t>
            </a:r>
          </a:p>
          <a:p>
            <a:r>
              <a:t>Weight measured: ................................................................................... 31 </a:t>
            </a:r>
          </a:p>
          <a:p>
            <a:r>
              <a:t>Weight progression (1-12 month).......................................................... 31 </a:t>
            </a:r>
          </a:p>
          <a:p>
            <a:r>
              <a:t>Height or Length .................................................................................... 31 </a:t>
            </a:r>
          </a:p>
          <a:p>
            <a:r>
              <a:t>Head circumference: .............................................................................. 33 </a:t>
            </a:r>
          </a:p>
          <a:p>
            <a:r>
              <a:t>Chest circumference: ............................................................................. 34 </a:t>
            </a:r>
          </a:p>
          <a:p>
            <a:r>
              <a:t>Body Mass Index ................................................................................... 35 </a:t>
            </a:r>
          </a:p>
          <a:p>
            <a:r>
              <a:t>Physiologic measurements ........................................................................ 36 </a:t>
            </a:r>
          </a:p>
          <a:p>
            <a:r>
              <a:t>Temperature ........................................................................................... 37 </a:t>
            </a:r>
          </a:p>
          <a:p>
            <a:r>
              <a:t>Respiration ............................................................................................. 40 </a:t>
            </a:r>
          </a:p>
          <a:p>
            <a:r>
              <a:t>Blood Pressure ....................................................................................... 41 </a:t>
            </a:r>
          </a:p>
          <a:p>
            <a:r>
              <a:t>Reflexes ..................................................................................................... 42 </a:t>
            </a:r>
          </a:p>
          <a:p>
            <a:r>
              <a:t>Primitive reflexes ................................................................................ 43 </a:t>
            </a:r>
          </a:p>
          <a:p>
            <a:r>
              <a:t>1.Rooting reflex:… ............................................................................. 43 </a:t>
            </a:r>
          </a:p>
          <a:p>
            <a:r>
              <a:t>2.Sucking reflex:… ............................................................................. 43 </a:t>
            </a:r>
          </a:p>
          <a:p>
            <a:r>
              <a:t>3.Startle reflexes:… ............................................................................ 43 </a:t>
            </a:r>
          </a:p>
          <a:p>
            <a:r>
              <a:t>4.The tonic neck reflex. .................................................... …….……43 </a:t>
            </a:r>
          </a:p>
          <a:p>
            <a:r>
              <a:t>5.The Moro reflex:.. ............................................................................ 43 </a:t>
            </a:r>
          </a:p>
          <a:p>
            <a:r>
              <a:t>6.The grasping reflex. ......................................................................... 43 </a:t>
            </a:r>
          </a:p>
          <a:p>
            <a:r>
              <a:t>7.The Babinski reflex: ........................................................................ 43 </a:t>
            </a:r>
          </a:p>
          <a:p>
            <a:r>
              <a:t>8.Dancing (or stepping) reflex:........................................................... 43 </a:t>
            </a:r>
          </a:p>
          <a:p>
            <a:r>
              <a:t>9.Palmar grasp:… ............................................................................... 43 </a:t>
            </a:r>
          </a:p>
          <a:p>
            <a:r>
              <a:t>10.Plantar grasp:.. ............................................................................... 43 </a:t>
            </a:r>
          </a:p>
          <a:p>
            <a:r>
              <a:t>11.Protective reflexes: ........................................................................ 43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List of Content                                                                          3 </a:t>
            </a:r>
          </a:p>
          <a:p>
            <a:r>
              <a:t>Fluid Calculation and Calories Requirement ............................................ 84 </a:t>
            </a:r>
          </a:p>
          <a:p>
            <a:r>
              <a:t>Body fluid composition ......................................................................... 85 </a:t>
            </a:r>
          </a:p>
          <a:p>
            <a:r>
              <a:t>1. </a:t>
            </a:r>
          </a:p>
          <a:p>
            <a:r>
              <a:t>Intracellular .............................................................. 85 </a:t>
            </a:r>
          </a:p>
          <a:p>
            <a:r>
              <a:t>2. </a:t>
            </a:r>
          </a:p>
          <a:p>
            <a:r>
              <a:t>Extracellular ............................................................. 85 </a:t>
            </a:r>
          </a:p>
          <a:p>
            <a:r>
              <a:t>Calculating Pediatric Fluid Needs ......................................................... 85 </a:t>
            </a:r>
          </a:p>
          <a:p>
            <a:r>
              <a:t>Fluid needs based on weight............................................................... 85 </a:t>
            </a:r>
          </a:p>
          <a:p>
            <a:r>
              <a:t>The hourly maintenance requirement can be calculated from the </a:t>
            </a:r>
          </a:p>
          <a:p>
            <a:r>
              <a:t>following formula: ................................................................................. 86 </a:t>
            </a:r>
          </a:p>
          <a:p>
            <a:r>
              <a:t>Types of I.V. solutions .......................................................................... 86 </a:t>
            </a:r>
          </a:p>
          <a:p>
            <a:r>
              <a:t>Energy / Calories requirement .................................................................. 87 </a:t>
            </a:r>
          </a:p>
          <a:p>
            <a:r>
              <a:t>There are three type of milk each cup (200ml) contain: ....................... 88 </a:t>
            </a:r>
          </a:p>
          <a:p>
            <a:r>
              <a:t>Calculating a Formula’s Adequacy ....................................................... 89 </a:t>
            </a:r>
          </a:p>
          <a:p>
            <a:r>
              <a:t>Oxygen Therapy........................................................................................ 90 </a:t>
            </a:r>
          </a:p>
          <a:p>
            <a:r>
              <a:t>Introduction: .......................................................................................... 90 </a:t>
            </a:r>
          </a:p>
          <a:p>
            <a:r>
              <a:t>Definition: .............................................................................................. 91 </a:t>
            </a:r>
          </a:p>
          <a:p>
            <a:r>
              <a:t>Purpose: ................................................................................................. 91 </a:t>
            </a:r>
          </a:p>
          <a:p>
            <a:r>
              <a:t>Indication: .............................................................................................. 91 </a:t>
            </a:r>
          </a:p>
          <a:p>
            <a:r>
              <a:t>Types:..................................................................................................... 91 </a:t>
            </a:r>
          </a:p>
          <a:p>
            <a:r>
              <a:t>Methods: ................................................................................................ 92 </a:t>
            </a:r>
          </a:p>
          <a:p>
            <a:r>
              <a:t>1- Simple face mask ........................................................................... 92 </a:t>
            </a:r>
          </a:p>
          <a:p>
            <a:r>
              <a:t>2- Nasal Cannula ................................................................................ 92 </a:t>
            </a:r>
          </a:p>
          <a:p>
            <a:r>
              <a:t>3- Head box (hood) ............................................................................. 93 </a:t>
            </a:r>
          </a:p>
          <a:p>
            <a:r>
              <a:t>4- Mist tent .......................................................................................... 93 </a:t>
            </a:r>
          </a:p>
          <a:p>
            <a:r>
              <a:t>5- Incubator ......................................................................................... 93 </a:t>
            </a:r>
          </a:p>
          <a:p>
            <a:r>
              <a:t>Equipment: ............................................................................................. 94 </a:t>
            </a:r>
          </a:p>
          <a:p>
            <a:r>
              <a:t>Humidification ....................................................................................... 94 </a:t>
            </a:r>
          </a:p>
          <a:p>
            <a:r>
              <a:t>Procedures of nasal cannula, mask or hood........................................... 94 </a:t>
            </a:r>
          </a:p>
          <a:p>
            <a:r>
              <a:t>Immunization and vaccination .................................................................. 97 </a:t>
            </a:r>
          </a:p>
          <a:p>
            <a:r>
              <a:t>Immunization ......................................................................................... 97 </a:t>
            </a:r>
          </a:p>
          <a:p>
            <a:r>
              <a:t>Nasogastric Intubation ............................................................................ 106 </a:t>
            </a:r>
          </a:p>
          <a:p>
            <a:r>
              <a:t>Definition of Gavage feeding: ............................................................. 107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List of Content                                                                          3 </a:t>
            </a:r>
          </a:p>
          <a:p>
            <a:r>
              <a:t>Fluid Calculation and Calories Requirement ............................................ 84 </a:t>
            </a:r>
          </a:p>
          <a:p>
            <a:r>
              <a:t>Body fluid composition ......................................................................... 85 </a:t>
            </a:r>
          </a:p>
          <a:p>
            <a:r>
              <a:t>1. </a:t>
            </a:r>
          </a:p>
          <a:p>
            <a:r>
              <a:t>Intracellular .............................................................. 85 </a:t>
            </a:r>
          </a:p>
          <a:p>
            <a:r>
              <a:t>2. </a:t>
            </a:r>
          </a:p>
          <a:p>
            <a:r>
              <a:t>Extracellular ............................................................. 85 </a:t>
            </a:r>
          </a:p>
          <a:p>
            <a:r>
              <a:t>Calculating Pediatric Fluid Needs ......................................................... 85 </a:t>
            </a:r>
          </a:p>
          <a:p>
            <a:r>
              <a:t>Fluid needs based on weight............................................................... 85 </a:t>
            </a:r>
          </a:p>
          <a:p>
            <a:r>
              <a:t>The hourly maintenance requirement can be calculated from the </a:t>
            </a:r>
          </a:p>
          <a:p>
            <a:r>
              <a:t>following formula: ................................................................................. 86 </a:t>
            </a:r>
          </a:p>
          <a:p>
            <a:r>
              <a:t>Types of I.V. solutions .......................................................................... 86 </a:t>
            </a:r>
          </a:p>
          <a:p>
            <a:r>
              <a:t>Energy / Calories requirement .................................................................. 87 </a:t>
            </a:r>
          </a:p>
          <a:p>
            <a:r>
              <a:t>There are three type of milk each cup (200ml) contain: ....................... 88 </a:t>
            </a:r>
          </a:p>
          <a:p>
            <a:r>
              <a:t>Calculating a Formula’s Adequacy ....................................................... 89 </a:t>
            </a:r>
          </a:p>
          <a:p>
            <a:r>
              <a:t>Oxygen Therapy........................................................................................ 90 </a:t>
            </a:r>
          </a:p>
          <a:p>
            <a:r>
              <a:t>Introduction: .......................................................................................... 90 </a:t>
            </a:r>
          </a:p>
          <a:p>
            <a:r>
              <a:t>Definition: .............................................................................................. 91 </a:t>
            </a:r>
          </a:p>
          <a:p>
            <a:r>
              <a:t>Purpose: ................................................................................................. 91 </a:t>
            </a:r>
          </a:p>
          <a:p>
            <a:r>
              <a:t>Indication: .............................................................................................. 91 </a:t>
            </a:r>
          </a:p>
          <a:p>
            <a:r>
              <a:t>Types:..................................................................................................... 91 </a:t>
            </a:r>
          </a:p>
          <a:p>
            <a:r>
              <a:t>Methods: ................................................................................................ 92 </a:t>
            </a:r>
          </a:p>
          <a:p>
            <a:r>
              <a:t>1- Simple face mask ........................................................................... 92 </a:t>
            </a:r>
          </a:p>
          <a:p>
            <a:r>
              <a:t>2- Nasal Cannula ................................................................................ 92 </a:t>
            </a:r>
          </a:p>
          <a:p>
            <a:r>
              <a:t>3- Head box (hood) ............................................................................. 93 </a:t>
            </a:r>
          </a:p>
          <a:p>
            <a:r>
              <a:t>4- Mist tent .......................................................................................... 93 </a:t>
            </a:r>
          </a:p>
          <a:p>
            <a:r>
              <a:t>5- Incubator ......................................................................................... 93 </a:t>
            </a:r>
          </a:p>
          <a:p>
            <a:r>
              <a:t>Equipment: ............................................................................................. 94 </a:t>
            </a:r>
          </a:p>
          <a:p>
            <a:r>
              <a:t>Humidification ....................................................................................... 94 </a:t>
            </a:r>
          </a:p>
          <a:p>
            <a:r>
              <a:t>Procedures of nasal cannula, mask or hood........................................... 94 </a:t>
            </a:r>
          </a:p>
          <a:p>
            <a:r>
              <a:t>Immunization and vaccination .................................................................. 97 </a:t>
            </a:r>
          </a:p>
          <a:p>
            <a:r>
              <a:t>Immunization ......................................................................................... 97 </a:t>
            </a:r>
          </a:p>
          <a:p>
            <a:r>
              <a:t>Nasogastric Intubation ............................................................................ 106 </a:t>
            </a:r>
          </a:p>
          <a:p>
            <a:r>
              <a:t>Definition of Gavage feeding: ............................................................. 107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List of Content                                                                          3 </a:t>
            </a:r>
          </a:p>
          <a:p>
            <a:r>
              <a:t>Fluid Calculation and Calories Requirement ............................................ 84 </a:t>
            </a:r>
          </a:p>
          <a:p>
            <a:r>
              <a:t>Body fluid composition ......................................................................... 85 </a:t>
            </a:r>
          </a:p>
          <a:p>
            <a:r>
              <a:t>1. </a:t>
            </a:r>
          </a:p>
          <a:p>
            <a:r>
              <a:t>Intracellular .............................................................. 85 </a:t>
            </a:r>
          </a:p>
          <a:p>
            <a:r>
              <a:t>2. </a:t>
            </a:r>
          </a:p>
          <a:p>
            <a:r>
              <a:t>Extracellular ............................................................. 85 </a:t>
            </a:r>
          </a:p>
          <a:p>
            <a:r>
              <a:t>Calculating Pediatric Fluid Needs ......................................................... 85 </a:t>
            </a:r>
          </a:p>
          <a:p>
            <a:r>
              <a:t>Fluid needs based on weight............................................................... 85 </a:t>
            </a:r>
          </a:p>
          <a:p>
            <a:r>
              <a:t>The hourly maintenance requirement can be calculated from the </a:t>
            </a:r>
          </a:p>
          <a:p>
            <a:r>
              <a:t>following formula: ................................................................................. 86 </a:t>
            </a:r>
          </a:p>
          <a:p>
            <a:r>
              <a:t>Types of I.V. solutions .......................................................................... 86 </a:t>
            </a:r>
          </a:p>
          <a:p>
            <a:r>
              <a:t>Energy / Calories requirement .................................................................. 87 </a:t>
            </a:r>
          </a:p>
          <a:p>
            <a:r>
              <a:t>There are three type of milk each cup (200ml) contain: ....................... 88 </a:t>
            </a:r>
          </a:p>
          <a:p>
            <a:r>
              <a:t>Calculating a Formula’s Adequacy ....................................................... 89 </a:t>
            </a:r>
          </a:p>
          <a:p>
            <a:r>
              <a:t>Oxygen Therapy........................................................................................ 90 </a:t>
            </a:r>
          </a:p>
          <a:p>
            <a:r>
              <a:t>Introduction: .......................................................................................... 90 </a:t>
            </a:r>
          </a:p>
          <a:p>
            <a:r>
              <a:t>Definition: .............................................................................................. 91 </a:t>
            </a:r>
          </a:p>
          <a:p>
            <a:r>
              <a:t>Purpose: ................................................................................................. 91 </a:t>
            </a:r>
          </a:p>
          <a:p>
            <a:r>
              <a:t>Indication: .............................................................................................. 91 </a:t>
            </a:r>
          </a:p>
          <a:p>
            <a:r>
              <a:t>Types:..................................................................................................... 91 </a:t>
            </a:r>
          </a:p>
          <a:p>
            <a:r>
              <a:t>Methods: ................................................................................................ 92 </a:t>
            </a:r>
          </a:p>
          <a:p>
            <a:r>
              <a:t>1- Simple face mask ........................................................................... 92 </a:t>
            </a:r>
          </a:p>
          <a:p>
            <a:r>
              <a:t>2- Nasal Cannula ................................................................................ 92 </a:t>
            </a:r>
          </a:p>
          <a:p>
            <a:r>
              <a:t>3- Head box (hood) ............................................................................. 93 </a:t>
            </a:r>
          </a:p>
          <a:p>
            <a:r>
              <a:t>4- Mist tent .......................................................................................... 93 </a:t>
            </a:r>
          </a:p>
          <a:p>
            <a:r>
              <a:t>5- Incubator ......................................................................................... 93 </a:t>
            </a:r>
          </a:p>
          <a:p>
            <a:r>
              <a:t>Equipment: ............................................................................................. 94 </a:t>
            </a:r>
          </a:p>
          <a:p>
            <a:r>
              <a:t>Humidification ....................................................................................... 94 </a:t>
            </a:r>
          </a:p>
          <a:p>
            <a:r>
              <a:t>Procedures of nasal cannula, mask or hood........................................... 94 </a:t>
            </a:r>
          </a:p>
          <a:p>
            <a:r>
              <a:t>Immunization and vaccination .................................................................. 97 </a:t>
            </a:r>
          </a:p>
          <a:p>
            <a:r>
              <a:t>Immunization ......................................................................................... 97 </a:t>
            </a:r>
          </a:p>
          <a:p>
            <a:r>
              <a:t>Nasogastric Intubation ............................................................................ 106 </a:t>
            </a:r>
          </a:p>
          <a:p>
            <a:r>
              <a:t>Definition of Gavage feeding: ............................................................. 107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List of Content                                                                          3 </a:t>
            </a:r>
          </a:p>
          <a:p>
            <a:r>
              <a:t>Fluid Calculation and Calories Requirement ............................................ 84 </a:t>
            </a:r>
          </a:p>
          <a:p>
            <a:r>
              <a:t>Body fluid composition ......................................................................... 85 </a:t>
            </a:r>
          </a:p>
          <a:p>
            <a:r>
              <a:t>1. </a:t>
            </a:r>
          </a:p>
          <a:p>
            <a:r>
              <a:t>Intracellular .............................................................. 85 </a:t>
            </a:r>
          </a:p>
          <a:p>
            <a:r>
              <a:t>2. </a:t>
            </a:r>
          </a:p>
          <a:p>
            <a:r>
              <a:t>Extracellular ............................................................. 85 </a:t>
            </a:r>
          </a:p>
          <a:p>
            <a:r>
              <a:t>Calculating Pediatric Fluid Needs ......................................................... 85 </a:t>
            </a:r>
          </a:p>
          <a:p>
            <a:r>
              <a:t>Fluid needs based on weight............................................................... 85 </a:t>
            </a:r>
          </a:p>
          <a:p>
            <a:r>
              <a:t>The hourly maintenance requirement can be calculated from the </a:t>
            </a:r>
          </a:p>
          <a:p>
            <a:r>
              <a:t>following formula: ................................................................................. 86 </a:t>
            </a:r>
          </a:p>
          <a:p>
            <a:r>
              <a:t>Types of I.V. solutions .......................................................................... 86 </a:t>
            </a:r>
          </a:p>
          <a:p>
            <a:r>
              <a:t>Energy / Calories requirement .................................................................. 87 </a:t>
            </a:r>
          </a:p>
          <a:p>
            <a:r>
              <a:t>There are three type of milk each cup (200ml) contain: ....................... 88 </a:t>
            </a:r>
          </a:p>
          <a:p>
            <a:r>
              <a:t>Calculating a Formula’s Adequacy ....................................................... 89 </a:t>
            </a:r>
          </a:p>
          <a:p>
            <a:r>
              <a:t>Oxygen Therapy........................................................................................ 90 </a:t>
            </a:r>
          </a:p>
          <a:p>
            <a:r>
              <a:t>Introduction: .......................................................................................... 90 </a:t>
            </a:r>
          </a:p>
          <a:p>
            <a:r>
              <a:t>Definition: .............................................................................................. 91 </a:t>
            </a:r>
          </a:p>
          <a:p>
            <a:r>
              <a:t>Purpose: ................................................................................................. 91 </a:t>
            </a:r>
          </a:p>
          <a:p>
            <a:r>
              <a:t>Indication: .............................................................................................. 91 </a:t>
            </a:r>
          </a:p>
          <a:p>
            <a:r>
              <a:t>Types:..................................................................................................... 91 </a:t>
            </a:r>
          </a:p>
          <a:p>
            <a:r>
              <a:t>Methods: ................................................................................................ 92 </a:t>
            </a:r>
          </a:p>
          <a:p>
            <a:r>
              <a:t>1- Simple face mask ........................................................................... 92 </a:t>
            </a:r>
          </a:p>
          <a:p>
            <a:r>
              <a:t>2- Nasal Cannula ................................................................................ 92 </a:t>
            </a:r>
          </a:p>
          <a:p>
            <a:r>
              <a:t>3- Head box (hood) ............................................................................. 93 </a:t>
            </a:r>
          </a:p>
          <a:p>
            <a:r>
              <a:t>4- Mist tent .......................................................................................... 93 </a:t>
            </a:r>
          </a:p>
          <a:p>
            <a:r>
              <a:t>5- Incubator ......................................................................................... 93 </a:t>
            </a:r>
          </a:p>
          <a:p>
            <a:r>
              <a:t>Equipment: ............................................................................................. 94 </a:t>
            </a:r>
          </a:p>
          <a:p>
            <a:r>
              <a:t>Humidification ....................................................................................... 94 </a:t>
            </a:r>
          </a:p>
          <a:p>
            <a:r>
              <a:t>Procedures of nasal cannula, mask or hood........................................... 94 </a:t>
            </a:r>
          </a:p>
          <a:p>
            <a:r>
              <a:t>Immunization and vaccination .................................................................. 97 </a:t>
            </a:r>
          </a:p>
          <a:p>
            <a:r>
              <a:t>Immunization ......................................................................................... 97 </a:t>
            </a:r>
          </a:p>
          <a:p>
            <a:r>
              <a:t>Nasogastric Intubation ............................................................................ 106 </a:t>
            </a:r>
          </a:p>
          <a:p>
            <a:r>
              <a:t>Definition of Gavage feeding: ............................................................. 107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List of Content                                                                          3 </a:t>
            </a:r>
          </a:p>
          <a:p>
            <a:r>
              <a:t>Fluid Calculation and Calories Requirement ............................................ 84 </a:t>
            </a:r>
          </a:p>
          <a:p>
            <a:r>
              <a:t>Body fluid composition ......................................................................... 85 </a:t>
            </a:r>
          </a:p>
          <a:p>
            <a:r>
              <a:t>1. </a:t>
            </a:r>
          </a:p>
          <a:p>
            <a:r>
              <a:t>Intracellular .............................................................. 85 </a:t>
            </a:r>
          </a:p>
          <a:p>
            <a:r>
              <a:t>2. </a:t>
            </a:r>
          </a:p>
          <a:p>
            <a:r>
              <a:t>Extracellular ............................................................. 85 </a:t>
            </a:r>
          </a:p>
          <a:p>
            <a:r>
              <a:t>Calculating Pediatric Fluid Needs ......................................................... 85 </a:t>
            </a:r>
          </a:p>
          <a:p>
            <a:r>
              <a:t>Fluid needs based on weight............................................................... 85 </a:t>
            </a:r>
          </a:p>
          <a:p>
            <a:r>
              <a:t>The hourly maintenance requirement can be calculated from the </a:t>
            </a:r>
          </a:p>
          <a:p>
            <a:r>
              <a:t>following formula: ................................................................................. 86 </a:t>
            </a:r>
          </a:p>
          <a:p>
            <a:r>
              <a:t>Types of I.V. solutions .......................................................................... 86 </a:t>
            </a:r>
          </a:p>
          <a:p>
            <a:r>
              <a:t>Energy / Calories requirement .................................................................. 87 </a:t>
            </a:r>
          </a:p>
          <a:p>
            <a:r>
              <a:t>There are three type of milk each cup (200ml) contain: ....................... 88 </a:t>
            </a:r>
          </a:p>
          <a:p>
            <a:r>
              <a:t>Calculating a Formula’s Adequacy ....................................................... 89 </a:t>
            </a:r>
          </a:p>
          <a:p>
            <a:r>
              <a:t>Oxygen Therapy........................................................................................ 90 </a:t>
            </a:r>
          </a:p>
          <a:p>
            <a:r>
              <a:t>Introduction: .......................................................................................... 90 </a:t>
            </a:r>
          </a:p>
          <a:p>
            <a:r>
              <a:t>Definition: .............................................................................................. 91 </a:t>
            </a:r>
          </a:p>
          <a:p>
            <a:r>
              <a:t>Purpose: ................................................................................................. 91 </a:t>
            </a:r>
          </a:p>
          <a:p>
            <a:r>
              <a:t>Indication: .............................................................................................. 91 </a:t>
            </a:r>
          </a:p>
          <a:p>
            <a:r>
              <a:t>Types:..................................................................................................... 91 </a:t>
            </a:r>
          </a:p>
          <a:p>
            <a:r>
              <a:t>Methods: ................................................................................................ 92 </a:t>
            </a:r>
          </a:p>
          <a:p>
            <a:r>
              <a:t>1- Simple face mask ........................................................................... 92 </a:t>
            </a:r>
          </a:p>
          <a:p>
            <a:r>
              <a:t>2- Nasal Cannula ................................................................................ 92 </a:t>
            </a:r>
          </a:p>
          <a:p>
            <a:r>
              <a:t>3- Head box (hood) ............................................................................. 93 </a:t>
            </a:r>
          </a:p>
          <a:p>
            <a:r>
              <a:t>4- Mist tent .......................................................................................... 93 </a:t>
            </a:r>
          </a:p>
          <a:p>
            <a:r>
              <a:t>5- Incubator ......................................................................................... 93 </a:t>
            </a:r>
          </a:p>
          <a:p>
            <a:r>
              <a:t>Equipment: ............................................................................................. 94 </a:t>
            </a:r>
          </a:p>
          <a:p>
            <a:r>
              <a:t>Humidification ....................................................................................... 94 </a:t>
            </a:r>
          </a:p>
          <a:p>
            <a:r>
              <a:t>Procedures of nasal cannula, mask or hood........................................... 94 </a:t>
            </a:r>
          </a:p>
          <a:p>
            <a:r>
              <a:t>Immunization and vaccination .................................................................. 97 </a:t>
            </a:r>
          </a:p>
          <a:p>
            <a:r>
              <a:t>Immunization ......................................................................................... 97 </a:t>
            </a:r>
          </a:p>
          <a:p>
            <a:r>
              <a:t>Nasogastric Intubation ............................................................................ 106 </a:t>
            </a:r>
          </a:p>
          <a:p>
            <a:r>
              <a:t>Definition of Gavage feeding: ............................................................. 107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List of Content                                                                          4 </a:t>
            </a:r>
          </a:p>
          <a:p>
            <a:r>
              <a:t>Indications: .......................................................................................... 107 </a:t>
            </a:r>
          </a:p>
          <a:p>
            <a:r>
              <a:t>Purpose of gavage feeding: .................................................................. 107 </a:t>
            </a:r>
          </a:p>
          <a:p>
            <a:r>
              <a:t>Guidelines of nasogastric tube selection: ............................................ 107 </a:t>
            </a:r>
          </a:p>
          <a:p>
            <a:r>
              <a:t>Type of tube: ........................................................................................ 108 </a:t>
            </a:r>
          </a:p>
          <a:p>
            <a:r>
              <a:t>Tube size: ............................................................................................. 108 </a:t>
            </a:r>
          </a:p>
          <a:p>
            <a:r>
              <a:t>Maximize the Feeding Pleasure of the Infant ...................................... 110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 Communication                                                                        5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Communication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Learning objectives: </a:t>
            </a:r>
          </a:p>
          <a:p>
            <a:r>
              <a:t>Upon completion of this class, the student will be able to: </a:t>
            </a:r>
          </a:p>
          <a:p>
            <a:r>
              <a:t>1-Explain what communication is and its importance in developing </a:t>
            </a:r>
          </a:p>
          <a:p>
            <a:r>
              <a:t>positive relationships with children and their families.  </a:t>
            </a:r>
          </a:p>
          <a:p>
            <a:r>
              <a:t>2-Identify communication strategies for interviewing parents.  </a:t>
            </a:r>
          </a:p>
          <a:p>
            <a:r>
              <a:t>3- Formulate guidelines for communicating with child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 Communication                                                                        6 </a:t>
            </a:r>
          </a:p>
          <a:p>
            <a:r>
              <a:t> </a:t>
            </a:r>
          </a:p>
          <a:p>
            <a:r>
              <a:t>What is communication? </a:t>
            </a:r>
          </a:p>
          <a:p>
            <a:r>
              <a:t>Communication is defined as the exchange of meanings between and </a:t>
            </a:r>
          </a:p>
          <a:p>
            <a:r>
              <a:t>among individuals through a shared system of symbols. The sender, </a:t>
            </a:r>
          </a:p>
          <a:p>
            <a:r>
              <a:t>message, channel, receiver, and feedback are major components of the </a:t>
            </a:r>
          </a:p>
          <a:p>
            <a:r>
              <a:t>communication process Communication is both talking and listening. </a:t>
            </a:r>
          </a:p>
          <a:p>
            <a:r>
              <a:t> </a:t>
            </a:r>
          </a:p>
          <a:p>
            <a:r>
              <a:t>What are the types of Communication? </a:t>
            </a:r>
          </a:p>
          <a:p>
            <a:r>
              <a:t>1- Verbal communication: </a:t>
            </a:r>
          </a:p>
          <a:p>
            <a:r>
              <a:t>Verbal communication refers to messages that are communicated through </a:t>
            </a:r>
          </a:p>
          <a:p>
            <a:r>
              <a:t>words and language (Estes, 2010). It is most effective if it is brief, clear, </a:t>
            </a:r>
          </a:p>
          <a:p>
            <a:r>
              <a:t>effectively toned, paced appropriately, relevant, and well timed </a:t>
            </a:r>
          </a:p>
          <a:p>
            <a:r>
              <a:t>Important points should be repeated and medical jargon avoided, especially </a:t>
            </a:r>
          </a:p>
          <a:p>
            <a:r>
              <a:t>when talking to children and their caregivers and families.  </a:t>
            </a:r>
          </a:p>
          <a:p>
            <a:r>
              <a:t>*Messages also need appropriate pacing; they should not be too slow or </a:t>
            </a:r>
          </a:p>
          <a:p>
            <a:r>
              <a:t>fast, and there should be few pauses and periods of silence, for example, </a:t>
            </a:r>
          </a:p>
          <a:p>
            <a:r>
              <a:t>teaching will not be effective if delivered when children are in pain or have </a:t>
            </a:r>
          </a:p>
          <a:p>
            <a:r>
              <a:t>visitors, or when caregivers are preoccupied with personal thoughts. When </a:t>
            </a:r>
          </a:p>
          <a:p>
            <a:r>
              <a:t>interacting with families, it is also essential to convey interest and warmth; </a:t>
            </a:r>
          </a:p>
          <a:p>
            <a:r>
              <a:t>to avoid distractions, yes or no questions, and personal bias; and not </a:t>
            </a:r>
          </a:p>
          <a:p>
            <a:r>
              <a:t>monopolize the conversation. </a:t>
            </a:r>
          </a:p>
          <a:p>
            <a:r>
              <a:t>2-NONVERBAL COMMUNICATION </a:t>
            </a:r>
          </a:p>
          <a:p>
            <a:r>
              <a:t>Nonverbal communication conveys feelings, attitudes, and intentions. In </a:t>
            </a:r>
          </a:p>
          <a:p>
            <a:r>
              <a:t>fact, most communication is nonverbal, and most verbal communication </a:t>
            </a:r>
          </a:p>
          <a:p>
            <a:r>
              <a:t>contradicts nonverbal messages. Listeners will believe the nonverbal </a:t>
            </a:r>
          </a:p>
          <a:p>
            <a:r>
              <a:t>message rather than the verbal message if they contradict each other. </a:t>
            </a:r>
          </a:p>
          <a:p>
            <a:r>
              <a:t>Therefore, it is critical to always consider nonverbal communication in any </a:t>
            </a:r>
          </a:p>
          <a:p>
            <a:r>
              <a:t>interaction since it contributes to what others “hear.” The nurse should use </a:t>
            </a:r>
          </a:p>
          <a:p>
            <a:r>
              <a:t>language consistent with the child’s developmental level and deliver the </a:t>
            </a:r>
          </a:p>
          <a:p>
            <a:r>
              <a:t>message so the language is consistent with the nonverbal cues. For </a:t>
            </a:r>
          </a:p>
          <a:p>
            <a:r>
              <a:t>example, never smile or laugh when giving care that may be frightening or </a:t>
            </a:r>
          </a:p>
          <a:p>
            <a:r>
              <a:t>painful. Avoid words that have violent or scary connotations, such as stick, </a:t>
            </a:r>
          </a:p>
          <a:p>
            <a:r>
              <a:t>shot, and sting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 Communication                                                                        6 </a:t>
            </a:r>
          </a:p>
          <a:p>
            <a:r>
              <a:t> </a:t>
            </a:r>
          </a:p>
          <a:p>
            <a:r>
              <a:t>What is communication? </a:t>
            </a:r>
          </a:p>
          <a:p>
            <a:r>
              <a:t>Communication is defined as the exchange of meanings between and </a:t>
            </a:r>
          </a:p>
          <a:p>
            <a:r>
              <a:t>among individuals through a shared system of symbols. The sender, </a:t>
            </a:r>
          </a:p>
          <a:p>
            <a:r>
              <a:t>message, channel, receiver, and feedback are major components of the </a:t>
            </a:r>
          </a:p>
          <a:p>
            <a:r>
              <a:t>communication process Communication is both talking and listening. </a:t>
            </a:r>
          </a:p>
          <a:p>
            <a:r>
              <a:t> </a:t>
            </a:r>
          </a:p>
          <a:p>
            <a:r>
              <a:t>What are the types of Communication? </a:t>
            </a:r>
          </a:p>
          <a:p>
            <a:r>
              <a:t>1- Verbal communication: </a:t>
            </a:r>
          </a:p>
          <a:p>
            <a:r>
              <a:t>Verbal communication refers to messages that are communicated through </a:t>
            </a:r>
          </a:p>
          <a:p>
            <a:r>
              <a:t>words and language (Estes, 2010). It is most effective if it is brief, clear, </a:t>
            </a:r>
          </a:p>
          <a:p>
            <a:r>
              <a:t>effectively toned, paced appropriately, relevant, and well timed </a:t>
            </a:r>
          </a:p>
          <a:p>
            <a:r>
              <a:t>Important points should be repeated and medical jargon avoided, especially </a:t>
            </a:r>
          </a:p>
          <a:p>
            <a:r>
              <a:t>when talking to children and their caregivers and families.  </a:t>
            </a:r>
          </a:p>
          <a:p>
            <a:r>
              <a:t>*Messages also need appropriate pacing; they should not be too slow or </a:t>
            </a:r>
          </a:p>
          <a:p>
            <a:r>
              <a:t>fast, and there should be few pauses and periods of silence, for example, </a:t>
            </a:r>
          </a:p>
          <a:p>
            <a:r>
              <a:t>teaching will not be effective if delivered when children are in pain or have </a:t>
            </a:r>
          </a:p>
          <a:p>
            <a:r>
              <a:t>visitors, or when caregivers are preoccupied with personal thoughts. When </a:t>
            </a:r>
          </a:p>
          <a:p>
            <a:r>
              <a:t>interacting with families, it is also essential to convey interest and warmth; </a:t>
            </a:r>
          </a:p>
          <a:p>
            <a:r>
              <a:t>to avoid distractions, yes or no questions, and personal bias; and not </a:t>
            </a:r>
          </a:p>
          <a:p>
            <a:r>
              <a:t>monopolize the conversation. </a:t>
            </a:r>
          </a:p>
          <a:p>
            <a:r>
              <a:t>2-NONVERBAL COMMUNICATION </a:t>
            </a:r>
          </a:p>
          <a:p>
            <a:r>
              <a:t>Nonverbal communication conveys feelings, attitudes, and intentions. In </a:t>
            </a:r>
          </a:p>
          <a:p>
            <a:r>
              <a:t>fact, most communication is nonverbal, and most verbal communication </a:t>
            </a:r>
          </a:p>
          <a:p>
            <a:r>
              <a:t>contradicts nonverbal messages. Listeners will believe the nonverbal </a:t>
            </a:r>
          </a:p>
          <a:p>
            <a:r>
              <a:t>message rather than the verbal message if they contradict each other. </a:t>
            </a:r>
          </a:p>
          <a:p>
            <a:r>
              <a:t>Therefore, it is critical to always consider nonverbal communication in any </a:t>
            </a:r>
          </a:p>
          <a:p>
            <a:r>
              <a:t>interaction since it contributes to what others “hear.” The nurse should use </a:t>
            </a:r>
          </a:p>
          <a:p>
            <a:r>
              <a:t>language consistent with the child’s developmental level and deliver the </a:t>
            </a:r>
          </a:p>
          <a:p>
            <a:r>
              <a:t>message so the language is consistent with the nonverbal cues. For </a:t>
            </a:r>
          </a:p>
          <a:p>
            <a:r>
              <a:t>example, never smile or laugh when giving care that may be frightening or </a:t>
            </a:r>
          </a:p>
          <a:p>
            <a:r>
              <a:t>painful. Avoid words that have violent or scary connotations, such as stick, </a:t>
            </a:r>
          </a:p>
          <a:p>
            <a:r>
              <a:t>shot, and sting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 Communication                                                                        7 </a:t>
            </a:r>
          </a:p>
          <a:p>
            <a:r>
              <a:t>Nonverbal communication includes: spatial relationships (the distance </a:t>
            </a:r>
          </a:p>
          <a:p>
            <a:r>
              <a:t>between participants); appearance (clothing, grooming, hair style); eye </a:t>
            </a:r>
          </a:p>
          <a:p>
            <a:r>
              <a:t>contact; body posture (slouching, standing erect with the head leaning to </a:t>
            </a:r>
          </a:p>
          <a:p>
            <a:r>
              <a:t>receiver); gestures (which sometimes add emphasis to words); facial </a:t>
            </a:r>
          </a:p>
          <a:p>
            <a:r>
              <a:t>expressions (which need to agree with the message); timing (hesitation </a:t>
            </a:r>
          </a:p>
          <a:p>
            <a:r>
              <a:t>may imply untruthfulness or diminish the effect of the message); and, with </a:t>
            </a:r>
          </a:p>
          <a:p>
            <a:r>
              <a:t>children especially, touch.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DEVELOPMENTAL LEVEL  </a:t>
            </a:r>
          </a:p>
          <a:p>
            <a:r>
              <a:t>COMMUNICATION PRINCIPLES </a:t>
            </a:r>
          </a:p>
          <a:p>
            <a:r>
              <a:t>Infants  </a:t>
            </a:r>
          </a:p>
          <a:p>
            <a:r>
              <a:t>Allow the infant time to warm up to strangers. </a:t>
            </a:r>
          </a:p>
          <a:p>
            <a:r>
              <a:t>Respond to the infant’s cries in a timely manner. </a:t>
            </a:r>
          </a:p>
          <a:p>
            <a:r>
              <a:t>Use motherese, and a soothing and calm voice. </a:t>
            </a:r>
          </a:p>
          <a:p>
            <a:r>
              <a:t>Talk to the infant directly.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 Communication                                                                        7 </a:t>
            </a:r>
          </a:p>
          <a:p>
            <a:r>
              <a:t>Nonverbal communication includes: spatial relationships (the distance </a:t>
            </a:r>
          </a:p>
          <a:p>
            <a:r>
              <a:t>between participants); appearance (clothing, grooming, hair style); eye </a:t>
            </a:r>
          </a:p>
          <a:p>
            <a:r>
              <a:t>contact; body posture (slouching, standing erect with the head leaning to </a:t>
            </a:r>
          </a:p>
          <a:p>
            <a:r>
              <a:t>receiver); gestures (which sometimes add emphasis to words); facial </a:t>
            </a:r>
          </a:p>
          <a:p>
            <a:r>
              <a:t>expressions (which need to agree with the message); timing (hesitation </a:t>
            </a:r>
          </a:p>
          <a:p>
            <a:r>
              <a:t>may imply untruthfulness or diminish the effect of the message); and, with </a:t>
            </a:r>
          </a:p>
          <a:p>
            <a:r>
              <a:t>children especially, touch.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DEVELOPMENTAL LEVEL  </a:t>
            </a:r>
          </a:p>
          <a:p>
            <a:r>
              <a:t>COMMUNICATION PRINCIPLES </a:t>
            </a:r>
          </a:p>
          <a:p>
            <a:r>
              <a:t>Infants  </a:t>
            </a:r>
          </a:p>
          <a:p>
            <a:r>
              <a:t>Allow the infant time to warm up to strangers. </a:t>
            </a:r>
          </a:p>
          <a:p>
            <a:r>
              <a:t>Respond to the infant’s cries in a timely manner. </a:t>
            </a:r>
          </a:p>
          <a:p>
            <a:r>
              <a:t>Use motherese, and a soothing and calm voice. </a:t>
            </a:r>
          </a:p>
          <a:p>
            <a:r>
              <a:t>Talk to the infant directly.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 Communication                                                                        8 </a:t>
            </a:r>
          </a:p>
          <a:p>
            <a:r>
              <a:t>Toddlers </a:t>
            </a:r>
          </a:p>
          <a:p>
            <a:r>
              <a:t>Approach at eye level if possible. </a:t>
            </a:r>
          </a:p>
          <a:p>
            <a:r>
              <a:t>Toddlers Approach the toddler carefully; the child may be </a:t>
            </a:r>
          </a:p>
          <a:p>
            <a:r>
              <a:t>fearful. </a:t>
            </a:r>
          </a:p>
          <a:p>
            <a:r>
              <a:t>Integrate the toddler’s words for familiar objects or activities </a:t>
            </a:r>
          </a:p>
          <a:p>
            <a:r>
              <a:t>into care. </a:t>
            </a:r>
          </a:p>
          <a:p>
            <a:r>
              <a:t>Prepare for procedures right before they are to be carried out. </a:t>
            </a:r>
          </a:p>
          <a:p>
            <a:r>
              <a:t>Integrate dolls, storytelling, and picture books into </a:t>
            </a:r>
          </a:p>
          <a:p>
            <a:r>
              <a:t>conversations. </a:t>
            </a:r>
          </a:p>
          <a:p>
            <a:r>
              <a:t>Stand at eye level. </a:t>
            </a:r>
          </a:p>
          <a:p>
            <a:r>
              <a:t>Pre-schoolers  </a:t>
            </a:r>
          </a:p>
          <a:p>
            <a:r>
              <a:t>Allow choices as appropriate. </a:t>
            </a:r>
          </a:p>
          <a:p>
            <a:r>
              <a:t>Use play, storytelling, puppets, and third parties. </a:t>
            </a:r>
          </a:p>
          <a:p>
            <a:r>
              <a:t>Speak honestly, use simple language, and be concise. </a:t>
            </a:r>
          </a:p>
          <a:p>
            <a:r>
              <a:t>Prepare for procedures 1 hour or less before they are to be </a:t>
            </a:r>
          </a:p>
          <a:p>
            <a:r>
              <a:t>experienced. </a:t>
            </a:r>
          </a:p>
          <a:p>
            <a:r>
              <a:t>School-age children </a:t>
            </a:r>
          </a:p>
          <a:p>
            <a:r>
              <a:t>Use books, diagrams, and videos in preparing for procedures.</a:t>
            </a:r>
          </a:p>
          <a:p>
            <a:r>
              <a:t>Prepare for procedures several days in advance. </a:t>
            </a:r>
          </a:p>
          <a:p>
            <a:r>
              <a:t>Allow for honest expression of feelings and adequate time for</a:t>
            </a:r>
          </a:p>
          <a:p>
            <a:r>
              <a:t>questions to be answered.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 Communication                                                                        8 </a:t>
            </a:r>
          </a:p>
          <a:p>
            <a:r>
              <a:t>Toddlers </a:t>
            </a:r>
          </a:p>
          <a:p>
            <a:r>
              <a:t>Approach at eye level if possible. </a:t>
            </a:r>
          </a:p>
          <a:p>
            <a:r>
              <a:t>Toddlers Approach the toddler carefully; the child may be </a:t>
            </a:r>
          </a:p>
          <a:p>
            <a:r>
              <a:t>fearful. </a:t>
            </a:r>
          </a:p>
          <a:p>
            <a:r>
              <a:t>Integrate the toddler’s words for familiar objects or activities </a:t>
            </a:r>
          </a:p>
          <a:p>
            <a:r>
              <a:t>into care. </a:t>
            </a:r>
          </a:p>
          <a:p>
            <a:r>
              <a:t>Prepare for procedures right before they are to be carried out. </a:t>
            </a:r>
          </a:p>
          <a:p>
            <a:r>
              <a:t>Integrate dolls, storytelling, and picture books into </a:t>
            </a:r>
          </a:p>
          <a:p>
            <a:r>
              <a:t>conversations. </a:t>
            </a:r>
          </a:p>
          <a:p>
            <a:r>
              <a:t>Stand at eye level. </a:t>
            </a:r>
          </a:p>
          <a:p>
            <a:r>
              <a:t>Pre-schoolers  </a:t>
            </a:r>
          </a:p>
          <a:p>
            <a:r>
              <a:t>Allow choices as appropriate. </a:t>
            </a:r>
          </a:p>
          <a:p>
            <a:r>
              <a:t>Use play, storytelling, puppets, and third parties. </a:t>
            </a:r>
          </a:p>
          <a:p>
            <a:r>
              <a:t>Speak honestly, use simple language, and be concise. </a:t>
            </a:r>
          </a:p>
          <a:p>
            <a:r>
              <a:t>Prepare for procedures 1 hour or less before they are to be </a:t>
            </a:r>
          </a:p>
          <a:p>
            <a:r>
              <a:t>experienced. </a:t>
            </a:r>
          </a:p>
          <a:p>
            <a:r>
              <a:t>School-age children </a:t>
            </a:r>
          </a:p>
          <a:p>
            <a:r>
              <a:t>Use books, diagrams, and videos in preparing for procedures.</a:t>
            </a:r>
          </a:p>
          <a:p>
            <a:r>
              <a:t>Prepare for procedures several days in advance. </a:t>
            </a:r>
          </a:p>
          <a:p>
            <a:r>
              <a:t>Allow for honest expression of feelings and adequate time for</a:t>
            </a:r>
          </a:p>
          <a:p>
            <a:r>
              <a:t>questions to be answered.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 Communication                                                                        9 </a:t>
            </a:r>
          </a:p>
          <a:p>
            <a:r>
              <a:t>Adolescents </a:t>
            </a:r>
          </a:p>
          <a:p>
            <a:r>
              <a:t>Prepare for up to 1 week prior to experiences. </a:t>
            </a:r>
          </a:p>
          <a:p>
            <a:r>
              <a:t>Respect the adolescent’s need for privacy. </a:t>
            </a:r>
          </a:p>
          <a:p>
            <a:r>
              <a:t>Use appropriate medical terminology. </a:t>
            </a:r>
          </a:p>
          <a:p>
            <a:r>
              <a:t>Use creative methods to explain experiences and </a:t>
            </a:r>
          </a:p>
          <a:p>
            <a:r>
              <a:t>procedures.Respect the adolescent’s right to refuse treatment.</a:t>
            </a:r>
          </a:p>
          <a:p>
            <a:r>
              <a:t>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Reference </a:t>
            </a:r>
          </a:p>
          <a:p>
            <a:r>
              <a:t>Hockenberry, M. J., Wilson, D.(2013) Wong’s Essentials  of Pediatric </a:t>
            </a:r>
          </a:p>
          <a:p>
            <a:r>
              <a:t>Nursing, 8th edition. USA: Elsevier, PP 101, 102, 103,104,105. </a:t>
            </a:r>
          </a:p>
          <a:p>
            <a:r>
              <a:t>Potts, N. L. and Mandleco, B. L., (2012) Pediatric Nursing Caring for </a:t>
            </a:r>
          </a:p>
          <a:p>
            <a:r>
              <a:t>Children and Their Families. 3th edition. USA: DELMAR CENGAGE </a:t>
            </a:r>
          </a:p>
          <a:p>
            <a:r>
              <a:t>Learning, pp. 410,  411,412,413.  </a:t>
            </a:r>
          </a:p>
          <a:p>
            <a:r>
              <a:t>Ricci, S. S., Kyle, T. and Carman, S.(2013) Maternity and Pediatric </a:t>
            </a:r>
          </a:p>
          <a:p>
            <a:r>
              <a:t>Nursing. 2nd edition. China: Wolters Kluwer Health | Lippincott Williams </a:t>
            </a:r>
          </a:p>
          <a:p>
            <a:r>
              <a:t>&amp; Wilkins pp. 61,62.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 Communication                                                                        9 </a:t>
            </a:r>
          </a:p>
          <a:p>
            <a:r>
              <a:t>Adolescents </a:t>
            </a:r>
          </a:p>
          <a:p>
            <a:r>
              <a:t>Prepare for up to 1 week prior to experiences. </a:t>
            </a:r>
          </a:p>
          <a:p>
            <a:r>
              <a:t>Respect the adolescent’s need for privacy. </a:t>
            </a:r>
          </a:p>
          <a:p>
            <a:r>
              <a:t>Use appropriate medical terminology. </a:t>
            </a:r>
          </a:p>
          <a:p>
            <a:r>
              <a:t>Use creative methods to explain experiences and </a:t>
            </a:r>
          </a:p>
          <a:p>
            <a:r>
              <a:t>procedures.Respect the adolescent’s right to refuse treatment.</a:t>
            </a:r>
          </a:p>
          <a:p>
            <a:r>
              <a:t>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Reference </a:t>
            </a:r>
          </a:p>
          <a:p>
            <a:r>
              <a:t>Hockenberry, M. J., Wilson, D.(2013) Wong’s Essentials  of Pediatric </a:t>
            </a:r>
          </a:p>
          <a:p>
            <a:r>
              <a:t>Nursing, 8th edition. USA: Elsevier, PP 101, 102, 103,104,105. </a:t>
            </a:r>
          </a:p>
          <a:p>
            <a:r>
              <a:t>Potts, N. L. and Mandleco, B. L., (2012) Pediatric Nursing Caring for </a:t>
            </a:r>
          </a:p>
          <a:p>
            <a:r>
              <a:t>Children and Their Families. 3th edition. USA: DELMAR CENGAGE </a:t>
            </a:r>
          </a:p>
          <a:p>
            <a:r>
              <a:t>Learning, pp. 410,  411,412,413.  </a:t>
            </a:r>
          </a:p>
          <a:p>
            <a:r>
              <a:t>Ricci, S. S., Kyle, T. and Carman, S.(2013) Maternity and Pediatric </a:t>
            </a:r>
          </a:p>
          <a:p>
            <a:r>
              <a:t>Nursing. 2nd edition. China: Wolters Kluwer Health | Lippincott Williams </a:t>
            </a:r>
          </a:p>
          <a:p>
            <a:r>
              <a:t>&amp; Wilkins pp. 61,62.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10 </a:t>
            </a:r>
          </a:p>
          <a:p>
            <a:r>
              <a:t> </a:t>
            </a:r>
          </a:p>
          <a:p>
            <a:r>
              <a:t>Pediatric Health History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Objective  </a:t>
            </a:r>
          </a:p>
          <a:p>
            <a:r>
              <a:t>1. Define health history  </a:t>
            </a:r>
          </a:p>
          <a:p>
            <a:r>
              <a:t>2. Numerate and describe types of Pediatric Health Histories </a:t>
            </a:r>
          </a:p>
          <a:p>
            <a:r>
              <a:t>3. Differentiate between objective and subjective data. </a:t>
            </a:r>
          </a:p>
          <a:p>
            <a:r>
              <a:t>4. Describe Methods of Data Collection. </a:t>
            </a:r>
          </a:p>
          <a:p>
            <a:r>
              <a:t>5. Identify How to Conduct a Pediatric History Interview.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11 </a:t>
            </a:r>
          </a:p>
          <a:p>
            <a:r>
              <a:t>The Health History </a:t>
            </a:r>
          </a:p>
          <a:p>
            <a:r>
              <a:t>A health history is a collection of subjective data that provides a detailed </a:t>
            </a:r>
          </a:p>
          <a:p>
            <a:r>
              <a:t>profile of the patient’s health status. Nurses use therapeutic communication </a:t>
            </a:r>
          </a:p>
          <a:p>
            <a:r>
              <a:t>skills and interviewing techniques during the health history to establish an </a:t>
            </a:r>
          </a:p>
          <a:p>
            <a:r>
              <a:t>effective nurse–patient relationship and to gather data to identify actual and </a:t>
            </a:r>
          </a:p>
          <a:p>
            <a:r>
              <a:t>potential health problems. </a:t>
            </a:r>
          </a:p>
          <a:p>
            <a:r>
              <a:t>Types of Pediatric Health Histories (Chiocca, 2015)                       </a:t>
            </a:r>
          </a:p>
          <a:p>
            <a:r>
              <a:t>1. Initial (comprehensive) health history: </a:t>
            </a:r>
          </a:p>
          <a:p>
            <a:r>
              <a:t>An initial health care visit requires a comprehensive health history, </a:t>
            </a:r>
          </a:p>
          <a:p>
            <a:r>
              <a:t>which creates a database of information for the child who is new to the </a:t>
            </a:r>
          </a:p>
          <a:p>
            <a:r>
              <a:t>provider’s practice. The data collected in this history focus not just on </a:t>
            </a:r>
          </a:p>
          <a:p>
            <a:r>
              <a:t>past or current illnesses, but also on wellness, health patterns, health </a:t>
            </a:r>
          </a:p>
          <a:p>
            <a:r>
              <a:t>knowledge, and activities of daily living (ADL). The content of this </a:t>
            </a:r>
          </a:p>
          <a:p>
            <a:r>
              <a:t>history creates a baseline against which all future changes in the child’s </a:t>
            </a:r>
          </a:p>
          <a:p>
            <a:r>
              <a:t>health status are measured. </a:t>
            </a:r>
          </a:p>
          <a:p>
            <a:r>
              <a:t>2. Interval (well-child) health history:  </a:t>
            </a:r>
          </a:p>
          <a:p>
            <a:r>
              <a:t>Subsequent well-child visits require an interval history; that is, a </a:t>
            </a:r>
          </a:p>
          <a:p>
            <a:r>
              <a:t>history that updates the patient’s health status since the last office </a:t>
            </a:r>
          </a:p>
          <a:p>
            <a:r>
              <a:t>visit. </a:t>
            </a:r>
          </a:p>
          <a:p>
            <a:r>
              <a:t>3. Focused (episodic) health history:  </a:t>
            </a:r>
          </a:p>
          <a:p>
            <a:r>
              <a:t>This history is problem-centered, focusing on the present illness or </a:t>
            </a:r>
          </a:p>
          <a:p>
            <a:r>
              <a:t>problem. A focused health history is all that is necessary when the </a:t>
            </a:r>
          </a:p>
          <a:p>
            <a:r>
              <a:t>child presents with an </a:t>
            </a:r>
          </a:p>
          <a:p>
            <a:r>
              <a:t>acute problem or the exacerbation of a chronic condition. </a:t>
            </a:r>
          </a:p>
          <a:p>
            <a:r>
              <a:t>4. Follow-up health history:  </a:t>
            </a:r>
          </a:p>
          <a:p>
            <a:r>
              <a:t>When the child returns to the office after an illness or injury, a follow-</a:t>
            </a:r>
          </a:p>
          <a:p>
            <a:r>
              <a:t>up history is taken to assess whether the problem is the same, better, </a:t>
            </a:r>
          </a:p>
          <a:p>
            <a:r>
              <a:t>or worse. </a:t>
            </a:r>
          </a:p>
          <a:p>
            <a:r>
              <a:t>5. Emergency health history:  </a:t>
            </a:r>
          </a:p>
          <a:p>
            <a:r>
              <a:t>An emergency health history involves the quick collection of data in </a:t>
            </a:r>
          </a:p>
          <a:p>
            <a:r>
              <a:t>an acute situation. While this history resembles a focused history, it </a:t>
            </a:r>
          </a:p>
          <a:p>
            <a:r>
              <a:t>needs to be obtained rapidly, usually simultaneously with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11 </a:t>
            </a:r>
          </a:p>
          <a:p>
            <a:r>
              <a:t>The Health History </a:t>
            </a:r>
          </a:p>
          <a:p>
            <a:r>
              <a:t>A health history is a collection of subjective data that provides a detailed </a:t>
            </a:r>
          </a:p>
          <a:p>
            <a:r>
              <a:t>profile of the patient’s health status. Nurses use therapeutic communication </a:t>
            </a:r>
          </a:p>
          <a:p>
            <a:r>
              <a:t>skills and interviewing techniques during the health history to establish an </a:t>
            </a:r>
          </a:p>
          <a:p>
            <a:r>
              <a:t>effective nurse–patient relationship and to gather data to identify actual and </a:t>
            </a:r>
          </a:p>
          <a:p>
            <a:r>
              <a:t>potential health problems. </a:t>
            </a:r>
          </a:p>
          <a:p>
            <a:r>
              <a:t>Types of Pediatric Health Histories (Chiocca, 2015)                       </a:t>
            </a:r>
          </a:p>
          <a:p>
            <a:r>
              <a:t>1. Initial (comprehensive) health history: </a:t>
            </a:r>
          </a:p>
          <a:p>
            <a:r>
              <a:t>An initial health care visit requires a comprehensive health history, </a:t>
            </a:r>
          </a:p>
          <a:p>
            <a:r>
              <a:t>which creates a database of information for the child who is new to the </a:t>
            </a:r>
          </a:p>
          <a:p>
            <a:r>
              <a:t>provider’s practice. The data collected in this history focus not just on </a:t>
            </a:r>
          </a:p>
          <a:p>
            <a:r>
              <a:t>past or current illnesses, but also on wellness, health patterns, health </a:t>
            </a:r>
          </a:p>
          <a:p>
            <a:r>
              <a:t>knowledge, and activities of daily living (ADL). The content of this </a:t>
            </a:r>
          </a:p>
          <a:p>
            <a:r>
              <a:t>history creates a baseline against which all future changes in the child’s </a:t>
            </a:r>
          </a:p>
          <a:p>
            <a:r>
              <a:t>health status are measured. </a:t>
            </a:r>
          </a:p>
          <a:p>
            <a:r>
              <a:t>2. Interval (well-child) health history:  </a:t>
            </a:r>
          </a:p>
          <a:p>
            <a:r>
              <a:t>Subsequent well-child visits require an interval history; that is, a </a:t>
            </a:r>
          </a:p>
          <a:p>
            <a:r>
              <a:t>history that updates the patient’s health status since the last office </a:t>
            </a:r>
          </a:p>
          <a:p>
            <a:r>
              <a:t>visit. </a:t>
            </a:r>
          </a:p>
          <a:p>
            <a:r>
              <a:t>3. Focused (episodic) health history:  </a:t>
            </a:r>
          </a:p>
          <a:p>
            <a:r>
              <a:t>This history is problem-centered, focusing on the present illness or </a:t>
            </a:r>
          </a:p>
          <a:p>
            <a:r>
              <a:t>problem. A focused health history is all that is necessary when the </a:t>
            </a:r>
          </a:p>
          <a:p>
            <a:r>
              <a:t>child presents with an </a:t>
            </a:r>
          </a:p>
          <a:p>
            <a:r>
              <a:t>acute problem or the exacerbation of a chronic condition. </a:t>
            </a:r>
          </a:p>
          <a:p>
            <a:r>
              <a:t>4. Follow-up health history:  </a:t>
            </a:r>
          </a:p>
          <a:p>
            <a:r>
              <a:t>When the child returns to the office after an illness or injury, a follow-</a:t>
            </a:r>
          </a:p>
          <a:p>
            <a:r>
              <a:t>up history is taken to assess whether the problem is the same, better, </a:t>
            </a:r>
          </a:p>
          <a:p>
            <a:r>
              <a:t>or worse. </a:t>
            </a:r>
          </a:p>
          <a:p>
            <a:r>
              <a:t>5. Emergency health history:  </a:t>
            </a:r>
          </a:p>
          <a:p>
            <a:r>
              <a:t>An emergency health history involves the quick collection of data in </a:t>
            </a:r>
          </a:p>
          <a:p>
            <a:r>
              <a:t>an acute situation. While this history resembles a focused history, it </a:t>
            </a:r>
          </a:p>
          <a:p>
            <a:r>
              <a:t>needs to be obtained rapidly, usually simultaneously with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11 </a:t>
            </a:r>
          </a:p>
          <a:p>
            <a:r>
              <a:t>The Health History </a:t>
            </a:r>
          </a:p>
          <a:p>
            <a:r>
              <a:t>A health history is a collection of subjective data that provides a detailed </a:t>
            </a:r>
          </a:p>
          <a:p>
            <a:r>
              <a:t>profile of the patient’s health status. Nurses use therapeutic communication </a:t>
            </a:r>
          </a:p>
          <a:p>
            <a:r>
              <a:t>skills and interviewing techniques during the health history to establish an </a:t>
            </a:r>
          </a:p>
          <a:p>
            <a:r>
              <a:t>effective nurse–patient relationship and to gather data to identify actual and </a:t>
            </a:r>
          </a:p>
          <a:p>
            <a:r>
              <a:t>potential health problems. </a:t>
            </a:r>
          </a:p>
          <a:p>
            <a:r>
              <a:t>Types of Pediatric Health Histories (Chiocca, 2015)                       </a:t>
            </a:r>
          </a:p>
          <a:p>
            <a:r>
              <a:t>1. Initial (comprehensive) health history: </a:t>
            </a:r>
          </a:p>
          <a:p>
            <a:r>
              <a:t>An initial health care visit requires a comprehensive health history, </a:t>
            </a:r>
          </a:p>
          <a:p>
            <a:r>
              <a:t>which creates a database of information for the child who is new to the </a:t>
            </a:r>
          </a:p>
          <a:p>
            <a:r>
              <a:t>provider’s practice. The data collected in this history focus not just on </a:t>
            </a:r>
          </a:p>
          <a:p>
            <a:r>
              <a:t>past or current illnesses, but also on wellness, health patterns, health </a:t>
            </a:r>
          </a:p>
          <a:p>
            <a:r>
              <a:t>knowledge, and activities of daily living (ADL). The content of this </a:t>
            </a:r>
          </a:p>
          <a:p>
            <a:r>
              <a:t>history creates a baseline against which all future changes in the child’s </a:t>
            </a:r>
          </a:p>
          <a:p>
            <a:r>
              <a:t>health status are measured. </a:t>
            </a:r>
          </a:p>
          <a:p>
            <a:r>
              <a:t>2. Interval (well-child) health history:  </a:t>
            </a:r>
          </a:p>
          <a:p>
            <a:r>
              <a:t>Subsequent well-child visits require an interval history; that is, a </a:t>
            </a:r>
          </a:p>
          <a:p>
            <a:r>
              <a:t>history that updates the patient’s health status since the last office </a:t>
            </a:r>
          </a:p>
          <a:p>
            <a:r>
              <a:t>visit. </a:t>
            </a:r>
          </a:p>
          <a:p>
            <a:r>
              <a:t>3. Focused (episodic) health history:  </a:t>
            </a:r>
          </a:p>
          <a:p>
            <a:r>
              <a:t>This history is problem-centered, focusing on the present illness or </a:t>
            </a:r>
          </a:p>
          <a:p>
            <a:r>
              <a:t>problem. A focused health history is all that is necessary when the </a:t>
            </a:r>
          </a:p>
          <a:p>
            <a:r>
              <a:t>child presents with an </a:t>
            </a:r>
          </a:p>
          <a:p>
            <a:r>
              <a:t>acute problem or the exacerbation of a chronic condition. </a:t>
            </a:r>
          </a:p>
          <a:p>
            <a:r>
              <a:t>4. Follow-up health history:  </a:t>
            </a:r>
          </a:p>
          <a:p>
            <a:r>
              <a:t>When the child returns to the office after an illness or injury, a follow-</a:t>
            </a:r>
          </a:p>
          <a:p>
            <a:r>
              <a:t>up history is taken to assess whether the problem is the same, better, </a:t>
            </a:r>
          </a:p>
          <a:p>
            <a:r>
              <a:t>or worse. </a:t>
            </a:r>
          </a:p>
          <a:p>
            <a:r>
              <a:t>5. Emergency health history:  </a:t>
            </a:r>
          </a:p>
          <a:p>
            <a:r>
              <a:t>An emergency health history involves the quick collection of data in </a:t>
            </a:r>
          </a:p>
          <a:p>
            <a:r>
              <a:t>an acute situation. While this history resembles a focused history, it </a:t>
            </a:r>
          </a:p>
          <a:p>
            <a:r>
              <a:t>needs to be obtained rapidly, usually simultaneously with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12 </a:t>
            </a:r>
          </a:p>
          <a:p>
            <a:r>
              <a:t>interventions, such as the administration of medications or respiratory </a:t>
            </a:r>
          </a:p>
          <a:p>
            <a:r>
              <a:t>treatments. </a:t>
            </a:r>
          </a:p>
          <a:p>
            <a:r>
              <a:t>DATA COLLECTION (Taylor, Lillis, LeMone, &amp; Lynn, 2011) </a:t>
            </a:r>
          </a:p>
          <a:p>
            <a:r>
              <a:t>Two Types Of Data: Subjective and Objective.  </a:t>
            </a:r>
          </a:p>
          <a:p>
            <a:r>
              <a:t>1. Subjective data are information perceived only by the affected </a:t>
            </a:r>
          </a:p>
          <a:p>
            <a:r>
              <a:t>person; these data cannot be perceived or verified by another person.  </a:t>
            </a:r>
          </a:p>
          <a:p>
            <a:r>
              <a:t>Examples of subjective data are feeling nervous, nauseated, or chilly </a:t>
            </a:r>
          </a:p>
          <a:p>
            <a:r>
              <a:t>and experiencing pain. Subjective data also are called symptoms or </a:t>
            </a:r>
          </a:p>
          <a:p>
            <a:r>
              <a:t>covert data. </a:t>
            </a:r>
          </a:p>
          <a:p>
            <a:r>
              <a:t>2. Objective data are observable and measurable data that can be seen, </a:t>
            </a:r>
          </a:p>
          <a:p>
            <a:r>
              <a:t>heard, or felt by someone other than the person experiencing them. </a:t>
            </a:r>
          </a:p>
          <a:p>
            <a:r>
              <a:t>Objective data observed by one person can be verified by another </a:t>
            </a:r>
          </a:p>
          <a:p>
            <a:r>
              <a:t>person observing the same patient.  Examples of objective data are </a:t>
            </a:r>
          </a:p>
          <a:p>
            <a:r>
              <a:t>an elevated temperature reading (e.g., 101F), skin that is moist, and </a:t>
            </a:r>
          </a:p>
          <a:p>
            <a:r>
              <a:t>refusal to look at or eat food. Objective data also are called signs or </a:t>
            </a:r>
          </a:p>
          <a:p>
            <a:r>
              <a:t>overt data.  </a:t>
            </a:r>
          </a:p>
          <a:p>
            <a:r>
              <a:t>Methods of Data Collection </a:t>
            </a:r>
          </a:p>
          <a:p>
            <a:r>
              <a:t>1-Observation is the conscious and deliberate use of the five senses to </a:t>
            </a:r>
          </a:p>
          <a:p>
            <a:r>
              <a:t>gather data (objective data).  </a:t>
            </a:r>
          </a:p>
          <a:p>
            <a:r>
              <a:t>2-Patient interview the nurse obtains a nursing history by interviewing the </a:t>
            </a:r>
          </a:p>
          <a:p>
            <a:r>
              <a:t>patient. (An interview is a planned communication)  </a:t>
            </a:r>
          </a:p>
          <a:p>
            <a:r>
              <a:t>3-Physical assessment (or physical examination) produces primarily </a:t>
            </a:r>
          </a:p>
          <a:p>
            <a:r>
              <a:t>objective data and makes use of the techniques of inspection (visual </a:t>
            </a:r>
          </a:p>
          <a:p>
            <a:r>
              <a:t>examination), palpation (touch), percussion (tapping a body surface), </a:t>
            </a:r>
          </a:p>
          <a:p>
            <a:r>
              <a:t>direct auscultation (listening with the unaided ear), and indirect </a:t>
            </a:r>
          </a:p>
          <a:p>
            <a:r>
              <a:t>auscultation (listening with a stethoscope). </a:t>
            </a:r>
          </a:p>
          <a:p>
            <a:r>
              <a:t>How to Conduct a Pediatric History Interview (Chiocca, 2015) </a:t>
            </a:r>
          </a:p>
          <a:p>
            <a:r>
              <a:t>Obtaining an accurate and complete pediatric health history is essential </a:t>
            </a:r>
          </a:p>
          <a:p>
            <a:r>
              <a:t>when providing health care to children. The pediatric health care provider </a:t>
            </a:r>
          </a:p>
          <a:p>
            <a:r>
              <a:t>must possess excellent communication skills when working with </a:t>
            </a:r>
          </a:p>
          <a:p>
            <a:r>
              <a:t>children and families in order to elicit the most accurate and complete </a:t>
            </a:r>
          </a:p>
          <a:p>
            <a:r>
              <a:t>health history while maintaining provider– patient trust.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12 </a:t>
            </a:r>
          </a:p>
          <a:p>
            <a:r>
              <a:t>interventions, such as the administration of medications or respiratory </a:t>
            </a:r>
          </a:p>
          <a:p>
            <a:r>
              <a:t>treatments. </a:t>
            </a:r>
          </a:p>
          <a:p>
            <a:r>
              <a:t>DATA COLLECTION (Taylor, Lillis, LeMone, &amp; Lynn, 2011) </a:t>
            </a:r>
          </a:p>
          <a:p>
            <a:r>
              <a:t>Two Types Of Data: Subjective and Objective.  </a:t>
            </a:r>
          </a:p>
          <a:p>
            <a:r>
              <a:t>1. Subjective data are information perceived only by the affected </a:t>
            </a:r>
          </a:p>
          <a:p>
            <a:r>
              <a:t>person; these data cannot be perceived or verified by another person.  </a:t>
            </a:r>
          </a:p>
          <a:p>
            <a:r>
              <a:t>Examples of subjective data are feeling nervous, nauseated, or chilly </a:t>
            </a:r>
          </a:p>
          <a:p>
            <a:r>
              <a:t>and experiencing pain. Subjective data also are called symptoms or </a:t>
            </a:r>
          </a:p>
          <a:p>
            <a:r>
              <a:t>covert data. </a:t>
            </a:r>
          </a:p>
          <a:p>
            <a:r>
              <a:t>2. Objective data are observable and measurable data that can be seen, </a:t>
            </a:r>
          </a:p>
          <a:p>
            <a:r>
              <a:t>heard, or felt by someone other than the person experiencing them. </a:t>
            </a:r>
          </a:p>
          <a:p>
            <a:r>
              <a:t>Objective data observed by one person can be verified by another </a:t>
            </a:r>
          </a:p>
          <a:p>
            <a:r>
              <a:t>person observing the same patient.  Examples of objective data are </a:t>
            </a:r>
          </a:p>
          <a:p>
            <a:r>
              <a:t>an elevated temperature reading (e.g., 101F), skin that is moist, and </a:t>
            </a:r>
          </a:p>
          <a:p>
            <a:r>
              <a:t>refusal to look at or eat food. Objective data also are called signs or </a:t>
            </a:r>
          </a:p>
          <a:p>
            <a:r>
              <a:t>overt data.  </a:t>
            </a:r>
          </a:p>
          <a:p>
            <a:r>
              <a:t>Methods of Data Collection </a:t>
            </a:r>
          </a:p>
          <a:p>
            <a:r>
              <a:t>1-Observation is the conscious and deliberate use of the five senses to </a:t>
            </a:r>
          </a:p>
          <a:p>
            <a:r>
              <a:t>gather data (objective data).  </a:t>
            </a:r>
          </a:p>
          <a:p>
            <a:r>
              <a:t>2-Patient interview the nurse obtains a nursing history by interviewing the </a:t>
            </a:r>
          </a:p>
          <a:p>
            <a:r>
              <a:t>patient. (An interview is a planned communication)  </a:t>
            </a:r>
          </a:p>
          <a:p>
            <a:r>
              <a:t>3-Physical assessment (or physical examination) produces primarily </a:t>
            </a:r>
          </a:p>
          <a:p>
            <a:r>
              <a:t>objective data and makes use of the techniques of inspection (visual </a:t>
            </a:r>
          </a:p>
          <a:p>
            <a:r>
              <a:t>examination), palpation (touch), percussion (tapping a body surface), </a:t>
            </a:r>
          </a:p>
          <a:p>
            <a:r>
              <a:t>direct auscultation (listening with the unaided ear), and indirect </a:t>
            </a:r>
          </a:p>
          <a:p>
            <a:r>
              <a:t>auscultation (listening with a stethoscope). </a:t>
            </a:r>
          </a:p>
          <a:p>
            <a:r>
              <a:t>How to Conduct a Pediatric History Interview (Chiocca, 2015) </a:t>
            </a:r>
          </a:p>
          <a:p>
            <a:r>
              <a:t>Obtaining an accurate and complete pediatric health history is essential </a:t>
            </a:r>
          </a:p>
          <a:p>
            <a:r>
              <a:t>when providing health care to children. The pediatric health care provider </a:t>
            </a:r>
          </a:p>
          <a:p>
            <a:r>
              <a:t>must possess excellent communication skills when working with </a:t>
            </a:r>
          </a:p>
          <a:p>
            <a:r>
              <a:t>children and families in order to elicit the most accurate and complete </a:t>
            </a:r>
          </a:p>
          <a:p>
            <a:r>
              <a:t>health history while maintaining provider– patient trust.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13 </a:t>
            </a:r>
          </a:p>
          <a:p>
            <a:r>
              <a:t>Infants and Young Children  </a:t>
            </a:r>
          </a:p>
          <a:p>
            <a:r>
              <a:t>• For infants and preverbal children, the primary source of historical </a:t>
            </a:r>
          </a:p>
          <a:p>
            <a:r>
              <a:t>information is the parent or primary caregiver.  </a:t>
            </a:r>
          </a:p>
          <a:p>
            <a:r>
              <a:t>For older infants and toddlers, it is important that the parent remain </a:t>
            </a:r>
          </a:p>
          <a:p>
            <a:r>
              <a:t>within eyesight of the child to minimize stranger anxiety. Parents can </a:t>
            </a:r>
          </a:p>
          <a:p>
            <a:r>
              <a:t>then concentrate on answering questions rather than tending to a crying </a:t>
            </a:r>
          </a:p>
          <a:p>
            <a:r>
              <a:t>child.  </a:t>
            </a:r>
          </a:p>
          <a:p>
            <a:r>
              <a:t>Some preschoolers can answer questions during the history, depending </a:t>
            </a:r>
          </a:p>
          <a:p>
            <a:r>
              <a:t>on their language abilities, developmental level, and temperament. These </a:t>
            </a:r>
          </a:p>
          <a:p>
            <a:r>
              <a:t>questions may involve play, toys, likes, dislikes, friends, and school.  </a:t>
            </a:r>
          </a:p>
          <a:p>
            <a:r>
              <a:t>Young children who are very shy should not be forced to participate in </a:t>
            </a:r>
          </a:p>
          <a:p>
            <a:r>
              <a:t>the interview, and children should not be overwhelmed with too many </a:t>
            </a:r>
          </a:p>
          <a:p>
            <a:r>
              <a:t>questions. The health care provider should remember to use simple terms </a:t>
            </a:r>
          </a:p>
          <a:p>
            <a:r>
              <a:t>and avoid medical jargon. </a:t>
            </a:r>
          </a:p>
          <a:p>
            <a:r>
              <a:t>School-Aged Children and Adolescents  </a:t>
            </a:r>
          </a:p>
          <a:p>
            <a:r>
              <a:t>• Children who are school-aged and older can provide their own health </a:t>
            </a:r>
          </a:p>
          <a:p>
            <a:r>
              <a:t>history with verification from the parent or caregiver as needed. </a:t>
            </a:r>
          </a:p>
          <a:p>
            <a:r>
              <a:t>Beginning the encounter with the parent in the room is important to make </a:t>
            </a:r>
          </a:p>
          <a:p>
            <a:r>
              <a:t>the child feel comfortable and secure.  </a:t>
            </a:r>
          </a:p>
          <a:p>
            <a:r>
              <a:t>Older school-aged children and adolescents have a heightened need for </a:t>
            </a:r>
          </a:p>
          <a:p>
            <a:r>
              <a:t>privacy. For this reason, the parent should be asked to leave the room for </a:t>
            </a:r>
          </a:p>
          <a:p>
            <a:r>
              <a:t>certain portions of the history, such as questions that deal with drug or </a:t>
            </a:r>
          </a:p>
          <a:p>
            <a:r>
              <a:t>alcohol use, sexual activity, depression, and risk-taking behaviors. The </a:t>
            </a:r>
          </a:p>
          <a:p>
            <a:r>
              <a:t>preteen or adolescent is more likely to give accurate answers without </a:t>
            </a:r>
          </a:p>
          <a:p>
            <a:r>
              <a:t>the parent present.  </a:t>
            </a:r>
          </a:p>
          <a:p>
            <a:r>
              <a:t> </a:t>
            </a:r>
          </a:p>
          <a:p>
            <a:r>
              <a:t>Age-specific interview and assessment tips. (Lippincott, 2012) </a:t>
            </a:r>
          </a:p>
          <a:p>
            <a:r>
              <a:t> </a:t>
            </a:r>
          </a:p>
          <a:p>
            <a:r>
              <a:t>Infant </a:t>
            </a:r>
          </a:p>
          <a:p>
            <a:r>
              <a:t> </a:t>
            </a:r>
          </a:p>
          <a:p>
            <a:r>
              <a:t>• Before performing a procedure, talk to and touch the infant. </a:t>
            </a:r>
          </a:p>
          <a:p>
            <a:r>
              <a:t>• Use a gentle touch. </a:t>
            </a:r>
          </a:p>
          <a:p>
            <a:r>
              <a:t>• Speak softly. </a:t>
            </a:r>
          </a:p>
          <a:p>
            <a:r>
              <a:t>• Allow the infant to hold a favorite toy during the assessment.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13 </a:t>
            </a:r>
          </a:p>
          <a:p>
            <a:r>
              <a:t>Infants and Young Children  </a:t>
            </a:r>
          </a:p>
          <a:p>
            <a:r>
              <a:t>• For infants and preverbal children, the primary source of historical </a:t>
            </a:r>
          </a:p>
          <a:p>
            <a:r>
              <a:t>information is the parent or primary caregiver.  </a:t>
            </a:r>
          </a:p>
          <a:p>
            <a:r>
              <a:t>For older infants and toddlers, it is important that the parent remain </a:t>
            </a:r>
          </a:p>
          <a:p>
            <a:r>
              <a:t>within eyesight of the child to minimize stranger anxiety. Parents can </a:t>
            </a:r>
          </a:p>
          <a:p>
            <a:r>
              <a:t>then concentrate on answering questions rather than tending to a crying </a:t>
            </a:r>
          </a:p>
          <a:p>
            <a:r>
              <a:t>child.  </a:t>
            </a:r>
          </a:p>
          <a:p>
            <a:r>
              <a:t>Some preschoolers can answer questions during the history, depending </a:t>
            </a:r>
          </a:p>
          <a:p>
            <a:r>
              <a:t>on their language abilities, developmental level, and temperament. These </a:t>
            </a:r>
          </a:p>
          <a:p>
            <a:r>
              <a:t>questions may involve play, toys, likes, dislikes, friends, and school.  </a:t>
            </a:r>
          </a:p>
          <a:p>
            <a:r>
              <a:t>Young children who are very shy should not be forced to participate in </a:t>
            </a:r>
          </a:p>
          <a:p>
            <a:r>
              <a:t>the interview, and children should not be overwhelmed with too many </a:t>
            </a:r>
          </a:p>
          <a:p>
            <a:r>
              <a:t>questions. The health care provider should remember to use simple terms </a:t>
            </a:r>
          </a:p>
          <a:p>
            <a:r>
              <a:t>and avoid medical jargon. </a:t>
            </a:r>
          </a:p>
          <a:p>
            <a:r>
              <a:t>School-Aged Children and Adolescents  </a:t>
            </a:r>
          </a:p>
          <a:p>
            <a:r>
              <a:t>• Children who are school-aged and older can provide their own health </a:t>
            </a:r>
          </a:p>
          <a:p>
            <a:r>
              <a:t>history with verification from the parent or caregiver as needed. </a:t>
            </a:r>
          </a:p>
          <a:p>
            <a:r>
              <a:t>Beginning the encounter with the parent in the room is important to make </a:t>
            </a:r>
          </a:p>
          <a:p>
            <a:r>
              <a:t>the child feel comfortable and secure.  </a:t>
            </a:r>
          </a:p>
          <a:p>
            <a:r>
              <a:t>Older school-aged children and adolescents have a heightened need for </a:t>
            </a:r>
          </a:p>
          <a:p>
            <a:r>
              <a:t>privacy. For this reason, the parent should be asked to leave the room for </a:t>
            </a:r>
          </a:p>
          <a:p>
            <a:r>
              <a:t>certain portions of the history, such as questions that deal with drug or </a:t>
            </a:r>
          </a:p>
          <a:p>
            <a:r>
              <a:t>alcohol use, sexual activity, depression, and risk-taking behaviors. The </a:t>
            </a:r>
          </a:p>
          <a:p>
            <a:r>
              <a:t>preteen or adolescent is more likely to give accurate answers without </a:t>
            </a:r>
          </a:p>
          <a:p>
            <a:r>
              <a:t>the parent present.  </a:t>
            </a:r>
          </a:p>
          <a:p>
            <a:r>
              <a:t> </a:t>
            </a:r>
          </a:p>
          <a:p>
            <a:r>
              <a:t>Age-specific interview and assessment tips. (Lippincott, 2012) </a:t>
            </a:r>
          </a:p>
          <a:p>
            <a:r>
              <a:t> </a:t>
            </a:r>
          </a:p>
          <a:p>
            <a:r>
              <a:t>Infant </a:t>
            </a:r>
          </a:p>
          <a:p>
            <a:r>
              <a:t> </a:t>
            </a:r>
          </a:p>
          <a:p>
            <a:r>
              <a:t>• Before performing a procedure, talk to and touch the infant. </a:t>
            </a:r>
          </a:p>
          <a:p>
            <a:r>
              <a:t>• Use a gentle touch. </a:t>
            </a:r>
          </a:p>
          <a:p>
            <a:r>
              <a:t>• Speak softly. </a:t>
            </a:r>
          </a:p>
          <a:p>
            <a:r>
              <a:t>• Allow the infant to hold a favorite toy during the assessment.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13 </a:t>
            </a:r>
          </a:p>
          <a:p>
            <a:r>
              <a:t>Infants and Young Children  </a:t>
            </a:r>
          </a:p>
          <a:p>
            <a:r>
              <a:t>• For infants and preverbal children, the primary source of historical </a:t>
            </a:r>
          </a:p>
          <a:p>
            <a:r>
              <a:t>information is the parent or primary caregiver.  </a:t>
            </a:r>
          </a:p>
          <a:p>
            <a:r>
              <a:t>For older infants and toddlers, it is important that the parent remain </a:t>
            </a:r>
          </a:p>
          <a:p>
            <a:r>
              <a:t>within eyesight of the child to minimize stranger anxiety. Parents can </a:t>
            </a:r>
          </a:p>
          <a:p>
            <a:r>
              <a:t>then concentrate on answering questions rather than tending to a crying </a:t>
            </a:r>
          </a:p>
          <a:p>
            <a:r>
              <a:t>child.  </a:t>
            </a:r>
          </a:p>
          <a:p>
            <a:r>
              <a:t>Some preschoolers can answer questions during the history, depending </a:t>
            </a:r>
          </a:p>
          <a:p>
            <a:r>
              <a:t>on their language abilities, developmental level, and temperament. These </a:t>
            </a:r>
          </a:p>
          <a:p>
            <a:r>
              <a:t>questions may involve play, toys, likes, dislikes, friends, and school.  </a:t>
            </a:r>
          </a:p>
          <a:p>
            <a:r>
              <a:t>Young children who are very shy should not be forced to participate in </a:t>
            </a:r>
          </a:p>
          <a:p>
            <a:r>
              <a:t>the interview, and children should not be overwhelmed with too many </a:t>
            </a:r>
          </a:p>
          <a:p>
            <a:r>
              <a:t>questions. The health care provider should remember to use simple terms </a:t>
            </a:r>
          </a:p>
          <a:p>
            <a:r>
              <a:t>and avoid medical jargon. </a:t>
            </a:r>
          </a:p>
          <a:p>
            <a:r>
              <a:t>School-Aged Children and Adolescents  </a:t>
            </a:r>
          </a:p>
          <a:p>
            <a:r>
              <a:t>• Children who are school-aged and older can provide their own health </a:t>
            </a:r>
          </a:p>
          <a:p>
            <a:r>
              <a:t>history with verification from the parent or caregiver as needed. </a:t>
            </a:r>
          </a:p>
          <a:p>
            <a:r>
              <a:t>Beginning the encounter with the parent in the room is important to make </a:t>
            </a:r>
          </a:p>
          <a:p>
            <a:r>
              <a:t>the child feel comfortable and secure.  </a:t>
            </a:r>
          </a:p>
          <a:p>
            <a:r>
              <a:t>Older school-aged children and adolescents have a heightened need for </a:t>
            </a:r>
          </a:p>
          <a:p>
            <a:r>
              <a:t>privacy. For this reason, the parent should be asked to leave the room for </a:t>
            </a:r>
          </a:p>
          <a:p>
            <a:r>
              <a:t>certain portions of the history, such as questions that deal with drug or </a:t>
            </a:r>
          </a:p>
          <a:p>
            <a:r>
              <a:t>alcohol use, sexual activity, depression, and risk-taking behaviors. The </a:t>
            </a:r>
          </a:p>
          <a:p>
            <a:r>
              <a:t>preteen or adolescent is more likely to give accurate answers without </a:t>
            </a:r>
          </a:p>
          <a:p>
            <a:r>
              <a:t>the parent present.  </a:t>
            </a:r>
          </a:p>
          <a:p>
            <a:r>
              <a:t> </a:t>
            </a:r>
          </a:p>
          <a:p>
            <a:r>
              <a:t>Age-specific interview and assessment tips. (Lippincott, 2012) </a:t>
            </a:r>
          </a:p>
          <a:p>
            <a:r>
              <a:t> </a:t>
            </a:r>
          </a:p>
          <a:p>
            <a:r>
              <a:t>Infant </a:t>
            </a:r>
          </a:p>
          <a:p>
            <a:r>
              <a:t> </a:t>
            </a:r>
          </a:p>
          <a:p>
            <a:r>
              <a:t>• Before performing a procedure, talk to and touch the infant. </a:t>
            </a:r>
          </a:p>
          <a:p>
            <a:r>
              <a:t>• Use a gentle touch. </a:t>
            </a:r>
          </a:p>
          <a:p>
            <a:r>
              <a:t>• Speak softly. </a:t>
            </a:r>
          </a:p>
          <a:p>
            <a:r>
              <a:t>• Allow the infant to hold a favorite toy during the assessment.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14 </a:t>
            </a:r>
          </a:p>
          <a:p>
            <a:r>
              <a:t>• Let an older infant hold a small block in each hand. </a:t>
            </a:r>
          </a:p>
          <a:p>
            <a:r>
              <a:t>• Remember that an older infant may be wary of strangers. </a:t>
            </a:r>
          </a:p>
          <a:p>
            <a:r>
              <a:t>• Be alert to infant cues, such as crying, kicking, or waving arms. </a:t>
            </a:r>
          </a:p>
          <a:p>
            <a:r>
              <a:t>• Perform traumatic procedures last when the infant is crying. </a:t>
            </a:r>
          </a:p>
          <a:p>
            <a:r>
              <a:t>• Use distractions, such as bright objects, rattles, and talking. </a:t>
            </a:r>
          </a:p>
          <a:p>
            <a:r>
              <a:t>• Enlist the parent’s aid when examining the ears and mouth. </a:t>
            </a:r>
          </a:p>
          <a:p>
            <a:r>
              <a:t>• Avoid abrupt, jerky movements. </a:t>
            </a:r>
          </a:p>
          <a:p>
            <a:r>
              <a:t>• When the child is quiet, auscultate the heart, lungs, and abdomen. </a:t>
            </a:r>
          </a:p>
          <a:p>
            <a:r>
              <a:t>Toddler </a:t>
            </a:r>
          </a:p>
          <a:p>
            <a:r>
              <a:t> </a:t>
            </a:r>
          </a:p>
          <a:p>
            <a:r>
              <a:t>• Encourage the parents to be with you during the interview. </a:t>
            </a:r>
          </a:p>
          <a:p>
            <a:r>
              <a:t>• Allow the toddler to be close to his parents. </a:t>
            </a:r>
          </a:p>
          <a:p>
            <a:r>
              <a:t>• Provide simple explanations and use simple language. </a:t>
            </a:r>
          </a:p>
          <a:p>
            <a:r>
              <a:t>• Use play as a communication tool. </a:t>
            </a:r>
          </a:p>
          <a:p>
            <a:r>
              <a:t>• Tell the toddler that it’s okay to cry. </a:t>
            </a:r>
          </a:p>
          <a:p>
            <a:r>
              <a:t>• Watch for separation anxiety. </a:t>
            </a:r>
          </a:p>
          <a:p>
            <a:r>
              <a:t>• Use the toddler’s favorite toy as a tool during the interview. Encourage </a:t>
            </a:r>
          </a:p>
          <a:p>
            <a:r>
              <a:t>the toddler to use the toy for communication. </a:t>
            </a:r>
          </a:p>
          <a:p>
            <a:r>
              <a:t>• Use play (count fingers or tickle toes) to assess body parts. </a:t>
            </a:r>
          </a:p>
          <a:p>
            <a:r>
              <a:t>• Use parent assistance during the examination. For example, ask the </a:t>
            </a:r>
          </a:p>
          <a:p>
            <a:r>
              <a:t>parents to remove the toddler’s outer clothing and help restrain the child </a:t>
            </a:r>
          </a:p>
          <a:p>
            <a:r>
              <a:t>during eye and ear examination. </a:t>
            </a:r>
          </a:p>
          <a:p>
            <a:r>
              <a:t>• Use encouraging words during the examination. </a:t>
            </a:r>
          </a:p>
          <a:p>
            <a:r>
              <a:t>Preschool child </a:t>
            </a:r>
          </a:p>
          <a:p>
            <a:r>
              <a:t> </a:t>
            </a:r>
          </a:p>
          <a:p>
            <a:r>
              <a:t>• Ask simple questions. </a:t>
            </a:r>
          </a:p>
          <a:p>
            <a:r>
              <a:t>• Allow the child to ask questions. </a:t>
            </a:r>
          </a:p>
          <a:p>
            <a:r>
              <a:t>• Provide simple explanations. </a:t>
            </a:r>
          </a:p>
          <a:p>
            <a:r>
              <a:t>• Avoid using words that sound threatening or have double meanings. </a:t>
            </a:r>
          </a:p>
          <a:p>
            <a:r>
              <a:t>• Avoid slang words. </a:t>
            </a:r>
          </a:p>
          <a:p>
            <a:r>
              <a:t>• Validate the child’s perception. </a:t>
            </a:r>
          </a:p>
          <a:p>
            <a:r>
              <a:t>• Use toys for expression. </a:t>
            </a:r>
          </a:p>
          <a:p>
            <a:r>
              <a:t>• Use simple visual aids. </a:t>
            </a:r>
          </a:p>
          <a:p>
            <a:r>
              <a:t>• Enlist the child’s help during the examination, such as by allowing him </a:t>
            </a:r>
          </a:p>
          <a:p>
            <a:r>
              <a:t>to give you the stethoscope. </a:t>
            </a:r>
          </a:p>
          <a:p>
            <a:r>
              <a:t>• Allow the child to touch and operate the diagnostic equipment.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14 </a:t>
            </a:r>
          </a:p>
          <a:p>
            <a:r>
              <a:t>• Let an older infant hold a small block in each hand. </a:t>
            </a:r>
          </a:p>
          <a:p>
            <a:r>
              <a:t>• Remember that an older infant may be wary of strangers. </a:t>
            </a:r>
          </a:p>
          <a:p>
            <a:r>
              <a:t>• Be alert to infant cues, such as crying, kicking, or waving arms. </a:t>
            </a:r>
          </a:p>
          <a:p>
            <a:r>
              <a:t>• Perform traumatic procedures last when the infant is crying. </a:t>
            </a:r>
          </a:p>
          <a:p>
            <a:r>
              <a:t>• Use distractions, such as bright objects, rattles, and talking. </a:t>
            </a:r>
          </a:p>
          <a:p>
            <a:r>
              <a:t>• Enlist the parent’s aid when examining the ears and mouth. </a:t>
            </a:r>
          </a:p>
          <a:p>
            <a:r>
              <a:t>• Avoid abrupt, jerky movements. </a:t>
            </a:r>
          </a:p>
          <a:p>
            <a:r>
              <a:t>• When the child is quiet, auscultate the heart, lungs, and abdomen. </a:t>
            </a:r>
          </a:p>
          <a:p>
            <a:r>
              <a:t>Toddler </a:t>
            </a:r>
          </a:p>
          <a:p>
            <a:r>
              <a:t> </a:t>
            </a:r>
          </a:p>
          <a:p>
            <a:r>
              <a:t>• Encourage the parents to be with you during the interview. </a:t>
            </a:r>
          </a:p>
          <a:p>
            <a:r>
              <a:t>• Allow the toddler to be close to his parents. </a:t>
            </a:r>
          </a:p>
          <a:p>
            <a:r>
              <a:t>• Provide simple explanations and use simple language. </a:t>
            </a:r>
          </a:p>
          <a:p>
            <a:r>
              <a:t>• Use play as a communication tool. </a:t>
            </a:r>
          </a:p>
          <a:p>
            <a:r>
              <a:t>• Tell the toddler that it’s okay to cry. </a:t>
            </a:r>
          </a:p>
          <a:p>
            <a:r>
              <a:t>• Watch for separation anxiety. </a:t>
            </a:r>
          </a:p>
          <a:p>
            <a:r>
              <a:t>• Use the toddler’s favorite toy as a tool during the interview. Encourage </a:t>
            </a:r>
          </a:p>
          <a:p>
            <a:r>
              <a:t>the toddler to use the toy for communication. </a:t>
            </a:r>
          </a:p>
          <a:p>
            <a:r>
              <a:t>• Use play (count fingers or tickle toes) to assess body parts. </a:t>
            </a:r>
          </a:p>
          <a:p>
            <a:r>
              <a:t>• Use parent assistance during the examination. For example, ask the </a:t>
            </a:r>
          </a:p>
          <a:p>
            <a:r>
              <a:t>parents to remove the toddler’s outer clothing and help restrain the child </a:t>
            </a:r>
          </a:p>
          <a:p>
            <a:r>
              <a:t>during eye and ear examination. </a:t>
            </a:r>
          </a:p>
          <a:p>
            <a:r>
              <a:t>• Use encouraging words during the examination. </a:t>
            </a:r>
          </a:p>
          <a:p>
            <a:r>
              <a:t>Preschool child </a:t>
            </a:r>
          </a:p>
          <a:p>
            <a:r>
              <a:t> </a:t>
            </a:r>
          </a:p>
          <a:p>
            <a:r>
              <a:t>• Ask simple questions. </a:t>
            </a:r>
          </a:p>
          <a:p>
            <a:r>
              <a:t>• Allow the child to ask questions. </a:t>
            </a:r>
          </a:p>
          <a:p>
            <a:r>
              <a:t>• Provide simple explanations. </a:t>
            </a:r>
          </a:p>
          <a:p>
            <a:r>
              <a:t>• Avoid using words that sound threatening or have double meanings. </a:t>
            </a:r>
          </a:p>
          <a:p>
            <a:r>
              <a:t>• Avoid slang words. </a:t>
            </a:r>
          </a:p>
          <a:p>
            <a:r>
              <a:t>• Validate the child’s perception. </a:t>
            </a:r>
          </a:p>
          <a:p>
            <a:r>
              <a:t>• Use toys for expression. </a:t>
            </a:r>
          </a:p>
          <a:p>
            <a:r>
              <a:t>• Use simple visual aids. </a:t>
            </a:r>
          </a:p>
          <a:p>
            <a:r>
              <a:t>• Enlist the child’s help during the examination, such as by allowing him </a:t>
            </a:r>
          </a:p>
          <a:p>
            <a:r>
              <a:t>to give you the stethoscope. </a:t>
            </a:r>
          </a:p>
          <a:p>
            <a:r>
              <a:t>• Allow the child to touch and operate the diagnostic equipment.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14 </a:t>
            </a:r>
          </a:p>
          <a:p>
            <a:r>
              <a:t>• Let an older infant hold a small block in each hand. </a:t>
            </a:r>
          </a:p>
          <a:p>
            <a:r>
              <a:t>• Remember that an older infant may be wary of strangers. </a:t>
            </a:r>
          </a:p>
          <a:p>
            <a:r>
              <a:t>• Be alert to infant cues, such as crying, kicking, or waving arms. </a:t>
            </a:r>
          </a:p>
          <a:p>
            <a:r>
              <a:t>• Perform traumatic procedures last when the infant is crying. </a:t>
            </a:r>
          </a:p>
          <a:p>
            <a:r>
              <a:t>• Use distractions, such as bright objects, rattles, and talking. </a:t>
            </a:r>
          </a:p>
          <a:p>
            <a:r>
              <a:t>• Enlist the parent’s aid when examining the ears and mouth. </a:t>
            </a:r>
          </a:p>
          <a:p>
            <a:r>
              <a:t>• Avoid abrupt, jerky movements. </a:t>
            </a:r>
          </a:p>
          <a:p>
            <a:r>
              <a:t>• When the child is quiet, auscultate the heart, lungs, and abdomen. </a:t>
            </a:r>
          </a:p>
          <a:p>
            <a:r>
              <a:t>Toddler </a:t>
            </a:r>
          </a:p>
          <a:p>
            <a:r>
              <a:t> </a:t>
            </a:r>
          </a:p>
          <a:p>
            <a:r>
              <a:t>• Encourage the parents to be with you during the interview. </a:t>
            </a:r>
          </a:p>
          <a:p>
            <a:r>
              <a:t>• Allow the toddler to be close to his parents. </a:t>
            </a:r>
          </a:p>
          <a:p>
            <a:r>
              <a:t>• Provide simple explanations and use simple language. </a:t>
            </a:r>
          </a:p>
          <a:p>
            <a:r>
              <a:t>• Use play as a communication tool. </a:t>
            </a:r>
          </a:p>
          <a:p>
            <a:r>
              <a:t>• Tell the toddler that it’s okay to cry. </a:t>
            </a:r>
          </a:p>
          <a:p>
            <a:r>
              <a:t>• Watch for separation anxiety. </a:t>
            </a:r>
          </a:p>
          <a:p>
            <a:r>
              <a:t>• Use the toddler’s favorite toy as a tool during the interview. Encourage </a:t>
            </a:r>
          </a:p>
          <a:p>
            <a:r>
              <a:t>the toddler to use the toy for communication. </a:t>
            </a:r>
          </a:p>
          <a:p>
            <a:r>
              <a:t>• Use play (count fingers or tickle toes) to assess body parts. </a:t>
            </a:r>
          </a:p>
          <a:p>
            <a:r>
              <a:t>• Use parent assistance during the examination. For example, ask the </a:t>
            </a:r>
          </a:p>
          <a:p>
            <a:r>
              <a:t>parents to remove the toddler’s outer clothing and help restrain the child </a:t>
            </a:r>
          </a:p>
          <a:p>
            <a:r>
              <a:t>during eye and ear examination. </a:t>
            </a:r>
          </a:p>
          <a:p>
            <a:r>
              <a:t>• Use encouraging words during the examination. </a:t>
            </a:r>
          </a:p>
          <a:p>
            <a:r>
              <a:t>Preschool child </a:t>
            </a:r>
          </a:p>
          <a:p>
            <a:r>
              <a:t> </a:t>
            </a:r>
          </a:p>
          <a:p>
            <a:r>
              <a:t>• Ask simple questions. </a:t>
            </a:r>
          </a:p>
          <a:p>
            <a:r>
              <a:t>• Allow the child to ask questions. </a:t>
            </a:r>
          </a:p>
          <a:p>
            <a:r>
              <a:t>• Provide simple explanations. </a:t>
            </a:r>
          </a:p>
          <a:p>
            <a:r>
              <a:t>• Avoid using words that sound threatening or have double meanings. </a:t>
            </a:r>
          </a:p>
          <a:p>
            <a:r>
              <a:t>• Avoid slang words. </a:t>
            </a:r>
          </a:p>
          <a:p>
            <a:r>
              <a:t>• Validate the child’s perception. </a:t>
            </a:r>
          </a:p>
          <a:p>
            <a:r>
              <a:t>• Use toys for expression. </a:t>
            </a:r>
          </a:p>
          <a:p>
            <a:r>
              <a:t>• Use simple visual aids. </a:t>
            </a:r>
          </a:p>
          <a:p>
            <a:r>
              <a:t>• Enlist the child’s help during the examination, such as by allowing him </a:t>
            </a:r>
          </a:p>
          <a:p>
            <a:r>
              <a:t>to give you the stethoscope. </a:t>
            </a:r>
          </a:p>
          <a:p>
            <a:r>
              <a:t>• Allow the child to touch and operate the diagnostic equipment.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15 </a:t>
            </a:r>
          </a:p>
          <a:p>
            <a:r>
              <a:t>• Explain what the child is going to feel before it happens. For example, </a:t>
            </a:r>
          </a:p>
          <a:p>
            <a:r>
              <a:t>explain that the stethoscope will be cold before using it on the child. </a:t>
            </a:r>
          </a:p>
          <a:p>
            <a:r>
              <a:t>• Utilize the child’s imagination through puppets and play. </a:t>
            </a:r>
          </a:p>
          <a:p>
            <a:r>
              <a:t>• Give the child choices when possible. </a:t>
            </a:r>
          </a:p>
          <a:p>
            <a:r>
              <a:t> </a:t>
            </a:r>
          </a:p>
          <a:p>
            <a:r>
              <a:t>School-age child </a:t>
            </a:r>
          </a:p>
          <a:p>
            <a:r>
              <a:t> </a:t>
            </a:r>
          </a:p>
          <a:p>
            <a:r>
              <a:t>• Provide explanations for procedures. </a:t>
            </a:r>
          </a:p>
          <a:p>
            <a:r>
              <a:t>• Explain the purpose of equipment, such as an ophthalmoscope to see </a:t>
            </a:r>
          </a:p>
          <a:p>
            <a:r>
              <a:t>inside the eye. </a:t>
            </a:r>
          </a:p>
          <a:p>
            <a:r>
              <a:t>• Avoid abstract explanations. </a:t>
            </a:r>
          </a:p>
          <a:p>
            <a:r>
              <a:t>• Help the child vocalize his needs. </a:t>
            </a:r>
          </a:p>
          <a:p>
            <a:r>
              <a:t>• Allow the child to engage in the conversation. </a:t>
            </a:r>
          </a:p>
          <a:p>
            <a:r>
              <a:t>• Perform demonstration. </a:t>
            </a:r>
          </a:p>
          <a:p>
            <a:r>
              <a:t>• Allow the child to undress himself. </a:t>
            </a:r>
          </a:p>
          <a:p>
            <a:r>
              <a:t>• Respect the child’s need for privacy. </a:t>
            </a:r>
          </a:p>
          <a:p>
            <a:r>
              <a:t>Adolescent </a:t>
            </a:r>
          </a:p>
          <a:p>
            <a:r>
              <a:t> </a:t>
            </a:r>
          </a:p>
          <a:p>
            <a:r>
              <a:t>• Give the adolescent control whenever possible. </a:t>
            </a:r>
          </a:p>
          <a:p>
            <a:r>
              <a:t>• Facilitate trust and stress confidentiality. </a:t>
            </a:r>
          </a:p>
          <a:p>
            <a:r>
              <a:t>• Encourage honest and open communication. </a:t>
            </a:r>
          </a:p>
          <a:p>
            <a:r>
              <a:t>• Be nonjudgmental. </a:t>
            </a:r>
          </a:p>
          <a:p>
            <a:r>
              <a:t>• Use clear explanations. </a:t>
            </a:r>
          </a:p>
          <a:p>
            <a:r>
              <a:t>• Ask open-ended questions. </a:t>
            </a:r>
          </a:p>
          <a:p>
            <a:r>
              <a:t>• Anticipate that the adolescent may be angry or upset. </a:t>
            </a:r>
          </a:p>
          <a:p>
            <a:r>
              <a:t>• Ask if you can speak to the adolescent without the parent present. </a:t>
            </a:r>
          </a:p>
          <a:p>
            <a:r>
              <a:t>• Ask the adolescent about parental involvement before initiating it. </a:t>
            </a:r>
          </a:p>
          <a:p>
            <a:r>
              <a:t>• Give your undivided attention to the adolescent. </a:t>
            </a:r>
          </a:p>
          <a:p>
            <a:r>
              <a:t>• Respect the adolescent’s views, feeling, and differences. </a:t>
            </a:r>
          </a:p>
          <a:p>
            <a:r>
              <a:t>• Allow the adolescent to undress in private, and provide the child with a </a:t>
            </a:r>
          </a:p>
          <a:p>
            <a:r>
              <a:t>gown. </a:t>
            </a:r>
          </a:p>
          <a:p>
            <a:r>
              <a:t>• Expose only the area to be examined. </a:t>
            </a:r>
          </a:p>
          <a:p>
            <a:r>
              <a:t>• Explain findings during the examination. </a:t>
            </a:r>
          </a:p>
          <a:p>
            <a:r>
              <a:t>• Emphasize the normalcy of adolescent’s development. </a:t>
            </a:r>
          </a:p>
          <a:p>
            <a:r>
              <a:t>• Examine genitalia last but examine them as you would examine any </a:t>
            </a:r>
          </a:p>
          <a:p>
            <a:r>
              <a:t>other body part.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15 </a:t>
            </a:r>
          </a:p>
          <a:p>
            <a:r>
              <a:t>• Explain what the child is going to feel before it happens. For example, </a:t>
            </a:r>
          </a:p>
          <a:p>
            <a:r>
              <a:t>explain that the stethoscope will be cold before using it on the child. </a:t>
            </a:r>
          </a:p>
          <a:p>
            <a:r>
              <a:t>• Utilize the child’s imagination through puppets and play. </a:t>
            </a:r>
          </a:p>
          <a:p>
            <a:r>
              <a:t>• Give the child choices when possible. </a:t>
            </a:r>
          </a:p>
          <a:p>
            <a:r>
              <a:t> </a:t>
            </a:r>
          </a:p>
          <a:p>
            <a:r>
              <a:t>School-age child </a:t>
            </a:r>
          </a:p>
          <a:p>
            <a:r>
              <a:t> </a:t>
            </a:r>
          </a:p>
          <a:p>
            <a:r>
              <a:t>• Provide explanations for procedures. </a:t>
            </a:r>
          </a:p>
          <a:p>
            <a:r>
              <a:t>• Explain the purpose of equipment, such as an ophthalmoscope to see </a:t>
            </a:r>
          </a:p>
          <a:p>
            <a:r>
              <a:t>inside the eye. </a:t>
            </a:r>
          </a:p>
          <a:p>
            <a:r>
              <a:t>• Avoid abstract explanations. </a:t>
            </a:r>
          </a:p>
          <a:p>
            <a:r>
              <a:t>• Help the child vocalize his needs. </a:t>
            </a:r>
          </a:p>
          <a:p>
            <a:r>
              <a:t>• Allow the child to engage in the conversation. </a:t>
            </a:r>
          </a:p>
          <a:p>
            <a:r>
              <a:t>• Perform demonstration. </a:t>
            </a:r>
          </a:p>
          <a:p>
            <a:r>
              <a:t>• Allow the child to undress himself. </a:t>
            </a:r>
          </a:p>
          <a:p>
            <a:r>
              <a:t>• Respect the child’s need for privacy. </a:t>
            </a:r>
          </a:p>
          <a:p>
            <a:r>
              <a:t>Adolescent </a:t>
            </a:r>
          </a:p>
          <a:p>
            <a:r>
              <a:t> </a:t>
            </a:r>
          </a:p>
          <a:p>
            <a:r>
              <a:t>• Give the adolescent control whenever possible. </a:t>
            </a:r>
          </a:p>
          <a:p>
            <a:r>
              <a:t>• Facilitate trust and stress confidentiality. </a:t>
            </a:r>
          </a:p>
          <a:p>
            <a:r>
              <a:t>• Encourage honest and open communication. </a:t>
            </a:r>
          </a:p>
          <a:p>
            <a:r>
              <a:t>• Be nonjudgmental. </a:t>
            </a:r>
          </a:p>
          <a:p>
            <a:r>
              <a:t>• Use clear explanations. </a:t>
            </a:r>
          </a:p>
          <a:p>
            <a:r>
              <a:t>• Ask open-ended questions. </a:t>
            </a:r>
          </a:p>
          <a:p>
            <a:r>
              <a:t>• Anticipate that the adolescent may be angry or upset. </a:t>
            </a:r>
          </a:p>
          <a:p>
            <a:r>
              <a:t>• Ask if you can speak to the adolescent without the parent present. </a:t>
            </a:r>
          </a:p>
          <a:p>
            <a:r>
              <a:t>• Ask the adolescent about parental involvement before initiating it. </a:t>
            </a:r>
          </a:p>
          <a:p>
            <a:r>
              <a:t>• Give your undivided attention to the adolescent. </a:t>
            </a:r>
          </a:p>
          <a:p>
            <a:r>
              <a:t>• Respect the adolescent’s views, feeling, and differences. </a:t>
            </a:r>
          </a:p>
          <a:p>
            <a:r>
              <a:t>• Allow the adolescent to undress in private, and provide the child with a </a:t>
            </a:r>
          </a:p>
          <a:p>
            <a:r>
              <a:t>gown. </a:t>
            </a:r>
          </a:p>
          <a:p>
            <a:r>
              <a:t>• Expose only the area to be examined. </a:t>
            </a:r>
          </a:p>
          <a:p>
            <a:r>
              <a:t>• Explain findings during the examination. </a:t>
            </a:r>
          </a:p>
          <a:p>
            <a:r>
              <a:t>• Emphasize the normalcy of adolescent’s development. </a:t>
            </a:r>
          </a:p>
          <a:p>
            <a:r>
              <a:t>• Examine genitalia last but examine them as you would examine any </a:t>
            </a:r>
          </a:p>
          <a:p>
            <a:r>
              <a:t>other body part.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15 </a:t>
            </a:r>
          </a:p>
          <a:p>
            <a:r>
              <a:t>• Explain what the child is going to feel before it happens. For example, </a:t>
            </a:r>
          </a:p>
          <a:p>
            <a:r>
              <a:t>explain that the stethoscope will be cold before using it on the child. </a:t>
            </a:r>
          </a:p>
          <a:p>
            <a:r>
              <a:t>• Utilize the child’s imagination through puppets and play. </a:t>
            </a:r>
          </a:p>
          <a:p>
            <a:r>
              <a:t>• Give the child choices when possible. </a:t>
            </a:r>
          </a:p>
          <a:p>
            <a:r>
              <a:t> </a:t>
            </a:r>
          </a:p>
          <a:p>
            <a:r>
              <a:t>School-age child </a:t>
            </a:r>
          </a:p>
          <a:p>
            <a:r>
              <a:t> </a:t>
            </a:r>
          </a:p>
          <a:p>
            <a:r>
              <a:t>• Provide explanations for procedures. </a:t>
            </a:r>
          </a:p>
          <a:p>
            <a:r>
              <a:t>• Explain the purpose of equipment, such as an ophthalmoscope to see </a:t>
            </a:r>
          </a:p>
          <a:p>
            <a:r>
              <a:t>inside the eye. </a:t>
            </a:r>
          </a:p>
          <a:p>
            <a:r>
              <a:t>• Avoid abstract explanations. </a:t>
            </a:r>
          </a:p>
          <a:p>
            <a:r>
              <a:t>• Help the child vocalize his needs. </a:t>
            </a:r>
          </a:p>
          <a:p>
            <a:r>
              <a:t>• Allow the child to engage in the conversation. </a:t>
            </a:r>
          </a:p>
          <a:p>
            <a:r>
              <a:t>• Perform demonstration. </a:t>
            </a:r>
          </a:p>
          <a:p>
            <a:r>
              <a:t>• Allow the child to undress himself. </a:t>
            </a:r>
          </a:p>
          <a:p>
            <a:r>
              <a:t>• Respect the child’s need for privacy. </a:t>
            </a:r>
          </a:p>
          <a:p>
            <a:r>
              <a:t>Adolescent </a:t>
            </a:r>
          </a:p>
          <a:p>
            <a:r>
              <a:t> </a:t>
            </a:r>
          </a:p>
          <a:p>
            <a:r>
              <a:t>• Give the adolescent control whenever possible. </a:t>
            </a:r>
          </a:p>
          <a:p>
            <a:r>
              <a:t>• Facilitate trust and stress confidentiality. </a:t>
            </a:r>
          </a:p>
          <a:p>
            <a:r>
              <a:t>• Encourage honest and open communication. </a:t>
            </a:r>
          </a:p>
          <a:p>
            <a:r>
              <a:t>• Be nonjudgmental. </a:t>
            </a:r>
          </a:p>
          <a:p>
            <a:r>
              <a:t>• Use clear explanations. </a:t>
            </a:r>
          </a:p>
          <a:p>
            <a:r>
              <a:t>• Ask open-ended questions. </a:t>
            </a:r>
          </a:p>
          <a:p>
            <a:r>
              <a:t>• Anticipate that the adolescent may be angry or upset. </a:t>
            </a:r>
          </a:p>
          <a:p>
            <a:r>
              <a:t>• Ask if you can speak to the adolescent without the parent present. </a:t>
            </a:r>
          </a:p>
          <a:p>
            <a:r>
              <a:t>• Ask the adolescent about parental involvement before initiating it. </a:t>
            </a:r>
          </a:p>
          <a:p>
            <a:r>
              <a:t>• Give your undivided attention to the adolescent. </a:t>
            </a:r>
          </a:p>
          <a:p>
            <a:r>
              <a:t>• Respect the adolescent’s views, feeling, and differences. </a:t>
            </a:r>
          </a:p>
          <a:p>
            <a:r>
              <a:t>• Allow the adolescent to undress in private, and provide the child with a </a:t>
            </a:r>
          </a:p>
          <a:p>
            <a:r>
              <a:t>gown. </a:t>
            </a:r>
          </a:p>
          <a:p>
            <a:r>
              <a:t>• Expose only the area to be examined. </a:t>
            </a:r>
          </a:p>
          <a:p>
            <a:r>
              <a:t>• Explain findings during the examination. </a:t>
            </a:r>
          </a:p>
          <a:p>
            <a:r>
              <a:t>• Emphasize the normalcy of adolescent’s development. </a:t>
            </a:r>
          </a:p>
          <a:p>
            <a:r>
              <a:t>• Examine genitalia last but examine them as you would examine any </a:t>
            </a:r>
          </a:p>
          <a:p>
            <a:r>
              <a:t>other body part.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16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Review of systems: </a:t>
            </a:r>
          </a:p>
          <a:p>
            <a:r>
              <a:t> </a:t>
            </a:r>
          </a:p>
          <a:p>
            <a:r>
              <a:t>General </a:t>
            </a:r>
          </a:p>
          <a:p>
            <a:r>
              <a:t>Overall state of health; recent weight loss or gain (compare to </a:t>
            </a:r>
          </a:p>
          <a:p>
            <a:r>
              <a:t>growth charts); obesity; delays in physical, psychosocial, or </a:t>
            </a:r>
          </a:p>
          <a:p>
            <a:r>
              <a:t>language </a:t>
            </a:r>
          </a:p>
          <a:p>
            <a:r>
              <a:t>development; </a:t>
            </a:r>
          </a:p>
          <a:p>
            <a:r>
              <a:t>fatigue; </a:t>
            </a:r>
          </a:p>
          <a:p>
            <a:r>
              <a:t>weakness; </a:t>
            </a:r>
          </a:p>
          <a:p>
            <a:r>
              <a:t>malaise; </a:t>
            </a:r>
          </a:p>
          <a:p>
            <a:r>
              <a:t>difficulty </a:t>
            </a:r>
          </a:p>
          <a:p>
            <a:r>
              <a:t>performing activities of daily living; or chronic pain.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17 </a:t>
            </a:r>
          </a:p>
          <a:p>
            <a:r>
              <a:t> </a:t>
            </a:r>
          </a:p>
          <a:p>
            <a:r>
              <a:t>Integument </a:t>
            </a:r>
          </a:p>
          <a:p>
            <a:r>
              <a:t>General skin texture, birthmarks, or pigmentation; skin color changes </a:t>
            </a:r>
          </a:p>
          <a:p>
            <a:r>
              <a:t>(jaundice, cyanosis, mottling, pallor, bruising, or petechiae); rashes or </a:t>
            </a:r>
          </a:p>
          <a:p>
            <a:r>
              <a:t>lesions (location and description); excessive skin dryness; pruritus; hives; </a:t>
            </a:r>
          </a:p>
          <a:p>
            <a:r>
              <a:t>atopic dermatitis; contact dermatitis; seborrhea; acne; changes in moles; </a:t>
            </a:r>
          </a:p>
          <a:p>
            <a:r>
              <a:t>changes in body hair (excessive hair growth or loss or hair color change); </a:t>
            </a:r>
          </a:p>
          <a:p>
            <a:r>
              <a:t>nail disorders; or pediculosis. </a:t>
            </a:r>
          </a:p>
          <a:p>
            <a:r>
              <a:t> </a:t>
            </a:r>
          </a:p>
          <a:p>
            <a:r>
              <a:t>Head  </a:t>
            </a:r>
          </a:p>
          <a:p>
            <a:r>
              <a:t>Head size and shape (including fontanels), microcephaly, macrocephaly, </a:t>
            </a:r>
          </a:p>
          <a:p>
            <a:r>
              <a:t>head injuries, headaches, or dizziness. </a:t>
            </a:r>
          </a:p>
          <a:p>
            <a:r>
              <a:t>………………………………………………………………. </a:t>
            </a:r>
          </a:p>
          <a:p>
            <a:r>
              <a:t>Eyes  </a:t>
            </a:r>
          </a:p>
          <a:p>
            <a:r>
              <a:t>Visual problems (blurred vision, double vision, bumping into </a:t>
            </a:r>
          </a:p>
          <a:p>
            <a:r>
              <a:t>objects, sitting very close to the television or computer screen, </a:t>
            </a:r>
          </a:p>
          <a:p>
            <a:r>
              <a:t>inability to see blackboard, holding book very close to face, </a:t>
            </a:r>
          </a:p>
          <a:p>
            <a:r>
              <a:t>squinting, rubbing eyes, photophobia, use of glasses or contact </a:t>
            </a:r>
          </a:p>
          <a:p>
            <a:r>
              <a:t>lenses), date of last eye exam and results, strabismus, dizziness, </a:t>
            </a:r>
          </a:p>
          <a:p>
            <a:r>
              <a:t>eye drainage or infections, excessive tearing, or eyelid edema. </a:t>
            </a:r>
          </a:p>
          <a:p>
            <a:r>
              <a:t> </a:t>
            </a:r>
          </a:p>
          <a:p>
            <a:r>
              <a:t>Ears  </a:t>
            </a:r>
          </a:p>
          <a:p>
            <a:r>
              <a:t>Ear infections (e.g., otitis media, otitis externa), ear pain, ear drainage, </a:t>
            </a:r>
          </a:p>
          <a:p>
            <a:r>
              <a:t>surgery (e.g., myringotomy with tympanostomy tubes), delayed speech, </a:t>
            </a:r>
          </a:p>
          <a:p>
            <a:r>
              <a:t>evidence of hearing loss, date of last hearing exam and result, or tinnitus. </a:t>
            </a:r>
          </a:p>
          <a:p>
            <a:r>
              <a:t> </a:t>
            </a:r>
          </a:p>
          <a:p>
            <a:r>
              <a:t>Nose </a:t>
            </a:r>
          </a:p>
          <a:p>
            <a:r>
              <a:t>Frequent rhinorrhea, upper respiratory infections, sinusitis, allergic </a:t>
            </a:r>
          </a:p>
          <a:p>
            <a:r>
              <a:t>rhinitis, stuffy nose, nasal congestion, allergies, mouth breathing, snoring, </a:t>
            </a:r>
          </a:p>
          <a:p>
            <a:r>
              <a:t>obstructive sleep apnea, epistaxis, allergic salute, allergic crease, dark </a:t>
            </a:r>
          </a:p>
          <a:p>
            <a:r>
              <a:t>circles under eyes, or altered sense of smell. </a:t>
            </a:r>
          </a:p>
          <a:p>
            <a:r>
              <a:t> </a:t>
            </a:r>
          </a:p>
          <a:p>
            <a:r>
              <a:t>Mouth/throat  </a:t>
            </a:r>
          </a:p>
          <a:p>
            <a:r>
              <a:t>Pattern of tooth eruption or loss, number of teeth, teething (infants), dental </a:t>
            </a:r>
          </a:p>
          <a:p>
            <a:r>
              <a:t>care, use of ﬂuoride, dental caries, age of first dental visit, date of last visit </a:t>
            </a:r>
          </a:p>
          <a:p>
            <a:r>
              <a:t>to dentist, frequency of dental visits, tooth pain, history of dental trauma, </a:t>
            </a:r>
          </a:p>
          <a:p>
            <a:r>
              <a:t>sores in mouth or tongue, history of oral candida infections, gum bleeding,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18 </a:t>
            </a:r>
          </a:p>
          <a:p>
            <a:r>
              <a:t>mouth breathing, tonsillar enlargement or infections, history of </a:t>
            </a:r>
          </a:p>
          <a:p>
            <a:r>
              <a:t>tonsillectomy, postnasal drip, cleft lip or palate, sore throats, streptococcal </a:t>
            </a:r>
          </a:p>
          <a:p>
            <a:r>
              <a:t>infections, difficulty chewing or swallowing, hoarseness, or voice and cry </a:t>
            </a:r>
          </a:p>
          <a:p>
            <a:r>
              <a:t>irregularity. </a:t>
            </a:r>
          </a:p>
          <a:p>
            <a:r>
              <a:t> </a:t>
            </a:r>
          </a:p>
          <a:p>
            <a:r>
              <a:t>Chest </a:t>
            </a:r>
          </a:p>
          <a:p>
            <a:r>
              <a:t>Pain, newborn breast enlargement, male gynecomastia, breast lesions, </a:t>
            </a:r>
          </a:p>
          <a:p>
            <a:r>
              <a:t>discharge, or enlarged </a:t>
            </a:r>
          </a:p>
          <a:p>
            <a:r>
              <a:t>Neck </a:t>
            </a:r>
          </a:p>
          <a:p>
            <a:r>
              <a:t>Limitation of movement, pain, stiffness, torticollis, thyroid enlargement, </a:t>
            </a:r>
          </a:p>
          <a:p>
            <a:r>
              <a:t>or lymphadenopathy axillary nodes. </a:t>
            </a:r>
          </a:p>
          <a:p>
            <a:r>
              <a:t> </a:t>
            </a:r>
          </a:p>
          <a:p>
            <a:r>
              <a:t>Lymphatics  </a:t>
            </a:r>
          </a:p>
          <a:p>
            <a:r>
              <a:t>Frequent infections, fevers, pain, and swelling, tenderness of any lymph </a:t>
            </a:r>
          </a:p>
          <a:p>
            <a:r>
              <a:t>nodes, hepatosplenomegaly, chills, night sweats, or pallor. </a:t>
            </a:r>
          </a:p>
          <a:p>
            <a:r>
              <a:t> </a:t>
            </a:r>
          </a:p>
          <a:p>
            <a:r>
              <a:t>Respiratory </a:t>
            </a:r>
          </a:p>
          <a:p>
            <a:r>
              <a:t>Frequent respiratory infections, dyspnea (shortness of breath), apnea, </a:t>
            </a:r>
          </a:p>
          <a:p>
            <a:r>
              <a:t>stridor, croup, pneumonia, cystic fibrosis, asthma, wheezing, chronic </a:t>
            </a:r>
          </a:p>
          <a:p>
            <a:r>
              <a:t>cough, sputum production, reduced exercise tolerance, dyspnea at rest or </a:t>
            </a:r>
          </a:p>
          <a:p>
            <a:r>
              <a:t>on exertion, cyanosis, or tuberculosis; date of last chest radiograph and </a:t>
            </a:r>
          </a:p>
          <a:p>
            <a:r>
              <a:t>skin reaction from tuberculosis skin testing; or history of smoking or </a:t>
            </a:r>
          </a:p>
          <a:p>
            <a:r>
              <a:t>secondhand smoke exposure. </a:t>
            </a:r>
          </a:p>
          <a:p>
            <a:r>
              <a:t> </a:t>
            </a:r>
          </a:p>
          <a:p>
            <a:r>
              <a:t>Cardiovascular  </a:t>
            </a:r>
          </a:p>
          <a:p>
            <a:r>
              <a:t>Murmurs, congenital heart defects, poor infant feeding, slow or decreased </a:t>
            </a:r>
          </a:p>
          <a:p>
            <a:r>
              <a:t>weight gain, chest pain, cyanosis, tachypnea, tachycardia, hypertension, </a:t>
            </a:r>
          </a:p>
          <a:p>
            <a:r>
              <a:t>edema, cold extremities, dizziness, palpitations, fainting spells, exercise </a:t>
            </a:r>
          </a:p>
          <a:p>
            <a:r>
              <a:t>intolerance, dyspnea on exertion, fatigue, diaphoresis, rheumatic fever, </a:t>
            </a:r>
          </a:p>
          <a:p>
            <a:r>
              <a:t>anemia, or recent blood transfusion. </a:t>
            </a:r>
          </a:p>
          <a:p>
            <a:r>
              <a:t> </a:t>
            </a:r>
          </a:p>
          <a:p>
            <a:r>
              <a:t>Gastrointestinal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19 </a:t>
            </a:r>
          </a:p>
          <a:p>
            <a:r>
              <a:t>Appetite, food intolerances, dietary history, abdominal pain, ulcers, </a:t>
            </a:r>
          </a:p>
          <a:p>
            <a:r>
              <a:t>nausea, vomiting, reﬂux, recent changes in bowel patterns, </a:t>
            </a:r>
          </a:p>
          <a:p>
            <a:r>
              <a:t>gastrointestinal infections, diarrhea, belching, ﬂatulence, constipation, </a:t>
            </a:r>
          </a:p>
          <a:p>
            <a:r>
              <a:t>type and frequency of stools, use of laxatives, blood in stools, jaundice, </a:t>
            </a:r>
          </a:p>
          <a:p>
            <a:r>
              <a:t>anal itching, fissures, or pinworms. </a:t>
            </a:r>
          </a:p>
          <a:p>
            <a:r>
              <a:t>Genitourinary </a:t>
            </a:r>
          </a:p>
          <a:p>
            <a:r>
              <a:t>Dysuria, frequency, urgency, burning, hesitancy, enuresis, urinary tract </a:t>
            </a:r>
          </a:p>
          <a:p>
            <a:r>
              <a:t>infections, discharge, polyuria, oliguria, hematuria, character of stream, </a:t>
            </a:r>
          </a:p>
          <a:p>
            <a:r>
              <a:t>or ﬂank pain; history of epispadias or hypospadias and date of surgery; </a:t>
            </a:r>
          </a:p>
          <a:p>
            <a:r>
              <a:t>history of cryptorchidism (include age of child and if orchiopexy </a:t>
            </a:r>
          </a:p>
          <a:p>
            <a:r>
              <a:t>performed, include date of surgery); hernia, hydrocele, swelling of </a:t>
            </a:r>
          </a:p>
          <a:p>
            <a:r>
              <a:t>scrotum when crying, performance of testicular self-exam in adolescent </a:t>
            </a:r>
          </a:p>
          <a:p>
            <a:r>
              <a:t>males, sexually transmitted infections, or sexual activity. </a:t>
            </a:r>
          </a:p>
          <a:p>
            <a:r>
              <a:t> </a:t>
            </a:r>
          </a:p>
          <a:p>
            <a:r>
              <a:t>Gynecologic </a:t>
            </a:r>
          </a:p>
          <a:p>
            <a:r>
              <a:t> Age of menarche, date of last menstrual period, length of menses, </a:t>
            </a:r>
          </a:p>
          <a:p>
            <a:r>
              <a:t>frequency of cycle, dysmenorrhea, history of heavy menstrual bleeding, </a:t>
            </a:r>
          </a:p>
          <a:p>
            <a:r>
              <a:t>vaginal discharge, abnormal vaginal bleeding, sexual activity, type of </a:t>
            </a:r>
          </a:p>
          <a:p>
            <a:r>
              <a:t>contraception, date of last Pap smear, or obstetric history, if applicable </a:t>
            </a:r>
          </a:p>
          <a:p>
            <a:r>
              <a:t>Musculoskeletal  </a:t>
            </a:r>
          </a:p>
          <a:p>
            <a:r>
              <a:t>Usual activity level, history of weakness, clumsiness, ataxia, lack of </a:t>
            </a:r>
          </a:p>
          <a:p>
            <a:r>
              <a:t>coordination, unusual movements, joint or muscle pain, cramps or </a:t>
            </a:r>
          </a:p>
          <a:p>
            <a:r>
              <a:t>inﬂammation; swelling, sprains, fractures, mobility problems, back or </a:t>
            </a:r>
          </a:p>
          <a:p>
            <a:r>
              <a:t>joint stiffness, abnormal gait, limps, or spinal curvatures. </a:t>
            </a:r>
          </a:p>
          <a:p>
            <a:r>
              <a:t> </a:t>
            </a:r>
          </a:p>
          <a:p>
            <a:r>
              <a:t>Neurologic </a:t>
            </a:r>
          </a:p>
          <a:p>
            <a:r>
              <a:t>General affect and mood, ataxia, tremors, tics, dizziness, syncope, </a:t>
            </a:r>
          </a:p>
          <a:p>
            <a:r>
              <a:t>tingling, sensory changes, paresthesia, unusual movements, seizures, loss </a:t>
            </a:r>
          </a:p>
          <a:p>
            <a:r>
              <a:t>of consciousness, memory loss, headaches, aphasia or other speech </a:t>
            </a:r>
          </a:p>
          <a:p>
            <a:r>
              <a:t>problems, fears, nightmares, or unusual habits. </a:t>
            </a:r>
          </a:p>
          <a:p>
            <a:r>
              <a:t>Endocrine </a:t>
            </a:r>
          </a:p>
          <a:p>
            <a:r>
              <a:t>Disturbances in growth, polyuria, polyphagia, polydipsia, thyroid disease, </a:t>
            </a:r>
          </a:p>
          <a:p>
            <a:r>
              <a:t>obesity, type 1 or 2 diabetes, excessive sweating, salty taste to skin,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20 </a:t>
            </a:r>
          </a:p>
          <a:p>
            <a:r>
              <a:t>intolerance to temperature changes, signs of early or delayed puberty, or </a:t>
            </a:r>
          </a:p>
          <a:p>
            <a:r>
              <a:t>abnormal hair distribution. </a:t>
            </a:r>
          </a:p>
          <a:p>
            <a:r>
              <a:t>Hematologic </a:t>
            </a:r>
          </a:p>
          <a:p>
            <a:r>
              <a:t>Anemia, pallor, lymphadenopathy, bleeding disorders, bruising, </a:t>
            </a:r>
          </a:p>
          <a:p>
            <a:r>
              <a:t>petechiae, bleeding gums, blood transfusions, toxic drug exposure, </a:t>
            </a:r>
          </a:p>
          <a:p>
            <a:r>
              <a:t>radiation, or chemotherapy. </a:t>
            </a:r>
          </a:p>
          <a:p>
            <a:r>
              <a:t> </a:t>
            </a:r>
          </a:p>
          <a:p>
            <a:r>
              <a:t>Psychosocial development </a:t>
            </a:r>
          </a:p>
          <a:p>
            <a:r>
              <a:t>Developmental delays, behavior changes, tantrums, breath-holding spells, </a:t>
            </a:r>
          </a:p>
          <a:p>
            <a:r>
              <a:t>bedwetting, school failure, social withdrawal, irritability, sleep pattern </a:t>
            </a:r>
          </a:p>
          <a:p>
            <a:r>
              <a:t>disturbances, depression, substance abuse, eating disorders, or psychiatric </a:t>
            </a:r>
          </a:p>
          <a:p>
            <a:r>
              <a:t>disorders. (Hockenberry &amp; Wilson, 2015)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References </a:t>
            </a:r>
          </a:p>
          <a:p>
            <a:r>
              <a:t> </a:t>
            </a:r>
          </a:p>
          <a:p>
            <a:r>
              <a:t>Chiocca, E. M. (2015). Advanced Pediatric Assessment (second edi). </a:t>
            </a:r>
          </a:p>
          <a:p>
            <a:r>
              <a:t>Springer Publishing Company, LLC. </a:t>
            </a:r>
          </a:p>
          <a:p>
            <a:r>
              <a:t>Hockenberry, M. J., &amp; Wilson, D. (2015). Wong’s nursing care of infants </a:t>
            </a:r>
          </a:p>
          <a:p>
            <a:r>
              <a:t>and children (10th ed.). St. Louis, Missouri: Mosby, an imprint of </a:t>
            </a:r>
          </a:p>
          <a:p>
            <a:r>
              <a:t>Elsevier Inc. </a:t>
            </a:r>
          </a:p>
          <a:p>
            <a:r>
              <a:t>Taylor, C. R., Lillis, C., LeMone, P., &amp; Lynn, P. (2011). Fundamentals of </a:t>
            </a:r>
          </a:p>
          <a:p>
            <a:r>
              <a:t>Nursing THE ART AND SCIENCE OF NURSING CARE (Seventh </a:t>
            </a:r>
          </a:p>
          <a:p>
            <a:r>
              <a:t>Ed). Wolters Kluwer Health | Lippincott Williams &amp; Wilkins.P.p </a:t>
            </a:r>
          </a:p>
          <a:p>
            <a:r>
              <a:t>(228-233)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Pediatric Health History                                                            20 </a:t>
            </a:r>
          </a:p>
          <a:p>
            <a:r>
              <a:t>intolerance to temperature changes, signs of early or delayed puberty, or </a:t>
            </a:r>
          </a:p>
          <a:p>
            <a:r>
              <a:t>abnormal hair distribution. </a:t>
            </a:r>
          </a:p>
          <a:p>
            <a:r>
              <a:t>Hematologic </a:t>
            </a:r>
          </a:p>
          <a:p>
            <a:r>
              <a:t>Anemia, pallor, lymphadenopathy, bleeding disorders, bruising, </a:t>
            </a:r>
          </a:p>
          <a:p>
            <a:r>
              <a:t>petechiae, bleeding gums, blood transfusions, toxic drug exposure, </a:t>
            </a:r>
          </a:p>
          <a:p>
            <a:r>
              <a:t>radiation, or chemotherapy. </a:t>
            </a:r>
          </a:p>
          <a:p>
            <a:r>
              <a:t> </a:t>
            </a:r>
          </a:p>
          <a:p>
            <a:r>
              <a:t>Psychosocial development </a:t>
            </a:r>
          </a:p>
          <a:p>
            <a:r>
              <a:t>Developmental delays, behavior changes, tantrums, breath-holding spells, </a:t>
            </a:r>
          </a:p>
          <a:p>
            <a:r>
              <a:t>bedwetting, school failure, social withdrawal, irritability, sleep pattern </a:t>
            </a:r>
          </a:p>
          <a:p>
            <a:r>
              <a:t>disturbances, depression, substance abuse, eating disorders, or psychiatric </a:t>
            </a:r>
          </a:p>
          <a:p>
            <a:r>
              <a:t>disorders. (Hockenberry &amp; Wilson, 2015)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References </a:t>
            </a:r>
          </a:p>
          <a:p>
            <a:r>
              <a:t> </a:t>
            </a:r>
          </a:p>
          <a:p>
            <a:r>
              <a:t>Chiocca, E. M. (2015). Advanced Pediatric Assessment (second edi). </a:t>
            </a:r>
          </a:p>
          <a:p>
            <a:r>
              <a:t>Springer Publishing Company, LLC. </a:t>
            </a:r>
          </a:p>
          <a:p>
            <a:r>
              <a:t>Hockenberry, M. J., &amp; Wilson, D. (2015). Wong’s nursing care of infants </a:t>
            </a:r>
          </a:p>
          <a:p>
            <a:r>
              <a:t>and children (10th ed.). St. Louis, Missouri: Mosby, an imprint of </a:t>
            </a:r>
          </a:p>
          <a:p>
            <a:r>
              <a:t>Elsevier Inc. </a:t>
            </a:r>
          </a:p>
          <a:p>
            <a:r>
              <a:t>Taylor, C. R., Lillis, C., LeMone, P., &amp; Lynn, P. (2011). Fundamentals of </a:t>
            </a:r>
          </a:p>
          <a:p>
            <a:r>
              <a:t>Nursing THE ART AND SCIENCE OF NURSING CARE (Seventh </a:t>
            </a:r>
          </a:p>
          <a:p>
            <a:r>
              <a:t>Ed). Wolters Kluwer Health | Lippincott Williams &amp; Wilkins.P.p </a:t>
            </a:r>
          </a:p>
          <a:p>
            <a:r>
              <a:t>(228-233)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21 </a:t>
            </a:r>
          </a:p>
          <a:p>
            <a:r>
              <a:t>Physical examination </a:t>
            </a:r>
          </a:p>
          <a:p>
            <a:r>
              <a:t>Objectives: </a:t>
            </a:r>
          </a:p>
          <a:p>
            <a:r>
              <a:t>1. Define physical examination  </a:t>
            </a:r>
          </a:p>
          <a:p>
            <a:r>
              <a:t>2. Illustrate type of physical examination. </a:t>
            </a:r>
          </a:p>
          <a:p>
            <a:r>
              <a:t>3. Explain the Preparation of the Environment (examination </a:t>
            </a:r>
          </a:p>
          <a:p>
            <a:r>
              <a:t>room). </a:t>
            </a:r>
          </a:p>
          <a:p>
            <a:r>
              <a:t>4. Identify the Sequence of Pediatrics' Physical Examination.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22 </a:t>
            </a:r>
          </a:p>
          <a:p>
            <a:r>
              <a:t>The physical examination is an essential part of the pediatric health </a:t>
            </a:r>
          </a:p>
          <a:p>
            <a:r>
              <a:t>assessment. The health care provider must possess strong physical assessment </a:t>
            </a:r>
          </a:p>
          <a:p>
            <a:r>
              <a:t>skills and a knowledge base specific to the developing bodies and minds of </a:t>
            </a:r>
          </a:p>
          <a:p>
            <a:r>
              <a:t>children. These assessment skills include inspection, palpation, percussion, </a:t>
            </a:r>
          </a:p>
          <a:p>
            <a:r>
              <a:t>and auscultation. </a:t>
            </a:r>
          </a:p>
          <a:p>
            <a:r>
              <a:t>The pediatric physical examination differs from the adult examination in </a:t>
            </a:r>
          </a:p>
          <a:p>
            <a:r>
              <a:t>that the approach to the patient and the sequence of the examination differ </a:t>
            </a:r>
          </a:p>
          <a:p>
            <a:r>
              <a:t>according to age and developmental level. (Chiocca, 2015) </a:t>
            </a:r>
          </a:p>
          <a:p>
            <a:r>
              <a:t>There are two types of physical examination:  </a:t>
            </a:r>
          </a:p>
          <a:p>
            <a:r>
              <a:t>Complete (head-to-toe) and focused physical examination </a:t>
            </a:r>
          </a:p>
          <a:p>
            <a:r>
              <a:t>A. Children who are new to the provider’s practice or who are being seen </a:t>
            </a:r>
          </a:p>
          <a:p>
            <a:r>
              <a:t>for their annual health maintenance visits, school physicals, or sports </a:t>
            </a:r>
          </a:p>
          <a:p>
            <a:r>
              <a:t>physicals require a full head-to-toe physical examination.  </a:t>
            </a:r>
          </a:p>
          <a:p>
            <a:r>
              <a:t>B. Focused physical examination complements the focused history and </a:t>
            </a:r>
          </a:p>
          <a:p>
            <a:r>
              <a:t>simply concentrates on the area of the chief complaint. This type of </a:t>
            </a:r>
          </a:p>
          <a:p>
            <a:r>
              <a:t>physical examination is done when a child presents to the emergency </a:t>
            </a:r>
          </a:p>
          <a:p>
            <a:r>
              <a:t>room or clinic with an illness, injury, or other specific complaint. </a:t>
            </a:r>
          </a:p>
          <a:p>
            <a:r>
              <a:t> </a:t>
            </a:r>
          </a:p>
          <a:p>
            <a:r>
              <a:t>EXAMINATION TECHNIQUES </a:t>
            </a:r>
          </a:p>
          <a:p>
            <a:r>
              <a:t>Physical assessment involves four major assessment skills:  </a:t>
            </a:r>
          </a:p>
          <a:p>
            <a:r>
              <a:t>1. Inspection  </a:t>
            </a:r>
          </a:p>
          <a:p>
            <a:r>
              <a:t>2. Palpation  </a:t>
            </a:r>
          </a:p>
          <a:p>
            <a:r>
              <a:t>3. Percussion  </a:t>
            </a:r>
          </a:p>
          <a:p>
            <a:r>
              <a:t>4. And auscultation.  </a:t>
            </a:r>
          </a:p>
          <a:p>
            <a:r>
              <a:t>These skills are normally performed in this order. However, when </a:t>
            </a:r>
          </a:p>
          <a:p>
            <a:r>
              <a:t>assessing the abdomen, the sequence is altered: inspection, auscultation, </a:t>
            </a:r>
          </a:p>
          <a:p>
            <a:r>
              <a:t>palpation, and then percussion.  </a:t>
            </a:r>
          </a:p>
          <a:p>
            <a:r>
              <a:t>When examining a child, providers use their senses to gather objective </a:t>
            </a:r>
          </a:p>
          <a:p>
            <a:r>
              <a:t>data. For example, sight is used to assess color, respiratory effort, posture, </a:t>
            </a:r>
          </a:p>
          <a:p>
            <a:r>
              <a:t>and gait. Smell assesses hygiene and can help diagnose infections. Touch </a:t>
            </a:r>
          </a:p>
          <a:p>
            <a:r>
              <a:t>can help providers find masses or detect skin changes. Hearing allows the </a:t>
            </a:r>
          </a:p>
          <a:p>
            <a:r>
              <a:t>provider to assess body sounds.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22 </a:t>
            </a:r>
          </a:p>
          <a:p>
            <a:r>
              <a:t>The physical examination is an essential part of the pediatric health </a:t>
            </a:r>
          </a:p>
          <a:p>
            <a:r>
              <a:t>assessment. The health care provider must possess strong physical assessment </a:t>
            </a:r>
          </a:p>
          <a:p>
            <a:r>
              <a:t>skills and a knowledge base specific to the developing bodies and minds of </a:t>
            </a:r>
          </a:p>
          <a:p>
            <a:r>
              <a:t>children. These assessment skills include inspection, palpation, percussion, </a:t>
            </a:r>
          </a:p>
          <a:p>
            <a:r>
              <a:t>and auscultation. </a:t>
            </a:r>
          </a:p>
          <a:p>
            <a:r>
              <a:t>The pediatric physical examination differs from the adult examination in </a:t>
            </a:r>
          </a:p>
          <a:p>
            <a:r>
              <a:t>that the approach to the patient and the sequence of the examination differ </a:t>
            </a:r>
          </a:p>
          <a:p>
            <a:r>
              <a:t>according to age and developmental level. (Chiocca, 2015) </a:t>
            </a:r>
          </a:p>
          <a:p>
            <a:r>
              <a:t>There are two types of physical examination:  </a:t>
            </a:r>
          </a:p>
          <a:p>
            <a:r>
              <a:t>Complete (head-to-toe) and focused physical examination </a:t>
            </a:r>
          </a:p>
          <a:p>
            <a:r>
              <a:t>A. Children who are new to the provider’s practice or who are being seen </a:t>
            </a:r>
          </a:p>
          <a:p>
            <a:r>
              <a:t>for their annual health maintenance visits, school physicals, or sports </a:t>
            </a:r>
          </a:p>
          <a:p>
            <a:r>
              <a:t>physicals require a full head-to-toe physical examination.  </a:t>
            </a:r>
          </a:p>
          <a:p>
            <a:r>
              <a:t>B. Focused physical examination complements the focused history and </a:t>
            </a:r>
          </a:p>
          <a:p>
            <a:r>
              <a:t>simply concentrates on the area of the chief complaint. This type of </a:t>
            </a:r>
          </a:p>
          <a:p>
            <a:r>
              <a:t>physical examination is done when a child presents to the emergency </a:t>
            </a:r>
          </a:p>
          <a:p>
            <a:r>
              <a:t>room or clinic with an illness, injury, or other specific complaint. </a:t>
            </a:r>
          </a:p>
          <a:p>
            <a:r>
              <a:t> </a:t>
            </a:r>
          </a:p>
          <a:p>
            <a:r>
              <a:t>EXAMINATION TECHNIQUES </a:t>
            </a:r>
          </a:p>
          <a:p>
            <a:r>
              <a:t>Physical assessment involves four major assessment skills:  </a:t>
            </a:r>
          </a:p>
          <a:p>
            <a:r>
              <a:t>1. Inspection  </a:t>
            </a:r>
          </a:p>
          <a:p>
            <a:r>
              <a:t>2. Palpation  </a:t>
            </a:r>
          </a:p>
          <a:p>
            <a:r>
              <a:t>3. Percussion  </a:t>
            </a:r>
          </a:p>
          <a:p>
            <a:r>
              <a:t>4. And auscultation.  </a:t>
            </a:r>
          </a:p>
          <a:p>
            <a:r>
              <a:t>These skills are normally performed in this order. However, when </a:t>
            </a:r>
          </a:p>
          <a:p>
            <a:r>
              <a:t>assessing the abdomen, the sequence is altered: inspection, auscultation, </a:t>
            </a:r>
          </a:p>
          <a:p>
            <a:r>
              <a:t>palpation, and then percussion.  </a:t>
            </a:r>
          </a:p>
          <a:p>
            <a:r>
              <a:t>When examining a child, providers use their senses to gather objective </a:t>
            </a:r>
          </a:p>
          <a:p>
            <a:r>
              <a:t>data. For example, sight is used to assess color, respiratory effort, posture, </a:t>
            </a:r>
          </a:p>
          <a:p>
            <a:r>
              <a:t>and gait. Smell assesses hygiene and can help diagnose infections. Touch </a:t>
            </a:r>
          </a:p>
          <a:p>
            <a:r>
              <a:t>can help providers find masses or detect skin changes. Hearing allows the </a:t>
            </a:r>
          </a:p>
          <a:p>
            <a:r>
              <a:t>provider to assess body sounds.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23 </a:t>
            </a:r>
          </a:p>
          <a:p>
            <a:r>
              <a:t>PREPARATION OF THE CHILD </a:t>
            </a:r>
          </a:p>
          <a:p>
            <a:r>
              <a:t>Before examining the pediatric patients, the provider should first consider the </a:t>
            </a:r>
          </a:p>
          <a:p>
            <a:r>
              <a:t>child’s age and developmental level. Before beginning the examination, he or </a:t>
            </a:r>
          </a:p>
          <a:p>
            <a:r>
              <a:t>she should take time to get acquainted with the child in an age-appropriate </a:t>
            </a:r>
          </a:p>
          <a:p>
            <a:r>
              <a:t>manner so that the child is as comfortable as possible. This may involve using </a:t>
            </a:r>
          </a:p>
          <a:p>
            <a:r>
              <a:t>play techniques with infants and young children or talking with a school-aged </a:t>
            </a:r>
          </a:p>
          <a:p>
            <a:r>
              <a:t>child or adolescent about his or her interests. When appropriate, toddlers, </a:t>
            </a:r>
          </a:p>
          <a:p>
            <a:r>
              <a:t>preschoolers, and school-aged children should be allowed to handle the </a:t>
            </a:r>
          </a:p>
          <a:p>
            <a:r>
              <a:t>equipment before the examination begins to demonstrate to the child that the </a:t>
            </a:r>
          </a:p>
          <a:p>
            <a:r>
              <a:t>equipment will not be painful; for example, allowing the child to listen to heart </a:t>
            </a:r>
          </a:p>
          <a:p>
            <a:r>
              <a:t>sounds of the parents or provider (Figure 8.1). </a:t>
            </a:r>
          </a:p>
          <a:p>
            <a:r>
              <a:t> </a:t>
            </a:r>
          </a:p>
          <a:p>
            <a:r>
              <a:t>Preparation of the Environment </a:t>
            </a:r>
          </a:p>
          <a:p>
            <a:r>
              <a:t>The examination room should have a comfortable temperature and be well lit. </a:t>
            </a:r>
          </a:p>
          <a:p>
            <a:r>
              <a:t>The room should be in a nonthreatening area and decorated in an age </a:t>
            </a:r>
          </a:p>
          <a:p>
            <a:r>
              <a:t>appropriate manner. All instruments should be kept out of the child’s view until </a:t>
            </a:r>
          </a:p>
          <a:p>
            <a:r>
              <a:t>use, and the examination room should be childproofed. Age-appropriate toys </a:t>
            </a:r>
          </a:p>
          <a:p>
            <a:r>
              <a:t>and reading material should also be nearby as a distraction and as a means of </a:t>
            </a:r>
          </a:p>
          <a:p>
            <a:r>
              <a:t>assessing development. Privacy should be maintained at all times for children </a:t>
            </a:r>
          </a:p>
          <a:p>
            <a:r>
              <a:t>of all ages.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23 </a:t>
            </a:r>
          </a:p>
          <a:p>
            <a:r>
              <a:t>PREPARATION OF THE CHILD </a:t>
            </a:r>
          </a:p>
          <a:p>
            <a:r>
              <a:t>Before examining the pediatric patients, the provider should first consider the </a:t>
            </a:r>
          </a:p>
          <a:p>
            <a:r>
              <a:t>child’s age and developmental level. Before beginning the examination, he or </a:t>
            </a:r>
          </a:p>
          <a:p>
            <a:r>
              <a:t>she should take time to get acquainted with the child in an age-appropriate </a:t>
            </a:r>
          </a:p>
          <a:p>
            <a:r>
              <a:t>manner so that the child is as comfortable as possible. This may involve using </a:t>
            </a:r>
          </a:p>
          <a:p>
            <a:r>
              <a:t>play techniques with infants and young children or talking with a school-aged </a:t>
            </a:r>
          </a:p>
          <a:p>
            <a:r>
              <a:t>child or adolescent about his or her interests. When appropriate, toddlers, </a:t>
            </a:r>
          </a:p>
          <a:p>
            <a:r>
              <a:t>preschoolers, and school-aged children should be allowed to handle the </a:t>
            </a:r>
          </a:p>
          <a:p>
            <a:r>
              <a:t>equipment before the examination begins to demonstrate to the child that the </a:t>
            </a:r>
          </a:p>
          <a:p>
            <a:r>
              <a:t>equipment will not be painful; for example, allowing the child to listen to heart </a:t>
            </a:r>
          </a:p>
          <a:p>
            <a:r>
              <a:t>sounds of the parents or provider (Figure 8.1). </a:t>
            </a:r>
          </a:p>
          <a:p>
            <a:r>
              <a:t> </a:t>
            </a:r>
          </a:p>
          <a:p>
            <a:r>
              <a:t>Preparation of the Environment </a:t>
            </a:r>
          </a:p>
          <a:p>
            <a:r>
              <a:t>The examination room should have a comfortable temperature and be well lit. </a:t>
            </a:r>
          </a:p>
          <a:p>
            <a:r>
              <a:t>The room should be in a nonthreatening area and decorated in an age </a:t>
            </a:r>
          </a:p>
          <a:p>
            <a:r>
              <a:t>appropriate manner. All instruments should be kept out of the child’s view until </a:t>
            </a:r>
          </a:p>
          <a:p>
            <a:r>
              <a:t>use, and the examination room should be childproofed. Age-appropriate toys </a:t>
            </a:r>
          </a:p>
          <a:p>
            <a:r>
              <a:t>and reading material should also be nearby as a distraction and as a means of </a:t>
            </a:r>
          </a:p>
          <a:p>
            <a:r>
              <a:t>assessing development. Privacy should be maintained at all times for children </a:t>
            </a:r>
          </a:p>
          <a:p>
            <a:r>
              <a:t>of all ages.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23 </a:t>
            </a:r>
          </a:p>
          <a:p>
            <a:r>
              <a:t>PREPARATION OF THE CHILD </a:t>
            </a:r>
          </a:p>
          <a:p>
            <a:r>
              <a:t>Before examining the pediatric patients, the provider should first consider the </a:t>
            </a:r>
          </a:p>
          <a:p>
            <a:r>
              <a:t>child’s age and developmental level. Before beginning the examination, he or </a:t>
            </a:r>
          </a:p>
          <a:p>
            <a:r>
              <a:t>she should take time to get acquainted with the child in an age-appropriate </a:t>
            </a:r>
          </a:p>
          <a:p>
            <a:r>
              <a:t>manner so that the child is as comfortable as possible. This may involve using </a:t>
            </a:r>
          </a:p>
          <a:p>
            <a:r>
              <a:t>play techniques with infants and young children or talking with a school-aged </a:t>
            </a:r>
          </a:p>
          <a:p>
            <a:r>
              <a:t>child or adolescent about his or her interests. When appropriate, toddlers, </a:t>
            </a:r>
          </a:p>
          <a:p>
            <a:r>
              <a:t>preschoolers, and school-aged children should be allowed to handle the </a:t>
            </a:r>
          </a:p>
          <a:p>
            <a:r>
              <a:t>equipment before the examination begins to demonstrate to the child that the </a:t>
            </a:r>
          </a:p>
          <a:p>
            <a:r>
              <a:t>equipment will not be painful; for example, allowing the child to listen to heart </a:t>
            </a:r>
          </a:p>
          <a:p>
            <a:r>
              <a:t>sounds of the parents or provider (Figure 8.1). </a:t>
            </a:r>
          </a:p>
          <a:p>
            <a:r>
              <a:t> </a:t>
            </a:r>
          </a:p>
          <a:p>
            <a:r>
              <a:t>Preparation of the Environment </a:t>
            </a:r>
          </a:p>
          <a:p>
            <a:r>
              <a:t>The examination room should have a comfortable temperature and be well lit. </a:t>
            </a:r>
          </a:p>
          <a:p>
            <a:r>
              <a:t>The room should be in a nonthreatening area and decorated in an age </a:t>
            </a:r>
          </a:p>
          <a:p>
            <a:r>
              <a:t>appropriate manner. All instruments should be kept out of the child’s view until </a:t>
            </a:r>
          </a:p>
          <a:p>
            <a:r>
              <a:t>use, and the examination room should be childproofed. Age-appropriate toys </a:t>
            </a:r>
          </a:p>
          <a:p>
            <a:r>
              <a:t>and reading material should also be nearby as a distraction and as a means of </a:t>
            </a:r>
          </a:p>
          <a:p>
            <a:r>
              <a:t>assessing development. Privacy should be maintained at all times for children </a:t>
            </a:r>
          </a:p>
          <a:p>
            <a:r>
              <a:t>of all ages.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23 </a:t>
            </a:r>
          </a:p>
          <a:p>
            <a:r>
              <a:t>PREPARATION OF THE CHILD </a:t>
            </a:r>
          </a:p>
          <a:p>
            <a:r>
              <a:t>Before examining the pediatric patients, the provider should first consider the </a:t>
            </a:r>
          </a:p>
          <a:p>
            <a:r>
              <a:t>child’s age and developmental level. Before beginning the examination, he or </a:t>
            </a:r>
          </a:p>
          <a:p>
            <a:r>
              <a:t>she should take time to get acquainted with the child in an age-appropriate </a:t>
            </a:r>
          </a:p>
          <a:p>
            <a:r>
              <a:t>manner so that the child is as comfortable as possible. This may involve using </a:t>
            </a:r>
          </a:p>
          <a:p>
            <a:r>
              <a:t>play techniques with infants and young children or talking with a school-aged </a:t>
            </a:r>
          </a:p>
          <a:p>
            <a:r>
              <a:t>child or adolescent about his or her interests. When appropriate, toddlers, </a:t>
            </a:r>
          </a:p>
          <a:p>
            <a:r>
              <a:t>preschoolers, and school-aged children should be allowed to handle the </a:t>
            </a:r>
          </a:p>
          <a:p>
            <a:r>
              <a:t>equipment before the examination begins to demonstrate to the child that the </a:t>
            </a:r>
          </a:p>
          <a:p>
            <a:r>
              <a:t>equipment will not be painful; for example, allowing the child to listen to heart </a:t>
            </a:r>
          </a:p>
          <a:p>
            <a:r>
              <a:t>sounds of the parents or provider (Figure 8.1). </a:t>
            </a:r>
          </a:p>
          <a:p>
            <a:r>
              <a:t> </a:t>
            </a:r>
          </a:p>
          <a:p>
            <a:r>
              <a:t>Preparation of the Environment </a:t>
            </a:r>
          </a:p>
          <a:p>
            <a:r>
              <a:t>The examination room should have a comfortable temperature and be well lit. </a:t>
            </a:r>
          </a:p>
          <a:p>
            <a:r>
              <a:t>The room should be in a nonthreatening area and decorated in an age </a:t>
            </a:r>
          </a:p>
          <a:p>
            <a:r>
              <a:t>appropriate manner. All instruments should be kept out of the child’s view until </a:t>
            </a:r>
          </a:p>
          <a:p>
            <a:r>
              <a:t>use, and the examination room should be childproofed. Age-appropriate toys </a:t>
            </a:r>
          </a:p>
          <a:p>
            <a:r>
              <a:t>and reading material should also be nearby as a distraction and as a means of </a:t>
            </a:r>
          </a:p>
          <a:p>
            <a:r>
              <a:t>assessing development. Privacy should be maintained at all times for children </a:t>
            </a:r>
          </a:p>
          <a:p>
            <a:r>
              <a:t>of all ages.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24 </a:t>
            </a:r>
          </a:p>
          <a:p>
            <a:r>
              <a:t>Sequence of Pediatric Physical Examination According to Age </a:t>
            </a:r>
          </a:p>
          <a:p>
            <a:r>
              <a:t>and Developmental Level </a:t>
            </a:r>
          </a:p>
          <a:p>
            <a:r>
              <a:t>Age group </a:t>
            </a:r>
          </a:p>
          <a:p>
            <a:r>
              <a:t>Preparation  </a:t>
            </a:r>
          </a:p>
          <a:p>
            <a:r>
              <a:t>development Considerations  </a:t>
            </a:r>
          </a:p>
          <a:p>
            <a:r>
              <a:t>Sequence </a:t>
            </a:r>
          </a:p>
          <a:p>
            <a:r>
              <a:t>Newborns </a:t>
            </a:r>
          </a:p>
          <a:p>
            <a:r>
              <a:t>and </a:t>
            </a:r>
          </a:p>
          <a:p>
            <a:r>
              <a:t>young infants </a:t>
            </a:r>
          </a:p>
          <a:p>
            <a:r>
              <a:t>(0–6 months) </a:t>
            </a:r>
          </a:p>
          <a:p>
            <a:r>
              <a:t>Position: Place supine on </a:t>
            </a:r>
          </a:p>
          <a:p>
            <a:r>
              <a:t>exam table. </a:t>
            </a:r>
          </a:p>
          <a:p>
            <a:r>
              <a:t>Offer breast /bottle/ pacifier </a:t>
            </a:r>
          </a:p>
          <a:p>
            <a:r>
              <a:t>to quiet newborn for exam. </a:t>
            </a:r>
          </a:p>
          <a:p>
            <a:r>
              <a:t>Examine while dressed in a </a:t>
            </a:r>
          </a:p>
          <a:p>
            <a:r>
              <a:t>diaper only; remove while </a:t>
            </a:r>
          </a:p>
          <a:p>
            <a:r>
              <a:t>examining genitourinary </a:t>
            </a:r>
          </a:p>
          <a:p>
            <a:r>
              <a:t>area. </a:t>
            </a:r>
          </a:p>
          <a:p>
            <a:r>
              <a:t>When examining neonates, </a:t>
            </a:r>
          </a:p>
          <a:p>
            <a:r>
              <a:t>use radiant heat warmer to </a:t>
            </a:r>
          </a:p>
          <a:p>
            <a:r>
              <a:t>conserve body heat. </a:t>
            </a:r>
          </a:p>
          <a:p>
            <a:r>
              <a:t>Lack of head control until 4–6 months. </a:t>
            </a:r>
          </a:p>
          <a:p>
            <a:r>
              <a:t>Infants respond well to smiling faces and </a:t>
            </a:r>
          </a:p>
          <a:p>
            <a:r>
              <a:t>soft voices. May respond well to </a:t>
            </a:r>
          </a:p>
          <a:p>
            <a:r>
              <a:t>noisemakers or toys to see or touch. </a:t>
            </a:r>
          </a:p>
          <a:p>
            <a:r>
              <a:t>Abrupt, rough movements should be </a:t>
            </a:r>
          </a:p>
          <a:p>
            <a:r>
              <a:t>avoided. </a:t>
            </a:r>
          </a:p>
          <a:p>
            <a:r>
              <a:t>Perform least </a:t>
            </a:r>
          </a:p>
          <a:p>
            <a:r>
              <a:t>distressing aspects </a:t>
            </a:r>
          </a:p>
          <a:p>
            <a:r>
              <a:t>of exam first (i.e., </a:t>
            </a:r>
          </a:p>
          <a:p>
            <a:r>
              <a:t>if quiet, auscultate </a:t>
            </a:r>
          </a:p>
          <a:p>
            <a:r>
              <a:t>heart and lungs; </a:t>
            </a:r>
          </a:p>
          <a:p>
            <a:r>
              <a:t>proceed head to-</a:t>
            </a:r>
          </a:p>
          <a:p>
            <a:r>
              <a:t>toe, then examine </a:t>
            </a:r>
          </a:p>
          <a:p>
            <a:r>
              <a:t>ears, nose, and </a:t>
            </a:r>
          </a:p>
          <a:p>
            <a:r>
              <a:t>throat last while </a:t>
            </a:r>
          </a:p>
          <a:p>
            <a:r>
              <a:t>the child is crying. </a:t>
            </a:r>
          </a:p>
          <a:p>
            <a:r>
              <a:t>Elicit Moro reflex </a:t>
            </a:r>
          </a:p>
          <a:p>
            <a:r>
              <a:t>last. </a:t>
            </a:r>
          </a:p>
          <a:p>
            <a:r>
              <a:t>Older infants </a:t>
            </a:r>
          </a:p>
          <a:p>
            <a:r>
              <a:t>(6–12 months </a:t>
            </a:r>
          </a:p>
          <a:p>
            <a:r>
              <a:t>Position: May need to </a:t>
            </a:r>
          </a:p>
          <a:p>
            <a:r>
              <a:t>examine in parent’s lap </a:t>
            </a:r>
          </a:p>
          <a:p>
            <a:r>
              <a:t>because of stranger anxiety </a:t>
            </a:r>
          </a:p>
          <a:p>
            <a:r>
              <a:t>if no distress, place on exam </a:t>
            </a:r>
          </a:p>
          <a:p>
            <a:r>
              <a:t>table with parent in view. </a:t>
            </a:r>
          </a:p>
          <a:p>
            <a:r>
              <a:t>Keep primary caregiver and </a:t>
            </a:r>
          </a:p>
          <a:p>
            <a:r>
              <a:t>security object within </a:t>
            </a:r>
          </a:p>
          <a:p>
            <a:r>
              <a:t>eyesight of infant. Ensure </a:t>
            </a:r>
          </a:p>
          <a:p>
            <a:r>
              <a:t>that exam room is a </a:t>
            </a:r>
          </a:p>
          <a:p>
            <a:r>
              <a:t>comfortable temperature. </a:t>
            </a:r>
          </a:p>
          <a:p>
            <a:r>
              <a:t>Offer breast/bottle/ pacifier </a:t>
            </a:r>
          </a:p>
          <a:p>
            <a:r>
              <a:t>to quiet crying infant. </a:t>
            </a:r>
          </a:p>
          <a:p>
            <a:r>
              <a:t>Examine while child is </a:t>
            </a:r>
          </a:p>
          <a:p>
            <a:r>
              <a:t>dressed in a diaper only; </a:t>
            </a:r>
          </a:p>
          <a:p>
            <a:r>
              <a:t>remove while examining </a:t>
            </a:r>
          </a:p>
          <a:p>
            <a:r>
              <a:t>genitourinary area. </a:t>
            </a:r>
          </a:p>
          <a:p>
            <a:r>
              <a:t>Infants prefer smiling faces and soft </a:t>
            </a:r>
          </a:p>
          <a:p>
            <a:r>
              <a:t>voices. </a:t>
            </a:r>
          </a:p>
          <a:p>
            <a:r>
              <a:t>May respond well to noisemakers or toys </a:t>
            </a:r>
          </a:p>
          <a:p>
            <a:r>
              <a:t>to see or hold. Often cry when cold; this </a:t>
            </a:r>
          </a:p>
          <a:p>
            <a:r>
              <a:t>may interfere with exam. </a:t>
            </a:r>
          </a:p>
          <a:p>
            <a:r>
              <a:t>Abrupt, rough movements should be </a:t>
            </a:r>
          </a:p>
          <a:p>
            <a:r>
              <a:t>avoided. Stranger anxiety begins at </a:t>
            </a:r>
          </a:p>
          <a:p>
            <a:r>
              <a:t>approximately 7–8 months of age. Gather </a:t>
            </a:r>
          </a:p>
          <a:p>
            <a:r>
              <a:t>as much objective data as possible by just </a:t>
            </a:r>
          </a:p>
          <a:p>
            <a:r>
              <a:t>observing and not touching (infant will </a:t>
            </a:r>
          </a:p>
          <a:p>
            <a:r>
              <a:t>often begin crying vigorously when </a:t>
            </a:r>
          </a:p>
          <a:p>
            <a:r>
              <a:t>touched by a stranger.) Increased motor </a:t>
            </a:r>
          </a:p>
          <a:p>
            <a:r>
              <a:t>abilities cause need for safety measures in </a:t>
            </a:r>
          </a:p>
          <a:p>
            <a:r>
              <a:t>exam room; this continues with older </a:t>
            </a:r>
          </a:p>
          <a:p>
            <a:r>
              <a:t>pediatric patients, as well. </a:t>
            </a:r>
          </a:p>
          <a:p>
            <a:r>
              <a:t>Perform least </a:t>
            </a:r>
          </a:p>
          <a:p>
            <a:r>
              <a:t>distressing aspects </a:t>
            </a:r>
          </a:p>
          <a:p>
            <a:r>
              <a:t>of exam first (i.e., </a:t>
            </a:r>
          </a:p>
          <a:p>
            <a:r>
              <a:t>if quiet, auscultate </a:t>
            </a:r>
          </a:p>
          <a:p>
            <a:r>
              <a:t>heart and lungs; </a:t>
            </a:r>
          </a:p>
          <a:p>
            <a:r>
              <a:t>proceed head to </a:t>
            </a:r>
          </a:p>
          <a:p>
            <a:r>
              <a:t>toe, then examine </a:t>
            </a:r>
          </a:p>
          <a:p>
            <a:r>
              <a:t>ears, nose, and </a:t>
            </a:r>
          </a:p>
          <a:p>
            <a:r>
              <a:t>throat last while </a:t>
            </a:r>
          </a:p>
          <a:p>
            <a:r>
              <a:t>child is crying). </a:t>
            </a:r>
          </a:p>
          <a:p>
            <a:r>
              <a:t>Toddlers </a:t>
            </a:r>
          </a:p>
          <a:p>
            <a:r>
              <a:t>Position: Examine child on </a:t>
            </a:r>
          </a:p>
          <a:p>
            <a:r>
              <a:t>parent’s lap or exam table, </a:t>
            </a:r>
          </a:p>
          <a:p>
            <a:r>
              <a:t>depending on where child is </a:t>
            </a:r>
          </a:p>
          <a:p>
            <a:r>
              <a:t>most cooperative. </a:t>
            </a:r>
          </a:p>
          <a:p>
            <a:r>
              <a:t> </a:t>
            </a:r>
          </a:p>
          <a:p>
            <a:r>
              <a:t>Gain toddler’s confidence </a:t>
            </a:r>
          </a:p>
          <a:p>
            <a:r>
              <a:t>before beginning exam; let </a:t>
            </a:r>
          </a:p>
          <a:p>
            <a:r>
              <a:t>Stranger anxiety decreases by </a:t>
            </a:r>
          </a:p>
          <a:p>
            <a:r>
              <a:t>approximately 18 months of age; </a:t>
            </a:r>
          </a:p>
          <a:p>
            <a:r>
              <a:t>separation anxiety by approximately 2 </a:t>
            </a:r>
          </a:p>
          <a:p>
            <a:r>
              <a:t>years. Toddlers are negativistic; often </a:t>
            </a:r>
          </a:p>
          <a:p>
            <a:r>
              <a:t>respond “no” when they mean “yes”. </a:t>
            </a:r>
          </a:p>
          <a:p>
            <a:r>
              <a:t>Dislike body boundary intrusion and often </a:t>
            </a:r>
          </a:p>
          <a:p>
            <a:r>
              <a:t>dislike having clothes removed; therefore </a:t>
            </a:r>
          </a:p>
          <a:p>
            <a:r>
              <a:t>have parent remove clothes. Offer simple </a:t>
            </a:r>
          </a:p>
          <a:p>
            <a:r>
              <a:t>Perform least </a:t>
            </a:r>
          </a:p>
          <a:p>
            <a:r>
              <a:t>distressing and </a:t>
            </a:r>
          </a:p>
          <a:p>
            <a:r>
              <a:t>least intrusive </a:t>
            </a:r>
          </a:p>
          <a:p>
            <a:r>
              <a:t>aspects of exam </a:t>
            </a:r>
          </a:p>
          <a:p>
            <a:r>
              <a:t>first (i.e,. </a:t>
            </a:r>
          </a:p>
          <a:p>
            <a:r>
              <a:t>auscultate heart </a:t>
            </a:r>
          </a:p>
          <a:p>
            <a:r>
              <a:t>and lungs; </a:t>
            </a:r>
          </a:p>
          <a:p>
            <a:r>
              <a:t>examine ears,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24 </a:t>
            </a:r>
          </a:p>
          <a:p>
            <a:r>
              <a:t>Sequence of Pediatric Physical Examination According to Age </a:t>
            </a:r>
          </a:p>
          <a:p>
            <a:r>
              <a:t>and Developmental Level </a:t>
            </a:r>
          </a:p>
          <a:p>
            <a:r>
              <a:t>Age group </a:t>
            </a:r>
          </a:p>
          <a:p>
            <a:r>
              <a:t>Preparation  </a:t>
            </a:r>
          </a:p>
          <a:p>
            <a:r>
              <a:t>development Considerations  </a:t>
            </a:r>
          </a:p>
          <a:p>
            <a:r>
              <a:t>Sequence </a:t>
            </a:r>
          </a:p>
          <a:p>
            <a:r>
              <a:t>Newborns </a:t>
            </a:r>
          </a:p>
          <a:p>
            <a:r>
              <a:t>and </a:t>
            </a:r>
          </a:p>
          <a:p>
            <a:r>
              <a:t>young infants </a:t>
            </a:r>
          </a:p>
          <a:p>
            <a:r>
              <a:t>(0–6 months) </a:t>
            </a:r>
          </a:p>
          <a:p>
            <a:r>
              <a:t>Position: Place supine on </a:t>
            </a:r>
          </a:p>
          <a:p>
            <a:r>
              <a:t>exam table. </a:t>
            </a:r>
          </a:p>
          <a:p>
            <a:r>
              <a:t>Offer breast /bottle/ pacifier </a:t>
            </a:r>
          </a:p>
          <a:p>
            <a:r>
              <a:t>to quiet newborn for exam. </a:t>
            </a:r>
          </a:p>
          <a:p>
            <a:r>
              <a:t>Examine while dressed in a </a:t>
            </a:r>
          </a:p>
          <a:p>
            <a:r>
              <a:t>diaper only; remove while </a:t>
            </a:r>
          </a:p>
          <a:p>
            <a:r>
              <a:t>examining genitourinary </a:t>
            </a:r>
          </a:p>
          <a:p>
            <a:r>
              <a:t>area. </a:t>
            </a:r>
          </a:p>
          <a:p>
            <a:r>
              <a:t>When examining neonates, </a:t>
            </a:r>
          </a:p>
          <a:p>
            <a:r>
              <a:t>use radiant heat warmer to </a:t>
            </a:r>
          </a:p>
          <a:p>
            <a:r>
              <a:t>conserve body heat. </a:t>
            </a:r>
          </a:p>
          <a:p>
            <a:r>
              <a:t>Lack of head control until 4–6 months. </a:t>
            </a:r>
          </a:p>
          <a:p>
            <a:r>
              <a:t>Infants respond well to smiling faces and </a:t>
            </a:r>
          </a:p>
          <a:p>
            <a:r>
              <a:t>soft voices. May respond well to </a:t>
            </a:r>
          </a:p>
          <a:p>
            <a:r>
              <a:t>noisemakers or toys to see or touch. </a:t>
            </a:r>
          </a:p>
          <a:p>
            <a:r>
              <a:t>Abrupt, rough movements should be </a:t>
            </a:r>
          </a:p>
          <a:p>
            <a:r>
              <a:t>avoided. </a:t>
            </a:r>
          </a:p>
          <a:p>
            <a:r>
              <a:t>Perform least </a:t>
            </a:r>
          </a:p>
          <a:p>
            <a:r>
              <a:t>distressing aspects </a:t>
            </a:r>
          </a:p>
          <a:p>
            <a:r>
              <a:t>of exam first (i.e., </a:t>
            </a:r>
          </a:p>
          <a:p>
            <a:r>
              <a:t>if quiet, auscultate </a:t>
            </a:r>
          </a:p>
          <a:p>
            <a:r>
              <a:t>heart and lungs; </a:t>
            </a:r>
          </a:p>
          <a:p>
            <a:r>
              <a:t>proceed head to-</a:t>
            </a:r>
          </a:p>
          <a:p>
            <a:r>
              <a:t>toe, then examine </a:t>
            </a:r>
          </a:p>
          <a:p>
            <a:r>
              <a:t>ears, nose, and </a:t>
            </a:r>
          </a:p>
          <a:p>
            <a:r>
              <a:t>throat last while </a:t>
            </a:r>
          </a:p>
          <a:p>
            <a:r>
              <a:t>the child is crying. </a:t>
            </a:r>
          </a:p>
          <a:p>
            <a:r>
              <a:t>Elicit Moro reflex </a:t>
            </a:r>
          </a:p>
          <a:p>
            <a:r>
              <a:t>last. </a:t>
            </a:r>
          </a:p>
          <a:p>
            <a:r>
              <a:t>Older infants </a:t>
            </a:r>
          </a:p>
          <a:p>
            <a:r>
              <a:t>(6–12 months </a:t>
            </a:r>
          </a:p>
          <a:p>
            <a:r>
              <a:t>Position: May need to </a:t>
            </a:r>
          </a:p>
          <a:p>
            <a:r>
              <a:t>examine in parent’s lap </a:t>
            </a:r>
          </a:p>
          <a:p>
            <a:r>
              <a:t>because of stranger anxiety </a:t>
            </a:r>
          </a:p>
          <a:p>
            <a:r>
              <a:t>if no distress, place on exam </a:t>
            </a:r>
          </a:p>
          <a:p>
            <a:r>
              <a:t>table with parent in view. </a:t>
            </a:r>
          </a:p>
          <a:p>
            <a:r>
              <a:t>Keep primary caregiver and </a:t>
            </a:r>
          </a:p>
          <a:p>
            <a:r>
              <a:t>security object within </a:t>
            </a:r>
          </a:p>
          <a:p>
            <a:r>
              <a:t>eyesight of infant. Ensure </a:t>
            </a:r>
          </a:p>
          <a:p>
            <a:r>
              <a:t>that exam room is a </a:t>
            </a:r>
          </a:p>
          <a:p>
            <a:r>
              <a:t>comfortable temperature. </a:t>
            </a:r>
          </a:p>
          <a:p>
            <a:r>
              <a:t>Offer breast/bottle/ pacifier </a:t>
            </a:r>
          </a:p>
          <a:p>
            <a:r>
              <a:t>to quiet crying infant. </a:t>
            </a:r>
          </a:p>
          <a:p>
            <a:r>
              <a:t>Examine while child is </a:t>
            </a:r>
          </a:p>
          <a:p>
            <a:r>
              <a:t>dressed in a diaper only; </a:t>
            </a:r>
          </a:p>
          <a:p>
            <a:r>
              <a:t>remove while examining </a:t>
            </a:r>
          </a:p>
          <a:p>
            <a:r>
              <a:t>genitourinary area. </a:t>
            </a:r>
          </a:p>
          <a:p>
            <a:r>
              <a:t>Infants prefer smiling faces and soft </a:t>
            </a:r>
          </a:p>
          <a:p>
            <a:r>
              <a:t>voices. </a:t>
            </a:r>
          </a:p>
          <a:p>
            <a:r>
              <a:t>May respond well to noisemakers or toys </a:t>
            </a:r>
          </a:p>
          <a:p>
            <a:r>
              <a:t>to see or hold. Often cry when cold; this </a:t>
            </a:r>
          </a:p>
          <a:p>
            <a:r>
              <a:t>may interfere with exam. </a:t>
            </a:r>
          </a:p>
          <a:p>
            <a:r>
              <a:t>Abrupt, rough movements should be </a:t>
            </a:r>
          </a:p>
          <a:p>
            <a:r>
              <a:t>avoided. Stranger anxiety begins at </a:t>
            </a:r>
          </a:p>
          <a:p>
            <a:r>
              <a:t>approximately 7–8 months of age. Gather </a:t>
            </a:r>
          </a:p>
          <a:p>
            <a:r>
              <a:t>as much objective data as possible by just </a:t>
            </a:r>
          </a:p>
          <a:p>
            <a:r>
              <a:t>observing and not touching (infant will </a:t>
            </a:r>
          </a:p>
          <a:p>
            <a:r>
              <a:t>often begin crying vigorously when </a:t>
            </a:r>
          </a:p>
          <a:p>
            <a:r>
              <a:t>touched by a stranger.) Increased motor </a:t>
            </a:r>
          </a:p>
          <a:p>
            <a:r>
              <a:t>abilities cause need for safety measures in </a:t>
            </a:r>
          </a:p>
          <a:p>
            <a:r>
              <a:t>exam room; this continues with older </a:t>
            </a:r>
          </a:p>
          <a:p>
            <a:r>
              <a:t>pediatric patients, as well. </a:t>
            </a:r>
          </a:p>
          <a:p>
            <a:r>
              <a:t>Perform least </a:t>
            </a:r>
          </a:p>
          <a:p>
            <a:r>
              <a:t>distressing aspects </a:t>
            </a:r>
          </a:p>
          <a:p>
            <a:r>
              <a:t>of exam first (i.e., </a:t>
            </a:r>
          </a:p>
          <a:p>
            <a:r>
              <a:t>if quiet, auscultate </a:t>
            </a:r>
          </a:p>
          <a:p>
            <a:r>
              <a:t>heart and lungs; </a:t>
            </a:r>
          </a:p>
          <a:p>
            <a:r>
              <a:t>proceed head to </a:t>
            </a:r>
          </a:p>
          <a:p>
            <a:r>
              <a:t>toe, then examine </a:t>
            </a:r>
          </a:p>
          <a:p>
            <a:r>
              <a:t>ears, nose, and </a:t>
            </a:r>
          </a:p>
          <a:p>
            <a:r>
              <a:t>throat last while </a:t>
            </a:r>
          </a:p>
          <a:p>
            <a:r>
              <a:t>child is crying). </a:t>
            </a:r>
          </a:p>
          <a:p>
            <a:r>
              <a:t>Toddlers </a:t>
            </a:r>
          </a:p>
          <a:p>
            <a:r>
              <a:t>Position: Examine child on </a:t>
            </a:r>
          </a:p>
          <a:p>
            <a:r>
              <a:t>parent’s lap or exam table, </a:t>
            </a:r>
          </a:p>
          <a:p>
            <a:r>
              <a:t>depending on where child is </a:t>
            </a:r>
          </a:p>
          <a:p>
            <a:r>
              <a:t>most cooperative. </a:t>
            </a:r>
          </a:p>
          <a:p>
            <a:r>
              <a:t> </a:t>
            </a:r>
          </a:p>
          <a:p>
            <a:r>
              <a:t>Gain toddler’s confidence </a:t>
            </a:r>
          </a:p>
          <a:p>
            <a:r>
              <a:t>before beginning exam; let </a:t>
            </a:r>
          </a:p>
          <a:p>
            <a:r>
              <a:t>Stranger anxiety decreases by </a:t>
            </a:r>
          </a:p>
          <a:p>
            <a:r>
              <a:t>approximately 18 months of age; </a:t>
            </a:r>
          </a:p>
          <a:p>
            <a:r>
              <a:t>separation anxiety by approximately 2 </a:t>
            </a:r>
          </a:p>
          <a:p>
            <a:r>
              <a:t>years. Toddlers are negativistic; often </a:t>
            </a:r>
          </a:p>
          <a:p>
            <a:r>
              <a:t>respond “no” when they mean “yes”. </a:t>
            </a:r>
          </a:p>
          <a:p>
            <a:r>
              <a:t>Dislike body boundary intrusion and often </a:t>
            </a:r>
          </a:p>
          <a:p>
            <a:r>
              <a:t>dislike having clothes removed; therefore </a:t>
            </a:r>
          </a:p>
          <a:p>
            <a:r>
              <a:t>have parent remove clothes. Offer simple </a:t>
            </a:r>
          </a:p>
          <a:p>
            <a:r>
              <a:t>Perform least </a:t>
            </a:r>
          </a:p>
          <a:p>
            <a:r>
              <a:t>distressing and </a:t>
            </a:r>
          </a:p>
          <a:p>
            <a:r>
              <a:t>least intrusive </a:t>
            </a:r>
          </a:p>
          <a:p>
            <a:r>
              <a:t>aspects of exam </a:t>
            </a:r>
          </a:p>
          <a:p>
            <a:r>
              <a:t>first (i.e,. </a:t>
            </a:r>
          </a:p>
          <a:p>
            <a:r>
              <a:t>auscultate heart </a:t>
            </a:r>
          </a:p>
          <a:p>
            <a:r>
              <a:t>and lungs; </a:t>
            </a:r>
          </a:p>
          <a:p>
            <a:r>
              <a:t>examine ears,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24 </a:t>
            </a:r>
          </a:p>
          <a:p>
            <a:r>
              <a:t>Sequence of Pediatric Physical Examination According to Age </a:t>
            </a:r>
          </a:p>
          <a:p>
            <a:r>
              <a:t>and Developmental Level </a:t>
            </a:r>
          </a:p>
          <a:p>
            <a:r>
              <a:t>Age group </a:t>
            </a:r>
          </a:p>
          <a:p>
            <a:r>
              <a:t>Preparation  </a:t>
            </a:r>
          </a:p>
          <a:p>
            <a:r>
              <a:t>development Considerations  </a:t>
            </a:r>
          </a:p>
          <a:p>
            <a:r>
              <a:t>Sequence </a:t>
            </a:r>
          </a:p>
          <a:p>
            <a:r>
              <a:t>Newborns </a:t>
            </a:r>
          </a:p>
          <a:p>
            <a:r>
              <a:t>and </a:t>
            </a:r>
          </a:p>
          <a:p>
            <a:r>
              <a:t>young infants </a:t>
            </a:r>
          </a:p>
          <a:p>
            <a:r>
              <a:t>(0–6 months) </a:t>
            </a:r>
          </a:p>
          <a:p>
            <a:r>
              <a:t>Position: Place supine on </a:t>
            </a:r>
          </a:p>
          <a:p>
            <a:r>
              <a:t>exam table. </a:t>
            </a:r>
          </a:p>
          <a:p>
            <a:r>
              <a:t>Offer breast /bottle/ pacifier </a:t>
            </a:r>
          </a:p>
          <a:p>
            <a:r>
              <a:t>to quiet newborn for exam. </a:t>
            </a:r>
          </a:p>
          <a:p>
            <a:r>
              <a:t>Examine while dressed in a </a:t>
            </a:r>
          </a:p>
          <a:p>
            <a:r>
              <a:t>diaper only; remove while </a:t>
            </a:r>
          </a:p>
          <a:p>
            <a:r>
              <a:t>examining genitourinary </a:t>
            </a:r>
          </a:p>
          <a:p>
            <a:r>
              <a:t>area. </a:t>
            </a:r>
          </a:p>
          <a:p>
            <a:r>
              <a:t>When examining neonates, </a:t>
            </a:r>
          </a:p>
          <a:p>
            <a:r>
              <a:t>use radiant heat warmer to </a:t>
            </a:r>
          </a:p>
          <a:p>
            <a:r>
              <a:t>conserve body heat. </a:t>
            </a:r>
          </a:p>
          <a:p>
            <a:r>
              <a:t>Lack of head control until 4–6 months. </a:t>
            </a:r>
          </a:p>
          <a:p>
            <a:r>
              <a:t>Infants respond well to smiling faces and </a:t>
            </a:r>
          </a:p>
          <a:p>
            <a:r>
              <a:t>soft voices. May respond well to </a:t>
            </a:r>
          </a:p>
          <a:p>
            <a:r>
              <a:t>noisemakers or toys to see or touch. </a:t>
            </a:r>
          </a:p>
          <a:p>
            <a:r>
              <a:t>Abrupt, rough movements should be </a:t>
            </a:r>
          </a:p>
          <a:p>
            <a:r>
              <a:t>avoided. </a:t>
            </a:r>
          </a:p>
          <a:p>
            <a:r>
              <a:t>Perform least </a:t>
            </a:r>
          </a:p>
          <a:p>
            <a:r>
              <a:t>distressing aspects </a:t>
            </a:r>
          </a:p>
          <a:p>
            <a:r>
              <a:t>of exam first (i.e., </a:t>
            </a:r>
          </a:p>
          <a:p>
            <a:r>
              <a:t>if quiet, auscultate </a:t>
            </a:r>
          </a:p>
          <a:p>
            <a:r>
              <a:t>heart and lungs; </a:t>
            </a:r>
          </a:p>
          <a:p>
            <a:r>
              <a:t>proceed head to-</a:t>
            </a:r>
          </a:p>
          <a:p>
            <a:r>
              <a:t>toe, then examine </a:t>
            </a:r>
          </a:p>
          <a:p>
            <a:r>
              <a:t>ears, nose, and </a:t>
            </a:r>
          </a:p>
          <a:p>
            <a:r>
              <a:t>throat last while </a:t>
            </a:r>
          </a:p>
          <a:p>
            <a:r>
              <a:t>the child is crying. </a:t>
            </a:r>
          </a:p>
          <a:p>
            <a:r>
              <a:t>Elicit Moro reflex </a:t>
            </a:r>
          </a:p>
          <a:p>
            <a:r>
              <a:t>last. </a:t>
            </a:r>
          </a:p>
          <a:p>
            <a:r>
              <a:t>Older infants </a:t>
            </a:r>
          </a:p>
          <a:p>
            <a:r>
              <a:t>(6–12 months </a:t>
            </a:r>
          </a:p>
          <a:p>
            <a:r>
              <a:t>Position: May need to </a:t>
            </a:r>
          </a:p>
          <a:p>
            <a:r>
              <a:t>examine in parent’s lap </a:t>
            </a:r>
          </a:p>
          <a:p>
            <a:r>
              <a:t>because of stranger anxiety </a:t>
            </a:r>
          </a:p>
          <a:p>
            <a:r>
              <a:t>if no distress, place on exam </a:t>
            </a:r>
          </a:p>
          <a:p>
            <a:r>
              <a:t>table with parent in view. </a:t>
            </a:r>
          </a:p>
          <a:p>
            <a:r>
              <a:t>Keep primary caregiver and </a:t>
            </a:r>
          </a:p>
          <a:p>
            <a:r>
              <a:t>security object within </a:t>
            </a:r>
          </a:p>
          <a:p>
            <a:r>
              <a:t>eyesight of infant. Ensure </a:t>
            </a:r>
          </a:p>
          <a:p>
            <a:r>
              <a:t>that exam room is a </a:t>
            </a:r>
          </a:p>
          <a:p>
            <a:r>
              <a:t>comfortable temperature. </a:t>
            </a:r>
          </a:p>
          <a:p>
            <a:r>
              <a:t>Offer breast/bottle/ pacifier </a:t>
            </a:r>
          </a:p>
          <a:p>
            <a:r>
              <a:t>to quiet crying infant. </a:t>
            </a:r>
          </a:p>
          <a:p>
            <a:r>
              <a:t>Examine while child is </a:t>
            </a:r>
          </a:p>
          <a:p>
            <a:r>
              <a:t>dressed in a diaper only; </a:t>
            </a:r>
          </a:p>
          <a:p>
            <a:r>
              <a:t>remove while examining </a:t>
            </a:r>
          </a:p>
          <a:p>
            <a:r>
              <a:t>genitourinary area. </a:t>
            </a:r>
          </a:p>
          <a:p>
            <a:r>
              <a:t>Infants prefer smiling faces and soft </a:t>
            </a:r>
          </a:p>
          <a:p>
            <a:r>
              <a:t>voices. </a:t>
            </a:r>
          </a:p>
          <a:p>
            <a:r>
              <a:t>May respond well to noisemakers or toys </a:t>
            </a:r>
          </a:p>
          <a:p>
            <a:r>
              <a:t>to see or hold. Often cry when cold; this </a:t>
            </a:r>
          </a:p>
          <a:p>
            <a:r>
              <a:t>may interfere with exam. </a:t>
            </a:r>
          </a:p>
          <a:p>
            <a:r>
              <a:t>Abrupt, rough movements should be </a:t>
            </a:r>
          </a:p>
          <a:p>
            <a:r>
              <a:t>avoided. Stranger anxiety begins at </a:t>
            </a:r>
          </a:p>
          <a:p>
            <a:r>
              <a:t>approximately 7–8 months of age. Gather </a:t>
            </a:r>
          </a:p>
          <a:p>
            <a:r>
              <a:t>as much objective data as possible by just </a:t>
            </a:r>
          </a:p>
          <a:p>
            <a:r>
              <a:t>observing and not touching (infant will </a:t>
            </a:r>
          </a:p>
          <a:p>
            <a:r>
              <a:t>often begin crying vigorously when </a:t>
            </a:r>
          </a:p>
          <a:p>
            <a:r>
              <a:t>touched by a stranger.) Increased motor </a:t>
            </a:r>
          </a:p>
          <a:p>
            <a:r>
              <a:t>abilities cause need for safety measures in </a:t>
            </a:r>
          </a:p>
          <a:p>
            <a:r>
              <a:t>exam room; this continues with older </a:t>
            </a:r>
          </a:p>
          <a:p>
            <a:r>
              <a:t>pediatric patients, as well. </a:t>
            </a:r>
          </a:p>
          <a:p>
            <a:r>
              <a:t>Perform least </a:t>
            </a:r>
          </a:p>
          <a:p>
            <a:r>
              <a:t>distressing aspects </a:t>
            </a:r>
          </a:p>
          <a:p>
            <a:r>
              <a:t>of exam first (i.e., </a:t>
            </a:r>
          </a:p>
          <a:p>
            <a:r>
              <a:t>if quiet, auscultate </a:t>
            </a:r>
          </a:p>
          <a:p>
            <a:r>
              <a:t>heart and lungs; </a:t>
            </a:r>
          </a:p>
          <a:p>
            <a:r>
              <a:t>proceed head to </a:t>
            </a:r>
          </a:p>
          <a:p>
            <a:r>
              <a:t>toe, then examine </a:t>
            </a:r>
          </a:p>
          <a:p>
            <a:r>
              <a:t>ears, nose, and </a:t>
            </a:r>
          </a:p>
          <a:p>
            <a:r>
              <a:t>throat last while </a:t>
            </a:r>
          </a:p>
          <a:p>
            <a:r>
              <a:t>child is crying). </a:t>
            </a:r>
          </a:p>
          <a:p>
            <a:r>
              <a:t>Toddlers </a:t>
            </a:r>
          </a:p>
          <a:p>
            <a:r>
              <a:t>Position: Examine child on </a:t>
            </a:r>
          </a:p>
          <a:p>
            <a:r>
              <a:t>parent’s lap or exam table, </a:t>
            </a:r>
          </a:p>
          <a:p>
            <a:r>
              <a:t>depending on where child is </a:t>
            </a:r>
          </a:p>
          <a:p>
            <a:r>
              <a:t>most cooperative. </a:t>
            </a:r>
          </a:p>
          <a:p>
            <a:r>
              <a:t> </a:t>
            </a:r>
          </a:p>
          <a:p>
            <a:r>
              <a:t>Gain toddler’s confidence </a:t>
            </a:r>
          </a:p>
          <a:p>
            <a:r>
              <a:t>before beginning exam; let </a:t>
            </a:r>
          </a:p>
          <a:p>
            <a:r>
              <a:t>Stranger anxiety decreases by </a:t>
            </a:r>
          </a:p>
          <a:p>
            <a:r>
              <a:t>approximately 18 months of age; </a:t>
            </a:r>
          </a:p>
          <a:p>
            <a:r>
              <a:t>separation anxiety by approximately 2 </a:t>
            </a:r>
          </a:p>
          <a:p>
            <a:r>
              <a:t>years. Toddlers are negativistic; often </a:t>
            </a:r>
          </a:p>
          <a:p>
            <a:r>
              <a:t>respond “no” when they mean “yes”. </a:t>
            </a:r>
          </a:p>
          <a:p>
            <a:r>
              <a:t>Dislike body boundary intrusion and often </a:t>
            </a:r>
          </a:p>
          <a:p>
            <a:r>
              <a:t>dislike having clothes removed; therefore </a:t>
            </a:r>
          </a:p>
          <a:p>
            <a:r>
              <a:t>have parent remove clothes. Offer simple </a:t>
            </a:r>
          </a:p>
          <a:p>
            <a:r>
              <a:t>Perform least </a:t>
            </a:r>
          </a:p>
          <a:p>
            <a:r>
              <a:t>distressing and </a:t>
            </a:r>
          </a:p>
          <a:p>
            <a:r>
              <a:t>least intrusive </a:t>
            </a:r>
          </a:p>
          <a:p>
            <a:r>
              <a:t>aspects of exam </a:t>
            </a:r>
          </a:p>
          <a:p>
            <a:r>
              <a:t>first (i.e,. </a:t>
            </a:r>
          </a:p>
          <a:p>
            <a:r>
              <a:t>auscultate heart </a:t>
            </a:r>
          </a:p>
          <a:p>
            <a:r>
              <a:t>and lungs; </a:t>
            </a:r>
          </a:p>
          <a:p>
            <a:r>
              <a:t>examine ears,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24 </a:t>
            </a:r>
          </a:p>
          <a:p>
            <a:r>
              <a:t>Sequence of Pediatric Physical Examination According to Age </a:t>
            </a:r>
          </a:p>
          <a:p>
            <a:r>
              <a:t>and Developmental Level </a:t>
            </a:r>
          </a:p>
          <a:p>
            <a:r>
              <a:t>Age group </a:t>
            </a:r>
          </a:p>
          <a:p>
            <a:r>
              <a:t>Preparation  </a:t>
            </a:r>
          </a:p>
          <a:p>
            <a:r>
              <a:t>development Considerations  </a:t>
            </a:r>
          </a:p>
          <a:p>
            <a:r>
              <a:t>Sequence </a:t>
            </a:r>
          </a:p>
          <a:p>
            <a:r>
              <a:t>Newborns </a:t>
            </a:r>
          </a:p>
          <a:p>
            <a:r>
              <a:t>and </a:t>
            </a:r>
          </a:p>
          <a:p>
            <a:r>
              <a:t>young infants </a:t>
            </a:r>
          </a:p>
          <a:p>
            <a:r>
              <a:t>(0–6 months) </a:t>
            </a:r>
          </a:p>
          <a:p>
            <a:r>
              <a:t>Position: Place supine on </a:t>
            </a:r>
          </a:p>
          <a:p>
            <a:r>
              <a:t>exam table. </a:t>
            </a:r>
          </a:p>
          <a:p>
            <a:r>
              <a:t>Offer breast /bottle/ pacifier </a:t>
            </a:r>
          </a:p>
          <a:p>
            <a:r>
              <a:t>to quiet newborn for exam. </a:t>
            </a:r>
          </a:p>
          <a:p>
            <a:r>
              <a:t>Examine while dressed in a </a:t>
            </a:r>
          </a:p>
          <a:p>
            <a:r>
              <a:t>diaper only; remove while </a:t>
            </a:r>
          </a:p>
          <a:p>
            <a:r>
              <a:t>examining genitourinary </a:t>
            </a:r>
          </a:p>
          <a:p>
            <a:r>
              <a:t>area. </a:t>
            </a:r>
          </a:p>
          <a:p>
            <a:r>
              <a:t>When examining neonates, </a:t>
            </a:r>
          </a:p>
          <a:p>
            <a:r>
              <a:t>use radiant heat warmer to </a:t>
            </a:r>
          </a:p>
          <a:p>
            <a:r>
              <a:t>conserve body heat. </a:t>
            </a:r>
          </a:p>
          <a:p>
            <a:r>
              <a:t>Lack of head control until 4–6 months. </a:t>
            </a:r>
          </a:p>
          <a:p>
            <a:r>
              <a:t>Infants respond well to smiling faces and </a:t>
            </a:r>
          </a:p>
          <a:p>
            <a:r>
              <a:t>soft voices. May respond well to </a:t>
            </a:r>
          </a:p>
          <a:p>
            <a:r>
              <a:t>noisemakers or toys to see or touch. </a:t>
            </a:r>
          </a:p>
          <a:p>
            <a:r>
              <a:t>Abrupt, rough movements should be </a:t>
            </a:r>
          </a:p>
          <a:p>
            <a:r>
              <a:t>avoided. </a:t>
            </a:r>
          </a:p>
          <a:p>
            <a:r>
              <a:t>Perform least </a:t>
            </a:r>
          </a:p>
          <a:p>
            <a:r>
              <a:t>distressing aspects </a:t>
            </a:r>
          </a:p>
          <a:p>
            <a:r>
              <a:t>of exam first (i.e., </a:t>
            </a:r>
          </a:p>
          <a:p>
            <a:r>
              <a:t>if quiet, auscultate </a:t>
            </a:r>
          </a:p>
          <a:p>
            <a:r>
              <a:t>heart and lungs; </a:t>
            </a:r>
          </a:p>
          <a:p>
            <a:r>
              <a:t>proceed head to-</a:t>
            </a:r>
          </a:p>
          <a:p>
            <a:r>
              <a:t>toe, then examine </a:t>
            </a:r>
          </a:p>
          <a:p>
            <a:r>
              <a:t>ears, nose, and </a:t>
            </a:r>
          </a:p>
          <a:p>
            <a:r>
              <a:t>throat last while </a:t>
            </a:r>
          </a:p>
          <a:p>
            <a:r>
              <a:t>the child is crying. </a:t>
            </a:r>
          </a:p>
          <a:p>
            <a:r>
              <a:t>Elicit Moro reflex </a:t>
            </a:r>
          </a:p>
          <a:p>
            <a:r>
              <a:t>last. </a:t>
            </a:r>
          </a:p>
          <a:p>
            <a:r>
              <a:t>Older infants </a:t>
            </a:r>
          </a:p>
          <a:p>
            <a:r>
              <a:t>(6–12 months </a:t>
            </a:r>
          </a:p>
          <a:p>
            <a:r>
              <a:t>Position: May need to </a:t>
            </a:r>
          </a:p>
          <a:p>
            <a:r>
              <a:t>examine in parent’s lap </a:t>
            </a:r>
          </a:p>
          <a:p>
            <a:r>
              <a:t>because of stranger anxiety </a:t>
            </a:r>
          </a:p>
          <a:p>
            <a:r>
              <a:t>if no distress, place on exam </a:t>
            </a:r>
          </a:p>
          <a:p>
            <a:r>
              <a:t>table with parent in view. </a:t>
            </a:r>
          </a:p>
          <a:p>
            <a:r>
              <a:t>Keep primary caregiver and </a:t>
            </a:r>
          </a:p>
          <a:p>
            <a:r>
              <a:t>security object within </a:t>
            </a:r>
          </a:p>
          <a:p>
            <a:r>
              <a:t>eyesight of infant. Ensure </a:t>
            </a:r>
          </a:p>
          <a:p>
            <a:r>
              <a:t>that exam room is a </a:t>
            </a:r>
          </a:p>
          <a:p>
            <a:r>
              <a:t>comfortable temperature. </a:t>
            </a:r>
          </a:p>
          <a:p>
            <a:r>
              <a:t>Offer breast/bottle/ pacifier </a:t>
            </a:r>
          </a:p>
          <a:p>
            <a:r>
              <a:t>to quiet crying infant. </a:t>
            </a:r>
          </a:p>
          <a:p>
            <a:r>
              <a:t>Examine while child is </a:t>
            </a:r>
          </a:p>
          <a:p>
            <a:r>
              <a:t>dressed in a diaper only; </a:t>
            </a:r>
          </a:p>
          <a:p>
            <a:r>
              <a:t>remove while examining </a:t>
            </a:r>
          </a:p>
          <a:p>
            <a:r>
              <a:t>genitourinary area. </a:t>
            </a:r>
          </a:p>
          <a:p>
            <a:r>
              <a:t>Infants prefer smiling faces and soft </a:t>
            </a:r>
          </a:p>
          <a:p>
            <a:r>
              <a:t>voices. </a:t>
            </a:r>
          </a:p>
          <a:p>
            <a:r>
              <a:t>May respond well to noisemakers or toys </a:t>
            </a:r>
          </a:p>
          <a:p>
            <a:r>
              <a:t>to see or hold. Often cry when cold; this </a:t>
            </a:r>
          </a:p>
          <a:p>
            <a:r>
              <a:t>may interfere with exam. </a:t>
            </a:r>
          </a:p>
          <a:p>
            <a:r>
              <a:t>Abrupt, rough movements should be </a:t>
            </a:r>
          </a:p>
          <a:p>
            <a:r>
              <a:t>avoided. Stranger anxiety begins at </a:t>
            </a:r>
          </a:p>
          <a:p>
            <a:r>
              <a:t>approximately 7–8 months of age. Gather </a:t>
            </a:r>
          </a:p>
          <a:p>
            <a:r>
              <a:t>as much objective data as possible by just </a:t>
            </a:r>
          </a:p>
          <a:p>
            <a:r>
              <a:t>observing and not touching (infant will </a:t>
            </a:r>
          </a:p>
          <a:p>
            <a:r>
              <a:t>often begin crying vigorously when </a:t>
            </a:r>
          </a:p>
          <a:p>
            <a:r>
              <a:t>touched by a stranger.) Increased motor </a:t>
            </a:r>
          </a:p>
          <a:p>
            <a:r>
              <a:t>abilities cause need for safety measures in </a:t>
            </a:r>
          </a:p>
          <a:p>
            <a:r>
              <a:t>exam room; this continues with older </a:t>
            </a:r>
          </a:p>
          <a:p>
            <a:r>
              <a:t>pediatric patients, as well. </a:t>
            </a:r>
          </a:p>
          <a:p>
            <a:r>
              <a:t>Perform least </a:t>
            </a:r>
          </a:p>
          <a:p>
            <a:r>
              <a:t>distressing aspects </a:t>
            </a:r>
          </a:p>
          <a:p>
            <a:r>
              <a:t>of exam first (i.e., </a:t>
            </a:r>
          </a:p>
          <a:p>
            <a:r>
              <a:t>if quiet, auscultate </a:t>
            </a:r>
          </a:p>
          <a:p>
            <a:r>
              <a:t>heart and lungs; </a:t>
            </a:r>
          </a:p>
          <a:p>
            <a:r>
              <a:t>proceed head to </a:t>
            </a:r>
          </a:p>
          <a:p>
            <a:r>
              <a:t>toe, then examine </a:t>
            </a:r>
          </a:p>
          <a:p>
            <a:r>
              <a:t>ears, nose, and </a:t>
            </a:r>
          </a:p>
          <a:p>
            <a:r>
              <a:t>throat last while </a:t>
            </a:r>
          </a:p>
          <a:p>
            <a:r>
              <a:t>child is crying). </a:t>
            </a:r>
          </a:p>
          <a:p>
            <a:r>
              <a:t>Toddlers </a:t>
            </a:r>
          </a:p>
          <a:p>
            <a:r>
              <a:t>Position: Examine child on </a:t>
            </a:r>
          </a:p>
          <a:p>
            <a:r>
              <a:t>parent’s lap or exam table, </a:t>
            </a:r>
          </a:p>
          <a:p>
            <a:r>
              <a:t>depending on where child is </a:t>
            </a:r>
          </a:p>
          <a:p>
            <a:r>
              <a:t>most cooperative. </a:t>
            </a:r>
          </a:p>
          <a:p>
            <a:r>
              <a:t> </a:t>
            </a:r>
          </a:p>
          <a:p>
            <a:r>
              <a:t>Gain toddler’s confidence </a:t>
            </a:r>
          </a:p>
          <a:p>
            <a:r>
              <a:t>before beginning exam; let </a:t>
            </a:r>
          </a:p>
          <a:p>
            <a:r>
              <a:t>Stranger anxiety decreases by </a:t>
            </a:r>
          </a:p>
          <a:p>
            <a:r>
              <a:t>approximately 18 months of age; </a:t>
            </a:r>
          </a:p>
          <a:p>
            <a:r>
              <a:t>separation anxiety by approximately 2 </a:t>
            </a:r>
          </a:p>
          <a:p>
            <a:r>
              <a:t>years. Toddlers are negativistic; often </a:t>
            </a:r>
          </a:p>
          <a:p>
            <a:r>
              <a:t>respond “no” when they mean “yes”. </a:t>
            </a:r>
          </a:p>
          <a:p>
            <a:r>
              <a:t>Dislike body boundary intrusion and often </a:t>
            </a:r>
          </a:p>
          <a:p>
            <a:r>
              <a:t>dislike having clothes removed; therefore </a:t>
            </a:r>
          </a:p>
          <a:p>
            <a:r>
              <a:t>have parent remove clothes. Offer simple </a:t>
            </a:r>
          </a:p>
          <a:p>
            <a:r>
              <a:t>Perform least </a:t>
            </a:r>
          </a:p>
          <a:p>
            <a:r>
              <a:t>distressing and </a:t>
            </a:r>
          </a:p>
          <a:p>
            <a:r>
              <a:t>least intrusive </a:t>
            </a:r>
          </a:p>
          <a:p>
            <a:r>
              <a:t>aspects of exam </a:t>
            </a:r>
          </a:p>
          <a:p>
            <a:r>
              <a:t>first (i.e,. </a:t>
            </a:r>
          </a:p>
          <a:p>
            <a:r>
              <a:t>auscultate heart </a:t>
            </a:r>
          </a:p>
          <a:p>
            <a:r>
              <a:t>and lungs; </a:t>
            </a:r>
          </a:p>
          <a:p>
            <a:r>
              <a:t>examine ears,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24 </a:t>
            </a:r>
          </a:p>
          <a:p>
            <a:r>
              <a:t>Sequence of Pediatric Physical Examination According to Age </a:t>
            </a:r>
          </a:p>
          <a:p>
            <a:r>
              <a:t>and Developmental Level </a:t>
            </a:r>
          </a:p>
          <a:p>
            <a:r>
              <a:t>Age group </a:t>
            </a:r>
          </a:p>
          <a:p>
            <a:r>
              <a:t>Preparation  </a:t>
            </a:r>
          </a:p>
          <a:p>
            <a:r>
              <a:t>development Considerations  </a:t>
            </a:r>
          </a:p>
          <a:p>
            <a:r>
              <a:t>Sequence </a:t>
            </a:r>
          </a:p>
          <a:p>
            <a:r>
              <a:t>Newborns </a:t>
            </a:r>
          </a:p>
          <a:p>
            <a:r>
              <a:t>and </a:t>
            </a:r>
          </a:p>
          <a:p>
            <a:r>
              <a:t>young infants </a:t>
            </a:r>
          </a:p>
          <a:p>
            <a:r>
              <a:t>(0–6 months) </a:t>
            </a:r>
          </a:p>
          <a:p>
            <a:r>
              <a:t>Position: Place supine on </a:t>
            </a:r>
          </a:p>
          <a:p>
            <a:r>
              <a:t>exam table. </a:t>
            </a:r>
          </a:p>
          <a:p>
            <a:r>
              <a:t>Offer breast /bottle/ pacifier </a:t>
            </a:r>
          </a:p>
          <a:p>
            <a:r>
              <a:t>to quiet newborn for exam. </a:t>
            </a:r>
          </a:p>
          <a:p>
            <a:r>
              <a:t>Examine while dressed in a </a:t>
            </a:r>
          </a:p>
          <a:p>
            <a:r>
              <a:t>diaper only; remove while </a:t>
            </a:r>
          </a:p>
          <a:p>
            <a:r>
              <a:t>examining genitourinary </a:t>
            </a:r>
          </a:p>
          <a:p>
            <a:r>
              <a:t>area. </a:t>
            </a:r>
          </a:p>
          <a:p>
            <a:r>
              <a:t>When examining neonates, </a:t>
            </a:r>
          </a:p>
          <a:p>
            <a:r>
              <a:t>use radiant heat warmer to </a:t>
            </a:r>
          </a:p>
          <a:p>
            <a:r>
              <a:t>conserve body heat. </a:t>
            </a:r>
          </a:p>
          <a:p>
            <a:r>
              <a:t>Lack of head control until 4–6 months. </a:t>
            </a:r>
          </a:p>
          <a:p>
            <a:r>
              <a:t>Infants respond well to smiling faces and </a:t>
            </a:r>
          </a:p>
          <a:p>
            <a:r>
              <a:t>soft voices. May respond well to </a:t>
            </a:r>
          </a:p>
          <a:p>
            <a:r>
              <a:t>noisemakers or toys to see or touch. </a:t>
            </a:r>
          </a:p>
          <a:p>
            <a:r>
              <a:t>Abrupt, rough movements should be </a:t>
            </a:r>
          </a:p>
          <a:p>
            <a:r>
              <a:t>avoided. </a:t>
            </a:r>
          </a:p>
          <a:p>
            <a:r>
              <a:t>Perform least </a:t>
            </a:r>
          </a:p>
          <a:p>
            <a:r>
              <a:t>distressing aspects </a:t>
            </a:r>
          </a:p>
          <a:p>
            <a:r>
              <a:t>of exam first (i.e., </a:t>
            </a:r>
          </a:p>
          <a:p>
            <a:r>
              <a:t>if quiet, auscultate </a:t>
            </a:r>
          </a:p>
          <a:p>
            <a:r>
              <a:t>heart and lungs; </a:t>
            </a:r>
          </a:p>
          <a:p>
            <a:r>
              <a:t>proceed head to-</a:t>
            </a:r>
          </a:p>
          <a:p>
            <a:r>
              <a:t>toe, then examine </a:t>
            </a:r>
          </a:p>
          <a:p>
            <a:r>
              <a:t>ears, nose, and </a:t>
            </a:r>
          </a:p>
          <a:p>
            <a:r>
              <a:t>throat last while </a:t>
            </a:r>
          </a:p>
          <a:p>
            <a:r>
              <a:t>the child is crying. </a:t>
            </a:r>
          </a:p>
          <a:p>
            <a:r>
              <a:t>Elicit Moro reflex </a:t>
            </a:r>
          </a:p>
          <a:p>
            <a:r>
              <a:t>last. </a:t>
            </a:r>
          </a:p>
          <a:p>
            <a:r>
              <a:t>Older infants </a:t>
            </a:r>
          </a:p>
          <a:p>
            <a:r>
              <a:t>(6–12 months </a:t>
            </a:r>
          </a:p>
          <a:p>
            <a:r>
              <a:t>Position: May need to </a:t>
            </a:r>
          </a:p>
          <a:p>
            <a:r>
              <a:t>examine in parent’s lap </a:t>
            </a:r>
          </a:p>
          <a:p>
            <a:r>
              <a:t>because of stranger anxiety </a:t>
            </a:r>
          </a:p>
          <a:p>
            <a:r>
              <a:t>if no distress, place on exam </a:t>
            </a:r>
          </a:p>
          <a:p>
            <a:r>
              <a:t>table with parent in view. </a:t>
            </a:r>
          </a:p>
          <a:p>
            <a:r>
              <a:t>Keep primary caregiver and </a:t>
            </a:r>
          </a:p>
          <a:p>
            <a:r>
              <a:t>security object within </a:t>
            </a:r>
          </a:p>
          <a:p>
            <a:r>
              <a:t>eyesight of infant. Ensure </a:t>
            </a:r>
          </a:p>
          <a:p>
            <a:r>
              <a:t>that exam room is a </a:t>
            </a:r>
          </a:p>
          <a:p>
            <a:r>
              <a:t>comfortable temperature. </a:t>
            </a:r>
          </a:p>
          <a:p>
            <a:r>
              <a:t>Offer breast/bottle/ pacifier </a:t>
            </a:r>
          </a:p>
          <a:p>
            <a:r>
              <a:t>to quiet crying infant. </a:t>
            </a:r>
          </a:p>
          <a:p>
            <a:r>
              <a:t>Examine while child is </a:t>
            </a:r>
          </a:p>
          <a:p>
            <a:r>
              <a:t>dressed in a diaper only; </a:t>
            </a:r>
          </a:p>
          <a:p>
            <a:r>
              <a:t>remove while examining </a:t>
            </a:r>
          </a:p>
          <a:p>
            <a:r>
              <a:t>genitourinary area. </a:t>
            </a:r>
          </a:p>
          <a:p>
            <a:r>
              <a:t>Infants prefer smiling faces and soft </a:t>
            </a:r>
          </a:p>
          <a:p>
            <a:r>
              <a:t>voices. </a:t>
            </a:r>
          </a:p>
          <a:p>
            <a:r>
              <a:t>May respond well to noisemakers or toys </a:t>
            </a:r>
          </a:p>
          <a:p>
            <a:r>
              <a:t>to see or hold. Often cry when cold; this </a:t>
            </a:r>
          </a:p>
          <a:p>
            <a:r>
              <a:t>may interfere with exam. </a:t>
            </a:r>
          </a:p>
          <a:p>
            <a:r>
              <a:t>Abrupt, rough movements should be </a:t>
            </a:r>
          </a:p>
          <a:p>
            <a:r>
              <a:t>avoided. Stranger anxiety begins at </a:t>
            </a:r>
          </a:p>
          <a:p>
            <a:r>
              <a:t>approximately 7–8 months of age. Gather </a:t>
            </a:r>
          </a:p>
          <a:p>
            <a:r>
              <a:t>as much objective data as possible by just </a:t>
            </a:r>
          </a:p>
          <a:p>
            <a:r>
              <a:t>observing and not touching (infant will </a:t>
            </a:r>
          </a:p>
          <a:p>
            <a:r>
              <a:t>often begin crying vigorously when </a:t>
            </a:r>
          </a:p>
          <a:p>
            <a:r>
              <a:t>touched by a stranger.) Increased motor </a:t>
            </a:r>
          </a:p>
          <a:p>
            <a:r>
              <a:t>abilities cause need for safety measures in </a:t>
            </a:r>
          </a:p>
          <a:p>
            <a:r>
              <a:t>exam room; this continues with older </a:t>
            </a:r>
          </a:p>
          <a:p>
            <a:r>
              <a:t>pediatric patients, as well. </a:t>
            </a:r>
          </a:p>
          <a:p>
            <a:r>
              <a:t>Perform least </a:t>
            </a:r>
          </a:p>
          <a:p>
            <a:r>
              <a:t>distressing aspects </a:t>
            </a:r>
          </a:p>
          <a:p>
            <a:r>
              <a:t>of exam first (i.e., </a:t>
            </a:r>
          </a:p>
          <a:p>
            <a:r>
              <a:t>if quiet, auscultate </a:t>
            </a:r>
          </a:p>
          <a:p>
            <a:r>
              <a:t>heart and lungs; </a:t>
            </a:r>
          </a:p>
          <a:p>
            <a:r>
              <a:t>proceed head to </a:t>
            </a:r>
          </a:p>
          <a:p>
            <a:r>
              <a:t>toe, then examine </a:t>
            </a:r>
          </a:p>
          <a:p>
            <a:r>
              <a:t>ears, nose, and </a:t>
            </a:r>
          </a:p>
          <a:p>
            <a:r>
              <a:t>throat last while </a:t>
            </a:r>
          </a:p>
          <a:p>
            <a:r>
              <a:t>child is crying). </a:t>
            </a:r>
          </a:p>
          <a:p>
            <a:r>
              <a:t>Toddlers </a:t>
            </a:r>
          </a:p>
          <a:p>
            <a:r>
              <a:t>Position: Examine child on </a:t>
            </a:r>
          </a:p>
          <a:p>
            <a:r>
              <a:t>parent’s lap or exam table, </a:t>
            </a:r>
          </a:p>
          <a:p>
            <a:r>
              <a:t>depending on where child is </a:t>
            </a:r>
          </a:p>
          <a:p>
            <a:r>
              <a:t>most cooperative. </a:t>
            </a:r>
          </a:p>
          <a:p>
            <a:r>
              <a:t> </a:t>
            </a:r>
          </a:p>
          <a:p>
            <a:r>
              <a:t>Gain toddler’s confidence </a:t>
            </a:r>
          </a:p>
          <a:p>
            <a:r>
              <a:t>before beginning exam; let </a:t>
            </a:r>
          </a:p>
          <a:p>
            <a:r>
              <a:t>Stranger anxiety decreases by </a:t>
            </a:r>
          </a:p>
          <a:p>
            <a:r>
              <a:t>approximately 18 months of age; </a:t>
            </a:r>
          </a:p>
          <a:p>
            <a:r>
              <a:t>separation anxiety by approximately 2 </a:t>
            </a:r>
          </a:p>
          <a:p>
            <a:r>
              <a:t>years. Toddlers are negativistic; often </a:t>
            </a:r>
          </a:p>
          <a:p>
            <a:r>
              <a:t>respond “no” when they mean “yes”. </a:t>
            </a:r>
          </a:p>
          <a:p>
            <a:r>
              <a:t>Dislike body boundary intrusion and often </a:t>
            </a:r>
          </a:p>
          <a:p>
            <a:r>
              <a:t>dislike having clothes removed; therefore </a:t>
            </a:r>
          </a:p>
          <a:p>
            <a:r>
              <a:t>have parent remove clothes. Offer simple </a:t>
            </a:r>
          </a:p>
          <a:p>
            <a:r>
              <a:t>Perform least </a:t>
            </a:r>
          </a:p>
          <a:p>
            <a:r>
              <a:t>distressing and </a:t>
            </a:r>
          </a:p>
          <a:p>
            <a:r>
              <a:t>least intrusive </a:t>
            </a:r>
          </a:p>
          <a:p>
            <a:r>
              <a:t>aspects of exam </a:t>
            </a:r>
          </a:p>
          <a:p>
            <a:r>
              <a:t>first (i.e,. </a:t>
            </a:r>
          </a:p>
          <a:p>
            <a:r>
              <a:t>auscultate heart </a:t>
            </a:r>
          </a:p>
          <a:p>
            <a:r>
              <a:t>and lungs; </a:t>
            </a:r>
          </a:p>
          <a:p>
            <a:r>
              <a:t>examine ears,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24 </a:t>
            </a:r>
          </a:p>
          <a:p>
            <a:r>
              <a:t>Sequence of Pediatric Physical Examination According to Age </a:t>
            </a:r>
          </a:p>
          <a:p>
            <a:r>
              <a:t>and Developmental Level </a:t>
            </a:r>
          </a:p>
          <a:p>
            <a:r>
              <a:t>Age group </a:t>
            </a:r>
          </a:p>
          <a:p>
            <a:r>
              <a:t>Preparation  </a:t>
            </a:r>
          </a:p>
          <a:p>
            <a:r>
              <a:t>development Considerations  </a:t>
            </a:r>
          </a:p>
          <a:p>
            <a:r>
              <a:t>Sequence </a:t>
            </a:r>
          </a:p>
          <a:p>
            <a:r>
              <a:t>Newborns </a:t>
            </a:r>
          </a:p>
          <a:p>
            <a:r>
              <a:t>and </a:t>
            </a:r>
          </a:p>
          <a:p>
            <a:r>
              <a:t>young infants </a:t>
            </a:r>
          </a:p>
          <a:p>
            <a:r>
              <a:t>(0–6 months) </a:t>
            </a:r>
          </a:p>
          <a:p>
            <a:r>
              <a:t>Position: Place supine on </a:t>
            </a:r>
          </a:p>
          <a:p>
            <a:r>
              <a:t>exam table. </a:t>
            </a:r>
          </a:p>
          <a:p>
            <a:r>
              <a:t>Offer breast /bottle/ pacifier </a:t>
            </a:r>
          </a:p>
          <a:p>
            <a:r>
              <a:t>to quiet newborn for exam. </a:t>
            </a:r>
          </a:p>
          <a:p>
            <a:r>
              <a:t>Examine while dressed in a </a:t>
            </a:r>
          </a:p>
          <a:p>
            <a:r>
              <a:t>diaper only; remove while </a:t>
            </a:r>
          </a:p>
          <a:p>
            <a:r>
              <a:t>examining genitourinary </a:t>
            </a:r>
          </a:p>
          <a:p>
            <a:r>
              <a:t>area. </a:t>
            </a:r>
          </a:p>
          <a:p>
            <a:r>
              <a:t>When examining neonates, </a:t>
            </a:r>
          </a:p>
          <a:p>
            <a:r>
              <a:t>use radiant heat warmer to </a:t>
            </a:r>
          </a:p>
          <a:p>
            <a:r>
              <a:t>conserve body heat. </a:t>
            </a:r>
          </a:p>
          <a:p>
            <a:r>
              <a:t>Lack of head control until 4–6 months. </a:t>
            </a:r>
          </a:p>
          <a:p>
            <a:r>
              <a:t>Infants respond well to smiling faces and </a:t>
            </a:r>
          </a:p>
          <a:p>
            <a:r>
              <a:t>soft voices. May respond well to </a:t>
            </a:r>
          </a:p>
          <a:p>
            <a:r>
              <a:t>noisemakers or toys to see or touch. </a:t>
            </a:r>
          </a:p>
          <a:p>
            <a:r>
              <a:t>Abrupt, rough movements should be </a:t>
            </a:r>
          </a:p>
          <a:p>
            <a:r>
              <a:t>avoided. </a:t>
            </a:r>
          </a:p>
          <a:p>
            <a:r>
              <a:t>Perform least </a:t>
            </a:r>
          </a:p>
          <a:p>
            <a:r>
              <a:t>distressing aspects </a:t>
            </a:r>
          </a:p>
          <a:p>
            <a:r>
              <a:t>of exam first (i.e., </a:t>
            </a:r>
          </a:p>
          <a:p>
            <a:r>
              <a:t>if quiet, auscultate </a:t>
            </a:r>
          </a:p>
          <a:p>
            <a:r>
              <a:t>heart and lungs; </a:t>
            </a:r>
          </a:p>
          <a:p>
            <a:r>
              <a:t>proceed head to-</a:t>
            </a:r>
          </a:p>
          <a:p>
            <a:r>
              <a:t>toe, then examine </a:t>
            </a:r>
          </a:p>
          <a:p>
            <a:r>
              <a:t>ears, nose, and </a:t>
            </a:r>
          </a:p>
          <a:p>
            <a:r>
              <a:t>throat last while </a:t>
            </a:r>
          </a:p>
          <a:p>
            <a:r>
              <a:t>the child is crying. </a:t>
            </a:r>
          </a:p>
          <a:p>
            <a:r>
              <a:t>Elicit Moro reflex </a:t>
            </a:r>
          </a:p>
          <a:p>
            <a:r>
              <a:t>last. </a:t>
            </a:r>
          </a:p>
          <a:p>
            <a:r>
              <a:t>Older infants </a:t>
            </a:r>
          </a:p>
          <a:p>
            <a:r>
              <a:t>(6–12 months </a:t>
            </a:r>
          </a:p>
          <a:p>
            <a:r>
              <a:t>Position: May need to </a:t>
            </a:r>
          </a:p>
          <a:p>
            <a:r>
              <a:t>examine in parent’s lap </a:t>
            </a:r>
          </a:p>
          <a:p>
            <a:r>
              <a:t>because of stranger anxiety </a:t>
            </a:r>
          </a:p>
          <a:p>
            <a:r>
              <a:t>if no distress, place on exam </a:t>
            </a:r>
          </a:p>
          <a:p>
            <a:r>
              <a:t>table with parent in view. </a:t>
            </a:r>
          </a:p>
          <a:p>
            <a:r>
              <a:t>Keep primary caregiver and </a:t>
            </a:r>
          </a:p>
          <a:p>
            <a:r>
              <a:t>security object within </a:t>
            </a:r>
          </a:p>
          <a:p>
            <a:r>
              <a:t>eyesight of infant. Ensure </a:t>
            </a:r>
          </a:p>
          <a:p>
            <a:r>
              <a:t>that exam room is a </a:t>
            </a:r>
          </a:p>
          <a:p>
            <a:r>
              <a:t>comfortable temperature. </a:t>
            </a:r>
          </a:p>
          <a:p>
            <a:r>
              <a:t>Offer breast/bottle/ pacifier </a:t>
            </a:r>
          </a:p>
          <a:p>
            <a:r>
              <a:t>to quiet crying infant. </a:t>
            </a:r>
          </a:p>
          <a:p>
            <a:r>
              <a:t>Examine while child is </a:t>
            </a:r>
          </a:p>
          <a:p>
            <a:r>
              <a:t>dressed in a diaper only; </a:t>
            </a:r>
          </a:p>
          <a:p>
            <a:r>
              <a:t>remove while examining </a:t>
            </a:r>
          </a:p>
          <a:p>
            <a:r>
              <a:t>genitourinary area. </a:t>
            </a:r>
          </a:p>
          <a:p>
            <a:r>
              <a:t>Infants prefer smiling faces and soft </a:t>
            </a:r>
          </a:p>
          <a:p>
            <a:r>
              <a:t>voices. </a:t>
            </a:r>
          </a:p>
          <a:p>
            <a:r>
              <a:t>May respond well to noisemakers or toys </a:t>
            </a:r>
          </a:p>
          <a:p>
            <a:r>
              <a:t>to see or hold. Often cry when cold; this </a:t>
            </a:r>
          </a:p>
          <a:p>
            <a:r>
              <a:t>may interfere with exam. </a:t>
            </a:r>
          </a:p>
          <a:p>
            <a:r>
              <a:t>Abrupt, rough movements should be </a:t>
            </a:r>
          </a:p>
          <a:p>
            <a:r>
              <a:t>avoided. Stranger anxiety begins at </a:t>
            </a:r>
          </a:p>
          <a:p>
            <a:r>
              <a:t>approximately 7–8 months of age. Gather </a:t>
            </a:r>
          </a:p>
          <a:p>
            <a:r>
              <a:t>as much objective data as possible by just </a:t>
            </a:r>
          </a:p>
          <a:p>
            <a:r>
              <a:t>observing and not touching (infant will </a:t>
            </a:r>
          </a:p>
          <a:p>
            <a:r>
              <a:t>often begin crying vigorously when </a:t>
            </a:r>
          </a:p>
          <a:p>
            <a:r>
              <a:t>touched by a stranger.) Increased motor </a:t>
            </a:r>
          </a:p>
          <a:p>
            <a:r>
              <a:t>abilities cause need for safety measures in </a:t>
            </a:r>
          </a:p>
          <a:p>
            <a:r>
              <a:t>exam room; this continues with older </a:t>
            </a:r>
          </a:p>
          <a:p>
            <a:r>
              <a:t>pediatric patients, as well. </a:t>
            </a:r>
          </a:p>
          <a:p>
            <a:r>
              <a:t>Perform least </a:t>
            </a:r>
          </a:p>
          <a:p>
            <a:r>
              <a:t>distressing aspects </a:t>
            </a:r>
          </a:p>
          <a:p>
            <a:r>
              <a:t>of exam first (i.e., </a:t>
            </a:r>
          </a:p>
          <a:p>
            <a:r>
              <a:t>if quiet, auscultate </a:t>
            </a:r>
          </a:p>
          <a:p>
            <a:r>
              <a:t>heart and lungs; </a:t>
            </a:r>
          </a:p>
          <a:p>
            <a:r>
              <a:t>proceed head to </a:t>
            </a:r>
          </a:p>
          <a:p>
            <a:r>
              <a:t>toe, then examine </a:t>
            </a:r>
          </a:p>
          <a:p>
            <a:r>
              <a:t>ears, nose, and </a:t>
            </a:r>
          </a:p>
          <a:p>
            <a:r>
              <a:t>throat last while </a:t>
            </a:r>
          </a:p>
          <a:p>
            <a:r>
              <a:t>child is crying). </a:t>
            </a:r>
          </a:p>
          <a:p>
            <a:r>
              <a:t>Toddlers </a:t>
            </a:r>
          </a:p>
          <a:p>
            <a:r>
              <a:t>Position: Examine child on </a:t>
            </a:r>
          </a:p>
          <a:p>
            <a:r>
              <a:t>parent’s lap or exam table, </a:t>
            </a:r>
          </a:p>
          <a:p>
            <a:r>
              <a:t>depending on where child is </a:t>
            </a:r>
          </a:p>
          <a:p>
            <a:r>
              <a:t>most cooperative. </a:t>
            </a:r>
          </a:p>
          <a:p>
            <a:r>
              <a:t> </a:t>
            </a:r>
          </a:p>
          <a:p>
            <a:r>
              <a:t>Gain toddler’s confidence </a:t>
            </a:r>
          </a:p>
          <a:p>
            <a:r>
              <a:t>before beginning exam; let </a:t>
            </a:r>
          </a:p>
          <a:p>
            <a:r>
              <a:t>Stranger anxiety decreases by </a:t>
            </a:r>
          </a:p>
          <a:p>
            <a:r>
              <a:t>approximately 18 months of age; </a:t>
            </a:r>
          </a:p>
          <a:p>
            <a:r>
              <a:t>separation anxiety by approximately 2 </a:t>
            </a:r>
          </a:p>
          <a:p>
            <a:r>
              <a:t>years. Toddlers are negativistic; often </a:t>
            </a:r>
          </a:p>
          <a:p>
            <a:r>
              <a:t>respond “no” when they mean “yes”. </a:t>
            </a:r>
          </a:p>
          <a:p>
            <a:r>
              <a:t>Dislike body boundary intrusion and often </a:t>
            </a:r>
          </a:p>
          <a:p>
            <a:r>
              <a:t>dislike having clothes removed; therefore </a:t>
            </a:r>
          </a:p>
          <a:p>
            <a:r>
              <a:t>have parent remove clothes. Offer simple </a:t>
            </a:r>
          </a:p>
          <a:p>
            <a:r>
              <a:t>Perform least </a:t>
            </a:r>
          </a:p>
          <a:p>
            <a:r>
              <a:t>distressing and </a:t>
            </a:r>
          </a:p>
          <a:p>
            <a:r>
              <a:t>least intrusive </a:t>
            </a:r>
          </a:p>
          <a:p>
            <a:r>
              <a:t>aspects of exam </a:t>
            </a:r>
          </a:p>
          <a:p>
            <a:r>
              <a:t>first (i.e,. </a:t>
            </a:r>
          </a:p>
          <a:p>
            <a:r>
              <a:t>auscultate heart </a:t>
            </a:r>
          </a:p>
          <a:p>
            <a:r>
              <a:t>and lungs; </a:t>
            </a:r>
          </a:p>
          <a:p>
            <a:r>
              <a:t>examine ears,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24 </a:t>
            </a:r>
          </a:p>
          <a:p>
            <a:r>
              <a:t>Sequence of Pediatric Physical Examination According to Age </a:t>
            </a:r>
          </a:p>
          <a:p>
            <a:r>
              <a:t>and Developmental Level </a:t>
            </a:r>
          </a:p>
          <a:p>
            <a:r>
              <a:t>Age group </a:t>
            </a:r>
          </a:p>
          <a:p>
            <a:r>
              <a:t>Preparation  </a:t>
            </a:r>
          </a:p>
          <a:p>
            <a:r>
              <a:t>development Considerations  </a:t>
            </a:r>
          </a:p>
          <a:p>
            <a:r>
              <a:t>Sequence </a:t>
            </a:r>
          </a:p>
          <a:p>
            <a:r>
              <a:t>Newborns </a:t>
            </a:r>
          </a:p>
          <a:p>
            <a:r>
              <a:t>and </a:t>
            </a:r>
          </a:p>
          <a:p>
            <a:r>
              <a:t>young infants </a:t>
            </a:r>
          </a:p>
          <a:p>
            <a:r>
              <a:t>(0–6 months) </a:t>
            </a:r>
          </a:p>
          <a:p>
            <a:r>
              <a:t>Position: Place supine on </a:t>
            </a:r>
          </a:p>
          <a:p>
            <a:r>
              <a:t>exam table. </a:t>
            </a:r>
          </a:p>
          <a:p>
            <a:r>
              <a:t>Offer breast /bottle/ pacifier </a:t>
            </a:r>
          </a:p>
          <a:p>
            <a:r>
              <a:t>to quiet newborn for exam. </a:t>
            </a:r>
          </a:p>
          <a:p>
            <a:r>
              <a:t>Examine while dressed in a </a:t>
            </a:r>
          </a:p>
          <a:p>
            <a:r>
              <a:t>diaper only; remove while </a:t>
            </a:r>
          </a:p>
          <a:p>
            <a:r>
              <a:t>examining genitourinary </a:t>
            </a:r>
          </a:p>
          <a:p>
            <a:r>
              <a:t>area. </a:t>
            </a:r>
          </a:p>
          <a:p>
            <a:r>
              <a:t>When examining neonates, </a:t>
            </a:r>
          </a:p>
          <a:p>
            <a:r>
              <a:t>use radiant heat warmer to </a:t>
            </a:r>
          </a:p>
          <a:p>
            <a:r>
              <a:t>conserve body heat. </a:t>
            </a:r>
          </a:p>
          <a:p>
            <a:r>
              <a:t>Lack of head control until 4–6 months. </a:t>
            </a:r>
          </a:p>
          <a:p>
            <a:r>
              <a:t>Infants respond well to smiling faces and </a:t>
            </a:r>
          </a:p>
          <a:p>
            <a:r>
              <a:t>soft voices. May respond well to </a:t>
            </a:r>
          </a:p>
          <a:p>
            <a:r>
              <a:t>noisemakers or toys to see or touch. </a:t>
            </a:r>
          </a:p>
          <a:p>
            <a:r>
              <a:t>Abrupt, rough movements should be </a:t>
            </a:r>
          </a:p>
          <a:p>
            <a:r>
              <a:t>avoided. </a:t>
            </a:r>
          </a:p>
          <a:p>
            <a:r>
              <a:t>Perform least </a:t>
            </a:r>
          </a:p>
          <a:p>
            <a:r>
              <a:t>distressing aspects </a:t>
            </a:r>
          </a:p>
          <a:p>
            <a:r>
              <a:t>of exam first (i.e., </a:t>
            </a:r>
          </a:p>
          <a:p>
            <a:r>
              <a:t>if quiet, auscultate </a:t>
            </a:r>
          </a:p>
          <a:p>
            <a:r>
              <a:t>heart and lungs; </a:t>
            </a:r>
          </a:p>
          <a:p>
            <a:r>
              <a:t>proceed head to-</a:t>
            </a:r>
          </a:p>
          <a:p>
            <a:r>
              <a:t>toe, then examine </a:t>
            </a:r>
          </a:p>
          <a:p>
            <a:r>
              <a:t>ears, nose, and </a:t>
            </a:r>
          </a:p>
          <a:p>
            <a:r>
              <a:t>throat last while </a:t>
            </a:r>
          </a:p>
          <a:p>
            <a:r>
              <a:t>the child is crying. </a:t>
            </a:r>
          </a:p>
          <a:p>
            <a:r>
              <a:t>Elicit Moro reflex </a:t>
            </a:r>
          </a:p>
          <a:p>
            <a:r>
              <a:t>last. </a:t>
            </a:r>
          </a:p>
          <a:p>
            <a:r>
              <a:t>Older infants </a:t>
            </a:r>
          </a:p>
          <a:p>
            <a:r>
              <a:t>(6–12 months </a:t>
            </a:r>
          </a:p>
          <a:p>
            <a:r>
              <a:t>Position: May need to </a:t>
            </a:r>
          </a:p>
          <a:p>
            <a:r>
              <a:t>examine in parent’s lap </a:t>
            </a:r>
          </a:p>
          <a:p>
            <a:r>
              <a:t>because of stranger anxiety </a:t>
            </a:r>
          </a:p>
          <a:p>
            <a:r>
              <a:t>if no distress, place on exam </a:t>
            </a:r>
          </a:p>
          <a:p>
            <a:r>
              <a:t>table with parent in view. </a:t>
            </a:r>
          </a:p>
          <a:p>
            <a:r>
              <a:t>Keep primary caregiver and </a:t>
            </a:r>
          </a:p>
          <a:p>
            <a:r>
              <a:t>security object within </a:t>
            </a:r>
          </a:p>
          <a:p>
            <a:r>
              <a:t>eyesight of infant. Ensure </a:t>
            </a:r>
          </a:p>
          <a:p>
            <a:r>
              <a:t>that exam room is a </a:t>
            </a:r>
          </a:p>
          <a:p>
            <a:r>
              <a:t>comfortable temperature. </a:t>
            </a:r>
          </a:p>
          <a:p>
            <a:r>
              <a:t>Offer breast/bottle/ pacifier </a:t>
            </a:r>
          </a:p>
          <a:p>
            <a:r>
              <a:t>to quiet crying infant. </a:t>
            </a:r>
          </a:p>
          <a:p>
            <a:r>
              <a:t>Examine while child is </a:t>
            </a:r>
          </a:p>
          <a:p>
            <a:r>
              <a:t>dressed in a diaper only; </a:t>
            </a:r>
          </a:p>
          <a:p>
            <a:r>
              <a:t>remove while examining </a:t>
            </a:r>
          </a:p>
          <a:p>
            <a:r>
              <a:t>genitourinary area. </a:t>
            </a:r>
          </a:p>
          <a:p>
            <a:r>
              <a:t>Infants prefer smiling faces and soft </a:t>
            </a:r>
          </a:p>
          <a:p>
            <a:r>
              <a:t>voices. </a:t>
            </a:r>
          </a:p>
          <a:p>
            <a:r>
              <a:t>May respond well to noisemakers or toys </a:t>
            </a:r>
          </a:p>
          <a:p>
            <a:r>
              <a:t>to see or hold. Often cry when cold; this </a:t>
            </a:r>
          </a:p>
          <a:p>
            <a:r>
              <a:t>may interfere with exam. </a:t>
            </a:r>
          </a:p>
          <a:p>
            <a:r>
              <a:t>Abrupt, rough movements should be </a:t>
            </a:r>
          </a:p>
          <a:p>
            <a:r>
              <a:t>avoided. Stranger anxiety begins at </a:t>
            </a:r>
          </a:p>
          <a:p>
            <a:r>
              <a:t>approximately 7–8 months of age. Gather </a:t>
            </a:r>
          </a:p>
          <a:p>
            <a:r>
              <a:t>as much objective data as possible by just </a:t>
            </a:r>
          </a:p>
          <a:p>
            <a:r>
              <a:t>observing and not touching (infant will </a:t>
            </a:r>
          </a:p>
          <a:p>
            <a:r>
              <a:t>often begin crying vigorously when </a:t>
            </a:r>
          </a:p>
          <a:p>
            <a:r>
              <a:t>touched by a stranger.) Increased motor </a:t>
            </a:r>
          </a:p>
          <a:p>
            <a:r>
              <a:t>abilities cause need for safety measures in </a:t>
            </a:r>
          </a:p>
          <a:p>
            <a:r>
              <a:t>exam room; this continues with older </a:t>
            </a:r>
          </a:p>
          <a:p>
            <a:r>
              <a:t>pediatric patients, as well. </a:t>
            </a:r>
          </a:p>
          <a:p>
            <a:r>
              <a:t>Perform least </a:t>
            </a:r>
          </a:p>
          <a:p>
            <a:r>
              <a:t>distressing aspects </a:t>
            </a:r>
          </a:p>
          <a:p>
            <a:r>
              <a:t>of exam first (i.e., </a:t>
            </a:r>
          </a:p>
          <a:p>
            <a:r>
              <a:t>if quiet, auscultate </a:t>
            </a:r>
          </a:p>
          <a:p>
            <a:r>
              <a:t>heart and lungs; </a:t>
            </a:r>
          </a:p>
          <a:p>
            <a:r>
              <a:t>proceed head to </a:t>
            </a:r>
          </a:p>
          <a:p>
            <a:r>
              <a:t>toe, then examine </a:t>
            </a:r>
          </a:p>
          <a:p>
            <a:r>
              <a:t>ears, nose, and </a:t>
            </a:r>
          </a:p>
          <a:p>
            <a:r>
              <a:t>throat last while </a:t>
            </a:r>
          </a:p>
          <a:p>
            <a:r>
              <a:t>child is crying). </a:t>
            </a:r>
          </a:p>
          <a:p>
            <a:r>
              <a:t>Toddlers </a:t>
            </a:r>
          </a:p>
          <a:p>
            <a:r>
              <a:t>Position: Examine child on </a:t>
            </a:r>
          </a:p>
          <a:p>
            <a:r>
              <a:t>parent’s lap or exam table, </a:t>
            </a:r>
          </a:p>
          <a:p>
            <a:r>
              <a:t>depending on where child is </a:t>
            </a:r>
          </a:p>
          <a:p>
            <a:r>
              <a:t>most cooperative. </a:t>
            </a:r>
          </a:p>
          <a:p>
            <a:r>
              <a:t> </a:t>
            </a:r>
          </a:p>
          <a:p>
            <a:r>
              <a:t>Gain toddler’s confidence </a:t>
            </a:r>
          </a:p>
          <a:p>
            <a:r>
              <a:t>before beginning exam; let </a:t>
            </a:r>
          </a:p>
          <a:p>
            <a:r>
              <a:t>Stranger anxiety decreases by </a:t>
            </a:r>
          </a:p>
          <a:p>
            <a:r>
              <a:t>approximately 18 months of age; </a:t>
            </a:r>
          </a:p>
          <a:p>
            <a:r>
              <a:t>separation anxiety by approximately 2 </a:t>
            </a:r>
          </a:p>
          <a:p>
            <a:r>
              <a:t>years. Toddlers are negativistic; often </a:t>
            </a:r>
          </a:p>
          <a:p>
            <a:r>
              <a:t>respond “no” when they mean “yes”. </a:t>
            </a:r>
          </a:p>
          <a:p>
            <a:r>
              <a:t>Dislike body boundary intrusion and often </a:t>
            </a:r>
          </a:p>
          <a:p>
            <a:r>
              <a:t>dislike having clothes removed; therefore </a:t>
            </a:r>
          </a:p>
          <a:p>
            <a:r>
              <a:t>have parent remove clothes. Offer simple </a:t>
            </a:r>
          </a:p>
          <a:p>
            <a:r>
              <a:t>Perform least </a:t>
            </a:r>
          </a:p>
          <a:p>
            <a:r>
              <a:t>distressing and </a:t>
            </a:r>
          </a:p>
          <a:p>
            <a:r>
              <a:t>least intrusive </a:t>
            </a:r>
          </a:p>
          <a:p>
            <a:r>
              <a:t>aspects of exam </a:t>
            </a:r>
          </a:p>
          <a:p>
            <a:r>
              <a:t>first (i.e,. </a:t>
            </a:r>
          </a:p>
          <a:p>
            <a:r>
              <a:t>auscultate heart </a:t>
            </a:r>
          </a:p>
          <a:p>
            <a:r>
              <a:t>and lungs; </a:t>
            </a:r>
          </a:p>
          <a:p>
            <a:r>
              <a:t>examine ears,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25 </a:t>
            </a:r>
          </a:p>
          <a:p>
            <a:r>
              <a:t>toddler see and touch </a:t>
            </a:r>
          </a:p>
          <a:p>
            <a:r>
              <a:t>examination instruments; </a:t>
            </a:r>
          </a:p>
          <a:p>
            <a:r>
              <a:t>keep parent and security </a:t>
            </a:r>
          </a:p>
          <a:p>
            <a:r>
              <a:t>object nearby. </a:t>
            </a:r>
          </a:p>
          <a:p>
            <a:r>
              <a:t>choices but provider should not give </a:t>
            </a:r>
          </a:p>
          <a:p>
            <a:r>
              <a:t>toddler a choice where none exists (e.g., </a:t>
            </a:r>
          </a:p>
          <a:p>
            <a:r>
              <a:t>“May I look in your ears.)”? Toddlers are </a:t>
            </a:r>
          </a:p>
          <a:p>
            <a:r>
              <a:t>often uncooperative with exam; complete </a:t>
            </a:r>
          </a:p>
          <a:p>
            <a:r>
              <a:t>exam as quickly but as thoroughly as </a:t>
            </a:r>
          </a:p>
          <a:p>
            <a:r>
              <a:t>possible. </a:t>
            </a:r>
          </a:p>
          <a:p>
            <a:r>
              <a:t>May need to enlist parents’ help in gently </a:t>
            </a:r>
          </a:p>
          <a:p>
            <a:r>
              <a:t>restraining child during exam. Use </a:t>
            </a:r>
          </a:p>
          <a:p>
            <a:r>
              <a:t>distraction techniques (play, puppets, </a:t>
            </a:r>
          </a:p>
          <a:p>
            <a:r>
              <a:t>toys). Praise toddler for cooperation. </a:t>
            </a:r>
          </a:p>
          <a:p>
            <a:r>
              <a:t>nose, and throat </a:t>
            </a:r>
          </a:p>
          <a:p>
            <a:r>
              <a:t>last). </a:t>
            </a:r>
          </a:p>
          <a:p>
            <a:r>
              <a:t>Auscultate, </a:t>
            </a:r>
          </a:p>
          <a:p>
            <a:r>
              <a:t>palpate, and </a:t>
            </a:r>
          </a:p>
          <a:p>
            <a:r>
              <a:t>percuss whenever </a:t>
            </a:r>
          </a:p>
          <a:p>
            <a:r>
              <a:t>quiet. </a:t>
            </a:r>
          </a:p>
          <a:p>
            <a:r>
              <a:t>Praise toddler for </a:t>
            </a:r>
          </a:p>
          <a:p>
            <a:r>
              <a:t>cooperating with </a:t>
            </a:r>
          </a:p>
          <a:p>
            <a:r>
              <a:t>exam. </a:t>
            </a:r>
          </a:p>
          <a:p>
            <a:r>
              <a:t>Preschooler </a:t>
            </a:r>
          </a:p>
          <a:p>
            <a:r>
              <a:t>Position: Exam table with </a:t>
            </a:r>
          </a:p>
          <a:p>
            <a:r>
              <a:t>parent nearby. </a:t>
            </a:r>
          </a:p>
          <a:p>
            <a:r>
              <a:t> </a:t>
            </a:r>
          </a:p>
          <a:p>
            <a:r>
              <a:t>To allay fears, may use </a:t>
            </a:r>
          </a:p>
          <a:p>
            <a:r>
              <a:t>dolls, stuffed animals, or </a:t>
            </a:r>
          </a:p>
          <a:p>
            <a:r>
              <a:t>parent to “examine” first </a:t>
            </a:r>
          </a:p>
          <a:p>
            <a:r>
              <a:t>before child. Allow </a:t>
            </a:r>
          </a:p>
          <a:p>
            <a:r>
              <a:t>preschooler to see and touch </a:t>
            </a:r>
          </a:p>
          <a:p>
            <a:r>
              <a:t>equipment. </a:t>
            </a:r>
          </a:p>
          <a:p>
            <a:r>
              <a:t>Give preschooler gown; ask </a:t>
            </a:r>
          </a:p>
          <a:p>
            <a:r>
              <a:t>child to remove all clothing </a:t>
            </a:r>
          </a:p>
          <a:p>
            <a:r>
              <a:t>but underwear. </a:t>
            </a:r>
          </a:p>
          <a:p>
            <a:r>
              <a:t>They like to “help” and are concrete, </a:t>
            </a:r>
          </a:p>
          <a:p>
            <a:r>
              <a:t>literal thinkers, and protect their modesty. </a:t>
            </a:r>
          </a:p>
          <a:p>
            <a:r>
              <a:t>Magical thinking causes many fears. </a:t>
            </a:r>
          </a:p>
          <a:p>
            <a:r>
              <a:t>Provider should take care regarding choice </a:t>
            </a:r>
          </a:p>
          <a:p>
            <a:r>
              <a:t>of words (e.g ,.take” your blood pressure.) </a:t>
            </a:r>
          </a:p>
          <a:p>
            <a:r>
              <a:t>Preschooler may think she or he is ill </a:t>
            </a:r>
          </a:p>
          <a:p>
            <a:r>
              <a:t>because of bad behavior (magical </a:t>
            </a:r>
          </a:p>
          <a:p>
            <a:r>
              <a:t>thinking(. </a:t>
            </a:r>
          </a:p>
          <a:p>
            <a:r>
              <a:t>Preschoolers need feedback during exam </a:t>
            </a:r>
          </a:p>
          <a:p>
            <a:r>
              <a:t>Your lungs sound just like they are </a:t>
            </a:r>
          </a:p>
          <a:p>
            <a:r>
              <a:t>supposed to.”) </a:t>
            </a:r>
          </a:p>
          <a:p>
            <a:r>
              <a:t>Games, dolls, or toys sometimes helpful </a:t>
            </a:r>
          </a:p>
          <a:p>
            <a:r>
              <a:t>when conducting physical exam to gain </a:t>
            </a:r>
          </a:p>
          <a:p>
            <a:r>
              <a:t>child’s cooperation. Preschoolers should </a:t>
            </a:r>
          </a:p>
          <a:p>
            <a:r>
              <a:t>be given choices when possible </a:t>
            </a:r>
          </a:p>
          <a:p>
            <a:r>
              <a:t>Head to toe if </a:t>
            </a:r>
          </a:p>
          <a:p>
            <a:r>
              <a:t>cooperative. </a:t>
            </a:r>
          </a:p>
          <a:p>
            <a:r>
              <a:t>Otherwise use </a:t>
            </a:r>
          </a:p>
          <a:p>
            <a:r>
              <a:t>approach as with </a:t>
            </a:r>
          </a:p>
          <a:p>
            <a:r>
              <a:t>toddler. Should be </a:t>
            </a:r>
          </a:p>
          <a:p>
            <a:r>
              <a:t>able to examine </a:t>
            </a:r>
          </a:p>
          <a:p>
            <a:r>
              <a:t>older preschoolers </a:t>
            </a:r>
          </a:p>
          <a:p>
            <a:r>
              <a:t>head to toe. </a:t>
            </a:r>
          </a:p>
          <a:p>
            <a:r>
              <a:t>School-aged </a:t>
            </a:r>
          </a:p>
          <a:p>
            <a:r>
              <a:t>children </a:t>
            </a:r>
          </a:p>
          <a:p>
            <a:r>
              <a:t>Position: Exam table </a:t>
            </a:r>
          </a:p>
          <a:p>
            <a:r>
              <a:t> </a:t>
            </a:r>
          </a:p>
          <a:p>
            <a:r>
              <a:t>Give child gown and ask </a:t>
            </a:r>
          </a:p>
          <a:p>
            <a:r>
              <a:t>child to undress except for </a:t>
            </a:r>
          </a:p>
          <a:p>
            <a:r>
              <a:t>underpants. </a:t>
            </a:r>
          </a:p>
          <a:p>
            <a:r>
              <a:t>Explain purpose of all </a:t>
            </a:r>
          </a:p>
          <a:p>
            <a:r>
              <a:t>equipment. Young school-</a:t>
            </a:r>
          </a:p>
          <a:p>
            <a:r>
              <a:t>aged child often prefers </a:t>
            </a:r>
          </a:p>
          <a:p>
            <a:r>
              <a:t>parent to be present; older </a:t>
            </a:r>
          </a:p>
          <a:p>
            <a:r>
              <a:t>school aged child may </a:t>
            </a:r>
          </a:p>
          <a:p>
            <a:r>
              <a:t>prefer parent to leave room </a:t>
            </a:r>
          </a:p>
          <a:p>
            <a:r>
              <a:t>during exam. </a:t>
            </a:r>
          </a:p>
          <a:p>
            <a:r>
              <a:t>Can now address questions more directly </a:t>
            </a:r>
          </a:p>
          <a:p>
            <a:r>
              <a:t>to child. Answer child's questions honestly </a:t>
            </a:r>
          </a:p>
          <a:p>
            <a:r>
              <a:t>and concretely; diagram and teaching dolls </a:t>
            </a:r>
          </a:p>
          <a:p>
            <a:r>
              <a:t>are helpful during explanations. Child </a:t>
            </a:r>
          </a:p>
          <a:p>
            <a:r>
              <a:t>often sees physical exam as "fun”; likes to </a:t>
            </a:r>
          </a:p>
          <a:p>
            <a:r>
              <a:t>learn about body. Protect </a:t>
            </a:r>
          </a:p>
          <a:p>
            <a:r>
              <a:t>privacy and modesty </a:t>
            </a:r>
          </a:p>
          <a:p>
            <a:r>
              <a:t>Preform head to </a:t>
            </a:r>
          </a:p>
          <a:p>
            <a:r>
              <a:t>toe </a:t>
            </a:r>
          </a:p>
          <a:p>
            <a:r>
              <a:t>with genitalia last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25 </a:t>
            </a:r>
          </a:p>
          <a:p>
            <a:r>
              <a:t>toddler see and touch </a:t>
            </a:r>
          </a:p>
          <a:p>
            <a:r>
              <a:t>examination instruments; </a:t>
            </a:r>
          </a:p>
          <a:p>
            <a:r>
              <a:t>keep parent and security </a:t>
            </a:r>
          </a:p>
          <a:p>
            <a:r>
              <a:t>object nearby. </a:t>
            </a:r>
          </a:p>
          <a:p>
            <a:r>
              <a:t>choices but provider should not give </a:t>
            </a:r>
          </a:p>
          <a:p>
            <a:r>
              <a:t>toddler a choice where none exists (e.g., </a:t>
            </a:r>
          </a:p>
          <a:p>
            <a:r>
              <a:t>“May I look in your ears.)”? Toddlers are </a:t>
            </a:r>
          </a:p>
          <a:p>
            <a:r>
              <a:t>often uncooperative with exam; complete </a:t>
            </a:r>
          </a:p>
          <a:p>
            <a:r>
              <a:t>exam as quickly but as thoroughly as </a:t>
            </a:r>
          </a:p>
          <a:p>
            <a:r>
              <a:t>possible. </a:t>
            </a:r>
          </a:p>
          <a:p>
            <a:r>
              <a:t>May need to enlist parents’ help in gently </a:t>
            </a:r>
          </a:p>
          <a:p>
            <a:r>
              <a:t>restraining child during exam. Use </a:t>
            </a:r>
          </a:p>
          <a:p>
            <a:r>
              <a:t>distraction techniques (play, puppets, </a:t>
            </a:r>
          </a:p>
          <a:p>
            <a:r>
              <a:t>toys). Praise toddler for cooperation. </a:t>
            </a:r>
          </a:p>
          <a:p>
            <a:r>
              <a:t>nose, and throat </a:t>
            </a:r>
          </a:p>
          <a:p>
            <a:r>
              <a:t>last). </a:t>
            </a:r>
          </a:p>
          <a:p>
            <a:r>
              <a:t>Auscultate, </a:t>
            </a:r>
          </a:p>
          <a:p>
            <a:r>
              <a:t>palpate, and </a:t>
            </a:r>
          </a:p>
          <a:p>
            <a:r>
              <a:t>percuss whenever </a:t>
            </a:r>
          </a:p>
          <a:p>
            <a:r>
              <a:t>quiet. </a:t>
            </a:r>
          </a:p>
          <a:p>
            <a:r>
              <a:t>Praise toddler for </a:t>
            </a:r>
          </a:p>
          <a:p>
            <a:r>
              <a:t>cooperating with </a:t>
            </a:r>
          </a:p>
          <a:p>
            <a:r>
              <a:t>exam. </a:t>
            </a:r>
          </a:p>
          <a:p>
            <a:r>
              <a:t>Preschooler </a:t>
            </a:r>
          </a:p>
          <a:p>
            <a:r>
              <a:t>Position: Exam table with </a:t>
            </a:r>
          </a:p>
          <a:p>
            <a:r>
              <a:t>parent nearby. </a:t>
            </a:r>
          </a:p>
          <a:p>
            <a:r>
              <a:t> </a:t>
            </a:r>
          </a:p>
          <a:p>
            <a:r>
              <a:t>To allay fears, may use </a:t>
            </a:r>
          </a:p>
          <a:p>
            <a:r>
              <a:t>dolls, stuffed animals, or </a:t>
            </a:r>
          </a:p>
          <a:p>
            <a:r>
              <a:t>parent to “examine” first </a:t>
            </a:r>
          </a:p>
          <a:p>
            <a:r>
              <a:t>before child. Allow </a:t>
            </a:r>
          </a:p>
          <a:p>
            <a:r>
              <a:t>preschooler to see and touch </a:t>
            </a:r>
          </a:p>
          <a:p>
            <a:r>
              <a:t>equipment. </a:t>
            </a:r>
          </a:p>
          <a:p>
            <a:r>
              <a:t>Give preschooler gown; ask </a:t>
            </a:r>
          </a:p>
          <a:p>
            <a:r>
              <a:t>child to remove all clothing </a:t>
            </a:r>
          </a:p>
          <a:p>
            <a:r>
              <a:t>but underwear. </a:t>
            </a:r>
          </a:p>
          <a:p>
            <a:r>
              <a:t>They like to “help” and are concrete, </a:t>
            </a:r>
          </a:p>
          <a:p>
            <a:r>
              <a:t>literal thinkers, and protect their modesty. </a:t>
            </a:r>
          </a:p>
          <a:p>
            <a:r>
              <a:t>Magical thinking causes many fears. </a:t>
            </a:r>
          </a:p>
          <a:p>
            <a:r>
              <a:t>Provider should take care regarding choice </a:t>
            </a:r>
          </a:p>
          <a:p>
            <a:r>
              <a:t>of words (e.g ,.take” your blood pressure.) </a:t>
            </a:r>
          </a:p>
          <a:p>
            <a:r>
              <a:t>Preschooler may think she or he is ill </a:t>
            </a:r>
          </a:p>
          <a:p>
            <a:r>
              <a:t>because of bad behavior (magical </a:t>
            </a:r>
          </a:p>
          <a:p>
            <a:r>
              <a:t>thinking(. </a:t>
            </a:r>
          </a:p>
          <a:p>
            <a:r>
              <a:t>Preschoolers need feedback during exam </a:t>
            </a:r>
          </a:p>
          <a:p>
            <a:r>
              <a:t>Your lungs sound just like they are </a:t>
            </a:r>
          </a:p>
          <a:p>
            <a:r>
              <a:t>supposed to.”) </a:t>
            </a:r>
          </a:p>
          <a:p>
            <a:r>
              <a:t>Games, dolls, or toys sometimes helpful </a:t>
            </a:r>
          </a:p>
          <a:p>
            <a:r>
              <a:t>when conducting physical exam to gain </a:t>
            </a:r>
          </a:p>
          <a:p>
            <a:r>
              <a:t>child’s cooperation. Preschoolers should </a:t>
            </a:r>
          </a:p>
          <a:p>
            <a:r>
              <a:t>be given choices when possible </a:t>
            </a:r>
          </a:p>
          <a:p>
            <a:r>
              <a:t>Head to toe if </a:t>
            </a:r>
          </a:p>
          <a:p>
            <a:r>
              <a:t>cooperative. </a:t>
            </a:r>
          </a:p>
          <a:p>
            <a:r>
              <a:t>Otherwise use </a:t>
            </a:r>
          </a:p>
          <a:p>
            <a:r>
              <a:t>approach as with </a:t>
            </a:r>
          </a:p>
          <a:p>
            <a:r>
              <a:t>toddler. Should be </a:t>
            </a:r>
          </a:p>
          <a:p>
            <a:r>
              <a:t>able to examine </a:t>
            </a:r>
          </a:p>
          <a:p>
            <a:r>
              <a:t>older preschoolers </a:t>
            </a:r>
          </a:p>
          <a:p>
            <a:r>
              <a:t>head to toe. </a:t>
            </a:r>
          </a:p>
          <a:p>
            <a:r>
              <a:t>School-aged </a:t>
            </a:r>
          </a:p>
          <a:p>
            <a:r>
              <a:t>children </a:t>
            </a:r>
          </a:p>
          <a:p>
            <a:r>
              <a:t>Position: Exam table </a:t>
            </a:r>
          </a:p>
          <a:p>
            <a:r>
              <a:t> </a:t>
            </a:r>
          </a:p>
          <a:p>
            <a:r>
              <a:t>Give child gown and ask </a:t>
            </a:r>
          </a:p>
          <a:p>
            <a:r>
              <a:t>child to undress except for </a:t>
            </a:r>
          </a:p>
          <a:p>
            <a:r>
              <a:t>underpants. </a:t>
            </a:r>
          </a:p>
          <a:p>
            <a:r>
              <a:t>Explain purpose of all </a:t>
            </a:r>
          </a:p>
          <a:p>
            <a:r>
              <a:t>equipment. Young school-</a:t>
            </a:r>
          </a:p>
          <a:p>
            <a:r>
              <a:t>aged child often prefers </a:t>
            </a:r>
          </a:p>
          <a:p>
            <a:r>
              <a:t>parent to be present; older </a:t>
            </a:r>
          </a:p>
          <a:p>
            <a:r>
              <a:t>school aged child may </a:t>
            </a:r>
          </a:p>
          <a:p>
            <a:r>
              <a:t>prefer parent to leave room </a:t>
            </a:r>
          </a:p>
          <a:p>
            <a:r>
              <a:t>during exam. </a:t>
            </a:r>
          </a:p>
          <a:p>
            <a:r>
              <a:t>Can now address questions more directly </a:t>
            </a:r>
          </a:p>
          <a:p>
            <a:r>
              <a:t>to child. Answer child's questions honestly </a:t>
            </a:r>
          </a:p>
          <a:p>
            <a:r>
              <a:t>and concretely; diagram and teaching dolls </a:t>
            </a:r>
          </a:p>
          <a:p>
            <a:r>
              <a:t>are helpful during explanations. Child </a:t>
            </a:r>
          </a:p>
          <a:p>
            <a:r>
              <a:t>often sees physical exam as "fun”; likes to </a:t>
            </a:r>
          </a:p>
          <a:p>
            <a:r>
              <a:t>learn about body. Protect </a:t>
            </a:r>
          </a:p>
          <a:p>
            <a:r>
              <a:t>privacy and modesty </a:t>
            </a:r>
          </a:p>
          <a:p>
            <a:r>
              <a:t>Preform head to </a:t>
            </a:r>
          </a:p>
          <a:p>
            <a:r>
              <a:t>toe </a:t>
            </a:r>
          </a:p>
          <a:p>
            <a:r>
              <a:t>with genitalia last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25 </a:t>
            </a:r>
          </a:p>
          <a:p>
            <a:r>
              <a:t>toddler see and touch </a:t>
            </a:r>
          </a:p>
          <a:p>
            <a:r>
              <a:t>examination instruments; </a:t>
            </a:r>
          </a:p>
          <a:p>
            <a:r>
              <a:t>keep parent and security </a:t>
            </a:r>
          </a:p>
          <a:p>
            <a:r>
              <a:t>object nearby. </a:t>
            </a:r>
          </a:p>
          <a:p>
            <a:r>
              <a:t>choices but provider should not give </a:t>
            </a:r>
          </a:p>
          <a:p>
            <a:r>
              <a:t>toddler a choice where none exists (e.g., </a:t>
            </a:r>
          </a:p>
          <a:p>
            <a:r>
              <a:t>“May I look in your ears.)”? Toddlers are </a:t>
            </a:r>
          </a:p>
          <a:p>
            <a:r>
              <a:t>often uncooperative with exam; complete </a:t>
            </a:r>
          </a:p>
          <a:p>
            <a:r>
              <a:t>exam as quickly but as thoroughly as </a:t>
            </a:r>
          </a:p>
          <a:p>
            <a:r>
              <a:t>possible. </a:t>
            </a:r>
          </a:p>
          <a:p>
            <a:r>
              <a:t>May need to enlist parents’ help in gently </a:t>
            </a:r>
          </a:p>
          <a:p>
            <a:r>
              <a:t>restraining child during exam. Use </a:t>
            </a:r>
          </a:p>
          <a:p>
            <a:r>
              <a:t>distraction techniques (play, puppets, </a:t>
            </a:r>
          </a:p>
          <a:p>
            <a:r>
              <a:t>toys). Praise toddler for cooperation. </a:t>
            </a:r>
          </a:p>
          <a:p>
            <a:r>
              <a:t>nose, and throat </a:t>
            </a:r>
          </a:p>
          <a:p>
            <a:r>
              <a:t>last). </a:t>
            </a:r>
          </a:p>
          <a:p>
            <a:r>
              <a:t>Auscultate, </a:t>
            </a:r>
          </a:p>
          <a:p>
            <a:r>
              <a:t>palpate, and </a:t>
            </a:r>
          </a:p>
          <a:p>
            <a:r>
              <a:t>percuss whenever </a:t>
            </a:r>
          </a:p>
          <a:p>
            <a:r>
              <a:t>quiet. </a:t>
            </a:r>
          </a:p>
          <a:p>
            <a:r>
              <a:t>Praise toddler for </a:t>
            </a:r>
          </a:p>
          <a:p>
            <a:r>
              <a:t>cooperating with </a:t>
            </a:r>
          </a:p>
          <a:p>
            <a:r>
              <a:t>exam. </a:t>
            </a:r>
          </a:p>
          <a:p>
            <a:r>
              <a:t>Preschooler </a:t>
            </a:r>
          </a:p>
          <a:p>
            <a:r>
              <a:t>Position: Exam table with </a:t>
            </a:r>
          </a:p>
          <a:p>
            <a:r>
              <a:t>parent nearby. </a:t>
            </a:r>
          </a:p>
          <a:p>
            <a:r>
              <a:t> </a:t>
            </a:r>
          </a:p>
          <a:p>
            <a:r>
              <a:t>To allay fears, may use </a:t>
            </a:r>
          </a:p>
          <a:p>
            <a:r>
              <a:t>dolls, stuffed animals, or </a:t>
            </a:r>
          </a:p>
          <a:p>
            <a:r>
              <a:t>parent to “examine” first </a:t>
            </a:r>
          </a:p>
          <a:p>
            <a:r>
              <a:t>before child. Allow </a:t>
            </a:r>
          </a:p>
          <a:p>
            <a:r>
              <a:t>preschooler to see and touch </a:t>
            </a:r>
          </a:p>
          <a:p>
            <a:r>
              <a:t>equipment. </a:t>
            </a:r>
          </a:p>
          <a:p>
            <a:r>
              <a:t>Give preschooler gown; ask </a:t>
            </a:r>
          </a:p>
          <a:p>
            <a:r>
              <a:t>child to remove all clothing </a:t>
            </a:r>
          </a:p>
          <a:p>
            <a:r>
              <a:t>but underwear. </a:t>
            </a:r>
          </a:p>
          <a:p>
            <a:r>
              <a:t>They like to “help” and are concrete, </a:t>
            </a:r>
          </a:p>
          <a:p>
            <a:r>
              <a:t>literal thinkers, and protect their modesty. </a:t>
            </a:r>
          </a:p>
          <a:p>
            <a:r>
              <a:t>Magical thinking causes many fears. </a:t>
            </a:r>
          </a:p>
          <a:p>
            <a:r>
              <a:t>Provider should take care regarding choice </a:t>
            </a:r>
          </a:p>
          <a:p>
            <a:r>
              <a:t>of words (e.g ,.take” your blood pressure.) </a:t>
            </a:r>
          </a:p>
          <a:p>
            <a:r>
              <a:t>Preschooler may think she or he is ill </a:t>
            </a:r>
          </a:p>
          <a:p>
            <a:r>
              <a:t>because of bad behavior (magical </a:t>
            </a:r>
          </a:p>
          <a:p>
            <a:r>
              <a:t>thinking(. </a:t>
            </a:r>
          </a:p>
          <a:p>
            <a:r>
              <a:t>Preschoolers need feedback during exam </a:t>
            </a:r>
          </a:p>
          <a:p>
            <a:r>
              <a:t>Your lungs sound just like they are </a:t>
            </a:r>
          </a:p>
          <a:p>
            <a:r>
              <a:t>supposed to.”) </a:t>
            </a:r>
          </a:p>
          <a:p>
            <a:r>
              <a:t>Games, dolls, or toys sometimes helpful </a:t>
            </a:r>
          </a:p>
          <a:p>
            <a:r>
              <a:t>when conducting physical exam to gain </a:t>
            </a:r>
          </a:p>
          <a:p>
            <a:r>
              <a:t>child’s cooperation. Preschoolers should </a:t>
            </a:r>
          </a:p>
          <a:p>
            <a:r>
              <a:t>be given choices when possible </a:t>
            </a:r>
          </a:p>
          <a:p>
            <a:r>
              <a:t>Head to toe if </a:t>
            </a:r>
          </a:p>
          <a:p>
            <a:r>
              <a:t>cooperative. </a:t>
            </a:r>
          </a:p>
          <a:p>
            <a:r>
              <a:t>Otherwise use </a:t>
            </a:r>
          </a:p>
          <a:p>
            <a:r>
              <a:t>approach as with </a:t>
            </a:r>
          </a:p>
          <a:p>
            <a:r>
              <a:t>toddler. Should be </a:t>
            </a:r>
          </a:p>
          <a:p>
            <a:r>
              <a:t>able to examine </a:t>
            </a:r>
          </a:p>
          <a:p>
            <a:r>
              <a:t>older preschoolers </a:t>
            </a:r>
          </a:p>
          <a:p>
            <a:r>
              <a:t>head to toe. </a:t>
            </a:r>
          </a:p>
          <a:p>
            <a:r>
              <a:t>School-aged </a:t>
            </a:r>
          </a:p>
          <a:p>
            <a:r>
              <a:t>children </a:t>
            </a:r>
          </a:p>
          <a:p>
            <a:r>
              <a:t>Position: Exam table </a:t>
            </a:r>
          </a:p>
          <a:p>
            <a:r>
              <a:t> </a:t>
            </a:r>
          </a:p>
          <a:p>
            <a:r>
              <a:t>Give child gown and ask </a:t>
            </a:r>
          </a:p>
          <a:p>
            <a:r>
              <a:t>child to undress except for </a:t>
            </a:r>
          </a:p>
          <a:p>
            <a:r>
              <a:t>underpants. </a:t>
            </a:r>
          </a:p>
          <a:p>
            <a:r>
              <a:t>Explain purpose of all </a:t>
            </a:r>
          </a:p>
          <a:p>
            <a:r>
              <a:t>equipment. Young school-</a:t>
            </a:r>
          </a:p>
          <a:p>
            <a:r>
              <a:t>aged child often prefers </a:t>
            </a:r>
          </a:p>
          <a:p>
            <a:r>
              <a:t>parent to be present; older </a:t>
            </a:r>
          </a:p>
          <a:p>
            <a:r>
              <a:t>school aged child may </a:t>
            </a:r>
          </a:p>
          <a:p>
            <a:r>
              <a:t>prefer parent to leave room </a:t>
            </a:r>
          </a:p>
          <a:p>
            <a:r>
              <a:t>during exam. </a:t>
            </a:r>
          </a:p>
          <a:p>
            <a:r>
              <a:t>Can now address questions more directly </a:t>
            </a:r>
          </a:p>
          <a:p>
            <a:r>
              <a:t>to child. Answer child's questions honestly </a:t>
            </a:r>
          </a:p>
          <a:p>
            <a:r>
              <a:t>and concretely; diagram and teaching dolls </a:t>
            </a:r>
          </a:p>
          <a:p>
            <a:r>
              <a:t>are helpful during explanations. Child </a:t>
            </a:r>
          </a:p>
          <a:p>
            <a:r>
              <a:t>often sees physical exam as "fun”; likes to </a:t>
            </a:r>
          </a:p>
          <a:p>
            <a:r>
              <a:t>learn about body. Protect </a:t>
            </a:r>
          </a:p>
          <a:p>
            <a:r>
              <a:t>privacy and modesty </a:t>
            </a:r>
          </a:p>
          <a:p>
            <a:r>
              <a:t>Preform head to </a:t>
            </a:r>
          </a:p>
          <a:p>
            <a:r>
              <a:t>toe </a:t>
            </a:r>
          </a:p>
          <a:p>
            <a:r>
              <a:t>with genitalia last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25 </a:t>
            </a:r>
          </a:p>
          <a:p>
            <a:r>
              <a:t>toddler see and touch </a:t>
            </a:r>
          </a:p>
          <a:p>
            <a:r>
              <a:t>examination instruments; </a:t>
            </a:r>
          </a:p>
          <a:p>
            <a:r>
              <a:t>keep parent and security </a:t>
            </a:r>
          </a:p>
          <a:p>
            <a:r>
              <a:t>object nearby. </a:t>
            </a:r>
          </a:p>
          <a:p>
            <a:r>
              <a:t>choices but provider should not give </a:t>
            </a:r>
          </a:p>
          <a:p>
            <a:r>
              <a:t>toddler a choice where none exists (e.g., </a:t>
            </a:r>
          </a:p>
          <a:p>
            <a:r>
              <a:t>“May I look in your ears.)”? Toddlers are </a:t>
            </a:r>
          </a:p>
          <a:p>
            <a:r>
              <a:t>often uncooperative with exam; complete </a:t>
            </a:r>
          </a:p>
          <a:p>
            <a:r>
              <a:t>exam as quickly but as thoroughly as </a:t>
            </a:r>
          </a:p>
          <a:p>
            <a:r>
              <a:t>possible. </a:t>
            </a:r>
          </a:p>
          <a:p>
            <a:r>
              <a:t>May need to enlist parents’ help in gently </a:t>
            </a:r>
          </a:p>
          <a:p>
            <a:r>
              <a:t>restraining child during exam. Use </a:t>
            </a:r>
          </a:p>
          <a:p>
            <a:r>
              <a:t>distraction techniques (play, puppets, </a:t>
            </a:r>
          </a:p>
          <a:p>
            <a:r>
              <a:t>toys). Praise toddler for cooperation. </a:t>
            </a:r>
          </a:p>
          <a:p>
            <a:r>
              <a:t>nose, and throat </a:t>
            </a:r>
          </a:p>
          <a:p>
            <a:r>
              <a:t>last). </a:t>
            </a:r>
          </a:p>
          <a:p>
            <a:r>
              <a:t>Auscultate, </a:t>
            </a:r>
          </a:p>
          <a:p>
            <a:r>
              <a:t>palpate, and </a:t>
            </a:r>
          </a:p>
          <a:p>
            <a:r>
              <a:t>percuss whenever </a:t>
            </a:r>
          </a:p>
          <a:p>
            <a:r>
              <a:t>quiet. </a:t>
            </a:r>
          </a:p>
          <a:p>
            <a:r>
              <a:t>Praise toddler for </a:t>
            </a:r>
          </a:p>
          <a:p>
            <a:r>
              <a:t>cooperating with </a:t>
            </a:r>
          </a:p>
          <a:p>
            <a:r>
              <a:t>exam. </a:t>
            </a:r>
          </a:p>
          <a:p>
            <a:r>
              <a:t>Preschooler </a:t>
            </a:r>
          </a:p>
          <a:p>
            <a:r>
              <a:t>Position: Exam table with </a:t>
            </a:r>
          </a:p>
          <a:p>
            <a:r>
              <a:t>parent nearby. </a:t>
            </a:r>
          </a:p>
          <a:p>
            <a:r>
              <a:t> </a:t>
            </a:r>
          </a:p>
          <a:p>
            <a:r>
              <a:t>To allay fears, may use </a:t>
            </a:r>
          </a:p>
          <a:p>
            <a:r>
              <a:t>dolls, stuffed animals, or </a:t>
            </a:r>
          </a:p>
          <a:p>
            <a:r>
              <a:t>parent to “examine” first </a:t>
            </a:r>
          </a:p>
          <a:p>
            <a:r>
              <a:t>before child. Allow </a:t>
            </a:r>
          </a:p>
          <a:p>
            <a:r>
              <a:t>preschooler to see and touch </a:t>
            </a:r>
          </a:p>
          <a:p>
            <a:r>
              <a:t>equipment. </a:t>
            </a:r>
          </a:p>
          <a:p>
            <a:r>
              <a:t>Give preschooler gown; ask </a:t>
            </a:r>
          </a:p>
          <a:p>
            <a:r>
              <a:t>child to remove all clothing </a:t>
            </a:r>
          </a:p>
          <a:p>
            <a:r>
              <a:t>but underwear. </a:t>
            </a:r>
          </a:p>
          <a:p>
            <a:r>
              <a:t>They like to “help” and are concrete, </a:t>
            </a:r>
          </a:p>
          <a:p>
            <a:r>
              <a:t>literal thinkers, and protect their modesty. </a:t>
            </a:r>
          </a:p>
          <a:p>
            <a:r>
              <a:t>Magical thinking causes many fears. </a:t>
            </a:r>
          </a:p>
          <a:p>
            <a:r>
              <a:t>Provider should take care regarding choice </a:t>
            </a:r>
          </a:p>
          <a:p>
            <a:r>
              <a:t>of words (e.g ,.take” your blood pressure.) </a:t>
            </a:r>
          </a:p>
          <a:p>
            <a:r>
              <a:t>Preschooler may think she or he is ill </a:t>
            </a:r>
          </a:p>
          <a:p>
            <a:r>
              <a:t>because of bad behavior (magical </a:t>
            </a:r>
          </a:p>
          <a:p>
            <a:r>
              <a:t>thinking(. </a:t>
            </a:r>
          </a:p>
          <a:p>
            <a:r>
              <a:t>Preschoolers need feedback during exam </a:t>
            </a:r>
          </a:p>
          <a:p>
            <a:r>
              <a:t>Your lungs sound just like they are </a:t>
            </a:r>
          </a:p>
          <a:p>
            <a:r>
              <a:t>supposed to.”) </a:t>
            </a:r>
          </a:p>
          <a:p>
            <a:r>
              <a:t>Games, dolls, or toys sometimes helpful </a:t>
            </a:r>
          </a:p>
          <a:p>
            <a:r>
              <a:t>when conducting physical exam to gain </a:t>
            </a:r>
          </a:p>
          <a:p>
            <a:r>
              <a:t>child’s cooperation. Preschoolers should </a:t>
            </a:r>
          </a:p>
          <a:p>
            <a:r>
              <a:t>be given choices when possible </a:t>
            </a:r>
          </a:p>
          <a:p>
            <a:r>
              <a:t>Head to toe if </a:t>
            </a:r>
          </a:p>
          <a:p>
            <a:r>
              <a:t>cooperative. </a:t>
            </a:r>
          </a:p>
          <a:p>
            <a:r>
              <a:t>Otherwise use </a:t>
            </a:r>
          </a:p>
          <a:p>
            <a:r>
              <a:t>approach as with </a:t>
            </a:r>
          </a:p>
          <a:p>
            <a:r>
              <a:t>toddler. Should be </a:t>
            </a:r>
          </a:p>
          <a:p>
            <a:r>
              <a:t>able to examine </a:t>
            </a:r>
          </a:p>
          <a:p>
            <a:r>
              <a:t>older preschoolers </a:t>
            </a:r>
          </a:p>
          <a:p>
            <a:r>
              <a:t>head to toe. </a:t>
            </a:r>
          </a:p>
          <a:p>
            <a:r>
              <a:t>School-aged </a:t>
            </a:r>
          </a:p>
          <a:p>
            <a:r>
              <a:t>children </a:t>
            </a:r>
          </a:p>
          <a:p>
            <a:r>
              <a:t>Position: Exam table </a:t>
            </a:r>
          </a:p>
          <a:p>
            <a:r>
              <a:t> </a:t>
            </a:r>
          </a:p>
          <a:p>
            <a:r>
              <a:t>Give child gown and ask </a:t>
            </a:r>
          </a:p>
          <a:p>
            <a:r>
              <a:t>child to undress except for </a:t>
            </a:r>
          </a:p>
          <a:p>
            <a:r>
              <a:t>underpants. </a:t>
            </a:r>
          </a:p>
          <a:p>
            <a:r>
              <a:t>Explain purpose of all </a:t>
            </a:r>
          </a:p>
          <a:p>
            <a:r>
              <a:t>equipment. Young school-</a:t>
            </a:r>
          </a:p>
          <a:p>
            <a:r>
              <a:t>aged child often prefers </a:t>
            </a:r>
          </a:p>
          <a:p>
            <a:r>
              <a:t>parent to be present; older </a:t>
            </a:r>
          </a:p>
          <a:p>
            <a:r>
              <a:t>school aged child may </a:t>
            </a:r>
          </a:p>
          <a:p>
            <a:r>
              <a:t>prefer parent to leave room </a:t>
            </a:r>
          </a:p>
          <a:p>
            <a:r>
              <a:t>during exam. </a:t>
            </a:r>
          </a:p>
          <a:p>
            <a:r>
              <a:t>Can now address questions more directly </a:t>
            </a:r>
          </a:p>
          <a:p>
            <a:r>
              <a:t>to child. Answer child's questions honestly </a:t>
            </a:r>
          </a:p>
          <a:p>
            <a:r>
              <a:t>and concretely; diagram and teaching dolls </a:t>
            </a:r>
          </a:p>
          <a:p>
            <a:r>
              <a:t>are helpful during explanations. Child </a:t>
            </a:r>
          </a:p>
          <a:p>
            <a:r>
              <a:t>often sees physical exam as "fun”; likes to </a:t>
            </a:r>
          </a:p>
          <a:p>
            <a:r>
              <a:t>learn about body. Protect </a:t>
            </a:r>
          </a:p>
          <a:p>
            <a:r>
              <a:t>privacy and modesty </a:t>
            </a:r>
          </a:p>
          <a:p>
            <a:r>
              <a:t>Preform head to </a:t>
            </a:r>
          </a:p>
          <a:p>
            <a:r>
              <a:t>toe </a:t>
            </a:r>
          </a:p>
          <a:p>
            <a:r>
              <a:t>with genitalia last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25 </a:t>
            </a:r>
          </a:p>
          <a:p>
            <a:r>
              <a:t>toddler see and touch </a:t>
            </a:r>
          </a:p>
          <a:p>
            <a:r>
              <a:t>examination instruments; </a:t>
            </a:r>
          </a:p>
          <a:p>
            <a:r>
              <a:t>keep parent and security </a:t>
            </a:r>
          </a:p>
          <a:p>
            <a:r>
              <a:t>object nearby. </a:t>
            </a:r>
          </a:p>
          <a:p>
            <a:r>
              <a:t>choices but provider should not give </a:t>
            </a:r>
          </a:p>
          <a:p>
            <a:r>
              <a:t>toddler a choice where none exists (e.g., </a:t>
            </a:r>
          </a:p>
          <a:p>
            <a:r>
              <a:t>“May I look in your ears.)”? Toddlers are </a:t>
            </a:r>
          </a:p>
          <a:p>
            <a:r>
              <a:t>often uncooperative with exam; complete </a:t>
            </a:r>
          </a:p>
          <a:p>
            <a:r>
              <a:t>exam as quickly but as thoroughly as </a:t>
            </a:r>
          </a:p>
          <a:p>
            <a:r>
              <a:t>possible. </a:t>
            </a:r>
          </a:p>
          <a:p>
            <a:r>
              <a:t>May need to enlist parents’ help in gently </a:t>
            </a:r>
          </a:p>
          <a:p>
            <a:r>
              <a:t>restraining child during exam. Use </a:t>
            </a:r>
          </a:p>
          <a:p>
            <a:r>
              <a:t>distraction techniques (play, puppets, </a:t>
            </a:r>
          </a:p>
          <a:p>
            <a:r>
              <a:t>toys). Praise toddler for cooperation. </a:t>
            </a:r>
          </a:p>
          <a:p>
            <a:r>
              <a:t>nose, and throat </a:t>
            </a:r>
          </a:p>
          <a:p>
            <a:r>
              <a:t>last). </a:t>
            </a:r>
          </a:p>
          <a:p>
            <a:r>
              <a:t>Auscultate, </a:t>
            </a:r>
          </a:p>
          <a:p>
            <a:r>
              <a:t>palpate, and </a:t>
            </a:r>
          </a:p>
          <a:p>
            <a:r>
              <a:t>percuss whenever </a:t>
            </a:r>
          </a:p>
          <a:p>
            <a:r>
              <a:t>quiet. </a:t>
            </a:r>
          </a:p>
          <a:p>
            <a:r>
              <a:t>Praise toddler for </a:t>
            </a:r>
          </a:p>
          <a:p>
            <a:r>
              <a:t>cooperating with </a:t>
            </a:r>
          </a:p>
          <a:p>
            <a:r>
              <a:t>exam. </a:t>
            </a:r>
          </a:p>
          <a:p>
            <a:r>
              <a:t>Preschooler </a:t>
            </a:r>
          </a:p>
          <a:p>
            <a:r>
              <a:t>Position: Exam table with </a:t>
            </a:r>
          </a:p>
          <a:p>
            <a:r>
              <a:t>parent nearby. </a:t>
            </a:r>
          </a:p>
          <a:p>
            <a:r>
              <a:t> </a:t>
            </a:r>
          </a:p>
          <a:p>
            <a:r>
              <a:t>To allay fears, may use </a:t>
            </a:r>
          </a:p>
          <a:p>
            <a:r>
              <a:t>dolls, stuffed animals, or </a:t>
            </a:r>
          </a:p>
          <a:p>
            <a:r>
              <a:t>parent to “examine” first </a:t>
            </a:r>
          </a:p>
          <a:p>
            <a:r>
              <a:t>before child. Allow </a:t>
            </a:r>
          </a:p>
          <a:p>
            <a:r>
              <a:t>preschooler to see and touch </a:t>
            </a:r>
          </a:p>
          <a:p>
            <a:r>
              <a:t>equipment. </a:t>
            </a:r>
          </a:p>
          <a:p>
            <a:r>
              <a:t>Give preschooler gown; ask </a:t>
            </a:r>
          </a:p>
          <a:p>
            <a:r>
              <a:t>child to remove all clothing </a:t>
            </a:r>
          </a:p>
          <a:p>
            <a:r>
              <a:t>but underwear. </a:t>
            </a:r>
          </a:p>
          <a:p>
            <a:r>
              <a:t>They like to “help” and are concrete, </a:t>
            </a:r>
          </a:p>
          <a:p>
            <a:r>
              <a:t>literal thinkers, and protect their modesty. </a:t>
            </a:r>
          </a:p>
          <a:p>
            <a:r>
              <a:t>Magical thinking causes many fears. </a:t>
            </a:r>
          </a:p>
          <a:p>
            <a:r>
              <a:t>Provider should take care regarding choice </a:t>
            </a:r>
          </a:p>
          <a:p>
            <a:r>
              <a:t>of words (e.g ,.take” your blood pressure.) </a:t>
            </a:r>
          </a:p>
          <a:p>
            <a:r>
              <a:t>Preschooler may think she or he is ill </a:t>
            </a:r>
          </a:p>
          <a:p>
            <a:r>
              <a:t>because of bad behavior (magical </a:t>
            </a:r>
          </a:p>
          <a:p>
            <a:r>
              <a:t>thinking(. </a:t>
            </a:r>
          </a:p>
          <a:p>
            <a:r>
              <a:t>Preschoolers need feedback during exam </a:t>
            </a:r>
          </a:p>
          <a:p>
            <a:r>
              <a:t>Your lungs sound just like they are </a:t>
            </a:r>
          </a:p>
          <a:p>
            <a:r>
              <a:t>supposed to.”) </a:t>
            </a:r>
          </a:p>
          <a:p>
            <a:r>
              <a:t>Games, dolls, or toys sometimes helpful </a:t>
            </a:r>
          </a:p>
          <a:p>
            <a:r>
              <a:t>when conducting physical exam to gain </a:t>
            </a:r>
          </a:p>
          <a:p>
            <a:r>
              <a:t>child’s cooperation. Preschoolers should </a:t>
            </a:r>
          </a:p>
          <a:p>
            <a:r>
              <a:t>be given choices when possible </a:t>
            </a:r>
          </a:p>
          <a:p>
            <a:r>
              <a:t>Head to toe if </a:t>
            </a:r>
          </a:p>
          <a:p>
            <a:r>
              <a:t>cooperative. </a:t>
            </a:r>
          </a:p>
          <a:p>
            <a:r>
              <a:t>Otherwise use </a:t>
            </a:r>
          </a:p>
          <a:p>
            <a:r>
              <a:t>approach as with </a:t>
            </a:r>
          </a:p>
          <a:p>
            <a:r>
              <a:t>toddler. Should be </a:t>
            </a:r>
          </a:p>
          <a:p>
            <a:r>
              <a:t>able to examine </a:t>
            </a:r>
          </a:p>
          <a:p>
            <a:r>
              <a:t>older preschoolers </a:t>
            </a:r>
          </a:p>
          <a:p>
            <a:r>
              <a:t>head to toe. </a:t>
            </a:r>
          </a:p>
          <a:p>
            <a:r>
              <a:t>School-aged </a:t>
            </a:r>
          </a:p>
          <a:p>
            <a:r>
              <a:t>children </a:t>
            </a:r>
          </a:p>
          <a:p>
            <a:r>
              <a:t>Position: Exam table </a:t>
            </a:r>
          </a:p>
          <a:p>
            <a:r>
              <a:t> </a:t>
            </a:r>
          </a:p>
          <a:p>
            <a:r>
              <a:t>Give child gown and ask </a:t>
            </a:r>
          </a:p>
          <a:p>
            <a:r>
              <a:t>child to undress except for </a:t>
            </a:r>
          </a:p>
          <a:p>
            <a:r>
              <a:t>underpants. </a:t>
            </a:r>
          </a:p>
          <a:p>
            <a:r>
              <a:t>Explain purpose of all </a:t>
            </a:r>
          </a:p>
          <a:p>
            <a:r>
              <a:t>equipment. Young school-</a:t>
            </a:r>
          </a:p>
          <a:p>
            <a:r>
              <a:t>aged child often prefers </a:t>
            </a:r>
          </a:p>
          <a:p>
            <a:r>
              <a:t>parent to be present; older </a:t>
            </a:r>
          </a:p>
          <a:p>
            <a:r>
              <a:t>school aged child may </a:t>
            </a:r>
          </a:p>
          <a:p>
            <a:r>
              <a:t>prefer parent to leave room </a:t>
            </a:r>
          </a:p>
          <a:p>
            <a:r>
              <a:t>during exam. </a:t>
            </a:r>
          </a:p>
          <a:p>
            <a:r>
              <a:t>Can now address questions more directly </a:t>
            </a:r>
          </a:p>
          <a:p>
            <a:r>
              <a:t>to child. Answer child's questions honestly </a:t>
            </a:r>
          </a:p>
          <a:p>
            <a:r>
              <a:t>and concretely; diagram and teaching dolls </a:t>
            </a:r>
          </a:p>
          <a:p>
            <a:r>
              <a:t>are helpful during explanations. Child </a:t>
            </a:r>
          </a:p>
          <a:p>
            <a:r>
              <a:t>often sees physical exam as "fun”; likes to </a:t>
            </a:r>
          </a:p>
          <a:p>
            <a:r>
              <a:t>learn about body. Protect </a:t>
            </a:r>
          </a:p>
          <a:p>
            <a:r>
              <a:t>privacy and modesty </a:t>
            </a:r>
          </a:p>
          <a:p>
            <a:r>
              <a:t>Preform head to </a:t>
            </a:r>
          </a:p>
          <a:p>
            <a:r>
              <a:t>toe </a:t>
            </a:r>
          </a:p>
          <a:p>
            <a:r>
              <a:t>with genitalia last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26 </a:t>
            </a:r>
          </a:p>
          <a:p>
            <a:r>
              <a:t>Age group </a:t>
            </a:r>
          </a:p>
          <a:p>
            <a:r>
              <a:t>Preparation  </a:t>
            </a:r>
          </a:p>
          <a:p>
            <a:r>
              <a:t>development Considerations  </a:t>
            </a:r>
          </a:p>
          <a:p>
            <a:r>
              <a:t>Sequence </a:t>
            </a:r>
          </a:p>
          <a:p>
            <a:r>
              <a:t>Adolescents  </a:t>
            </a:r>
          </a:p>
          <a:p>
            <a:r>
              <a:t>Position: Exam table  </a:t>
            </a:r>
          </a:p>
          <a:p>
            <a:r>
              <a:t>Provider should explain </a:t>
            </a:r>
          </a:p>
          <a:p>
            <a:r>
              <a:t>confidentiality parameters. </a:t>
            </a:r>
          </a:p>
          <a:p>
            <a:r>
              <a:t>Offer option for parent to be </a:t>
            </a:r>
          </a:p>
          <a:p>
            <a:r>
              <a:t>present or to leave the room </a:t>
            </a:r>
          </a:p>
          <a:p>
            <a:r>
              <a:t>during physical exam. Give </a:t>
            </a:r>
          </a:p>
          <a:p>
            <a:r>
              <a:t>teen a gown; allow to </a:t>
            </a:r>
          </a:p>
          <a:p>
            <a:r>
              <a:t>undress in private; may </a:t>
            </a:r>
          </a:p>
          <a:p>
            <a:r>
              <a:t>leave undergarments on. </a:t>
            </a:r>
          </a:p>
          <a:p>
            <a:r>
              <a:t>Elicit active participation from teen when </a:t>
            </a:r>
          </a:p>
          <a:p>
            <a:r>
              <a:t>obtaining health history. Confidentiality </a:t>
            </a:r>
          </a:p>
          <a:p>
            <a:r>
              <a:t>and privacy are important. Protect </a:t>
            </a:r>
          </a:p>
          <a:p>
            <a:r>
              <a:t>modesty. Address teen directly during </a:t>
            </a:r>
          </a:p>
          <a:p>
            <a:r>
              <a:t>exam.  </a:t>
            </a:r>
          </a:p>
          <a:p>
            <a:r>
              <a:t>Private Discuss issues of sexuality and </a:t>
            </a:r>
          </a:p>
          <a:p>
            <a:r>
              <a:t>body development; emphasize normalcy </a:t>
            </a:r>
          </a:p>
          <a:p>
            <a:r>
              <a:t>whenever possible. Include health </a:t>
            </a:r>
          </a:p>
          <a:p>
            <a:r>
              <a:t>teaching. </a:t>
            </a:r>
          </a:p>
          <a:p>
            <a:r>
              <a:t>Preform head to </a:t>
            </a:r>
          </a:p>
          <a:p>
            <a:r>
              <a:t>toe </a:t>
            </a:r>
          </a:p>
          <a:p>
            <a:r>
              <a:t>with genitalia last </a:t>
            </a:r>
          </a:p>
          <a:p>
            <a:r>
              <a:t>PHYSICAL ASSESSMENT OF THE NEWBORN </a:t>
            </a:r>
          </a:p>
          <a:p>
            <a:r>
              <a:t>Usual Findings (Hockenberry &amp; Wilson, 2009) </a:t>
            </a:r>
          </a:p>
          <a:p>
            <a:r>
              <a:t>1. General measurements. </a:t>
            </a:r>
          </a:p>
          <a:p>
            <a:r>
              <a:t>a. Head circumference—33-35 cm (13-14 inches); about 2-3 cm (1 inch) larger than </a:t>
            </a:r>
          </a:p>
          <a:p>
            <a:r>
              <a:t>chest circumference </a:t>
            </a:r>
          </a:p>
          <a:p>
            <a:r>
              <a:t>b. Chest circumference—30.5-33 cm (12-13 inches) </a:t>
            </a:r>
          </a:p>
          <a:p>
            <a:r>
              <a:t>c. Crown-to-rump length—31-35 cm (12.5-14 inches); approximately equal to head </a:t>
            </a:r>
          </a:p>
          <a:p>
            <a:r>
              <a:t>circumference </a:t>
            </a:r>
          </a:p>
          <a:p>
            <a:r>
              <a:t>d. Head-to-heel length—48-53 cm (19-21 inches) </a:t>
            </a:r>
          </a:p>
          <a:p>
            <a:r>
              <a:t>e. Birth weight—2700-4000 g (6-9 pounds) </a:t>
            </a:r>
          </a:p>
          <a:p>
            <a:r>
              <a:t>2. Vital signs </a:t>
            </a:r>
          </a:p>
          <a:p>
            <a:r>
              <a:t>a. Temperature </a:t>
            </a:r>
          </a:p>
          <a:p>
            <a:r>
              <a:t>b. Axillary—36.5°-37° C (97.9°-98.6° F) </a:t>
            </a:r>
          </a:p>
          <a:p>
            <a:r>
              <a:t>c. Heart rate </a:t>
            </a:r>
          </a:p>
          <a:p>
            <a:r>
              <a:t>d. Apical—110-160 beats/min </a:t>
            </a:r>
          </a:p>
          <a:p>
            <a:r>
              <a:t>e. Respirations </a:t>
            </a:r>
          </a:p>
          <a:p>
            <a:r>
              <a:t>f. 30-60 breaths/min </a:t>
            </a:r>
          </a:p>
          <a:p>
            <a:r>
              <a:t>g. Blood pressure (BP) </a:t>
            </a:r>
          </a:p>
          <a:p>
            <a:r>
              <a:t>h. Oscillometric—65/41 mm Hg (average) in arm and calf </a:t>
            </a:r>
          </a:p>
          <a:p>
            <a:r>
              <a:t>3. General appearance </a:t>
            </a:r>
          </a:p>
          <a:p>
            <a:r>
              <a:t>a. Posture—Flexion of head and extremities, which rest on chest and abdomen </a:t>
            </a:r>
          </a:p>
          <a:p>
            <a:r>
              <a:t>4. Skin </a:t>
            </a:r>
          </a:p>
          <a:p>
            <a:r>
              <a:t>a. At birth, puffy, smooth </a:t>
            </a:r>
          </a:p>
          <a:p>
            <a:r>
              <a:t>b. Second to third day, pink, flaky, dry </a:t>
            </a:r>
          </a:p>
          <a:p>
            <a:r>
              <a:t>c. Vernix caseosa </a:t>
            </a:r>
          </a:p>
          <a:p>
            <a:r>
              <a:t>d. Lanugo </a:t>
            </a:r>
          </a:p>
          <a:p>
            <a:r>
              <a:t>e. Edema around eyes, face, legs, dorsa of hands, feet, and scrotum or labia </a:t>
            </a:r>
          </a:p>
          <a:p>
            <a:r>
              <a:t>f. Acrocyanosis—Cyanosis of hands and feet </a:t>
            </a:r>
          </a:p>
          <a:p>
            <a:r>
              <a:t>5. Head </a:t>
            </a:r>
          </a:p>
          <a:p>
            <a:r>
              <a:t>a. Anterior fontanel—Diamond-shaped, 2.5-4 cm (1-1.75 inches)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26 </a:t>
            </a:r>
          </a:p>
          <a:p>
            <a:r>
              <a:t>Age group </a:t>
            </a:r>
          </a:p>
          <a:p>
            <a:r>
              <a:t>Preparation  </a:t>
            </a:r>
          </a:p>
          <a:p>
            <a:r>
              <a:t>development Considerations  </a:t>
            </a:r>
          </a:p>
          <a:p>
            <a:r>
              <a:t>Sequence </a:t>
            </a:r>
          </a:p>
          <a:p>
            <a:r>
              <a:t>Adolescents  </a:t>
            </a:r>
          </a:p>
          <a:p>
            <a:r>
              <a:t>Position: Exam table  </a:t>
            </a:r>
          </a:p>
          <a:p>
            <a:r>
              <a:t>Provider should explain </a:t>
            </a:r>
          </a:p>
          <a:p>
            <a:r>
              <a:t>confidentiality parameters. </a:t>
            </a:r>
          </a:p>
          <a:p>
            <a:r>
              <a:t>Offer option for parent to be </a:t>
            </a:r>
          </a:p>
          <a:p>
            <a:r>
              <a:t>present or to leave the room </a:t>
            </a:r>
          </a:p>
          <a:p>
            <a:r>
              <a:t>during physical exam. Give </a:t>
            </a:r>
          </a:p>
          <a:p>
            <a:r>
              <a:t>teen a gown; allow to </a:t>
            </a:r>
          </a:p>
          <a:p>
            <a:r>
              <a:t>undress in private; may </a:t>
            </a:r>
          </a:p>
          <a:p>
            <a:r>
              <a:t>leave undergarments on. </a:t>
            </a:r>
          </a:p>
          <a:p>
            <a:r>
              <a:t>Elicit active participation from teen when </a:t>
            </a:r>
          </a:p>
          <a:p>
            <a:r>
              <a:t>obtaining health history. Confidentiality </a:t>
            </a:r>
          </a:p>
          <a:p>
            <a:r>
              <a:t>and privacy are important. Protect </a:t>
            </a:r>
          </a:p>
          <a:p>
            <a:r>
              <a:t>modesty. Address teen directly during </a:t>
            </a:r>
          </a:p>
          <a:p>
            <a:r>
              <a:t>exam.  </a:t>
            </a:r>
          </a:p>
          <a:p>
            <a:r>
              <a:t>Private Discuss issues of sexuality and </a:t>
            </a:r>
          </a:p>
          <a:p>
            <a:r>
              <a:t>body development; emphasize normalcy </a:t>
            </a:r>
          </a:p>
          <a:p>
            <a:r>
              <a:t>whenever possible. Include health </a:t>
            </a:r>
          </a:p>
          <a:p>
            <a:r>
              <a:t>teaching. </a:t>
            </a:r>
          </a:p>
          <a:p>
            <a:r>
              <a:t>Preform head to </a:t>
            </a:r>
          </a:p>
          <a:p>
            <a:r>
              <a:t>toe </a:t>
            </a:r>
          </a:p>
          <a:p>
            <a:r>
              <a:t>with genitalia last </a:t>
            </a:r>
          </a:p>
          <a:p>
            <a:r>
              <a:t>PHYSICAL ASSESSMENT OF THE NEWBORN </a:t>
            </a:r>
          </a:p>
          <a:p>
            <a:r>
              <a:t>Usual Findings (Hockenberry &amp; Wilson, 2009) </a:t>
            </a:r>
          </a:p>
          <a:p>
            <a:r>
              <a:t>1. General measurements. </a:t>
            </a:r>
          </a:p>
          <a:p>
            <a:r>
              <a:t>a. Head circumference—33-35 cm (13-14 inches); about 2-3 cm (1 inch) larger than </a:t>
            </a:r>
          </a:p>
          <a:p>
            <a:r>
              <a:t>chest circumference </a:t>
            </a:r>
          </a:p>
          <a:p>
            <a:r>
              <a:t>b. Chest circumference—30.5-33 cm (12-13 inches) </a:t>
            </a:r>
          </a:p>
          <a:p>
            <a:r>
              <a:t>c. Crown-to-rump length—31-35 cm (12.5-14 inches); approximately equal to head </a:t>
            </a:r>
          </a:p>
          <a:p>
            <a:r>
              <a:t>circumference </a:t>
            </a:r>
          </a:p>
          <a:p>
            <a:r>
              <a:t>d. Head-to-heel length—48-53 cm (19-21 inches) </a:t>
            </a:r>
          </a:p>
          <a:p>
            <a:r>
              <a:t>e. Birth weight—2700-4000 g (6-9 pounds) </a:t>
            </a:r>
          </a:p>
          <a:p>
            <a:r>
              <a:t>2. Vital signs </a:t>
            </a:r>
          </a:p>
          <a:p>
            <a:r>
              <a:t>a. Temperature </a:t>
            </a:r>
          </a:p>
          <a:p>
            <a:r>
              <a:t>b. Axillary—36.5°-37° C (97.9°-98.6° F) </a:t>
            </a:r>
          </a:p>
          <a:p>
            <a:r>
              <a:t>c. Heart rate </a:t>
            </a:r>
          </a:p>
          <a:p>
            <a:r>
              <a:t>d. Apical—110-160 beats/min </a:t>
            </a:r>
          </a:p>
          <a:p>
            <a:r>
              <a:t>e. Respirations </a:t>
            </a:r>
          </a:p>
          <a:p>
            <a:r>
              <a:t>f. 30-60 breaths/min </a:t>
            </a:r>
          </a:p>
          <a:p>
            <a:r>
              <a:t>g. Blood pressure (BP) </a:t>
            </a:r>
          </a:p>
          <a:p>
            <a:r>
              <a:t>h. Oscillometric—65/41 mm Hg (average) in arm and calf </a:t>
            </a:r>
          </a:p>
          <a:p>
            <a:r>
              <a:t>3. General appearance </a:t>
            </a:r>
          </a:p>
          <a:p>
            <a:r>
              <a:t>a. Posture—Flexion of head and extremities, which rest on chest and abdomen </a:t>
            </a:r>
          </a:p>
          <a:p>
            <a:r>
              <a:t>4. Skin </a:t>
            </a:r>
          </a:p>
          <a:p>
            <a:r>
              <a:t>a. At birth, puffy, smooth </a:t>
            </a:r>
          </a:p>
          <a:p>
            <a:r>
              <a:t>b. Second to third day, pink, flaky, dry </a:t>
            </a:r>
          </a:p>
          <a:p>
            <a:r>
              <a:t>c. Vernix caseosa </a:t>
            </a:r>
          </a:p>
          <a:p>
            <a:r>
              <a:t>d. Lanugo </a:t>
            </a:r>
          </a:p>
          <a:p>
            <a:r>
              <a:t>e. Edema around eyes, face, legs, dorsa of hands, feet, and scrotum or labia </a:t>
            </a:r>
          </a:p>
          <a:p>
            <a:r>
              <a:t>f. Acrocyanosis—Cyanosis of hands and feet </a:t>
            </a:r>
          </a:p>
          <a:p>
            <a:r>
              <a:t>5. Head </a:t>
            </a:r>
          </a:p>
          <a:p>
            <a:r>
              <a:t>a. Anterior fontanel—Diamond-shaped, 2.5-4 cm (1-1.75 inches)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26 </a:t>
            </a:r>
          </a:p>
          <a:p>
            <a:r>
              <a:t>Age group </a:t>
            </a:r>
          </a:p>
          <a:p>
            <a:r>
              <a:t>Preparation  </a:t>
            </a:r>
          </a:p>
          <a:p>
            <a:r>
              <a:t>development Considerations  </a:t>
            </a:r>
          </a:p>
          <a:p>
            <a:r>
              <a:t>Sequence </a:t>
            </a:r>
          </a:p>
          <a:p>
            <a:r>
              <a:t>Adolescents  </a:t>
            </a:r>
          </a:p>
          <a:p>
            <a:r>
              <a:t>Position: Exam table  </a:t>
            </a:r>
          </a:p>
          <a:p>
            <a:r>
              <a:t>Provider should explain </a:t>
            </a:r>
          </a:p>
          <a:p>
            <a:r>
              <a:t>confidentiality parameters. </a:t>
            </a:r>
          </a:p>
          <a:p>
            <a:r>
              <a:t>Offer option for parent to be </a:t>
            </a:r>
          </a:p>
          <a:p>
            <a:r>
              <a:t>present or to leave the room </a:t>
            </a:r>
          </a:p>
          <a:p>
            <a:r>
              <a:t>during physical exam. Give </a:t>
            </a:r>
          </a:p>
          <a:p>
            <a:r>
              <a:t>teen a gown; allow to </a:t>
            </a:r>
          </a:p>
          <a:p>
            <a:r>
              <a:t>undress in private; may </a:t>
            </a:r>
          </a:p>
          <a:p>
            <a:r>
              <a:t>leave undergarments on. </a:t>
            </a:r>
          </a:p>
          <a:p>
            <a:r>
              <a:t>Elicit active participation from teen when </a:t>
            </a:r>
          </a:p>
          <a:p>
            <a:r>
              <a:t>obtaining health history. Confidentiality </a:t>
            </a:r>
          </a:p>
          <a:p>
            <a:r>
              <a:t>and privacy are important. Protect </a:t>
            </a:r>
          </a:p>
          <a:p>
            <a:r>
              <a:t>modesty. Address teen directly during </a:t>
            </a:r>
          </a:p>
          <a:p>
            <a:r>
              <a:t>exam.  </a:t>
            </a:r>
          </a:p>
          <a:p>
            <a:r>
              <a:t>Private Discuss issues of sexuality and </a:t>
            </a:r>
          </a:p>
          <a:p>
            <a:r>
              <a:t>body development; emphasize normalcy </a:t>
            </a:r>
          </a:p>
          <a:p>
            <a:r>
              <a:t>whenever possible. Include health </a:t>
            </a:r>
          </a:p>
          <a:p>
            <a:r>
              <a:t>teaching. </a:t>
            </a:r>
          </a:p>
          <a:p>
            <a:r>
              <a:t>Preform head to </a:t>
            </a:r>
          </a:p>
          <a:p>
            <a:r>
              <a:t>toe </a:t>
            </a:r>
          </a:p>
          <a:p>
            <a:r>
              <a:t>with genitalia last </a:t>
            </a:r>
          </a:p>
          <a:p>
            <a:r>
              <a:t>PHYSICAL ASSESSMENT OF THE NEWBORN </a:t>
            </a:r>
          </a:p>
          <a:p>
            <a:r>
              <a:t>Usual Findings (Hockenberry &amp; Wilson, 2009) </a:t>
            </a:r>
          </a:p>
          <a:p>
            <a:r>
              <a:t>1. General measurements. </a:t>
            </a:r>
          </a:p>
          <a:p>
            <a:r>
              <a:t>a. Head circumference—33-35 cm (13-14 inches); about 2-3 cm (1 inch) larger than </a:t>
            </a:r>
          </a:p>
          <a:p>
            <a:r>
              <a:t>chest circumference </a:t>
            </a:r>
          </a:p>
          <a:p>
            <a:r>
              <a:t>b. Chest circumference—30.5-33 cm (12-13 inches) </a:t>
            </a:r>
          </a:p>
          <a:p>
            <a:r>
              <a:t>c. Crown-to-rump length—31-35 cm (12.5-14 inches); approximately equal to head </a:t>
            </a:r>
          </a:p>
          <a:p>
            <a:r>
              <a:t>circumference </a:t>
            </a:r>
          </a:p>
          <a:p>
            <a:r>
              <a:t>d. Head-to-heel length—48-53 cm (19-21 inches) </a:t>
            </a:r>
          </a:p>
          <a:p>
            <a:r>
              <a:t>e. Birth weight—2700-4000 g (6-9 pounds) </a:t>
            </a:r>
          </a:p>
          <a:p>
            <a:r>
              <a:t>2. Vital signs </a:t>
            </a:r>
          </a:p>
          <a:p>
            <a:r>
              <a:t>a. Temperature </a:t>
            </a:r>
          </a:p>
          <a:p>
            <a:r>
              <a:t>b. Axillary—36.5°-37° C (97.9°-98.6° F) </a:t>
            </a:r>
          </a:p>
          <a:p>
            <a:r>
              <a:t>c. Heart rate </a:t>
            </a:r>
          </a:p>
          <a:p>
            <a:r>
              <a:t>d. Apical—110-160 beats/min </a:t>
            </a:r>
          </a:p>
          <a:p>
            <a:r>
              <a:t>e. Respirations </a:t>
            </a:r>
          </a:p>
          <a:p>
            <a:r>
              <a:t>f. 30-60 breaths/min </a:t>
            </a:r>
          </a:p>
          <a:p>
            <a:r>
              <a:t>g. Blood pressure (BP) </a:t>
            </a:r>
          </a:p>
          <a:p>
            <a:r>
              <a:t>h. Oscillometric—65/41 mm Hg (average) in arm and calf </a:t>
            </a:r>
          </a:p>
          <a:p>
            <a:r>
              <a:t>3. General appearance </a:t>
            </a:r>
          </a:p>
          <a:p>
            <a:r>
              <a:t>a. Posture—Flexion of head and extremities, which rest on chest and abdomen </a:t>
            </a:r>
          </a:p>
          <a:p>
            <a:r>
              <a:t>4. Skin </a:t>
            </a:r>
          </a:p>
          <a:p>
            <a:r>
              <a:t>a. At birth, puffy, smooth </a:t>
            </a:r>
          </a:p>
          <a:p>
            <a:r>
              <a:t>b. Second to third day, pink, flaky, dry </a:t>
            </a:r>
          </a:p>
          <a:p>
            <a:r>
              <a:t>c. Vernix caseosa </a:t>
            </a:r>
          </a:p>
          <a:p>
            <a:r>
              <a:t>d. Lanugo </a:t>
            </a:r>
          </a:p>
          <a:p>
            <a:r>
              <a:t>e. Edema around eyes, face, legs, dorsa of hands, feet, and scrotum or labia </a:t>
            </a:r>
          </a:p>
          <a:p>
            <a:r>
              <a:t>f. Acrocyanosis—Cyanosis of hands and feet </a:t>
            </a:r>
          </a:p>
          <a:p>
            <a:r>
              <a:t>5. Head </a:t>
            </a:r>
          </a:p>
          <a:p>
            <a:r>
              <a:t>a. Anterior fontanel—Diamond-shaped, 2.5-4 cm (1-1.75 inches)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26 </a:t>
            </a:r>
          </a:p>
          <a:p>
            <a:r>
              <a:t>Age group </a:t>
            </a:r>
          </a:p>
          <a:p>
            <a:r>
              <a:t>Preparation  </a:t>
            </a:r>
          </a:p>
          <a:p>
            <a:r>
              <a:t>development Considerations  </a:t>
            </a:r>
          </a:p>
          <a:p>
            <a:r>
              <a:t>Sequence </a:t>
            </a:r>
          </a:p>
          <a:p>
            <a:r>
              <a:t>Adolescents  </a:t>
            </a:r>
          </a:p>
          <a:p>
            <a:r>
              <a:t>Position: Exam table  </a:t>
            </a:r>
          </a:p>
          <a:p>
            <a:r>
              <a:t>Provider should explain </a:t>
            </a:r>
          </a:p>
          <a:p>
            <a:r>
              <a:t>confidentiality parameters. </a:t>
            </a:r>
          </a:p>
          <a:p>
            <a:r>
              <a:t>Offer option for parent to be </a:t>
            </a:r>
          </a:p>
          <a:p>
            <a:r>
              <a:t>present or to leave the room </a:t>
            </a:r>
          </a:p>
          <a:p>
            <a:r>
              <a:t>during physical exam. Give </a:t>
            </a:r>
          </a:p>
          <a:p>
            <a:r>
              <a:t>teen a gown; allow to </a:t>
            </a:r>
          </a:p>
          <a:p>
            <a:r>
              <a:t>undress in private; may </a:t>
            </a:r>
          </a:p>
          <a:p>
            <a:r>
              <a:t>leave undergarments on. </a:t>
            </a:r>
          </a:p>
          <a:p>
            <a:r>
              <a:t>Elicit active participation from teen when </a:t>
            </a:r>
          </a:p>
          <a:p>
            <a:r>
              <a:t>obtaining health history. Confidentiality </a:t>
            </a:r>
          </a:p>
          <a:p>
            <a:r>
              <a:t>and privacy are important. Protect </a:t>
            </a:r>
          </a:p>
          <a:p>
            <a:r>
              <a:t>modesty. Address teen directly during </a:t>
            </a:r>
          </a:p>
          <a:p>
            <a:r>
              <a:t>exam.  </a:t>
            </a:r>
          </a:p>
          <a:p>
            <a:r>
              <a:t>Private Discuss issues of sexuality and </a:t>
            </a:r>
          </a:p>
          <a:p>
            <a:r>
              <a:t>body development; emphasize normalcy </a:t>
            </a:r>
          </a:p>
          <a:p>
            <a:r>
              <a:t>whenever possible. Include health </a:t>
            </a:r>
          </a:p>
          <a:p>
            <a:r>
              <a:t>teaching. </a:t>
            </a:r>
          </a:p>
          <a:p>
            <a:r>
              <a:t>Preform head to </a:t>
            </a:r>
          </a:p>
          <a:p>
            <a:r>
              <a:t>toe </a:t>
            </a:r>
          </a:p>
          <a:p>
            <a:r>
              <a:t>with genitalia last </a:t>
            </a:r>
          </a:p>
          <a:p>
            <a:r>
              <a:t>PHYSICAL ASSESSMENT OF THE NEWBORN </a:t>
            </a:r>
          </a:p>
          <a:p>
            <a:r>
              <a:t>Usual Findings (Hockenberry &amp; Wilson, 2009) </a:t>
            </a:r>
          </a:p>
          <a:p>
            <a:r>
              <a:t>1. General measurements. </a:t>
            </a:r>
          </a:p>
          <a:p>
            <a:r>
              <a:t>a. Head circumference—33-35 cm (13-14 inches); about 2-3 cm (1 inch) larger than </a:t>
            </a:r>
          </a:p>
          <a:p>
            <a:r>
              <a:t>chest circumference </a:t>
            </a:r>
          </a:p>
          <a:p>
            <a:r>
              <a:t>b. Chest circumference—30.5-33 cm (12-13 inches) </a:t>
            </a:r>
          </a:p>
          <a:p>
            <a:r>
              <a:t>c. Crown-to-rump length—31-35 cm (12.5-14 inches); approximately equal to head </a:t>
            </a:r>
          </a:p>
          <a:p>
            <a:r>
              <a:t>circumference </a:t>
            </a:r>
          </a:p>
          <a:p>
            <a:r>
              <a:t>d. Head-to-heel length—48-53 cm (19-21 inches) </a:t>
            </a:r>
          </a:p>
          <a:p>
            <a:r>
              <a:t>e. Birth weight—2700-4000 g (6-9 pounds) </a:t>
            </a:r>
          </a:p>
          <a:p>
            <a:r>
              <a:t>2. Vital signs </a:t>
            </a:r>
          </a:p>
          <a:p>
            <a:r>
              <a:t>a. Temperature </a:t>
            </a:r>
          </a:p>
          <a:p>
            <a:r>
              <a:t>b. Axillary—36.5°-37° C (97.9°-98.6° F) </a:t>
            </a:r>
          </a:p>
          <a:p>
            <a:r>
              <a:t>c. Heart rate </a:t>
            </a:r>
          </a:p>
          <a:p>
            <a:r>
              <a:t>d. Apical—110-160 beats/min </a:t>
            </a:r>
          </a:p>
          <a:p>
            <a:r>
              <a:t>e. Respirations </a:t>
            </a:r>
          </a:p>
          <a:p>
            <a:r>
              <a:t>f. 30-60 breaths/min </a:t>
            </a:r>
          </a:p>
          <a:p>
            <a:r>
              <a:t>g. Blood pressure (BP) </a:t>
            </a:r>
          </a:p>
          <a:p>
            <a:r>
              <a:t>h. Oscillometric—65/41 mm Hg (average) in arm and calf </a:t>
            </a:r>
          </a:p>
          <a:p>
            <a:r>
              <a:t>3. General appearance </a:t>
            </a:r>
          </a:p>
          <a:p>
            <a:r>
              <a:t>a. Posture—Flexion of head and extremities, which rest on chest and abdomen </a:t>
            </a:r>
          </a:p>
          <a:p>
            <a:r>
              <a:t>4. Skin </a:t>
            </a:r>
          </a:p>
          <a:p>
            <a:r>
              <a:t>a. At birth, puffy, smooth </a:t>
            </a:r>
          </a:p>
          <a:p>
            <a:r>
              <a:t>b. Second to third day, pink, flaky, dry </a:t>
            </a:r>
          </a:p>
          <a:p>
            <a:r>
              <a:t>c. Vernix caseosa </a:t>
            </a:r>
          </a:p>
          <a:p>
            <a:r>
              <a:t>d. Lanugo </a:t>
            </a:r>
          </a:p>
          <a:p>
            <a:r>
              <a:t>e. Edema around eyes, face, legs, dorsa of hands, feet, and scrotum or labia </a:t>
            </a:r>
          </a:p>
          <a:p>
            <a:r>
              <a:t>f. Acrocyanosis—Cyanosis of hands and feet </a:t>
            </a:r>
          </a:p>
          <a:p>
            <a:r>
              <a:t>5. Head </a:t>
            </a:r>
          </a:p>
          <a:p>
            <a:r>
              <a:t>a. Anterior fontanel—Diamond-shaped, 2.5-4 cm (1-1.75 inches)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27 </a:t>
            </a:r>
          </a:p>
          <a:p>
            <a:r>
              <a:t>b. Posterior fontanel—Triangular, 0.5-1 cm (0.2-0.4 inch) </a:t>
            </a:r>
          </a:p>
          <a:p>
            <a:r>
              <a:t>c. Fontanels should be flat and firm. </a:t>
            </a:r>
          </a:p>
          <a:p>
            <a:r>
              <a:t>d. Widest part of fontanel measured from bone to bone, not suture to suture </a:t>
            </a:r>
          </a:p>
          <a:p>
            <a:r>
              <a:t>6. Eyes </a:t>
            </a:r>
          </a:p>
          <a:p>
            <a:r>
              <a:t>a. Lids usually edematous </a:t>
            </a:r>
          </a:p>
          <a:p>
            <a:r>
              <a:t>b. Iris color—slate gray, dark blue, brown; absence of tears </a:t>
            </a:r>
          </a:p>
          <a:p>
            <a:r>
              <a:t>c. Presence of red reflex </a:t>
            </a:r>
          </a:p>
          <a:p>
            <a:r>
              <a:t>d. Corneal reflex in response to touch </a:t>
            </a:r>
          </a:p>
          <a:p>
            <a:r>
              <a:t>e. Pupillary reflex in response to light </a:t>
            </a:r>
          </a:p>
          <a:p>
            <a:r>
              <a:t>f. Blink reflex in response to light or touch </a:t>
            </a:r>
          </a:p>
          <a:p>
            <a:r>
              <a:t>g. Rudimentary fixation on objects and ability to follow to midline </a:t>
            </a:r>
          </a:p>
          <a:p>
            <a:r>
              <a:t>7. Ears </a:t>
            </a:r>
          </a:p>
          <a:p>
            <a:r>
              <a:t>a. Position—Top of pinna on horizontal line with outer canthus of eye </a:t>
            </a:r>
          </a:p>
          <a:p>
            <a:r>
              <a:t>b. Startle reflex elicited by a loud, sudden noise </a:t>
            </a:r>
          </a:p>
          <a:p>
            <a:r>
              <a:t>c. Pinna flexible, cartilage present </a:t>
            </a:r>
          </a:p>
          <a:p>
            <a:r>
              <a:t>8. Nose </a:t>
            </a:r>
          </a:p>
          <a:p>
            <a:r>
              <a:t>a. Nasal patency </a:t>
            </a:r>
          </a:p>
          <a:p>
            <a:r>
              <a:t>b. Nasal discharge—Thin, white mucus </a:t>
            </a:r>
          </a:p>
          <a:p>
            <a:r>
              <a:t>c. Sneezing </a:t>
            </a:r>
          </a:p>
          <a:p>
            <a:r>
              <a:t>d. Milia </a:t>
            </a:r>
          </a:p>
          <a:p>
            <a:r>
              <a:t>9. Mouth and throat </a:t>
            </a:r>
          </a:p>
          <a:p>
            <a:r>
              <a:t>a. Intact, high-arched palate </a:t>
            </a:r>
          </a:p>
          <a:p>
            <a:r>
              <a:t>b. Uvula in midline </a:t>
            </a:r>
          </a:p>
          <a:p>
            <a:r>
              <a:t>c. Frenulum of tongue </a:t>
            </a:r>
          </a:p>
          <a:p>
            <a:r>
              <a:t>d. Frenulum of upper lip </a:t>
            </a:r>
          </a:p>
          <a:p>
            <a:r>
              <a:t>e. Sucking reflex—Strong and coordinated </a:t>
            </a:r>
          </a:p>
          <a:p>
            <a:r>
              <a:t>f. Rooting reflex </a:t>
            </a:r>
          </a:p>
          <a:p>
            <a:r>
              <a:t>g. Gag reflex </a:t>
            </a:r>
          </a:p>
          <a:p>
            <a:r>
              <a:t>h. Extrusion reflex </a:t>
            </a:r>
          </a:p>
          <a:p>
            <a:r>
              <a:t>i. Absent or minimal salivation </a:t>
            </a:r>
          </a:p>
          <a:p>
            <a:r>
              <a:t>j. Vigorous cry </a:t>
            </a:r>
          </a:p>
          <a:p>
            <a:r>
              <a:t>10. Neck </a:t>
            </a:r>
          </a:p>
          <a:p>
            <a:r>
              <a:t>a. Short, thick, usually surrounded by skin folds </a:t>
            </a:r>
          </a:p>
          <a:p>
            <a:r>
              <a:t>b. Tonic neck reflex </a:t>
            </a:r>
          </a:p>
          <a:p>
            <a:r>
              <a:t>11. Chest </a:t>
            </a:r>
          </a:p>
          <a:p>
            <a:r>
              <a:t>a. Anteroposterior and lateral diameters equal </a:t>
            </a:r>
          </a:p>
          <a:p>
            <a:r>
              <a:t>b. Slight sternal retractions evident during inspiration </a:t>
            </a:r>
          </a:p>
          <a:p>
            <a:r>
              <a:t>c. Xiphoid process evident </a:t>
            </a:r>
          </a:p>
          <a:p>
            <a:r>
              <a:t>d. Breast enlargement </a:t>
            </a:r>
          </a:p>
          <a:p>
            <a:r>
              <a:t>12. Back and rectum </a:t>
            </a:r>
          </a:p>
          <a:p>
            <a:r>
              <a:t>a. Spine intact; no openings, masses, or prominent curves </a:t>
            </a:r>
          </a:p>
          <a:p>
            <a:r>
              <a:t>b. Trunk incurvation reflex </a:t>
            </a:r>
          </a:p>
          <a:p>
            <a:r>
              <a:t>c. Anal reflex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27 </a:t>
            </a:r>
          </a:p>
          <a:p>
            <a:r>
              <a:t>b. Posterior fontanel—Triangular, 0.5-1 cm (0.2-0.4 inch) </a:t>
            </a:r>
          </a:p>
          <a:p>
            <a:r>
              <a:t>c. Fontanels should be flat and firm. </a:t>
            </a:r>
          </a:p>
          <a:p>
            <a:r>
              <a:t>d. Widest part of fontanel measured from bone to bone, not suture to suture </a:t>
            </a:r>
          </a:p>
          <a:p>
            <a:r>
              <a:t>6. Eyes </a:t>
            </a:r>
          </a:p>
          <a:p>
            <a:r>
              <a:t>a. Lids usually edematous </a:t>
            </a:r>
          </a:p>
          <a:p>
            <a:r>
              <a:t>b. Iris color—slate gray, dark blue, brown; absence of tears </a:t>
            </a:r>
          </a:p>
          <a:p>
            <a:r>
              <a:t>c. Presence of red reflex </a:t>
            </a:r>
          </a:p>
          <a:p>
            <a:r>
              <a:t>d. Corneal reflex in response to touch </a:t>
            </a:r>
          </a:p>
          <a:p>
            <a:r>
              <a:t>e. Pupillary reflex in response to light </a:t>
            </a:r>
          </a:p>
          <a:p>
            <a:r>
              <a:t>f. Blink reflex in response to light or touch </a:t>
            </a:r>
          </a:p>
          <a:p>
            <a:r>
              <a:t>g. Rudimentary fixation on objects and ability to follow to midline </a:t>
            </a:r>
          </a:p>
          <a:p>
            <a:r>
              <a:t>7. Ears </a:t>
            </a:r>
          </a:p>
          <a:p>
            <a:r>
              <a:t>a. Position—Top of pinna on horizontal line with outer canthus of eye </a:t>
            </a:r>
          </a:p>
          <a:p>
            <a:r>
              <a:t>b. Startle reflex elicited by a loud, sudden noise </a:t>
            </a:r>
          </a:p>
          <a:p>
            <a:r>
              <a:t>c. Pinna flexible, cartilage present </a:t>
            </a:r>
          </a:p>
          <a:p>
            <a:r>
              <a:t>8. Nose </a:t>
            </a:r>
          </a:p>
          <a:p>
            <a:r>
              <a:t>a. Nasal patency </a:t>
            </a:r>
          </a:p>
          <a:p>
            <a:r>
              <a:t>b. Nasal discharge—Thin, white mucus </a:t>
            </a:r>
          </a:p>
          <a:p>
            <a:r>
              <a:t>c. Sneezing </a:t>
            </a:r>
          </a:p>
          <a:p>
            <a:r>
              <a:t>d. Milia </a:t>
            </a:r>
          </a:p>
          <a:p>
            <a:r>
              <a:t>9. Mouth and throat </a:t>
            </a:r>
          </a:p>
          <a:p>
            <a:r>
              <a:t>a. Intact, high-arched palate </a:t>
            </a:r>
          </a:p>
          <a:p>
            <a:r>
              <a:t>b. Uvula in midline </a:t>
            </a:r>
          </a:p>
          <a:p>
            <a:r>
              <a:t>c. Frenulum of tongue </a:t>
            </a:r>
          </a:p>
          <a:p>
            <a:r>
              <a:t>d. Frenulum of upper lip </a:t>
            </a:r>
          </a:p>
          <a:p>
            <a:r>
              <a:t>e. Sucking reflex—Strong and coordinated </a:t>
            </a:r>
          </a:p>
          <a:p>
            <a:r>
              <a:t>f. Rooting reflex </a:t>
            </a:r>
          </a:p>
          <a:p>
            <a:r>
              <a:t>g. Gag reflex </a:t>
            </a:r>
          </a:p>
          <a:p>
            <a:r>
              <a:t>h. Extrusion reflex </a:t>
            </a:r>
          </a:p>
          <a:p>
            <a:r>
              <a:t>i. Absent or minimal salivation </a:t>
            </a:r>
          </a:p>
          <a:p>
            <a:r>
              <a:t>j. Vigorous cry </a:t>
            </a:r>
          </a:p>
          <a:p>
            <a:r>
              <a:t>10. Neck </a:t>
            </a:r>
          </a:p>
          <a:p>
            <a:r>
              <a:t>a. Short, thick, usually surrounded by skin folds </a:t>
            </a:r>
          </a:p>
          <a:p>
            <a:r>
              <a:t>b. Tonic neck reflex </a:t>
            </a:r>
          </a:p>
          <a:p>
            <a:r>
              <a:t>11. Chest </a:t>
            </a:r>
          </a:p>
          <a:p>
            <a:r>
              <a:t>a. Anteroposterior and lateral diameters equal </a:t>
            </a:r>
          </a:p>
          <a:p>
            <a:r>
              <a:t>b. Slight sternal retractions evident during inspiration </a:t>
            </a:r>
          </a:p>
          <a:p>
            <a:r>
              <a:t>c. Xiphoid process evident </a:t>
            </a:r>
          </a:p>
          <a:p>
            <a:r>
              <a:t>d. Breast enlargement </a:t>
            </a:r>
          </a:p>
          <a:p>
            <a:r>
              <a:t>12. Back and rectum </a:t>
            </a:r>
          </a:p>
          <a:p>
            <a:r>
              <a:t>a. Spine intact; no openings, masses, or prominent curves </a:t>
            </a:r>
          </a:p>
          <a:p>
            <a:r>
              <a:t>b. Trunk incurvation reflex </a:t>
            </a:r>
          </a:p>
          <a:p>
            <a:r>
              <a:t>c. Anal reflex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27 </a:t>
            </a:r>
          </a:p>
          <a:p>
            <a:r>
              <a:t>b. Posterior fontanel—Triangular, 0.5-1 cm (0.2-0.4 inch) </a:t>
            </a:r>
          </a:p>
          <a:p>
            <a:r>
              <a:t>c. Fontanels should be flat and firm. </a:t>
            </a:r>
          </a:p>
          <a:p>
            <a:r>
              <a:t>d. Widest part of fontanel measured from bone to bone, not suture to suture </a:t>
            </a:r>
          </a:p>
          <a:p>
            <a:r>
              <a:t>6. Eyes </a:t>
            </a:r>
          </a:p>
          <a:p>
            <a:r>
              <a:t>a. Lids usually edematous </a:t>
            </a:r>
          </a:p>
          <a:p>
            <a:r>
              <a:t>b. Iris color—slate gray, dark blue, brown; absence of tears </a:t>
            </a:r>
          </a:p>
          <a:p>
            <a:r>
              <a:t>c. Presence of red reflex </a:t>
            </a:r>
          </a:p>
          <a:p>
            <a:r>
              <a:t>d. Corneal reflex in response to touch </a:t>
            </a:r>
          </a:p>
          <a:p>
            <a:r>
              <a:t>e. Pupillary reflex in response to light </a:t>
            </a:r>
          </a:p>
          <a:p>
            <a:r>
              <a:t>f. Blink reflex in response to light or touch </a:t>
            </a:r>
          </a:p>
          <a:p>
            <a:r>
              <a:t>g. Rudimentary fixation on objects and ability to follow to midline </a:t>
            </a:r>
          </a:p>
          <a:p>
            <a:r>
              <a:t>7. Ears </a:t>
            </a:r>
          </a:p>
          <a:p>
            <a:r>
              <a:t>a. Position—Top of pinna on horizontal line with outer canthus of eye </a:t>
            </a:r>
          </a:p>
          <a:p>
            <a:r>
              <a:t>b. Startle reflex elicited by a loud, sudden noise </a:t>
            </a:r>
          </a:p>
          <a:p>
            <a:r>
              <a:t>c. Pinna flexible, cartilage present </a:t>
            </a:r>
          </a:p>
          <a:p>
            <a:r>
              <a:t>8. Nose </a:t>
            </a:r>
          </a:p>
          <a:p>
            <a:r>
              <a:t>a. Nasal patency </a:t>
            </a:r>
          </a:p>
          <a:p>
            <a:r>
              <a:t>b. Nasal discharge—Thin, white mucus </a:t>
            </a:r>
          </a:p>
          <a:p>
            <a:r>
              <a:t>c. Sneezing </a:t>
            </a:r>
          </a:p>
          <a:p>
            <a:r>
              <a:t>d. Milia </a:t>
            </a:r>
          </a:p>
          <a:p>
            <a:r>
              <a:t>9. Mouth and throat </a:t>
            </a:r>
          </a:p>
          <a:p>
            <a:r>
              <a:t>a. Intact, high-arched palate </a:t>
            </a:r>
          </a:p>
          <a:p>
            <a:r>
              <a:t>b. Uvula in midline </a:t>
            </a:r>
          </a:p>
          <a:p>
            <a:r>
              <a:t>c. Frenulum of tongue </a:t>
            </a:r>
          </a:p>
          <a:p>
            <a:r>
              <a:t>d. Frenulum of upper lip </a:t>
            </a:r>
          </a:p>
          <a:p>
            <a:r>
              <a:t>e. Sucking reflex—Strong and coordinated </a:t>
            </a:r>
          </a:p>
          <a:p>
            <a:r>
              <a:t>f. Rooting reflex </a:t>
            </a:r>
          </a:p>
          <a:p>
            <a:r>
              <a:t>g. Gag reflex </a:t>
            </a:r>
          </a:p>
          <a:p>
            <a:r>
              <a:t>h. Extrusion reflex </a:t>
            </a:r>
          </a:p>
          <a:p>
            <a:r>
              <a:t>i. Absent or minimal salivation </a:t>
            </a:r>
          </a:p>
          <a:p>
            <a:r>
              <a:t>j. Vigorous cry </a:t>
            </a:r>
          </a:p>
          <a:p>
            <a:r>
              <a:t>10. Neck </a:t>
            </a:r>
          </a:p>
          <a:p>
            <a:r>
              <a:t>a. Short, thick, usually surrounded by skin folds </a:t>
            </a:r>
          </a:p>
          <a:p>
            <a:r>
              <a:t>b. Tonic neck reflex </a:t>
            </a:r>
          </a:p>
          <a:p>
            <a:r>
              <a:t>11. Chest </a:t>
            </a:r>
          </a:p>
          <a:p>
            <a:r>
              <a:t>a. Anteroposterior and lateral diameters equal </a:t>
            </a:r>
          </a:p>
          <a:p>
            <a:r>
              <a:t>b. Slight sternal retractions evident during inspiration </a:t>
            </a:r>
          </a:p>
          <a:p>
            <a:r>
              <a:t>c. Xiphoid process evident </a:t>
            </a:r>
          </a:p>
          <a:p>
            <a:r>
              <a:t>d. Breast enlargement </a:t>
            </a:r>
          </a:p>
          <a:p>
            <a:r>
              <a:t>12. Back and rectum </a:t>
            </a:r>
          </a:p>
          <a:p>
            <a:r>
              <a:t>a. Spine intact; no openings, masses, or prominent curves </a:t>
            </a:r>
          </a:p>
          <a:p>
            <a:r>
              <a:t>b. Trunk incurvation reflex </a:t>
            </a:r>
          </a:p>
          <a:p>
            <a:r>
              <a:t>c. Anal reflex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28 </a:t>
            </a:r>
          </a:p>
          <a:p>
            <a:r>
              <a:t>d. Patent anal opening </a:t>
            </a:r>
          </a:p>
          <a:p>
            <a:r>
              <a:t>e. Passage of meconium within 48 hours </a:t>
            </a:r>
          </a:p>
          <a:p>
            <a:r>
              <a:t>13. Extremities </a:t>
            </a:r>
          </a:p>
          <a:p>
            <a:r>
              <a:t>a. Ten fingers and ten toes </a:t>
            </a:r>
          </a:p>
          <a:p>
            <a:r>
              <a:t>b. Full range of motion </a:t>
            </a:r>
          </a:p>
          <a:p>
            <a:r>
              <a:t>c. Nail beds pink, with transient cyanosis immediately after birth </a:t>
            </a:r>
          </a:p>
          <a:p>
            <a:r>
              <a:t>d. Creases on anterior two thirds of sole </a:t>
            </a:r>
          </a:p>
          <a:p>
            <a:r>
              <a:t>e. Sole usually flat </a:t>
            </a:r>
          </a:p>
          <a:p>
            <a:r>
              <a:t>f. Symmetry of extremities </a:t>
            </a:r>
          </a:p>
          <a:p>
            <a:r>
              <a:t>g. Equal muscle tone bilaterally, especially resistance to opposing flexion </a:t>
            </a:r>
          </a:p>
          <a:p>
            <a:r>
              <a:t>h. Equal bilateral brachial and femoral pulses </a:t>
            </a:r>
          </a:p>
          <a:p>
            <a:r>
              <a:t>14. Neuromuscular system </a:t>
            </a:r>
          </a:p>
          <a:p>
            <a:r>
              <a:t>a. Extremities usually maintain some degree of flexion. </a:t>
            </a:r>
          </a:p>
          <a:p>
            <a:r>
              <a:t>b. Extension of an extremity followed by previous position of flexion </a:t>
            </a:r>
          </a:p>
          <a:p>
            <a:r>
              <a:t>c. Head lag while sitting, but momentary ability to hold head erect </a:t>
            </a:r>
          </a:p>
          <a:p>
            <a:r>
              <a:t>d. Able to turn head from side to side when prone </a:t>
            </a:r>
          </a:p>
          <a:p>
            <a:r>
              <a:t>e. Able to hold head in horizontal line with back when held prone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Examination                                                                29 </a:t>
            </a:r>
          </a:p>
          <a:p>
            <a:r>
              <a:t>Equipment of physical assessment </a:t>
            </a:r>
          </a:p>
          <a:p>
            <a:r>
              <a:t> </a:t>
            </a:r>
          </a:p>
          <a:p>
            <a:r>
              <a:t>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References  </a:t>
            </a:r>
          </a:p>
          <a:p>
            <a:r>
              <a:t>Chiocca, E. M. (2015). Advanced Pediatric Assessment (second edi). Springer </a:t>
            </a:r>
          </a:p>
          <a:p>
            <a:r>
              <a:t>Publishing Company, LLC.(p.p 159-161) </a:t>
            </a:r>
          </a:p>
          <a:p>
            <a:r>
              <a:t>Hockenberry, M. J., &amp; Wilson, D. (2009). Clinical companion for Wong’s essentials </a:t>
            </a:r>
          </a:p>
          <a:p>
            <a:r>
              <a:t>of pediatric nursing (8th ed). Mosby, Inc., an affiliate of Elsevier Inc.(p.p 8-12) </a:t>
            </a:r>
          </a:p>
          <a:p>
            <a:r>
              <a:t>Lippincott, W. (2012). Pediatric Facts made Incredibly Quick! TM. Lippincott </a:t>
            </a:r>
          </a:p>
          <a:p>
            <a:r>
              <a:t>Williams &amp; Wilkins.(p.p 34-35)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Anthropometric Measurement                                                  30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Anthropometric measurements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Objectives  </a:t>
            </a:r>
          </a:p>
          <a:p>
            <a:r>
              <a:t>1- Defining the term of anthropometric measurements.   </a:t>
            </a:r>
          </a:p>
          <a:p>
            <a:r>
              <a:t>2- Identify measures to assess child growth and development status, </a:t>
            </a:r>
          </a:p>
          <a:p>
            <a:r>
              <a:t>included weight, height, head circumference, chest circumference. </a:t>
            </a:r>
          </a:p>
          <a:p>
            <a:r>
              <a:t>3- Determine the measured process of anthropometric measurements </a:t>
            </a:r>
          </a:p>
          <a:p>
            <a:r>
              <a:t>in children according to the child age. </a:t>
            </a:r>
          </a:p>
          <a:p>
            <a:r>
              <a:t>4- Assess the progression of weight and height, head and chest </a:t>
            </a:r>
          </a:p>
          <a:p>
            <a:r>
              <a:t>circumference, body max index. </a:t>
            </a:r>
          </a:p>
          <a:p>
            <a:r>
              <a:t> </a:t>
            </a:r>
          </a:p>
          <a:p>
            <a:r>
              <a:t>                     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Anthropometric Measurement                                                  31 </a:t>
            </a:r>
          </a:p>
          <a:p>
            <a:r>
              <a:t> Anthropometric measurements </a:t>
            </a:r>
          </a:p>
          <a:p>
            <a:r>
              <a:t>Anthropometry: an essential parameter of nutritional status, is </a:t>
            </a:r>
          </a:p>
          <a:p>
            <a:r>
              <a:t>the measurement of height or length, weight, head circumference, </a:t>
            </a:r>
          </a:p>
          <a:p>
            <a:r>
              <a:t>chest circumference proportions, skinfold thickness, and arm </a:t>
            </a:r>
          </a:p>
          <a:p>
            <a:r>
              <a:t>circumference in young children. Height and head circumference </a:t>
            </a:r>
          </a:p>
          <a:p>
            <a:r>
              <a:t>reflect past nutrition, whereas weight, skinfold thickness, and arm </a:t>
            </a:r>
          </a:p>
          <a:p>
            <a:r>
              <a:t>circumference reflect present nutritional status, especially of protein </a:t>
            </a:r>
          </a:p>
          <a:p>
            <a:r>
              <a:t>and fat reserves. </a:t>
            </a:r>
          </a:p>
          <a:p>
            <a:r>
              <a:t>Weight measured:  </a:t>
            </a:r>
          </a:p>
          <a:p>
            <a:r>
              <a:t>1- </a:t>
            </a:r>
          </a:p>
          <a:p>
            <a:r>
              <a:t>At birth, weight  2700 to 4000 kg  (6–9 pounds).  </a:t>
            </a:r>
          </a:p>
          <a:p>
            <a:r>
              <a:t>2- </a:t>
            </a:r>
          </a:p>
          <a:p>
            <a:r>
              <a:t>First, balance the scale. </a:t>
            </a:r>
          </a:p>
          <a:p>
            <a:r>
              <a:t>3- </a:t>
            </a:r>
          </a:p>
          <a:p>
            <a:r>
              <a:t>Remove the infant’s diaper and clothing. </a:t>
            </a:r>
          </a:p>
          <a:p>
            <a:r>
              <a:t>4- </a:t>
            </a:r>
          </a:p>
          <a:p>
            <a:r>
              <a:t>Depending on age, put the child is either supine or sitting. </a:t>
            </a:r>
          </a:p>
          <a:p>
            <a:r>
              <a:t>5- </a:t>
            </a:r>
          </a:p>
          <a:p>
            <a:r>
              <a:t>Protect the infant from an accidental fall by placing a hand over the </a:t>
            </a:r>
          </a:p>
          <a:p>
            <a:r>
              <a:t>infant without direct contact. </a:t>
            </a:r>
          </a:p>
          <a:p>
            <a:r>
              <a:t>6- </a:t>
            </a:r>
          </a:p>
          <a:p>
            <a:r>
              <a:t>At birth, weight is more variable than height and is, to a greater </a:t>
            </a:r>
          </a:p>
          <a:p>
            <a:r>
              <a:t>extent, a reflection of the intrauterine environment. </a:t>
            </a:r>
          </a:p>
          <a:p>
            <a:r>
              <a:t>7- </a:t>
            </a:r>
          </a:p>
          <a:p>
            <a:r>
              <a:t>Normally, neonates lose about 10% of their birth weight by 3 to 4 </a:t>
            </a:r>
          </a:p>
          <a:p>
            <a:r>
              <a:t>days of age because of loss of extracellular fluid and meconium, as </a:t>
            </a:r>
          </a:p>
          <a:p>
            <a:r>
              <a:t>well as limited food intake, especially in breastfed infants. </a:t>
            </a:r>
          </a:p>
          <a:p>
            <a:r>
              <a:t>8- </a:t>
            </a:r>
          </a:p>
          <a:p>
            <a:r>
              <a:t>In general, the birth weight doubles by 4 to 7 months of age, triples </a:t>
            </a:r>
          </a:p>
          <a:p>
            <a:r>
              <a:t>by the end of the first year. Quadruples by the age of 2 to 2.5 years. </a:t>
            </a:r>
          </a:p>
          <a:p>
            <a:r>
              <a:t>Weight progression (1-12 month) </a:t>
            </a:r>
          </a:p>
          <a:p>
            <a:r>
              <a:t>First 4 month = 750 gm / month </a:t>
            </a:r>
          </a:p>
          <a:p>
            <a:r>
              <a:t>2nd 4 months = 500 gm  /month </a:t>
            </a:r>
          </a:p>
          <a:p>
            <a:r>
              <a:t>3rd 4 months = 250 gm/month </a:t>
            </a:r>
          </a:p>
          <a:p>
            <a:r>
              <a:t>Progression in year: Weight (kg/years) = (age + 4) ×2. </a:t>
            </a:r>
          </a:p>
          <a:p>
            <a:r>
              <a:t>Thus an average 2-year-old will weigh: (2 + 4) ×2 = 12kg.  </a:t>
            </a:r>
          </a:p>
          <a:p>
            <a:r>
              <a:t>Height or Length </a:t>
            </a:r>
          </a:p>
          <a:p>
            <a:r>
              <a:t>1- </a:t>
            </a:r>
          </a:p>
          <a:p>
            <a:r>
              <a:t>The term length refers to measurements taken when children are </a:t>
            </a:r>
          </a:p>
          <a:p>
            <a:r>
              <a:t>supine  </a:t>
            </a:r>
          </a:p>
          <a:p>
            <a:r>
              <a:t>2- </a:t>
            </a:r>
          </a:p>
          <a:p>
            <a:r>
              <a:t>Length in infants are measured by lying in supine position on tray or </a:t>
            </a:r>
          </a:p>
          <a:p>
            <a:r>
              <a:t>board.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Anthropometric Measurement                                                  31 </a:t>
            </a:r>
          </a:p>
          <a:p>
            <a:r>
              <a:t> Anthropometric measurements </a:t>
            </a:r>
          </a:p>
          <a:p>
            <a:r>
              <a:t>Anthropometry: an essential parameter of nutritional status, is </a:t>
            </a:r>
          </a:p>
          <a:p>
            <a:r>
              <a:t>the measurement of height or length, weight, head circumference, </a:t>
            </a:r>
          </a:p>
          <a:p>
            <a:r>
              <a:t>chest circumference proportions, skinfold thickness, and arm </a:t>
            </a:r>
          </a:p>
          <a:p>
            <a:r>
              <a:t>circumference in young children. Height and head circumference </a:t>
            </a:r>
          </a:p>
          <a:p>
            <a:r>
              <a:t>reflect past nutrition, whereas weight, skinfold thickness, and arm </a:t>
            </a:r>
          </a:p>
          <a:p>
            <a:r>
              <a:t>circumference reflect present nutritional status, especially of protein </a:t>
            </a:r>
          </a:p>
          <a:p>
            <a:r>
              <a:t>and fat reserves. </a:t>
            </a:r>
          </a:p>
          <a:p>
            <a:r>
              <a:t>Weight measured:  </a:t>
            </a:r>
          </a:p>
          <a:p>
            <a:r>
              <a:t>1- </a:t>
            </a:r>
          </a:p>
          <a:p>
            <a:r>
              <a:t>At birth, weight  2700 to 4000 kg  (6–9 pounds).  </a:t>
            </a:r>
          </a:p>
          <a:p>
            <a:r>
              <a:t>2- </a:t>
            </a:r>
          </a:p>
          <a:p>
            <a:r>
              <a:t>First, balance the scale. </a:t>
            </a:r>
          </a:p>
          <a:p>
            <a:r>
              <a:t>3- </a:t>
            </a:r>
          </a:p>
          <a:p>
            <a:r>
              <a:t>Remove the infant’s diaper and clothing. </a:t>
            </a:r>
          </a:p>
          <a:p>
            <a:r>
              <a:t>4- </a:t>
            </a:r>
          </a:p>
          <a:p>
            <a:r>
              <a:t>Depending on age, put the child is either supine or sitting. </a:t>
            </a:r>
          </a:p>
          <a:p>
            <a:r>
              <a:t>5- </a:t>
            </a:r>
          </a:p>
          <a:p>
            <a:r>
              <a:t>Protect the infant from an accidental fall by placing a hand over the </a:t>
            </a:r>
          </a:p>
          <a:p>
            <a:r>
              <a:t>infant without direct contact. </a:t>
            </a:r>
          </a:p>
          <a:p>
            <a:r>
              <a:t>6- </a:t>
            </a:r>
          </a:p>
          <a:p>
            <a:r>
              <a:t>At birth, weight is more variable than height and is, to a greater </a:t>
            </a:r>
          </a:p>
          <a:p>
            <a:r>
              <a:t>extent, a reflection of the intrauterine environment. </a:t>
            </a:r>
          </a:p>
          <a:p>
            <a:r>
              <a:t>7- </a:t>
            </a:r>
          </a:p>
          <a:p>
            <a:r>
              <a:t>Normally, neonates lose about 10% of their birth weight by 3 to 4 </a:t>
            </a:r>
          </a:p>
          <a:p>
            <a:r>
              <a:t>days of age because of loss of extracellular fluid and meconium, as </a:t>
            </a:r>
          </a:p>
          <a:p>
            <a:r>
              <a:t>well as limited food intake, especially in breastfed infants. </a:t>
            </a:r>
          </a:p>
          <a:p>
            <a:r>
              <a:t>8- </a:t>
            </a:r>
          </a:p>
          <a:p>
            <a:r>
              <a:t>In general, the birth weight doubles by 4 to 7 months of age, triples </a:t>
            </a:r>
          </a:p>
          <a:p>
            <a:r>
              <a:t>by the end of the first year. Quadruples by the age of 2 to 2.5 years. </a:t>
            </a:r>
          </a:p>
          <a:p>
            <a:r>
              <a:t>Weight progression (1-12 month) </a:t>
            </a:r>
          </a:p>
          <a:p>
            <a:r>
              <a:t>First 4 month = 750 gm / month </a:t>
            </a:r>
          </a:p>
          <a:p>
            <a:r>
              <a:t>2nd 4 months = 500 gm  /month </a:t>
            </a:r>
          </a:p>
          <a:p>
            <a:r>
              <a:t>3rd 4 months = 250 gm/month </a:t>
            </a:r>
          </a:p>
          <a:p>
            <a:r>
              <a:t>Progression in year: Weight (kg/years) = (age + 4) ×2. </a:t>
            </a:r>
          </a:p>
          <a:p>
            <a:r>
              <a:t>Thus an average 2-year-old will weigh: (2 + 4) ×2 = 12kg.  </a:t>
            </a:r>
          </a:p>
          <a:p>
            <a:r>
              <a:t>Height or Length </a:t>
            </a:r>
          </a:p>
          <a:p>
            <a:r>
              <a:t>1- </a:t>
            </a:r>
          </a:p>
          <a:p>
            <a:r>
              <a:t>The term length refers to measurements taken when children are </a:t>
            </a:r>
          </a:p>
          <a:p>
            <a:r>
              <a:t>supine  </a:t>
            </a:r>
          </a:p>
          <a:p>
            <a:r>
              <a:t>2- </a:t>
            </a:r>
          </a:p>
          <a:p>
            <a:r>
              <a:t>Length in infants are measured by lying in supine position on tray or </a:t>
            </a:r>
          </a:p>
          <a:p>
            <a:r>
              <a:t>board.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Anthropometric Measurement                                                  31 </a:t>
            </a:r>
          </a:p>
          <a:p>
            <a:r>
              <a:t> Anthropometric measurements </a:t>
            </a:r>
          </a:p>
          <a:p>
            <a:r>
              <a:t>Anthropometry: an essential parameter of nutritional status, is </a:t>
            </a:r>
          </a:p>
          <a:p>
            <a:r>
              <a:t>the measurement of height or length, weight, head circumference, </a:t>
            </a:r>
          </a:p>
          <a:p>
            <a:r>
              <a:t>chest circumference proportions, skinfold thickness, and arm </a:t>
            </a:r>
          </a:p>
          <a:p>
            <a:r>
              <a:t>circumference in young children. Height and head circumference </a:t>
            </a:r>
          </a:p>
          <a:p>
            <a:r>
              <a:t>reflect past nutrition, whereas weight, skinfold thickness, and arm </a:t>
            </a:r>
          </a:p>
          <a:p>
            <a:r>
              <a:t>circumference reflect present nutritional status, especially of protein </a:t>
            </a:r>
          </a:p>
          <a:p>
            <a:r>
              <a:t>and fat reserves. </a:t>
            </a:r>
          </a:p>
          <a:p>
            <a:r>
              <a:t>Weight measured:  </a:t>
            </a:r>
          </a:p>
          <a:p>
            <a:r>
              <a:t>1- </a:t>
            </a:r>
          </a:p>
          <a:p>
            <a:r>
              <a:t>At birth, weight  2700 to 4000 kg  (6–9 pounds).  </a:t>
            </a:r>
          </a:p>
          <a:p>
            <a:r>
              <a:t>2- </a:t>
            </a:r>
          </a:p>
          <a:p>
            <a:r>
              <a:t>First, balance the scale. </a:t>
            </a:r>
          </a:p>
          <a:p>
            <a:r>
              <a:t>3- </a:t>
            </a:r>
          </a:p>
          <a:p>
            <a:r>
              <a:t>Remove the infant’s diaper and clothing. </a:t>
            </a:r>
          </a:p>
          <a:p>
            <a:r>
              <a:t>4- </a:t>
            </a:r>
          </a:p>
          <a:p>
            <a:r>
              <a:t>Depending on age, put the child is either supine or sitting. </a:t>
            </a:r>
          </a:p>
          <a:p>
            <a:r>
              <a:t>5- </a:t>
            </a:r>
          </a:p>
          <a:p>
            <a:r>
              <a:t>Protect the infant from an accidental fall by placing a hand over the </a:t>
            </a:r>
          </a:p>
          <a:p>
            <a:r>
              <a:t>infant without direct contact. </a:t>
            </a:r>
          </a:p>
          <a:p>
            <a:r>
              <a:t>6- </a:t>
            </a:r>
          </a:p>
          <a:p>
            <a:r>
              <a:t>At birth, weight is more variable than height and is, to a greater </a:t>
            </a:r>
          </a:p>
          <a:p>
            <a:r>
              <a:t>extent, a reflection of the intrauterine environment. </a:t>
            </a:r>
          </a:p>
          <a:p>
            <a:r>
              <a:t>7- </a:t>
            </a:r>
          </a:p>
          <a:p>
            <a:r>
              <a:t>Normally, neonates lose about 10% of their birth weight by 3 to 4 </a:t>
            </a:r>
          </a:p>
          <a:p>
            <a:r>
              <a:t>days of age because of loss of extracellular fluid and meconium, as </a:t>
            </a:r>
          </a:p>
          <a:p>
            <a:r>
              <a:t>well as limited food intake, especially in breastfed infants. </a:t>
            </a:r>
          </a:p>
          <a:p>
            <a:r>
              <a:t>8- </a:t>
            </a:r>
          </a:p>
          <a:p>
            <a:r>
              <a:t>In general, the birth weight doubles by 4 to 7 months of age, triples </a:t>
            </a:r>
          </a:p>
          <a:p>
            <a:r>
              <a:t>by the end of the first year. Quadruples by the age of 2 to 2.5 years. </a:t>
            </a:r>
          </a:p>
          <a:p>
            <a:r>
              <a:t>Weight progression (1-12 month) </a:t>
            </a:r>
          </a:p>
          <a:p>
            <a:r>
              <a:t>First 4 month = 750 gm / month </a:t>
            </a:r>
          </a:p>
          <a:p>
            <a:r>
              <a:t>2nd 4 months = 500 gm  /month </a:t>
            </a:r>
          </a:p>
          <a:p>
            <a:r>
              <a:t>3rd 4 months = 250 gm/month </a:t>
            </a:r>
          </a:p>
          <a:p>
            <a:r>
              <a:t>Progression in year: Weight (kg/years) = (age + 4) ×2. </a:t>
            </a:r>
          </a:p>
          <a:p>
            <a:r>
              <a:t>Thus an average 2-year-old will weigh: (2 + 4) ×2 = 12kg.  </a:t>
            </a:r>
          </a:p>
          <a:p>
            <a:r>
              <a:t>Height or Length </a:t>
            </a:r>
          </a:p>
          <a:p>
            <a:r>
              <a:t>1- </a:t>
            </a:r>
          </a:p>
          <a:p>
            <a:r>
              <a:t>The term length refers to measurements taken when children are </a:t>
            </a:r>
          </a:p>
          <a:p>
            <a:r>
              <a:t>supine  </a:t>
            </a:r>
          </a:p>
          <a:p>
            <a:r>
              <a:t>2- </a:t>
            </a:r>
          </a:p>
          <a:p>
            <a:r>
              <a:t>Length in infants are measured by lying in supine position on tray or </a:t>
            </a:r>
          </a:p>
          <a:p>
            <a:r>
              <a:t>board.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Anthropometric Measurement                                                  32 </a:t>
            </a:r>
          </a:p>
          <a:p>
            <a:r>
              <a:t>3- </a:t>
            </a:r>
          </a:p>
          <a:p>
            <a:r>
              <a:t>Hold the infant’s head in midline and extend the hips and knees flat </a:t>
            </a:r>
          </a:p>
          <a:p>
            <a:r>
              <a:t>on a paper-covered table, then  Points are marked at the top of the </a:t>
            </a:r>
          </a:p>
          <a:p>
            <a:r>
              <a:t>head and the heels of the feet </a:t>
            </a:r>
          </a:p>
          <a:p>
            <a:r>
              <a:t>4- </a:t>
            </a:r>
          </a:p>
          <a:p>
            <a:r>
              <a:t>The term height (or stature) refers to the measurement taken when a </a:t>
            </a:r>
          </a:p>
          <a:p>
            <a:r>
              <a:t>child is standing upright. </a:t>
            </a:r>
          </a:p>
          <a:p>
            <a:r>
              <a:t>Height: </a:t>
            </a:r>
          </a:p>
          <a:p>
            <a:r>
              <a:t>Birth – 6 months: Monthly gain—2.5 cm (1 inch) </a:t>
            </a:r>
          </a:p>
          <a:p>
            <a:r>
              <a:t>6-12 month: Monthly gain—1. 5 cm (0.5 inch)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A. Measuring a newborn’s length                   B. Weighing the newborn </a:t>
            </a:r>
          </a:p>
          <a:p>
            <a:r>
              <a:t>  </a:t>
            </a:r>
          </a:p>
          <a:p>
            <a:r>
              <a:t> </a:t>
            </a:r>
          </a:p>
          <a:p>
            <a:r>
              <a:t>         C. Measuring a child height.      D. Measurements (A. length, B. height)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Anthropometric Measurement                                                  32 </a:t>
            </a:r>
          </a:p>
          <a:p>
            <a:r>
              <a:t>3- </a:t>
            </a:r>
          </a:p>
          <a:p>
            <a:r>
              <a:t>Hold the infant’s head in midline and extend the hips and knees flat </a:t>
            </a:r>
          </a:p>
          <a:p>
            <a:r>
              <a:t>on a paper-covered table, then  Points are marked at the top of the </a:t>
            </a:r>
          </a:p>
          <a:p>
            <a:r>
              <a:t>head and the heels of the feet </a:t>
            </a:r>
          </a:p>
          <a:p>
            <a:r>
              <a:t>4- </a:t>
            </a:r>
          </a:p>
          <a:p>
            <a:r>
              <a:t>The term height (or stature) refers to the measurement taken when a </a:t>
            </a:r>
          </a:p>
          <a:p>
            <a:r>
              <a:t>child is standing upright. </a:t>
            </a:r>
          </a:p>
          <a:p>
            <a:r>
              <a:t>Height: </a:t>
            </a:r>
          </a:p>
          <a:p>
            <a:r>
              <a:t>Birth – 6 months: Monthly gain—2.5 cm (1 inch) </a:t>
            </a:r>
          </a:p>
          <a:p>
            <a:r>
              <a:t>6-12 month: Monthly gain—1. 5 cm (0.5 inch)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A. Measuring a newborn’s length                   B. Weighing the newborn </a:t>
            </a:r>
          </a:p>
          <a:p>
            <a:r>
              <a:t>  </a:t>
            </a:r>
          </a:p>
          <a:p>
            <a:r>
              <a:t> </a:t>
            </a:r>
          </a:p>
          <a:p>
            <a:r>
              <a:t>         C. Measuring a child height.      D. Measurements (A. length, B. height)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Anthropometric Measurement                                                  32 </a:t>
            </a:r>
          </a:p>
          <a:p>
            <a:r>
              <a:t>3- </a:t>
            </a:r>
          </a:p>
          <a:p>
            <a:r>
              <a:t>Hold the infant’s head in midline and extend the hips and knees flat </a:t>
            </a:r>
          </a:p>
          <a:p>
            <a:r>
              <a:t>on a paper-covered table, then  Points are marked at the top of the </a:t>
            </a:r>
          </a:p>
          <a:p>
            <a:r>
              <a:t>head and the heels of the feet </a:t>
            </a:r>
          </a:p>
          <a:p>
            <a:r>
              <a:t>4- </a:t>
            </a:r>
          </a:p>
          <a:p>
            <a:r>
              <a:t>The term height (or stature) refers to the measurement taken when a </a:t>
            </a:r>
          </a:p>
          <a:p>
            <a:r>
              <a:t>child is standing upright. </a:t>
            </a:r>
          </a:p>
          <a:p>
            <a:r>
              <a:t>Height: </a:t>
            </a:r>
          </a:p>
          <a:p>
            <a:r>
              <a:t>Birth – 6 months: Monthly gain—2.5 cm (1 inch) </a:t>
            </a:r>
          </a:p>
          <a:p>
            <a:r>
              <a:t>6-12 month: Monthly gain—1. 5 cm (0.5 inch)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A. Measuring a newborn’s length                   B. Weighing the newborn </a:t>
            </a:r>
          </a:p>
          <a:p>
            <a:r>
              <a:t>  </a:t>
            </a:r>
          </a:p>
          <a:p>
            <a:r>
              <a:t> </a:t>
            </a:r>
          </a:p>
          <a:p>
            <a:r>
              <a:t>         C. Measuring a child height.      D. Measurements (A. length, B. height)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Anthropometric Measurement                                                  33 </a:t>
            </a:r>
          </a:p>
          <a:p>
            <a:r>
              <a:t>Head circumference: </a:t>
            </a:r>
          </a:p>
          <a:p>
            <a:r>
              <a:t>1- Head circumference is a critical indicator of brain growth in infants </a:t>
            </a:r>
          </a:p>
          <a:p>
            <a:r>
              <a:t>and toddlers.  </a:t>
            </a:r>
          </a:p>
          <a:p>
            <a:r>
              <a:t>2- Full-term infants, average head circumference is between 33 and </a:t>
            </a:r>
          </a:p>
          <a:p>
            <a:r>
              <a:t>35.5 cm (13 and 14 inches). </a:t>
            </a:r>
          </a:p>
          <a:p>
            <a:r>
              <a:t>3- Measure head circumference in children up to 36 months of age </a:t>
            </a:r>
          </a:p>
          <a:p>
            <a:r>
              <a:t>4- The rate of increase in head circumference slows somewhat by the </a:t>
            </a:r>
          </a:p>
          <a:p>
            <a:r>
              <a:t>end of infancy, and head circumference is usually equal to chest </a:t>
            </a:r>
          </a:p>
          <a:p>
            <a:r>
              <a:t>circumference by 1 to 2 years of age. </a:t>
            </a:r>
          </a:p>
          <a:p>
            <a:r>
              <a:t>5- The usual total increase in head circumference during the second year </a:t>
            </a:r>
          </a:p>
          <a:p>
            <a:r>
              <a:t>is 2.5 cm (1 inch). Then the rate of increase slows until at age 5 years, </a:t>
            </a:r>
          </a:p>
          <a:p>
            <a:r>
              <a:t>the increase is less than 1.25 cm (0.5 inch) per year. </a:t>
            </a:r>
          </a:p>
          <a:p>
            <a:r>
              <a:t>6- The head’s largest circumference is measured by placing the tape over </a:t>
            </a:r>
          </a:p>
          <a:p>
            <a:r>
              <a:t>the lower forehead, above the pinna of the ears, and over the occipital </a:t>
            </a:r>
          </a:p>
          <a:p>
            <a:r>
              <a:t>prominence.  </a:t>
            </a:r>
          </a:p>
          <a:p>
            <a:r>
              <a:t>7- Head circumference is usually about 2 to 3 cm (≈1 inch) greater than </a:t>
            </a:r>
          </a:p>
          <a:p>
            <a:r>
              <a:t>chest circumference.  </a:t>
            </a:r>
          </a:p>
          <a:p>
            <a:r>
              <a:t>8- Because of the molding of the head during delivery, these </a:t>
            </a:r>
          </a:p>
          <a:p>
            <a:r>
              <a:t>measurements may initially appear equal. However, if the head is </a:t>
            </a:r>
          </a:p>
          <a:p>
            <a:r>
              <a:t>significantly smaller than the chest, microcephaly or premature </a:t>
            </a:r>
          </a:p>
          <a:p>
            <a:r>
              <a:t>closure of the sutures (craniosynostosis) is a possibility. The head is </a:t>
            </a:r>
          </a:p>
          <a:p>
            <a:r>
              <a:t>more than 4 cm (1.6 inches) larger than the chest and this remains </a:t>
            </a:r>
          </a:p>
          <a:p>
            <a:r>
              <a:t>constant or increases over several days, then hydrocephalus must be </a:t>
            </a:r>
          </a:p>
          <a:p>
            <a:r>
              <a:t>considered. </a:t>
            </a:r>
          </a:p>
          <a:p>
            <a:r>
              <a:t>9- During the first 6 months, head circumference increases </a:t>
            </a:r>
          </a:p>
          <a:p>
            <a:r>
              <a:t>approximately 1.5 cm (0.6 inch) per month, but the rate of growth </a:t>
            </a:r>
          </a:p>
          <a:p>
            <a:r>
              <a:t>declines to only 0.5 cm (0.2 inch) monthly during the second 6 </a:t>
            </a:r>
          </a:p>
          <a:p>
            <a:r>
              <a:t>months. </a:t>
            </a:r>
          </a:p>
          <a:p>
            <a:r>
              <a:t>10- Closure of the cranial sutures occurs, with the posterior </a:t>
            </a:r>
          </a:p>
          <a:p>
            <a:r>
              <a:t>fontanel fusing by 6 to 8 weeks of age and the anterior fontanel </a:t>
            </a:r>
          </a:p>
          <a:p>
            <a:r>
              <a:t>closing by 12 to 18 months of age (average, 14 months).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Anthropometric Measurement                                                  33 </a:t>
            </a:r>
          </a:p>
          <a:p>
            <a:r>
              <a:t>Head circumference: </a:t>
            </a:r>
          </a:p>
          <a:p>
            <a:r>
              <a:t>1- Head circumference is a critical indicator of brain growth in infants </a:t>
            </a:r>
          </a:p>
          <a:p>
            <a:r>
              <a:t>and toddlers.  </a:t>
            </a:r>
          </a:p>
          <a:p>
            <a:r>
              <a:t>2- Full-term infants, average head circumference is between 33 and </a:t>
            </a:r>
          </a:p>
          <a:p>
            <a:r>
              <a:t>35.5 cm (13 and 14 inches). </a:t>
            </a:r>
          </a:p>
          <a:p>
            <a:r>
              <a:t>3- Measure head circumference in children up to 36 months of age </a:t>
            </a:r>
          </a:p>
          <a:p>
            <a:r>
              <a:t>4- The rate of increase in head circumference slows somewhat by the </a:t>
            </a:r>
          </a:p>
          <a:p>
            <a:r>
              <a:t>end of infancy, and head circumference is usually equal to chest </a:t>
            </a:r>
          </a:p>
          <a:p>
            <a:r>
              <a:t>circumference by 1 to 2 years of age. </a:t>
            </a:r>
          </a:p>
          <a:p>
            <a:r>
              <a:t>5- The usual total increase in head circumference during the second year </a:t>
            </a:r>
          </a:p>
          <a:p>
            <a:r>
              <a:t>is 2.5 cm (1 inch). Then the rate of increase slows until at age 5 years, </a:t>
            </a:r>
          </a:p>
          <a:p>
            <a:r>
              <a:t>the increase is less than 1.25 cm (0.5 inch) per year. </a:t>
            </a:r>
          </a:p>
          <a:p>
            <a:r>
              <a:t>6- The head’s largest circumference is measured by placing the tape over </a:t>
            </a:r>
          </a:p>
          <a:p>
            <a:r>
              <a:t>the lower forehead, above the pinna of the ears, and over the occipital </a:t>
            </a:r>
          </a:p>
          <a:p>
            <a:r>
              <a:t>prominence.  </a:t>
            </a:r>
          </a:p>
          <a:p>
            <a:r>
              <a:t>7- Head circumference is usually about 2 to 3 cm (≈1 inch) greater than </a:t>
            </a:r>
          </a:p>
          <a:p>
            <a:r>
              <a:t>chest circumference.  </a:t>
            </a:r>
          </a:p>
          <a:p>
            <a:r>
              <a:t>8- Because of the molding of the head during delivery, these </a:t>
            </a:r>
          </a:p>
          <a:p>
            <a:r>
              <a:t>measurements may initially appear equal. However, if the head is </a:t>
            </a:r>
          </a:p>
          <a:p>
            <a:r>
              <a:t>significantly smaller than the chest, microcephaly or premature </a:t>
            </a:r>
          </a:p>
          <a:p>
            <a:r>
              <a:t>closure of the sutures (craniosynostosis) is a possibility. The head is </a:t>
            </a:r>
          </a:p>
          <a:p>
            <a:r>
              <a:t>more than 4 cm (1.6 inches) larger than the chest and this remains </a:t>
            </a:r>
          </a:p>
          <a:p>
            <a:r>
              <a:t>constant or increases over several days, then hydrocephalus must be </a:t>
            </a:r>
          </a:p>
          <a:p>
            <a:r>
              <a:t>considered. </a:t>
            </a:r>
          </a:p>
          <a:p>
            <a:r>
              <a:t>9- During the first 6 months, head circumference increases </a:t>
            </a:r>
          </a:p>
          <a:p>
            <a:r>
              <a:t>approximately 1.5 cm (0.6 inch) per month, but the rate of growth </a:t>
            </a:r>
          </a:p>
          <a:p>
            <a:r>
              <a:t>declines to only 0.5 cm (0.2 inch) monthly during the second 6 </a:t>
            </a:r>
          </a:p>
          <a:p>
            <a:r>
              <a:t>months. </a:t>
            </a:r>
          </a:p>
          <a:p>
            <a:r>
              <a:t>10- Closure of the cranial sutures occurs, with the posterior </a:t>
            </a:r>
          </a:p>
          <a:p>
            <a:r>
              <a:t>fontanel fusing by 6 to 8 weeks of age and the anterior fontanel </a:t>
            </a:r>
          </a:p>
          <a:p>
            <a:r>
              <a:t>closing by 12 to 18 months of age (average, 14 months).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Anthropometric Measurement                                                  34 </a:t>
            </a:r>
          </a:p>
          <a:p>
            <a:r>
              <a:t>  </a:t>
            </a:r>
          </a:p>
          <a:p>
            <a:r>
              <a:t>*H.C (Birth – 6 months): Monthly gain—1.5 cm  </a:t>
            </a:r>
          </a:p>
          <a:p>
            <a:r>
              <a:t>*H.C (6-12 month): Monthly gain—0. 25 cm  </a:t>
            </a:r>
          </a:p>
          <a:p>
            <a:r>
              <a:t>Chest circumference: </a:t>
            </a:r>
          </a:p>
          <a:p>
            <a:r>
              <a:t>1- At birth, the chest circumference is about 30 to 33 cm or 12 to 13 </a:t>
            </a:r>
          </a:p>
          <a:p>
            <a:r>
              <a:t>inches. During year 2, the chest circumference continues to increase </a:t>
            </a:r>
          </a:p>
          <a:p>
            <a:r>
              <a:t>and eventually exceeds head circumference. the chest circumference </a:t>
            </a:r>
          </a:p>
          <a:p>
            <a:r>
              <a:t>exceeds the abdominal measurement after the second year, in addition </a:t>
            </a:r>
          </a:p>
          <a:p>
            <a:r>
              <a:t>to the growth of the lower extremities, makes the child appear taller </a:t>
            </a:r>
          </a:p>
          <a:p>
            <a:r>
              <a:t>and leaner. </a:t>
            </a:r>
          </a:p>
          <a:p>
            <a:r>
              <a:t>2- Chest circumference continues to increase in size and exceeds head </a:t>
            </a:r>
          </a:p>
          <a:p>
            <a:r>
              <a:t>circumference during the toddler years. </a:t>
            </a:r>
          </a:p>
          <a:p>
            <a:r>
              <a:t>3- The chest’s shape also changes as the transverse, or lateral, diameter </a:t>
            </a:r>
          </a:p>
          <a:p>
            <a:r>
              <a:t>exceeds the anteroposterior diameter.  </a:t>
            </a:r>
          </a:p>
          <a:p>
            <a:r>
              <a:t>4- Toddlers retain a squat, “potbellied” appearance because of their less </a:t>
            </a:r>
          </a:p>
          <a:p>
            <a:r>
              <a:t>developed abdominal musculature and short legs. </a:t>
            </a:r>
          </a:p>
          <a:p>
            <a:r>
              <a:t>5- The rate of physical growth slows and stabilizes during the preschool </a:t>
            </a:r>
          </a:p>
          <a:p>
            <a:r>
              <a:t>years. </a:t>
            </a:r>
          </a:p>
          <a:p>
            <a:r>
              <a:t>6- Continues to increase in size and exceeds head circumference during </a:t>
            </a:r>
          </a:p>
          <a:p>
            <a:r>
              <a:t>the toddler years.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Anthropometric Measurement                                                  34 </a:t>
            </a:r>
          </a:p>
          <a:p>
            <a:r>
              <a:t>  </a:t>
            </a:r>
          </a:p>
          <a:p>
            <a:r>
              <a:t>*H.C (Birth – 6 months): Monthly gain—1.5 cm  </a:t>
            </a:r>
          </a:p>
          <a:p>
            <a:r>
              <a:t>*H.C (6-12 month): Monthly gain—0. 25 cm  </a:t>
            </a:r>
          </a:p>
          <a:p>
            <a:r>
              <a:t>Chest circumference: </a:t>
            </a:r>
          </a:p>
          <a:p>
            <a:r>
              <a:t>1- At birth, the chest circumference is about 30 to 33 cm or 12 to 13 </a:t>
            </a:r>
          </a:p>
          <a:p>
            <a:r>
              <a:t>inches. During year 2, the chest circumference continues to increase </a:t>
            </a:r>
          </a:p>
          <a:p>
            <a:r>
              <a:t>and eventually exceeds head circumference. the chest circumference </a:t>
            </a:r>
          </a:p>
          <a:p>
            <a:r>
              <a:t>exceeds the abdominal measurement after the second year, in addition </a:t>
            </a:r>
          </a:p>
          <a:p>
            <a:r>
              <a:t>to the growth of the lower extremities, makes the child appear taller </a:t>
            </a:r>
          </a:p>
          <a:p>
            <a:r>
              <a:t>and leaner. </a:t>
            </a:r>
          </a:p>
          <a:p>
            <a:r>
              <a:t>2- Chest circumference continues to increase in size and exceeds head </a:t>
            </a:r>
          </a:p>
          <a:p>
            <a:r>
              <a:t>circumference during the toddler years. </a:t>
            </a:r>
          </a:p>
          <a:p>
            <a:r>
              <a:t>3- The chest’s shape also changes as the transverse, or lateral, diameter </a:t>
            </a:r>
          </a:p>
          <a:p>
            <a:r>
              <a:t>exceeds the anteroposterior diameter.  </a:t>
            </a:r>
          </a:p>
          <a:p>
            <a:r>
              <a:t>4- Toddlers retain a squat, “potbellied” appearance because of their less </a:t>
            </a:r>
          </a:p>
          <a:p>
            <a:r>
              <a:t>developed abdominal musculature and short legs. </a:t>
            </a:r>
          </a:p>
          <a:p>
            <a:r>
              <a:t>5- The rate of physical growth slows and stabilizes during the preschool </a:t>
            </a:r>
          </a:p>
          <a:p>
            <a:r>
              <a:t>years. </a:t>
            </a:r>
          </a:p>
          <a:p>
            <a:r>
              <a:t>6- Continues to increase in size and exceeds head circumference during </a:t>
            </a:r>
          </a:p>
          <a:p>
            <a:r>
              <a:t>the toddler years.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Anthropometric Measurement                                                  34 </a:t>
            </a:r>
          </a:p>
          <a:p>
            <a:r>
              <a:t>  </a:t>
            </a:r>
          </a:p>
          <a:p>
            <a:r>
              <a:t>*H.C (Birth – 6 months): Monthly gain—1.5 cm  </a:t>
            </a:r>
          </a:p>
          <a:p>
            <a:r>
              <a:t>*H.C (6-12 month): Monthly gain—0. 25 cm  </a:t>
            </a:r>
          </a:p>
          <a:p>
            <a:r>
              <a:t>Chest circumference: </a:t>
            </a:r>
          </a:p>
          <a:p>
            <a:r>
              <a:t>1- At birth, the chest circumference is about 30 to 33 cm or 12 to 13 </a:t>
            </a:r>
          </a:p>
          <a:p>
            <a:r>
              <a:t>inches. During year 2, the chest circumference continues to increase </a:t>
            </a:r>
          </a:p>
          <a:p>
            <a:r>
              <a:t>and eventually exceeds head circumference. the chest circumference </a:t>
            </a:r>
          </a:p>
          <a:p>
            <a:r>
              <a:t>exceeds the abdominal measurement after the second year, in addition </a:t>
            </a:r>
          </a:p>
          <a:p>
            <a:r>
              <a:t>to the growth of the lower extremities, makes the child appear taller </a:t>
            </a:r>
          </a:p>
          <a:p>
            <a:r>
              <a:t>and leaner. </a:t>
            </a:r>
          </a:p>
          <a:p>
            <a:r>
              <a:t>2- Chest circumference continues to increase in size and exceeds head </a:t>
            </a:r>
          </a:p>
          <a:p>
            <a:r>
              <a:t>circumference during the toddler years. </a:t>
            </a:r>
          </a:p>
          <a:p>
            <a:r>
              <a:t>3- The chest’s shape also changes as the transverse, or lateral, diameter </a:t>
            </a:r>
          </a:p>
          <a:p>
            <a:r>
              <a:t>exceeds the anteroposterior diameter.  </a:t>
            </a:r>
          </a:p>
          <a:p>
            <a:r>
              <a:t>4- Toddlers retain a squat, “potbellied” appearance because of their less </a:t>
            </a:r>
          </a:p>
          <a:p>
            <a:r>
              <a:t>developed abdominal musculature and short legs. </a:t>
            </a:r>
          </a:p>
          <a:p>
            <a:r>
              <a:t>5- The rate of physical growth slows and stabilizes during the preschool </a:t>
            </a:r>
          </a:p>
          <a:p>
            <a:r>
              <a:t>years. </a:t>
            </a:r>
          </a:p>
          <a:p>
            <a:r>
              <a:t>6- Continues to increase in size and exceeds head circumference during </a:t>
            </a:r>
          </a:p>
          <a:p>
            <a:r>
              <a:t>the toddler years.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Anthropometric Measurement                                                  35 </a:t>
            </a:r>
          </a:p>
          <a:p>
            <a:r>
              <a:t>(Measurement of head, chest, abdominal circumference)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Body Mass Index </a:t>
            </a:r>
          </a:p>
          <a:p>
            <a:r>
              <a:t>1- BMI is also a part of assessing growth and can be tracked over time. </a:t>
            </a:r>
          </a:p>
          <a:p>
            <a:r>
              <a:t>2- BMI is the number calculated from the child’s weight and height that </a:t>
            </a:r>
          </a:p>
          <a:p>
            <a:r>
              <a:t>correlates to the percentage of body fat. The higher the child’s BMI, </a:t>
            </a:r>
          </a:p>
          <a:p>
            <a:r>
              <a:t>the higher the percentage of body fat.  </a:t>
            </a:r>
          </a:p>
          <a:p>
            <a:r>
              <a:t>3- (BMI [weight in kilograms divided by height in meters squared]) </a:t>
            </a:r>
          </a:p>
          <a:p>
            <a:r>
              <a:t> </a:t>
            </a:r>
          </a:p>
          <a:p>
            <a:r>
              <a:t>Parameters: </a:t>
            </a:r>
          </a:p>
          <a:p>
            <a:r>
              <a:t>• Underweight: BMI of less than 18.5 </a:t>
            </a:r>
          </a:p>
          <a:p>
            <a:r>
              <a:t>• Normal weight: BMI of 18.5 to 24.9 </a:t>
            </a:r>
          </a:p>
          <a:p>
            <a:r>
              <a:t>• Overweight: BMI of 25 to 29.9 </a:t>
            </a:r>
          </a:p>
          <a:p>
            <a:r>
              <a:t>• Obesity: BMI of 30 or greater </a:t>
            </a:r>
          </a:p>
          <a:p>
            <a:r>
              <a:t>BODY MASS INDEX FORMULA  </a:t>
            </a:r>
          </a:p>
          <a:p>
            <a:r>
              <a:t>BMI= Weight in kilograms÷ (Height in meters)2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Anthropometric Measurement                                                  35 </a:t>
            </a:r>
          </a:p>
          <a:p>
            <a:r>
              <a:t>(Measurement of head, chest, abdominal circumference)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Body Mass Index </a:t>
            </a:r>
          </a:p>
          <a:p>
            <a:r>
              <a:t>1- BMI is also a part of assessing growth and can be tracked over time. </a:t>
            </a:r>
          </a:p>
          <a:p>
            <a:r>
              <a:t>2- BMI is the number calculated from the child’s weight and height that </a:t>
            </a:r>
          </a:p>
          <a:p>
            <a:r>
              <a:t>correlates to the percentage of body fat. The higher the child’s BMI, </a:t>
            </a:r>
          </a:p>
          <a:p>
            <a:r>
              <a:t>the higher the percentage of body fat.  </a:t>
            </a:r>
          </a:p>
          <a:p>
            <a:r>
              <a:t>3- (BMI [weight in kilograms divided by height in meters squared]) </a:t>
            </a:r>
          </a:p>
          <a:p>
            <a:r>
              <a:t> </a:t>
            </a:r>
          </a:p>
          <a:p>
            <a:r>
              <a:t>Parameters: </a:t>
            </a:r>
          </a:p>
          <a:p>
            <a:r>
              <a:t>• Underweight: BMI of less than 18.5 </a:t>
            </a:r>
          </a:p>
          <a:p>
            <a:r>
              <a:t>• Normal weight: BMI of 18.5 to 24.9 </a:t>
            </a:r>
          </a:p>
          <a:p>
            <a:r>
              <a:t>• Overweight: BMI of 25 to 29.9 </a:t>
            </a:r>
          </a:p>
          <a:p>
            <a:r>
              <a:t>• Obesity: BMI of 30 or greater </a:t>
            </a:r>
          </a:p>
          <a:p>
            <a:r>
              <a:t>BODY MASS INDEX FORMULA  </a:t>
            </a:r>
          </a:p>
          <a:p>
            <a:r>
              <a:t>BMI= Weight in kilograms÷ (Height in meters)2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36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Physiologic measurements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Objectives  </a:t>
            </a:r>
          </a:p>
          <a:p>
            <a:r>
              <a:t>1- Defining the terms of physiologic measurements.   </a:t>
            </a:r>
          </a:p>
          <a:p>
            <a:r>
              <a:t>2- Identify key elements in evaluating the physical status of vital </a:t>
            </a:r>
          </a:p>
          <a:p>
            <a:r>
              <a:t>functions, include temperature, pulse, Respiration, and BP. </a:t>
            </a:r>
          </a:p>
          <a:p>
            <a:r>
              <a:t>3- Demonstrate the temperature and pulse measurement sits for </a:t>
            </a:r>
          </a:p>
          <a:p>
            <a:r>
              <a:t>infants and children.  </a:t>
            </a:r>
          </a:p>
          <a:p>
            <a:r>
              <a:t>4- Recorded the type of thermometer. </a:t>
            </a:r>
          </a:p>
          <a:p>
            <a:r>
              <a:t>5- Discuss the process of measuring the temperature, pulse, </a:t>
            </a:r>
          </a:p>
          <a:p>
            <a:r>
              <a:t>respiration, blood pressure in children according to the child age. </a:t>
            </a:r>
          </a:p>
          <a:p>
            <a:r>
              <a:t>   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37 </a:t>
            </a:r>
          </a:p>
          <a:p>
            <a:r>
              <a:t>PHYSIOLOGIC MEASUREMENTS </a:t>
            </a:r>
          </a:p>
          <a:p>
            <a:r>
              <a:t>Physiologic measurements: Its key elements in evaluating physical </a:t>
            </a:r>
          </a:p>
          <a:p>
            <a:r>
              <a:t>status of vital functions, include temperature, pulse, Respiration, </a:t>
            </a:r>
          </a:p>
          <a:p>
            <a:r>
              <a:t>and BP. </a:t>
            </a:r>
          </a:p>
          <a:p>
            <a:r>
              <a:t>Temperature </a:t>
            </a:r>
          </a:p>
          <a:p>
            <a:r>
              <a:t> The core temperature most closely reflects the temperature of the </a:t>
            </a:r>
          </a:p>
          <a:p>
            <a:r>
              <a:t>blood flow through the carotid arteries to the hypothalamus. </a:t>
            </a:r>
          </a:p>
          <a:p>
            <a:r>
              <a:t> When a child’s temperature is altered, receptors in the skin, spinal </a:t>
            </a:r>
          </a:p>
          <a:p>
            <a:r>
              <a:t>cord, and brain respond in an attempt to achieve normothermia, a </a:t>
            </a:r>
          </a:p>
          <a:p>
            <a:r>
              <a:t>normal temperature state. </a:t>
            </a:r>
          </a:p>
          <a:p>
            <a:r>
              <a:t> For neonates, a core body temperature between 36.5° and 37.6° C </a:t>
            </a:r>
          </a:p>
          <a:p>
            <a:r>
              <a:t>(97.7° and 99.7° F). </a:t>
            </a:r>
          </a:p>
          <a:p>
            <a:r>
              <a:t> One of the most important influences on the accuracy of temperature </a:t>
            </a:r>
          </a:p>
          <a:p>
            <a:r>
              <a:t>is improper temperature-taking technique. </a:t>
            </a:r>
          </a:p>
          <a:p>
            <a:r>
              <a:t> Because children generally dislike rectal temperature measurement, </a:t>
            </a:r>
          </a:p>
          <a:p>
            <a:r>
              <a:t>tympanic thermometers may be used for infants who are more than </a:t>
            </a:r>
          </a:p>
          <a:p>
            <a:r>
              <a:t>3 months old, and oral thermometers may be used for children more </a:t>
            </a:r>
          </a:p>
          <a:p>
            <a:r>
              <a:t>than 4 to 5 years old. </a:t>
            </a:r>
          </a:p>
          <a:p>
            <a:r>
              <a:t> The axial route is preferred, but if a rectal temperature is required, </a:t>
            </a:r>
          </a:p>
          <a:p>
            <a:r>
              <a:t>carefully insert a well-lubricated thermometer no further than 1/2 to </a:t>
            </a:r>
          </a:p>
          <a:p>
            <a:r>
              <a:t>1 inch to avoid rectal perforation. </a:t>
            </a:r>
          </a:p>
          <a:p>
            <a:r>
              <a:t> Fahrenheit to Centigrade Temperature Conversion Formulas </a:t>
            </a:r>
          </a:p>
          <a:p>
            <a:r>
              <a:t>°F = (°C × 9/5) + 32, or (°C × 1.8) + 32 </a:t>
            </a:r>
          </a:p>
          <a:p>
            <a:r>
              <a:t>°C = (°F - 32) × 5/9, or (°F - 32) × 0.55 </a:t>
            </a:r>
          </a:p>
          <a:p>
            <a:r>
              <a:t> </a:t>
            </a:r>
          </a:p>
          <a:p>
            <a:r>
              <a:t>Temperature measurement locations for infants and children:   </a:t>
            </a:r>
          </a:p>
          <a:p>
            <a:r>
              <a:t>Included: oral, rectal, axillary, ear canal, tympanic membrane, </a:t>
            </a:r>
          </a:p>
          <a:p>
            <a:r>
              <a:t>temporal artery, or skin route. </a:t>
            </a:r>
          </a:p>
          <a:p>
            <a:r>
              <a:t>Oral site: </a:t>
            </a:r>
          </a:p>
          <a:p>
            <a:r>
              <a:t> Place tip under tongue in right or left posterior sublingual pocket, not </a:t>
            </a:r>
          </a:p>
          <a:p>
            <a:r>
              <a:t>in front of tongue. Have child keep mouth closed without biting on </a:t>
            </a:r>
          </a:p>
          <a:p>
            <a:r>
              <a:t>thermometer. </a:t>
            </a:r>
          </a:p>
          <a:p>
            <a:r>
              <a:t> Pacifier thermometers measure intraoral or supralingual temperature </a:t>
            </a:r>
          </a:p>
          <a:p>
            <a:r>
              <a:t>and are available but lack support in the literature. </a:t>
            </a:r>
          </a:p>
          <a:p>
            <a:r>
              <a:t>  Several factors affect mouth temperature: eating and mastication, hot </a:t>
            </a:r>
          </a:p>
          <a:p>
            <a:r>
              <a:t>or cold beverages, open-mouth breathing, ambient temperature.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37 </a:t>
            </a:r>
          </a:p>
          <a:p>
            <a:r>
              <a:t>PHYSIOLOGIC MEASUREMENTS </a:t>
            </a:r>
          </a:p>
          <a:p>
            <a:r>
              <a:t>Physiologic measurements: Its key elements in evaluating physical </a:t>
            </a:r>
          </a:p>
          <a:p>
            <a:r>
              <a:t>status of vital functions, include temperature, pulse, Respiration, </a:t>
            </a:r>
          </a:p>
          <a:p>
            <a:r>
              <a:t>and BP. </a:t>
            </a:r>
          </a:p>
          <a:p>
            <a:r>
              <a:t>Temperature </a:t>
            </a:r>
          </a:p>
          <a:p>
            <a:r>
              <a:t> The core temperature most closely reflects the temperature of the </a:t>
            </a:r>
          </a:p>
          <a:p>
            <a:r>
              <a:t>blood flow through the carotid arteries to the hypothalamus. </a:t>
            </a:r>
          </a:p>
          <a:p>
            <a:r>
              <a:t> When a child’s temperature is altered, receptors in the skin, spinal </a:t>
            </a:r>
          </a:p>
          <a:p>
            <a:r>
              <a:t>cord, and brain respond in an attempt to achieve normothermia, a </a:t>
            </a:r>
          </a:p>
          <a:p>
            <a:r>
              <a:t>normal temperature state. </a:t>
            </a:r>
          </a:p>
          <a:p>
            <a:r>
              <a:t> For neonates, a core body temperature between 36.5° and 37.6° C </a:t>
            </a:r>
          </a:p>
          <a:p>
            <a:r>
              <a:t>(97.7° and 99.7° F). </a:t>
            </a:r>
          </a:p>
          <a:p>
            <a:r>
              <a:t> One of the most important influences on the accuracy of temperature </a:t>
            </a:r>
          </a:p>
          <a:p>
            <a:r>
              <a:t>is improper temperature-taking technique. </a:t>
            </a:r>
          </a:p>
          <a:p>
            <a:r>
              <a:t> Because children generally dislike rectal temperature measurement, </a:t>
            </a:r>
          </a:p>
          <a:p>
            <a:r>
              <a:t>tympanic thermometers may be used for infants who are more than </a:t>
            </a:r>
          </a:p>
          <a:p>
            <a:r>
              <a:t>3 months old, and oral thermometers may be used for children more </a:t>
            </a:r>
          </a:p>
          <a:p>
            <a:r>
              <a:t>than 4 to 5 years old. </a:t>
            </a:r>
          </a:p>
          <a:p>
            <a:r>
              <a:t> The axial route is preferred, but if a rectal temperature is required, </a:t>
            </a:r>
          </a:p>
          <a:p>
            <a:r>
              <a:t>carefully insert a well-lubricated thermometer no further than 1/2 to </a:t>
            </a:r>
          </a:p>
          <a:p>
            <a:r>
              <a:t>1 inch to avoid rectal perforation. </a:t>
            </a:r>
          </a:p>
          <a:p>
            <a:r>
              <a:t> Fahrenheit to Centigrade Temperature Conversion Formulas </a:t>
            </a:r>
          </a:p>
          <a:p>
            <a:r>
              <a:t>°F = (°C × 9/5) + 32, or (°C × 1.8) + 32 </a:t>
            </a:r>
          </a:p>
          <a:p>
            <a:r>
              <a:t>°C = (°F - 32) × 5/9, or (°F - 32) × 0.55 </a:t>
            </a:r>
          </a:p>
          <a:p>
            <a:r>
              <a:t> </a:t>
            </a:r>
          </a:p>
          <a:p>
            <a:r>
              <a:t>Temperature measurement locations for infants and children:   </a:t>
            </a:r>
          </a:p>
          <a:p>
            <a:r>
              <a:t>Included: oral, rectal, axillary, ear canal, tympanic membrane, </a:t>
            </a:r>
          </a:p>
          <a:p>
            <a:r>
              <a:t>temporal artery, or skin route. </a:t>
            </a:r>
          </a:p>
          <a:p>
            <a:r>
              <a:t>Oral site: </a:t>
            </a:r>
          </a:p>
          <a:p>
            <a:r>
              <a:t> Place tip under tongue in right or left posterior sublingual pocket, not </a:t>
            </a:r>
          </a:p>
          <a:p>
            <a:r>
              <a:t>in front of tongue. Have child keep mouth closed without biting on </a:t>
            </a:r>
          </a:p>
          <a:p>
            <a:r>
              <a:t>thermometer. </a:t>
            </a:r>
          </a:p>
          <a:p>
            <a:r>
              <a:t> Pacifier thermometers measure intraoral or supralingual temperature </a:t>
            </a:r>
          </a:p>
          <a:p>
            <a:r>
              <a:t>and are available but lack support in the literature. </a:t>
            </a:r>
          </a:p>
          <a:p>
            <a:r>
              <a:t>  Several factors affect mouth temperature: eating and mastication, hot </a:t>
            </a:r>
          </a:p>
          <a:p>
            <a:r>
              <a:t>or cold beverages, open-mouth breathing, ambient temperature.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37 </a:t>
            </a:r>
          </a:p>
          <a:p>
            <a:r>
              <a:t>PHYSIOLOGIC MEASUREMENTS </a:t>
            </a:r>
          </a:p>
          <a:p>
            <a:r>
              <a:t>Physiologic measurements: Its key elements in evaluating physical </a:t>
            </a:r>
          </a:p>
          <a:p>
            <a:r>
              <a:t>status of vital functions, include temperature, pulse, Respiration, </a:t>
            </a:r>
          </a:p>
          <a:p>
            <a:r>
              <a:t>and BP. </a:t>
            </a:r>
          </a:p>
          <a:p>
            <a:r>
              <a:t>Temperature </a:t>
            </a:r>
          </a:p>
          <a:p>
            <a:r>
              <a:t> The core temperature most closely reflects the temperature of the </a:t>
            </a:r>
          </a:p>
          <a:p>
            <a:r>
              <a:t>blood flow through the carotid arteries to the hypothalamus. </a:t>
            </a:r>
          </a:p>
          <a:p>
            <a:r>
              <a:t> When a child’s temperature is altered, receptors in the skin, spinal </a:t>
            </a:r>
          </a:p>
          <a:p>
            <a:r>
              <a:t>cord, and brain respond in an attempt to achieve normothermia, a </a:t>
            </a:r>
          </a:p>
          <a:p>
            <a:r>
              <a:t>normal temperature state. </a:t>
            </a:r>
          </a:p>
          <a:p>
            <a:r>
              <a:t> For neonates, a core body temperature between 36.5° and 37.6° C </a:t>
            </a:r>
          </a:p>
          <a:p>
            <a:r>
              <a:t>(97.7° and 99.7° F). </a:t>
            </a:r>
          </a:p>
          <a:p>
            <a:r>
              <a:t> One of the most important influences on the accuracy of temperature </a:t>
            </a:r>
          </a:p>
          <a:p>
            <a:r>
              <a:t>is improper temperature-taking technique. </a:t>
            </a:r>
          </a:p>
          <a:p>
            <a:r>
              <a:t> Because children generally dislike rectal temperature measurement, </a:t>
            </a:r>
          </a:p>
          <a:p>
            <a:r>
              <a:t>tympanic thermometers may be used for infants who are more than </a:t>
            </a:r>
          </a:p>
          <a:p>
            <a:r>
              <a:t>3 months old, and oral thermometers may be used for children more </a:t>
            </a:r>
          </a:p>
          <a:p>
            <a:r>
              <a:t>than 4 to 5 years old. </a:t>
            </a:r>
          </a:p>
          <a:p>
            <a:r>
              <a:t> The axial route is preferred, but if a rectal temperature is required, </a:t>
            </a:r>
          </a:p>
          <a:p>
            <a:r>
              <a:t>carefully insert a well-lubricated thermometer no further than 1/2 to </a:t>
            </a:r>
          </a:p>
          <a:p>
            <a:r>
              <a:t>1 inch to avoid rectal perforation. </a:t>
            </a:r>
          </a:p>
          <a:p>
            <a:r>
              <a:t> Fahrenheit to Centigrade Temperature Conversion Formulas </a:t>
            </a:r>
          </a:p>
          <a:p>
            <a:r>
              <a:t>°F = (°C × 9/5) + 32, or (°C × 1.8) + 32 </a:t>
            </a:r>
          </a:p>
          <a:p>
            <a:r>
              <a:t>°C = (°F - 32) × 5/9, or (°F - 32) × 0.55 </a:t>
            </a:r>
          </a:p>
          <a:p>
            <a:r>
              <a:t> </a:t>
            </a:r>
          </a:p>
          <a:p>
            <a:r>
              <a:t>Temperature measurement locations for infants and children:   </a:t>
            </a:r>
          </a:p>
          <a:p>
            <a:r>
              <a:t>Included: oral, rectal, axillary, ear canal, tympanic membrane, </a:t>
            </a:r>
          </a:p>
          <a:p>
            <a:r>
              <a:t>temporal artery, or skin route. </a:t>
            </a:r>
          </a:p>
          <a:p>
            <a:r>
              <a:t>Oral site: </a:t>
            </a:r>
          </a:p>
          <a:p>
            <a:r>
              <a:t> Place tip under tongue in right or left posterior sublingual pocket, not </a:t>
            </a:r>
          </a:p>
          <a:p>
            <a:r>
              <a:t>in front of tongue. Have child keep mouth closed without biting on </a:t>
            </a:r>
          </a:p>
          <a:p>
            <a:r>
              <a:t>thermometer. </a:t>
            </a:r>
          </a:p>
          <a:p>
            <a:r>
              <a:t> Pacifier thermometers measure intraoral or supralingual temperature </a:t>
            </a:r>
          </a:p>
          <a:p>
            <a:r>
              <a:t>and are available but lack support in the literature. </a:t>
            </a:r>
          </a:p>
          <a:p>
            <a:r>
              <a:t>  Several factors affect mouth temperature: eating and mastication, hot </a:t>
            </a:r>
          </a:p>
          <a:p>
            <a:r>
              <a:t>or cold beverages, open-mouth breathing, ambient temperature.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38 </a:t>
            </a:r>
          </a:p>
          <a:p>
            <a:r>
              <a:t>Axillary site </a:t>
            </a:r>
          </a:p>
          <a:p>
            <a:r>
              <a:t> Place tip under arm in center of axilla and keep close to skin, not </a:t>
            </a:r>
          </a:p>
          <a:p>
            <a:r>
              <a:t>clothing. Hold child’s arm firmly against side. </a:t>
            </a:r>
          </a:p>
          <a:p>
            <a:r>
              <a:t> Temperature may be affected by poor peripheral perfusion (results in </a:t>
            </a:r>
          </a:p>
          <a:p>
            <a:r>
              <a:t>lower value), clothing or swaddling, use of radiant warmer, or amount </a:t>
            </a:r>
          </a:p>
          <a:p>
            <a:r>
              <a:t>of brown fat in cold-stressed neonate (results in higher value). </a:t>
            </a:r>
          </a:p>
          <a:p>
            <a:r>
              <a:t> Advantage—Avoids intrusive procedure and eliminates risk of rectal </a:t>
            </a:r>
          </a:p>
          <a:p>
            <a:r>
              <a:t>perforation. </a:t>
            </a:r>
          </a:p>
          <a:p>
            <a:r>
              <a:t> </a:t>
            </a:r>
          </a:p>
          <a:p>
            <a:r>
              <a:t>A. Axillary site                     B. Oral site </a:t>
            </a:r>
          </a:p>
          <a:p>
            <a:r>
              <a:t> </a:t>
            </a:r>
          </a:p>
          <a:p>
            <a:r>
              <a:t>Ear Based (Aural) site </a:t>
            </a:r>
          </a:p>
          <a:p>
            <a:r>
              <a:t> Insert small infrared probe deeply into canal to allow sensor to obtain </a:t>
            </a:r>
          </a:p>
          <a:p>
            <a:r>
              <a:t>measurement. Size of probe (most are 8 mm) may influence accuracy </a:t>
            </a:r>
          </a:p>
          <a:p>
            <a:r>
              <a:t>of result. In young children, this may be a problem because of small </a:t>
            </a:r>
          </a:p>
          <a:p>
            <a:r>
              <a:t>diameter of canal. Proper placement of ear is controversial related to </a:t>
            </a:r>
          </a:p>
          <a:p>
            <a:r>
              <a:t>whether the pinna should be pulled in manner similar to that used </a:t>
            </a:r>
          </a:p>
          <a:p>
            <a:r>
              <a:t>during otoscopy. </a:t>
            </a:r>
          </a:p>
          <a:p>
            <a:r>
              <a:t>Rectal site  </a:t>
            </a:r>
          </a:p>
          <a:p>
            <a:r>
              <a:t> Place well-lubricated tip at maximum 2.5 cm (1 inch) into rectum for </a:t>
            </a:r>
          </a:p>
          <a:p>
            <a:r>
              <a:t>children and 1.5 cm (0.6 inch) for infants; securely hold thermometer </a:t>
            </a:r>
          </a:p>
          <a:p>
            <a:r>
              <a:t>close to anus. </a:t>
            </a:r>
          </a:p>
          <a:p>
            <a:r>
              <a:t> Child may be placed in side-lying, supine, or prone position (i.e., </a:t>
            </a:r>
          </a:p>
          <a:p>
            <a:r>
              <a:t>supine with knees flexed toward abdomen); cover penis because </a:t>
            </a:r>
          </a:p>
          <a:p>
            <a:r>
              <a:t>procedure may stimulate urination. A small child may be placed prone </a:t>
            </a:r>
          </a:p>
          <a:p>
            <a:r>
              <a:t>across parent’s lap. </a:t>
            </a:r>
          </a:p>
          <a:p>
            <a:r>
              <a:t>Temporal Artery site  </a:t>
            </a:r>
          </a:p>
          <a:p>
            <a:r>
              <a:t> An infrared sensor probe scans across forehead, capturing heat from </a:t>
            </a:r>
          </a:p>
          <a:p>
            <a:r>
              <a:t>arterial blood flow.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38 </a:t>
            </a:r>
          </a:p>
          <a:p>
            <a:r>
              <a:t>Axillary site </a:t>
            </a:r>
          </a:p>
          <a:p>
            <a:r>
              <a:t> Place tip under arm in center of axilla and keep close to skin, not </a:t>
            </a:r>
          </a:p>
          <a:p>
            <a:r>
              <a:t>clothing. Hold child’s arm firmly against side. </a:t>
            </a:r>
          </a:p>
          <a:p>
            <a:r>
              <a:t> Temperature may be affected by poor peripheral perfusion (results in </a:t>
            </a:r>
          </a:p>
          <a:p>
            <a:r>
              <a:t>lower value), clothing or swaddling, use of radiant warmer, or amount </a:t>
            </a:r>
          </a:p>
          <a:p>
            <a:r>
              <a:t>of brown fat in cold-stressed neonate (results in higher value). </a:t>
            </a:r>
          </a:p>
          <a:p>
            <a:r>
              <a:t> Advantage—Avoids intrusive procedure and eliminates risk of rectal </a:t>
            </a:r>
          </a:p>
          <a:p>
            <a:r>
              <a:t>perforation. </a:t>
            </a:r>
          </a:p>
          <a:p>
            <a:r>
              <a:t> </a:t>
            </a:r>
          </a:p>
          <a:p>
            <a:r>
              <a:t>A. Axillary site                     B. Oral site </a:t>
            </a:r>
          </a:p>
          <a:p>
            <a:r>
              <a:t> </a:t>
            </a:r>
          </a:p>
          <a:p>
            <a:r>
              <a:t>Ear Based (Aural) site </a:t>
            </a:r>
          </a:p>
          <a:p>
            <a:r>
              <a:t> Insert small infrared probe deeply into canal to allow sensor to obtain </a:t>
            </a:r>
          </a:p>
          <a:p>
            <a:r>
              <a:t>measurement. Size of probe (most are 8 mm) may influence accuracy </a:t>
            </a:r>
          </a:p>
          <a:p>
            <a:r>
              <a:t>of result. In young children, this may be a problem because of small </a:t>
            </a:r>
          </a:p>
          <a:p>
            <a:r>
              <a:t>diameter of canal. Proper placement of ear is controversial related to </a:t>
            </a:r>
          </a:p>
          <a:p>
            <a:r>
              <a:t>whether the pinna should be pulled in manner similar to that used </a:t>
            </a:r>
          </a:p>
          <a:p>
            <a:r>
              <a:t>during otoscopy. </a:t>
            </a:r>
          </a:p>
          <a:p>
            <a:r>
              <a:t>Rectal site  </a:t>
            </a:r>
          </a:p>
          <a:p>
            <a:r>
              <a:t> Place well-lubricated tip at maximum 2.5 cm (1 inch) into rectum for </a:t>
            </a:r>
          </a:p>
          <a:p>
            <a:r>
              <a:t>children and 1.5 cm (0.6 inch) for infants; securely hold thermometer </a:t>
            </a:r>
          </a:p>
          <a:p>
            <a:r>
              <a:t>close to anus. </a:t>
            </a:r>
          </a:p>
          <a:p>
            <a:r>
              <a:t> Child may be placed in side-lying, supine, or prone position (i.e., </a:t>
            </a:r>
          </a:p>
          <a:p>
            <a:r>
              <a:t>supine with knees flexed toward abdomen); cover penis because </a:t>
            </a:r>
          </a:p>
          <a:p>
            <a:r>
              <a:t>procedure may stimulate urination. A small child may be placed prone </a:t>
            </a:r>
          </a:p>
          <a:p>
            <a:r>
              <a:t>across parent’s lap. </a:t>
            </a:r>
          </a:p>
          <a:p>
            <a:r>
              <a:t>Temporal Artery site  </a:t>
            </a:r>
          </a:p>
          <a:p>
            <a:r>
              <a:t> An infrared sensor probe scans across forehead, capturing heat from </a:t>
            </a:r>
          </a:p>
          <a:p>
            <a:r>
              <a:t>arterial blood flow.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38 </a:t>
            </a:r>
          </a:p>
          <a:p>
            <a:r>
              <a:t>Axillary site </a:t>
            </a:r>
          </a:p>
          <a:p>
            <a:r>
              <a:t> Place tip under arm in center of axilla and keep close to skin, not </a:t>
            </a:r>
          </a:p>
          <a:p>
            <a:r>
              <a:t>clothing. Hold child’s arm firmly against side. </a:t>
            </a:r>
          </a:p>
          <a:p>
            <a:r>
              <a:t> Temperature may be affected by poor peripheral perfusion (results in </a:t>
            </a:r>
          </a:p>
          <a:p>
            <a:r>
              <a:t>lower value), clothing or swaddling, use of radiant warmer, or amount </a:t>
            </a:r>
          </a:p>
          <a:p>
            <a:r>
              <a:t>of brown fat in cold-stressed neonate (results in higher value). </a:t>
            </a:r>
          </a:p>
          <a:p>
            <a:r>
              <a:t> Advantage—Avoids intrusive procedure and eliminates risk of rectal </a:t>
            </a:r>
          </a:p>
          <a:p>
            <a:r>
              <a:t>perforation. </a:t>
            </a:r>
          </a:p>
          <a:p>
            <a:r>
              <a:t> </a:t>
            </a:r>
          </a:p>
          <a:p>
            <a:r>
              <a:t>A. Axillary site                     B. Oral site </a:t>
            </a:r>
          </a:p>
          <a:p>
            <a:r>
              <a:t> </a:t>
            </a:r>
          </a:p>
          <a:p>
            <a:r>
              <a:t>Ear Based (Aural) site </a:t>
            </a:r>
          </a:p>
          <a:p>
            <a:r>
              <a:t> Insert small infrared probe deeply into canal to allow sensor to obtain </a:t>
            </a:r>
          </a:p>
          <a:p>
            <a:r>
              <a:t>measurement. Size of probe (most are 8 mm) may influence accuracy </a:t>
            </a:r>
          </a:p>
          <a:p>
            <a:r>
              <a:t>of result. In young children, this may be a problem because of small </a:t>
            </a:r>
          </a:p>
          <a:p>
            <a:r>
              <a:t>diameter of canal. Proper placement of ear is controversial related to </a:t>
            </a:r>
          </a:p>
          <a:p>
            <a:r>
              <a:t>whether the pinna should be pulled in manner similar to that used </a:t>
            </a:r>
          </a:p>
          <a:p>
            <a:r>
              <a:t>during otoscopy. </a:t>
            </a:r>
          </a:p>
          <a:p>
            <a:r>
              <a:t>Rectal site  </a:t>
            </a:r>
          </a:p>
          <a:p>
            <a:r>
              <a:t> Place well-lubricated tip at maximum 2.5 cm (1 inch) into rectum for </a:t>
            </a:r>
          </a:p>
          <a:p>
            <a:r>
              <a:t>children and 1.5 cm (0.6 inch) for infants; securely hold thermometer </a:t>
            </a:r>
          </a:p>
          <a:p>
            <a:r>
              <a:t>close to anus. </a:t>
            </a:r>
          </a:p>
          <a:p>
            <a:r>
              <a:t> Child may be placed in side-lying, supine, or prone position (i.e., </a:t>
            </a:r>
          </a:p>
          <a:p>
            <a:r>
              <a:t>supine with knees flexed toward abdomen); cover penis because </a:t>
            </a:r>
          </a:p>
          <a:p>
            <a:r>
              <a:t>procedure may stimulate urination. A small child may be placed prone </a:t>
            </a:r>
          </a:p>
          <a:p>
            <a:r>
              <a:t>across parent’s lap. </a:t>
            </a:r>
          </a:p>
          <a:p>
            <a:r>
              <a:t>Temporal Artery site  </a:t>
            </a:r>
          </a:p>
          <a:p>
            <a:r>
              <a:t> An infrared sensor probe scans across forehead, capturing heat from </a:t>
            </a:r>
          </a:p>
          <a:p>
            <a:r>
              <a:t>arterial blood flow.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38 </a:t>
            </a:r>
          </a:p>
          <a:p>
            <a:r>
              <a:t>Axillary site </a:t>
            </a:r>
          </a:p>
          <a:p>
            <a:r>
              <a:t> Place tip under arm in center of axilla and keep close to skin, not </a:t>
            </a:r>
          </a:p>
          <a:p>
            <a:r>
              <a:t>clothing. Hold child’s arm firmly against side. </a:t>
            </a:r>
          </a:p>
          <a:p>
            <a:r>
              <a:t> Temperature may be affected by poor peripheral perfusion (results in </a:t>
            </a:r>
          </a:p>
          <a:p>
            <a:r>
              <a:t>lower value), clothing or swaddling, use of radiant warmer, or amount </a:t>
            </a:r>
          </a:p>
          <a:p>
            <a:r>
              <a:t>of brown fat in cold-stressed neonate (results in higher value). </a:t>
            </a:r>
          </a:p>
          <a:p>
            <a:r>
              <a:t> Advantage—Avoids intrusive procedure and eliminates risk of rectal </a:t>
            </a:r>
          </a:p>
          <a:p>
            <a:r>
              <a:t>perforation. </a:t>
            </a:r>
          </a:p>
          <a:p>
            <a:r>
              <a:t> </a:t>
            </a:r>
          </a:p>
          <a:p>
            <a:r>
              <a:t>A. Axillary site                     B. Oral site </a:t>
            </a:r>
          </a:p>
          <a:p>
            <a:r>
              <a:t> </a:t>
            </a:r>
          </a:p>
          <a:p>
            <a:r>
              <a:t>Ear Based (Aural) site </a:t>
            </a:r>
          </a:p>
          <a:p>
            <a:r>
              <a:t> Insert small infrared probe deeply into canal to allow sensor to obtain </a:t>
            </a:r>
          </a:p>
          <a:p>
            <a:r>
              <a:t>measurement. Size of probe (most are 8 mm) may influence accuracy </a:t>
            </a:r>
          </a:p>
          <a:p>
            <a:r>
              <a:t>of result. In young children, this may be a problem because of small </a:t>
            </a:r>
          </a:p>
          <a:p>
            <a:r>
              <a:t>diameter of canal. Proper placement of ear is controversial related to </a:t>
            </a:r>
          </a:p>
          <a:p>
            <a:r>
              <a:t>whether the pinna should be pulled in manner similar to that used </a:t>
            </a:r>
          </a:p>
          <a:p>
            <a:r>
              <a:t>during otoscopy. </a:t>
            </a:r>
          </a:p>
          <a:p>
            <a:r>
              <a:t>Rectal site  </a:t>
            </a:r>
          </a:p>
          <a:p>
            <a:r>
              <a:t> Place well-lubricated tip at maximum 2.5 cm (1 inch) into rectum for </a:t>
            </a:r>
          </a:p>
          <a:p>
            <a:r>
              <a:t>children and 1.5 cm (0.6 inch) for infants; securely hold thermometer </a:t>
            </a:r>
          </a:p>
          <a:p>
            <a:r>
              <a:t>close to anus. </a:t>
            </a:r>
          </a:p>
          <a:p>
            <a:r>
              <a:t> Child may be placed in side-lying, supine, or prone position (i.e., </a:t>
            </a:r>
          </a:p>
          <a:p>
            <a:r>
              <a:t>supine with knees flexed toward abdomen); cover penis because </a:t>
            </a:r>
          </a:p>
          <a:p>
            <a:r>
              <a:t>procedure may stimulate urination. A small child may be placed prone </a:t>
            </a:r>
          </a:p>
          <a:p>
            <a:r>
              <a:t>across parent’s lap. </a:t>
            </a:r>
          </a:p>
          <a:p>
            <a:r>
              <a:t>Temporal Artery site  </a:t>
            </a:r>
          </a:p>
          <a:p>
            <a:r>
              <a:t> An infrared sensor probe scans across forehead, capturing heat from </a:t>
            </a:r>
          </a:p>
          <a:p>
            <a:r>
              <a:t>arterial blood flow.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38 </a:t>
            </a:r>
          </a:p>
          <a:p>
            <a:r>
              <a:t>Axillary site </a:t>
            </a:r>
          </a:p>
          <a:p>
            <a:r>
              <a:t> Place tip under arm in center of axilla and keep close to skin, not </a:t>
            </a:r>
          </a:p>
          <a:p>
            <a:r>
              <a:t>clothing. Hold child’s arm firmly against side. </a:t>
            </a:r>
          </a:p>
          <a:p>
            <a:r>
              <a:t> Temperature may be affected by poor peripheral perfusion (results in </a:t>
            </a:r>
          </a:p>
          <a:p>
            <a:r>
              <a:t>lower value), clothing or swaddling, use of radiant warmer, or amount </a:t>
            </a:r>
          </a:p>
          <a:p>
            <a:r>
              <a:t>of brown fat in cold-stressed neonate (results in higher value). </a:t>
            </a:r>
          </a:p>
          <a:p>
            <a:r>
              <a:t> Advantage—Avoids intrusive procedure and eliminates risk of rectal </a:t>
            </a:r>
          </a:p>
          <a:p>
            <a:r>
              <a:t>perforation. </a:t>
            </a:r>
          </a:p>
          <a:p>
            <a:r>
              <a:t> </a:t>
            </a:r>
          </a:p>
          <a:p>
            <a:r>
              <a:t>A. Axillary site                     B. Oral site </a:t>
            </a:r>
          </a:p>
          <a:p>
            <a:r>
              <a:t> </a:t>
            </a:r>
          </a:p>
          <a:p>
            <a:r>
              <a:t>Ear Based (Aural) site </a:t>
            </a:r>
          </a:p>
          <a:p>
            <a:r>
              <a:t> Insert small infrared probe deeply into canal to allow sensor to obtain </a:t>
            </a:r>
          </a:p>
          <a:p>
            <a:r>
              <a:t>measurement. Size of probe (most are 8 mm) may influence accuracy </a:t>
            </a:r>
          </a:p>
          <a:p>
            <a:r>
              <a:t>of result. In young children, this may be a problem because of small </a:t>
            </a:r>
          </a:p>
          <a:p>
            <a:r>
              <a:t>diameter of canal. Proper placement of ear is controversial related to </a:t>
            </a:r>
          </a:p>
          <a:p>
            <a:r>
              <a:t>whether the pinna should be pulled in manner similar to that used </a:t>
            </a:r>
          </a:p>
          <a:p>
            <a:r>
              <a:t>during otoscopy. </a:t>
            </a:r>
          </a:p>
          <a:p>
            <a:r>
              <a:t>Rectal site  </a:t>
            </a:r>
          </a:p>
          <a:p>
            <a:r>
              <a:t> Place well-lubricated tip at maximum 2.5 cm (1 inch) into rectum for </a:t>
            </a:r>
          </a:p>
          <a:p>
            <a:r>
              <a:t>children and 1.5 cm (0.6 inch) for infants; securely hold thermometer </a:t>
            </a:r>
          </a:p>
          <a:p>
            <a:r>
              <a:t>close to anus. </a:t>
            </a:r>
          </a:p>
          <a:p>
            <a:r>
              <a:t> Child may be placed in side-lying, supine, or prone position (i.e., </a:t>
            </a:r>
          </a:p>
          <a:p>
            <a:r>
              <a:t>supine with knees flexed toward abdomen); cover penis because </a:t>
            </a:r>
          </a:p>
          <a:p>
            <a:r>
              <a:t>procedure may stimulate urination. A small child may be placed prone </a:t>
            </a:r>
          </a:p>
          <a:p>
            <a:r>
              <a:t>across parent’s lap. </a:t>
            </a:r>
          </a:p>
          <a:p>
            <a:r>
              <a:t>Temporal Artery site  </a:t>
            </a:r>
          </a:p>
          <a:p>
            <a:r>
              <a:t> An infrared sensor probe scans across forehead, capturing heat from </a:t>
            </a:r>
          </a:p>
          <a:p>
            <a:r>
              <a:t>arterial blood flow.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39 </a:t>
            </a:r>
          </a:p>
          <a:p>
            <a:r>
              <a:t> Temporal artery is only artery close enough to skin’s surface to </a:t>
            </a:r>
          </a:p>
          <a:p>
            <a:r>
              <a:t>provide access for accurate temperature measurement.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c. Ear Based (Aural) site                D. Temporal Artery site </a:t>
            </a:r>
          </a:p>
          <a:p>
            <a:r>
              <a:t> </a:t>
            </a:r>
          </a:p>
          <a:p>
            <a:r>
              <a:t>Type of thermometer: </a:t>
            </a:r>
          </a:p>
          <a:p>
            <a:r>
              <a:t> mercury glass thermometers </a:t>
            </a:r>
          </a:p>
          <a:p>
            <a:r>
              <a:t> Digital Thermometer / Electronic Thermometer </a:t>
            </a:r>
          </a:p>
          <a:p>
            <a:r>
              <a:t> Infrared Thermometer </a:t>
            </a:r>
          </a:p>
          <a:p>
            <a:r>
              <a:t> Ear-Based Temperature Sensor </a:t>
            </a:r>
          </a:p>
          <a:p>
            <a:r>
              <a:t> </a:t>
            </a:r>
          </a:p>
          <a:p>
            <a:r>
              <a:t>- Advantages of digital thermometers in neonatal care include </a:t>
            </a:r>
          </a:p>
          <a:p>
            <a:r>
              <a:t>relatively easy readability by parents and caretakers in the home,  </a:t>
            </a:r>
          </a:p>
          <a:p>
            <a:r>
              <a:t>-  Infrared axillary and digital thermometers are used in many </a:t>
            </a:r>
          </a:p>
          <a:p>
            <a:r>
              <a:t>neonatal units because they give rapid readings and are easy to clean. </a:t>
            </a:r>
          </a:p>
          <a:p>
            <a:r>
              <a:t>- In newborn temperature, the glass mercury thermometer is the gold </a:t>
            </a:r>
          </a:p>
          <a:p>
            <a:r>
              <a:t>standard against which other methods are compared. </a:t>
            </a:r>
          </a:p>
          <a:p>
            <a:r>
              <a:t> </a:t>
            </a:r>
          </a:p>
          <a:p>
            <a:r>
              <a:t>Pulse </a:t>
            </a:r>
          </a:p>
          <a:p>
            <a:r>
              <a:t> A satisfactory pulse can be taken radially in children older than 2 </a:t>
            </a:r>
          </a:p>
          <a:p>
            <a:r>
              <a:t>years of age. However, in infants and young children, the apical </a:t>
            </a:r>
          </a:p>
          <a:p>
            <a:r>
              <a:t>impulse (heard through a stethoscope held to the chest at the apex of </a:t>
            </a:r>
          </a:p>
          <a:p>
            <a:r>
              <a:t>the heart) is more reliable.  </a:t>
            </a:r>
          </a:p>
          <a:p>
            <a:r>
              <a:t> Count the pulse for 1 full minute in infants and young children </a:t>
            </a:r>
          </a:p>
          <a:p>
            <a:r>
              <a:t>because of possible irregularities in rhythm. </a:t>
            </a:r>
          </a:p>
          <a:p>
            <a:r>
              <a:t> Compare radial and femoral pulses at least once during infancy to </a:t>
            </a:r>
          </a:p>
          <a:p>
            <a:r>
              <a:t>detect the presence of circulatory impairment, such as coarctation of </a:t>
            </a:r>
          </a:p>
          <a:p>
            <a:r>
              <a:t>the aorta. </a:t>
            </a:r>
          </a:p>
          <a:p>
            <a:r>
              <a:t> At birth, the range of pulse 120 to 140 beats/min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39 </a:t>
            </a:r>
          </a:p>
          <a:p>
            <a:r>
              <a:t> Temporal artery is only artery close enough to skin’s surface to </a:t>
            </a:r>
          </a:p>
          <a:p>
            <a:r>
              <a:t>provide access for accurate temperature measurement.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c. Ear Based (Aural) site                D. Temporal Artery site </a:t>
            </a:r>
          </a:p>
          <a:p>
            <a:r>
              <a:t> </a:t>
            </a:r>
          </a:p>
          <a:p>
            <a:r>
              <a:t>Type of thermometer: </a:t>
            </a:r>
          </a:p>
          <a:p>
            <a:r>
              <a:t> mercury glass thermometers </a:t>
            </a:r>
          </a:p>
          <a:p>
            <a:r>
              <a:t> Digital Thermometer / Electronic Thermometer </a:t>
            </a:r>
          </a:p>
          <a:p>
            <a:r>
              <a:t> Infrared Thermometer </a:t>
            </a:r>
          </a:p>
          <a:p>
            <a:r>
              <a:t> Ear-Based Temperature Sensor </a:t>
            </a:r>
          </a:p>
          <a:p>
            <a:r>
              <a:t> </a:t>
            </a:r>
          </a:p>
          <a:p>
            <a:r>
              <a:t>- Advantages of digital thermometers in neonatal care include </a:t>
            </a:r>
          </a:p>
          <a:p>
            <a:r>
              <a:t>relatively easy readability by parents and caretakers in the home,  </a:t>
            </a:r>
          </a:p>
          <a:p>
            <a:r>
              <a:t>-  Infrared axillary and digital thermometers are used in many </a:t>
            </a:r>
          </a:p>
          <a:p>
            <a:r>
              <a:t>neonatal units because they give rapid readings and are easy to clean. </a:t>
            </a:r>
          </a:p>
          <a:p>
            <a:r>
              <a:t>- In newborn temperature, the glass mercury thermometer is the gold </a:t>
            </a:r>
          </a:p>
          <a:p>
            <a:r>
              <a:t>standard against which other methods are compared. </a:t>
            </a:r>
          </a:p>
          <a:p>
            <a:r>
              <a:t> </a:t>
            </a:r>
          </a:p>
          <a:p>
            <a:r>
              <a:t>Pulse </a:t>
            </a:r>
          </a:p>
          <a:p>
            <a:r>
              <a:t> A satisfactory pulse can be taken radially in children older than 2 </a:t>
            </a:r>
          </a:p>
          <a:p>
            <a:r>
              <a:t>years of age. However, in infants and young children, the apical </a:t>
            </a:r>
          </a:p>
          <a:p>
            <a:r>
              <a:t>impulse (heard through a stethoscope held to the chest at the apex of </a:t>
            </a:r>
          </a:p>
          <a:p>
            <a:r>
              <a:t>the heart) is more reliable.  </a:t>
            </a:r>
          </a:p>
          <a:p>
            <a:r>
              <a:t> Count the pulse for 1 full minute in infants and young children </a:t>
            </a:r>
          </a:p>
          <a:p>
            <a:r>
              <a:t>because of possible irregularities in rhythm. </a:t>
            </a:r>
          </a:p>
          <a:p>
            <a:r>
              <a:t> Compare radial and femoral pulses at least once during infancy to </a:t>
            </a:r>
          </a:p>
          <a:p>
            <a:r>
              <a:t>detect the presence of circulatory impairment, such as coarctation of </a:t>
            </a:r>
          </a:p>
          <a:p>
            <a:r>
              <a:t>the aorta. </a:t>
            </a:r>
          </a:p>
          <a:p>
            <a:r>
              <a:t> At birth, the range of pulse 120 to 140 beats/min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39 </a:t>
            </a:r>
          </a:p>
          <a:p>
            <a:r>
              <a:t> Temporal artery is only artery close enough to skin’s surface to </a:t>
            </a:r>
          </a:p>
          <a:p>
            <a:r>
              <a:t>provide access for accurate temperature measurement.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c. Ear Based (Aural) site                D. Temporal Artery site </a:t>
            </a:r>
          </a:p>
          <a:p>
            <a:r>
              <a:t> </a:t>
            </a:r>
          </a:p>
          <a:p>
            <a:r>
              <a:t>Type of thermometer: </a:t>
            </a:r>
          </a:p>
          <a:p>
            <a:r>
              <a:t> mercury glass thermometers </a:t>
            </a:r>
          </a:p>
          <a:p>
            <a:r>
              <a:t> Digital Thermometer / Electronic Thermometer </a:t>
            </a:r>
          </a:p>
          <a:p>
            <a:r>
              <a:t> Infrared Thermometer </a:t>
            </a:r>
          </a:p>
          <a:p>
            <a:r>
              <a:t> Ear-Based Temperature Sensor </a:t>
            </a:r>
          </a:p>
          <a:p>
            <a:r>
              <a:t> </a:t>
            </a:r>
          </a:p>
          <a:p>
            <a:r>
              <a:t>- Advantages of digital thermometers in neonatal care include </a:t>
            </a:r>
          </a:p>
          <a:p>
            <a:r>
              <a:t>relatively easy readability by parents and caretakers in the home,  </a:t>
            </a:r>
          </a:p>
          <a:p>
            <a:r>
              <a:t>-  Infrared axillary and digital thermometers are used in many </a:t>
            </a:r>
          </a:p>
          <a:p>
            <a:r>
              <a:t>neonatal units because they give rapid readings and are easy to clean. </a:t>
            </a:r>
          </a:p>
          <a:p>
            <a:r>
              <a:t>- In newborn temperature, the glass mercury thermometer is the gold </a:t>
            </a:r>
          </a:p>
          <a:p>
            <a:r>
              <a:t>standard against which other methods are compared. </a:t>
            </a:r>
          </a:p>
          <a:p>
            <a:r>
              <a:t> </a:t>
            </a:r>
          </a:p>
          <a:p>
            <a:r>
              <a:t>Pulse </a:t>
            </a:r>
          </a:p>
          <a:p>
            <a:r>
              <a:t> A satisfactory pulse can be taken radially in children older than 2 </a:t>
            </a:r>
          </a:p>
          <a:p>
            <a:r>
              <a:t>years of age. However, in infants and young children, the apical </a:t>
            </a:r>
          </a:p>
          <a:p>
            <a:r>
              <a:t>impulse (heard through a stethoscope held to the chest at the apex of </a:t>
            </a:r>
          </a:p>
          <a:p>
            <a:r>
              <a:t>the heart) is more reliable.  </a:t>
            </a:r>
          </a:p>
          <a:p>
            <a:r>
              <a:t> Count the pulse for 1 full minute in infants and young children </a:t>
            </a:r>
          </a:p>
          <a:p>
            <a:r>
              <a:t>because of possible irregularities in rhythm. </a:t>
            </a:r>
          </a:p>
          <a:p>
            <a:r>
              <a:t> Compare radial and femoral pulses at least once during infancy to </a:t>
            </a:r>
          </a:p>
          <a:p>
            <a:r>
              <a:t>detect the presence of circulatory impairment, such as coarctation of </a:t>
            </a:r>
          </a:p>
          <a:p>
            <a:r>
              <a:t>the aorta. </a:t>
            </a:r>
          </a:p>
          <a:p>
            <a:r>
              <a:t> At birth, the range of pulse 120 to 140 beats/min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40 </a:t>
            </a:r>
          </a:p>
          <a:p>
            <a:r>
              <a:t> Auscultate the apical pulse by using the diaphragm of the stethoscope </a:t>
            </a:r>
          </a:p>
          <a:p>
            <a:r>
              <a:t>over the point of maximal intensity (PMI), The PMI is located just left </a:t>
            </a:r>
          </a:p>
          <a:p>
            <a:r>
              <a:t>of the midclavicular line at the fourth intercostal space in children less </a:t>
            </a:r>
          </a:p>
          <a:p>
            <a:r>
              <a:t>than 7 years old and at the fifth intercostal space in older children. </a:t>
            </a:r>
          </a:p>
          <a:p>
            <a:r>
              <a:t> An </a:t>
            </a:r>
          </a:p>
          <a:p>
            <a:r>
              <a:t>apical </a:t>
            </a:r>
          </a:p>
          <a:p>
            <a:r>
              <a:t>pulse </a:t>
            </a:r>
          </a:p>
          <a:p>
            <a:r>
              <a:t>(listening </a:t>
            </a:r>
          </a:p>
          <a:p>
            <a:r>
              <a:t>at </a:t>
            </a:r>
          </a:p>
          <a:p>
            <a:r>
              <a:t>the </a:t>
            </a:r>
          </a:p>
          <a:p>
            <a:r>
              <a:t>heart </a:t>
            </a:r>
          </a:p>
          <a:p>
            <a:r>
              <a:t>apex </a:t>
            </a:r>
          </a:p>
          <a:p>
            <a:r>
              <a:t>through a stethoscope) is taken in children younger than </a:t>
            </a:r>
          </a:p>
          <a:p>
            <a:r>
              <a:t>1 year because their radial (wrist) pulse is too faint to be palpated </a:t>
            </a:r>
          </a:p>
          <a:p>
            <a:r>
              <a:t>accurately. </a:t>
            </a:r>
          </a:p>
          <a:p>
            <a:r>
              <a:t> Heart rate and rhythm—Listen for fast heart rates (tachycardia), </a:t>
            </a:r>
          </a:p>
          <a:p>
            <a:r>
              <a:t>slow heart rates (bradycardia), and irregular rhythms </a:t>
            </a:r>
          </a:p>
          <a:p>
            <a:r>
              <a:t>Locations of pulse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Respiration  </a:t>
            </a:r>
          </a:p>
          <a:p>
            <a:r>
              <a:t> At birth, respiratory rate average 30 to 60 breaths/min. </a:t>
            </a:r>
          </a:p>
          <a:p>
            <a:r>
              <a:t> Respirations also should be measured before an infant is disturbed </a:t>
            </a:r>
          </a:p>
          <a:p>
            <a:r>
              <a:t>because the respiratory rate increases with crying.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40 </a:t>
            </a:r>
          </a:p>
          <a:p>
            <a:r>
              <a:t> Auscultate the apical pulse by using the diaphragm of the stethoscope </a:t>
            </a:r>
          </a:p>
          <a:p>
            <a:r>
              <a:t>over the point of maximal intensity (PMI), The PMI is located just left </a:t>
            </a:r>
          </a:p>
          <a:p>
            <a:r>
              <a:t>of the midclavicular line at the fourth intercostal space in children less </a:t>
            </a:r>
          </a:p>
          <a:p>
            <a:r>
              <a:t>than 7 years old and at the fifth intercostal space in older children. </a:t>
            </a:r>
          </a:p>
          <a:p>
            <a:r>
              <a:t> An </a:t>
            </a:r>
          </a:p>
          <a:p>
            <a:r>
              <a:t>apical </a:t>
            </a:r>
          </a:p>
          <a:p>
            <a:r>
              <a:t>pulse </a:t>
            </a:r>
          </a:p>
          <a:p>
            <a:r>
              <a:t>(listening </a:t>
            </a:r>
          </a:p>
          <a:p>
            <a:r>
              <a:t>at </a:t>
            </a:r>
          </a:p>
          <a:p>
            <a:r>
              <a:t>the </a:t>
            </a:r>
          </a:p>
          <a:p>
            <a:r>
              <a:t>heart </a:t>
            </a:r>
          </a:p>
          <a:p>
            <a:r>
              <a:t>apex </a:t>
            </a:r>
          </a:p>
          <a:p>
            <a:r>
              <a:t>through a stethoscope) is taken in children younger than </a:t>
            </a:r>
          </a:p>
          <a:p>
            <a:r>
              <a:t>1 year because their radial (wrist) pulse is too faint to be palpated </a:t>
            </a:r>
          </a:p>
          <a:p>
            <a:r>
              <a:t>accurately. </a:t>
            </a:r>
          </a:p>
          <a:p>
            <a:r>
              <a:t> Heart rate and rhythm—Listen for fast heart rates (tachycardia), </a:t>
            </a:r>
          </a:p>
          <a:p>
            <a:r>
              <a:t>slow heart rates (bradycardia), and irregular rhythms </a:t>
            </a:r>
          </a:p>
          <a:p>
            <a:r>
              <a:t>Locations of pulse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Respiration  </a:t>
            </a:r>
          </a:p>
          <a:p>
            <a:r>
              <a:t> At birth, respiratory rate average 30 to 60 breaths/min. </a:t>
            </a:r>
          </a:p>
          <a:p>
            <a:r>
              <a:t> Respirations also should be measured before an infant is disturbed </a:t>
            </a:r>
          </a:p>
          <a:p>
            <a:r>
              <a:t>because the respiratory rate increases with crying.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41 </a:t>
            </a:r>
          </a:p>
          <a:p>
            <a:r>
              <a:t> Take this while a child is sitting in a parent’s lap or lying quietly in a </a:t>
            </a:r>
          </a:p>
          <a:p>
            <a:r>
              <a:t>crib before lowering the side rail if possible </a:t>
            </a:r>
          </a:p>
          <a:p>
            <a:r>
              <a:t> Infants tend to breathe with their abdominal muscles; therefore, it is </a:t>
            </a:r>
          </a:p>
          <a:p>
            <a:r>
              <a:t>as accurate to take respirations by counting movements of the </a:t>
            </a:r>
          </a:p>
          <a:p>
            <a:r>
              <a:t>abdomen as it is to count chest movements. </a:t>
            </a:r>
          </a:p>
          <a:p>
            <a:r>
              <a:t>Count respirations for 1 full minute. </a:t>
            </a:r>
          </a:p>
          <a:p>
            <a:r>
              <a:t> Blood Pressure </a:t>
            </a:r>
          </a:p>
          <a:p>
            <a:r>
              <a:t> Blood pressure is included in the routine physical assessment </a:t>
            </a:r>
          </a:p>
          <a:p>
            <a:r>
              <a:t>of all children older than 3 years of age. </a:t>
            </a:r>
          </a:p>
          <a:p>
            <a:r>
              <a:t> Blood pressure is difficult to measure in infants because of </a:t>
            </a:r>
          </a:p>
          <a:p>
            <a:r>
              <a:t>mechanical problems. </a:t>
            </a:r>
          </a:p>
          <a:p>
            <a:r>
              <a:t> For healthy term infants, blood pressure average 70-65/45 mm Hg. </a:t>
            </a:r>
          </a:p>
          <a:p>
            <a:r>
              <a:t> Because measurement of blood pressure in a newborn is somewhat </a:t>
            </a:r>
          </a:p>
          <a:p>
            <a:r>
              <a:t>inaccurate, it is not routinely measured unless a cardiac anomaly is </a:t>
            </a:r>
          </a:p>
          <a:p>
            <a:r>
              <a:t>suspected, renal disorder such as, nephrotic syndrome and nephritis.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A. Determination of proper cuff size.            </a:t>
            </a:r>
          </a:p>
          <a:p>
            <a:r>
              <a:t> B. </a:t>
            </a:r>
          </a:p>
          <a:p>
            <a:r>
              <a:t>Cuff bladder width should be approximately 40% of  </a:t>
            </a:r>
          </a:p>
          <a:p>
            <a:r>
              <a:t>circumference of arm.          </a:t>
            </a:r>
          </a:p>
          <a:p>
            <a:r>
              <a:t>C. Blood pressure should be measured with the cubital fossa at </a:t>
            </a:r>
          </a:p>
          <a:p>
            <a:r>
              <a:t>the heart level. </a:t>
            </a:r>
          </a:p>
          <a:p>
            <a:r>
              <a:t>The arm should be supported. The stethoscope </a:t>
            </a:r>
          </a:p>
          <a:p>
            <a:r>
              <a:t>bell is placed over the brachial artery pulse proximal and </a:t>
            </a:r>
          </a:p>
          <a:p>
            <a:r>
              <a:t>medial to the cubital fossa and below the bottom edge of the  </a:t>
            </a:r>
          </a:p>
          <a:p>
            <a:r>
              <a:t>cuff.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41 </a:t>
            </a:r>
          </a:p>
          <a:p>
            <a:r>
              <a:t> Take this while a child is sitting in a parent’s lap or lying quietly in a </a:t>
            </a:r>
          </a:p>
          <a:p>
            <a:r>
              <a:t>crib before lowering the side rail if possible </a:t>
            </a:r>
          </a:p>
          <a:p>
            <a:r>
              <a:t> Infants tend to breathe with their abdominal muscles; therefore, it is </a:t>
            </a:r>
          </a:p>
          <a:p>
            <a:r>
              <a:t>as accurate to take respirations by counting movements of the </a:t>
            </a:r>
          </a:p>
          <a:p>
            <a:r>
              <a:t>abdomen as it is to count chest movements. </a:t>
            </a:r>
          </a:p>
          <a:p>
            <a:r>
              <a:t>Count respirations for 1 full minute. </a:t>
            </a:r>
          </a:p>
          <a:p>
            <a:r>
              <a:t> Blood Pressure </a:t>
            </a:r>
          </a:p>
          <a:p>
            <a:r>
              <a:t> Blood pressure is included in the routine physical assessment </a:t>
            </a:r>
          </a:p>
          <a:p>
            <a:r>
              <a:t>of all children older than 3 years of age. </a:t>
            </a:r>
          </a:p>
          <a:p>
            <a:r>
              <a:t> Blood pressure is difficult to measure in infants because of </a:t>
            </a:r>
          </a:p>
          <a:p>
            <a:r>
              <a:t>mechanical problems. </a:t>
            </a:r>
          </a:p>
          <a:p>
            <a:r>
              <a:t> For healthy term infants, blood pressure average 70-65/45 mm Hg. </a:t>
            </a:r>
          </a:p>
          <a:p>
            <a:r>
              <a:t> Because measurement of blood pressure in a newborn is somewhat </a:t>
            </a:r>
          </a:p>
          <a:p>
            <a:r>
              <a:t>inaccurate, it is not routinely measured unless a cardiac anomaly is </a:t>
            </a:r>
          </a:p>
          <a:p>
            <a:r>
              <a:t>suspected, renal disorder such as, nephrotic syndrome and nephritis.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A. Determination of proper cuff size.            </a:t>
            </a:r>
          </a:p>
          <a:p>
            <a:r>
              <a:t> B. </a:t>
            </a:r>
          </a:p>
          <a:p>
            <a:r>
              <a:t>Cuff bladder width should be approximately 40% of  </a:t>
            </a:r>
          </a:p>
          <a:p>
            <a:r>
              <a:t>circumference of arm.          </a:t>
            </a:r>
          </a:p>
          <a:p>
            <a:r>
              <a:t>C. Blood pressure should be measured with the cubital fossa at </a:t>
            </a:r>
          </a:p>
          <a:p>
            <a:r>
              <a:t>the heart level. </a:t>
            </a:r>
          </a:p>
          <a:p>
            <a:r>
              <a:t>The arm should be supported. The stethoscope </a:t>
            </a:r>
          </a:p>
          <a:p>
            <a:r>
              <a:t>bell is placed over the brachial artery pulse proximal and </a:t>
            </a:r>
          </a:p>
          <a:p>
            <a:r>
              <a:t>medial to the cubital fossa and below the bottom edge of the  </a:t>
            </a:r>
          </a:p>
          <a:p>
            <a:r>
              <a:t>cuff.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Physiologic Measurement                                                         41 </a:t>
            </a:r>
          </a:p>
          <a:p>
            <a:r>
              <a:t> Take this while a child is sitting in a parent’s lap or lying quietly in a </a:t>
            </a:r>
          </a:p>
          <a:p>
            <a:r>
              <a:t>crib before lowering the side rail if possible </a:t>
            </a:r>
          </a:p>
          <a:p>
            <a:r>
              <a:t> Infants tend to breathe with their abdominal muscles; therefore, it is </a:t>
            </a:r>
          </a:p>
          <a:p>
            <a:r>
              <a:t>as accurate to take respirations by counting movements of the </a:t>
            </a:r>
          </a:p>
          <a:p>
            <a:r>
              <a:t>abdomen as it is to count chest movements. </a:t>
            </a:r>
          </a:p>
          <a:p>
            <a:r>
              <a:t>Count respirations for 1 full minute. </a:t>
            </a:r>
          </a:p>
          <a:p>
            <a:r>
              <a:t> Blood Pressure </a:t>
            </a:r>
          </a:p>
          <a:p>
            <a:r>
              <a:t> Blood pressure is included in the routine physical assessment </a:t>
            </a:r>
          </a:p>
          <a:p>
            <a:r>
              <a:t>of all children older than 3 years of age. </a:t>
            </a:r>
          </a:p>
          <a:p>
            <a:r>
              <a:t> Blood pressure is difficult to measure in infants because of </a:t>
            </a:r>
          </a:p>
          <a:p>
            <a:r>
              <a:t>mechanical problems. </a:t>
            </a:r>
          </a:p>
          <a:p>
            <a:r>
              <a:t> For healthy term infants, blood pressure average 70-65/45 mm Hg. </a:t>
            </a:r>
          </a:p>
          <a:p>
            <a:r>
              <a:t> Because measurement of blood pressure in a newborn is somewhat </a:t>
            </a:r>
          </a:p>
          <a:p>
            <a:r>
              <a:t>inaccurate, it is not routinely measured unless a cardiac anomaly is </a:t>
            </a:r>
          </a:p>
          <a:p>
            <a:r>
              <a:t>suspected, renal disorder such as, nephrotic syndrome and nephritis.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A. Determination of proper cuff size.            </a:t>
            </a:r>
          </a:p>
          <a:p>
            <a:r>
              <a:t> B. </a:t>
            </a:r>
          </a:p>
          <a:p>
            <a:r>
              <a:t>Cuff bladder width should be approximately 40% of  </a:t>
            </a:r>
          </a:p>
          <a:p>
            <a:r>
              <a:t>circumference of arm.          </a:t>
            </a:r>
          </a:p>
          <a:p>
            <a:r>
              <a:t>C. Blood pressure should be measured with the cubital fossa at </a:t>
            </a:r>
          </a:p>
          <a:p>
            <a:r>
              <a:t>the heart level. </a:t>
            </a:r>
          </a:p>
          <a:p>
            <a:r>
              <a:t>The arm should be supported. The stethoscope </a:t>
            </a:r>
          </a:p>
          <a:p>
            <a:r>
              <a:t>bell is placed over the brachial artery pulse proximal and </a:t>
            </a:r>
          </a:p>
          <a:p>
            <a:r>
              <a:t>medial to the cubital fossa and below the bottom edge of the  </a:t>
            </a:r>
          </a:p>
          <a:p>
            <a:r>
              <a:t>cuff.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Reflexes                                                                                    42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Reflexes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Objectives  </a:t>
            </a:r>
          </a:p>
          <a:p>
            <a:r>
              <a:t>1- Defining the importance of reflexes assessment in children. </a:t>
            </a:r>
          </a:p>
          <a:p>
            <a:r>
              <a:t>2- Demonstrate how to assess reflexes in infants.  </a:t>
            </a:r>
          </a:p>
          <a:p>
            <a:r>
              <a:t>3- Discuss the type of reflexes( sucking, rooting, Babinski, startle and </a:t>
            </a:r>
          </a:p>
          <a:p>
            <a:r>
              <a:t>Moro reflexes …etc.).  </a:t>
            </a:r>
          </a:p>
          <a:p>
            <a:r>
              <a:t>4- Explain the child's response to each reflex according to the offered </a:t>
            </a:r>
          </a:p>
          <a:p>
            <a:r>
              <a:t>type.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Reflexes                                                                                    43 </a:t>
            </a:r>
          </a:p>
          <a:p>
            <a:r>
              <a:t>Reflexes </a:t>
            </a:r>
          </a:p>
          <a:p>
            <a:r>
              <a:t> Testing reflexes is an important part of the neurologic examination. </a:t>
            </a:r>
          </a:p>
          <a:p>
            <a:r>
              <a:t>  Reflexes   should be tested at the end of the examination because </a:t>
            </a:r>
          </a:p>
          <a:p>
            <a:r>
              <a:t>they may disturb the infant and interfere with auscultation. </a:t>
            </a:r>
          </a:p>
          <a:p>
            <a:r>
              <a:t> Reflexes  are present at birth  and disappear by 9 months of age. </a:t>
            </a:r>
          </a:p>
          <a:p>
            <a:r>
              <a:t> Primitive reflexes originate in the central nervous system and are </a:t>
            </a:r>
          </a:p>
          <a:p>
            <a:r>
              <a:t>exhibited in normal infants. </a:t>
            </a:r>
          </a:p>
          <a:p>
            <a:r>
              <a:t>1. Rooting reflex: The </a:t>
            </a:r>
          </a:p>
          <a:p>
            <a:r>
              <a:t>infant turns his head toward the </a:t>
            </a:r>
          </a:p>
          <a:p>
            <a:r>
              <a:t>mother’s breast and begins to suck when his lower lip or cheek </a:t>
            </a:r>
          </a:p>
          <a:p>
            <a:r>
              <a:t>is stroked. </a:t>
            </a:r>
          </a:p>
          <a:p>
            <a:r>
              <a:t>2. Sucking reflex: The infant moves his lips, mouth, and tongue </a:t>
            </a:r>
          </a:p>
          <a:p>
            <a:r>
              <a:t>and shows interest to feed.  Present at birth; disappears at 10–12 </a:t>
            </a:r>
          </a:p>
          <a:p>
            <a:r>
              <a:t>months. </a:t>
            </a:r>
          </a:p>
          <a:p>
            <a:r>
              <a:t>3. Startle reflexes: Make a loud sound near the neonate. </a:t>
            </a:r>
          </a:p>
          <a:p>
            <a:r>
              <a:t>4. The tonic neck reflex (or fencing posture): The infant turns his </a:t>
            </a:r>
          </a:p>
          <a:p>
            <a:r>
              <a:t>head to one side, and the arm on that side straightens while the </a:t>
            </a:r>
          </a:p>
          <a:p>
            <a:r>
              <a:t>opposite arm bends in a fencing position. </a:t>
            </a:r>
          </a:p>
          <a:p>
            <a:r>
              <a:t>5. The Moro reflex: Jar the crib or hold the baby in a semi-sitting </a:t>
            </a:r>
          </a:p>
          <a:p>
            <a:r>
              <a:t>position and let the head slightly drop back. </a:t>
            </a:r>
          </a:p>
          <a:p>
            <a:r>
              <a:t>6.  The grasping reflex: An object is placed in the infant’s hand, and </a:t>
            </a:r>
          </a:p>
          <a:p>
            <a:r>
              <a:t>the infant’s fingers close to grasp the object. </a:t>
            </a:r>
          </a:p>
          <a:p>
            <a:r>
              <a:t>7.  The Babinski reflex: The sole of the foot is stroked, and the </a:t>
            </a:r>
          </a:p>
          <a:p>
            <a:r>
              <a:t>infant responds by turning the foot inward while his toes flare </a:t>
            </a:r>
          </a:p>
          <a:p>
            <a:r>
              <a:t>outward or flexion. </a:t>
            </a:r>
          </a:p>
          <a:p>
            <a:r>
              <a:t>8.  Dancing (or stepping) reflex: The soles of the infant’s feet </a:t>
            </a:r>
          </a:p>
          <a:p>
            <a:r>
              <a:t>touch a flat surface, and he attempts to walk by placing one foot </a:t>
            </a:r>
          </a:p>
          <a:p>
            <a:r>
              <a:t>in front of the other. </a:t>
            </a:r>
          </a:p>
          <a:p>
            <a:r>
              <a:t>9. Palmar grasp: The examiner places a finger in the palm of the </a:t>
            </a:r>
          </a:p>
          <a:p>
            <a:r>
              <a:t>neonate’s hand, he neonate grasps the finger tightly; if the neonate </a:t>
            </a:r>
          </a:p>
          <a:p>
            <a:r>
              <a:t>grasps the examiner’s finger with both hands, the neonate can be </a:t>
            </a:r>
          </a:p>
          <a:p>
            <a:r>
              <a:t>pulled to a sitting position. </a:t>
            </a:r>
          </a:p>
          <a:p>
            <a:r>
              <a:t>10. Plantar grasp: Place a thumb firmly against the ball of the infant’s </a:t>
            </a:r>
          </a:p>
          <a:p>
            <a:r>
              <a:t>foot, Toes flex tightly down in a grasping motion. </a:t>
            </a:r>
          </a:p>
          <a:p>
            <a:r>
              <a:t>11. Protective reflexes: Gag, cough, and sneeze reflexes also are present </a:t>
            </a:r>
          </a:p>
          <a:p>
            <a:r>
              <a:t>in newborns to maintain a clear airway.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Reflexes                                                                                    43 </a:t>
            </a:r>
          </a:p>
          <a:p>
            <a:r>
              <a:t>Reflexes </a:t>
            </a:r>
          </a:p>
          <a:p>
            <a:r>
              <a:t> Testing reflexes is an important part of the neurologic examination. </a:t>
            </a:r>
          </a:p>
          <a:p>
            <a:r>
              <a:t>  Reflexes   should be tested at the end of the examination because </a:t>
            </a:r>
          </a:p>
          <a:p>
            <a:r>
              <a:t>they may disturb the infant and interfere with auscultation. </a:t>
            </a:r>
          </a:p>
          <a:p>
            <a:r>
              <a:t> Reflexes  are present at birth  and disappear by 9 months of age. </a:t>
            </a:r>
          </a:p>
          <a:p>
            <a:r>
              <a:t> Primitive reflexes originate in the central nervous system and are </a:t>
            </a:r>
          </a:p>
          <a:p>
            <a:r>
              <a:t>exhibited in normal infants. </a:t>
            </a:r>
          </a:p>
          <a:p>
            <a:r>
              <a:t>1. Rooting reflex: The </a:t>
            </a:r>
          </a:p>
          <a:p>
            <a:r>
              <a:t>infant turns his head toward the </a:t>
            </a:r>
          </a:p>
          <a:p>
            <a:r>
              <a:t>mother’s breast and begins to suck when his lower lip or cheek </a:t>
            </a:r>
          </a:p>
          <a:p>
            <a:r>
              <a:t>is stroked. </a:t>
            </a:r>
          </a:p>
          <a:p>
            <a:r>
              <a:t>2. Sucking reflex: The infant moves his lips, mouth, and tongue </a:t>
            </a:r>
          </a:p>
          <a:p>
            <a:r>
              <a:t>and shows interest to feed.  Present at birth; disappears at 10–12 </a:t>
            </a:r>
          </a:p>
          <a:p>
            <a:r>
              <a:t>months. </a:t>
            </a:r>
          </a:p>
          <a:p>
            <a:r>
              <a:t>3. Startle reflexes: Make a loud sound near the neonate. </a:t>
            </a:r>
          </a:p>
          <a:p>
            <a:r>
              <a:t>4. The tonic neck reflex (or fencing posture): The infant turns his </a:t>
            </a:r>
          </a:p>
          <a:p>
            <a:r>
              <a:t>head to one side, and the arm on that side straightens while the </a:t>
            </a:r>
          </a:p>
          <a:p>
            <a:r>
              <a:t>opposite arm bends in a fencing position. </a:t>
            </a:r>
          </a:p>
          <a:p>
            <a:r>
              <a:t>5. The Moro reflex: Jar the crib or hold the baby in a semi-sitting </a:t>
            </a:r>
          </a:p>
          <a:p>
            <a:r>
              <a:t>position and let the head slightly drop back. </a:t>
            </a:r>
          </a:p>
          <a:p>
            <a:r>
              <a:t>6.  The grasping reflex: An object is placed in the infant’s hand, and </a:t>
            </a:r>
          </a:p>
          <a:p>
            <a:r>
              <a:t>the infant’s fingers close to grasp the object. </a:t>
            </a:r>
          </a:p>
          <a:p>
            <a:r>
              <a:t>7.  The Babinski reflex: The sole of the foot is stroked, and the </a:t>
            </a:r>
          </a:p>
          <a:p>
            <a:r>
              <a:t>infant responds by turning the foot inward while his toes flare </a:t>
            </a:r>
          </a:p>
          <a:p>
            <a:r>
              <a:t>outward or flexion. </a:t>
            </a:r>
          </a:p>
          <a:p>
            <a:r>
              <a:t>8.  Dancing (or stepping) reflex: The soles of the infant’s feet </a:t>
            </a:r>
          </a:p>
          <a:p>
            <a:r>
              <a:t>touch a flat surface, and he attempts to walk by placing one foot </a:t>
            </a:r>
          </a:p>
          <a:p>
            <a:r>
              <a:t>in front of the other. </a:t>
            </a:r>
          </a:p>
          <a:p>
            <a:r>
              <a:t>9. Palmar grasp: The examiner places a finger in the palm of the </a:t>
            </a:r>
          </a:p>
          <a:p>
            <a:r>
              <a:t>neonate’s hand, he neonate grasps the finger tightly; if the neonate </a:t>
            </a:r>
          </a:p>
          <a:p>
            <a:r>
              <a:t>grasps the examiner’s finger with both hands, the neonate can be </a:t>
            </a:r>
          </a:p>
          <a:p>
            <a:r>
              <a:t>pulled to a sitting position. </a:t>
            </a:r>
          </a:p>
          <a:p>
            <a:r>
              <a:t>10. Plantar grasp: Place a thumb firmly against the ball of the infant’s </a:t>
            </a:r>
          </a:p>
          <a:p>
            <a:r>
              <a:t>foot, Toes flex tightly down in a grasping motion. </a:t>
            </a:r>
          </a:p>
          <a:p>
            <a:r>
              <a:t>11. Protective reflexes: Gag, cough, and sneeze reflexes also are present </a:t>
            </a:r>
          </a:p>
          <a:p>
            <a:r>
              <a:t>in newborns to maintain a clear airway.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Reflexes                                                                                    43 </a:t>
            </a:r>
          </a:p>
          <a:p>
            <a:r>
              <a:t>Reflexes </a:t>
            </a:r>
          </a:p>
          <a:p>
            <a:r>
              <a:t> Testing reflexes is an important part of the neurologic examination. </a:t>
            </a:r>
          </a:p>
          <a:p>
            <a:r>
              <a:t>  Reflexes   should be tested at the end of the examination because </a:t>
            </a:r>
          </a:p>
          <a:p>
            <a:r>
              <a:t>they may disturb the infant and interfere with auscultation. </a:t>
            </a:r>
          </a:p>
          <a:p>
            <a:r>
              <a:t> Reflexes  are present at birth  and disappear by 9 months of age. </a:t>
            </a:r>
          </a:p>
          <a:p>
            <a:r>
              <a:t> Primitive reflexes originate in the central nervous system and are </a:t>
            </a:r>
          </a:p>
          <a:p>
            <a:r>
              <a:t>exhibited in normal infants. </a:t>
            </a:r>
          </a:p>
          <a:p>
            <a:r>
              <a:t>1. Rooting reflex: The </a:t>
            </a:r>
          </a:p>
          <a:p>
            <a:r>
              <a:t>infant turns his head toward the </a:t>
            </a:r>
          </a:p>
          <a:p>
            <a:r>
              <a:t>mother’s breast and begins to suck when his lower lip or cheek </a:t>
            </a:r>
          </a:p>
          <a:p>
            <a:r>
              <a:t>is stroked. </a:t>
            </a:r>
          </a:p>
          <a:p>
            <a:r>
              <a:t>2. Sucking reflex: The infant moves his lips, mouth, and tongue </a:t>
            </a:r>
          </a:p>
          <a:p>
            <a:r>
              <a:t>and shows interest to feed.  Present at birth; disappears at 10–12 </a:t>
            </a:r>
          </a:p>
          <a:p>
            <a:r>
              <a:t>months. </a:t>
            </a:r>
          </a:p>
          <a:p>
            <a:r>
              <a:t>3. Startle reflexes: Make a loud sound near the neonate. </a:t>
            </a:r>
          </a:p>
          <a:p>
            <a:r>
              <a:t>4. The tonic neck reflex (or fencing posture): The infant turns his </a:t>
            </a:r>
          </a:p>
          <a:p>
            <a:r>
              <a:t>head to one side, and the arm on that side straightens while the </a:t>
            </a:r>
          </a:p>
          <a:p>
            <a:r>
              <a:t>opposite arm bends in a fencing position. </a:t>
            </a:r>
          </a:p>
          <a:p>
            <a:r>
              <a:t>5. The Moro reflex: Jar the crib or hold the baby in a semi-sitting </a:t>
            </a:r>
          </a:p>
          <a:p>
            <a:r>
              <a:t>position and let the head slightly drop back. </a:t>
            </a:r>
          </a:p>
          <a:p>
            <a:r>
              <a:t>6.  The grasping reflex: An object is placed in the infant’s hand, and </a:t>
            </a:r>
          </a:p>
          <a:p>
            <a:r>
              <a:t>the infant’s fingers close to grasp the object. </a:t>
            </a:r>
          </a:p>
          <a:p>
            <a:r>
              <a:t>7.  The Babinski reflex: The sole of the foot is stroked, and the </a:t>
            </a:r>
          </a:p>
          <a:p>
            <a:r>
              <a:t>infant responds by turning the foot inward while his toes flare </a:t>
            </a:r>
          </a:p>
          <a:p>
            <a:r>
              <a:t>outward or flexion. </a:t>
            </a:r>
          </a:p>
          <a:p>
            <a:r>
              <a:t>8.  Dancing (or stepping) reflex: The soles of the infant’s feet </a:t>
            </a:r>
          </a:p>
          <a:p>
            <a:r>
              <a:t>touch a flat surface, and he attempts to walk by placing one foot </a:t>
            </a:r>
          </a:p>
          <a:p>
            <a:r>
              <a:t>in front of the other. </a:t>
            </a:r>
          </a:p>
          <a:p>
            <a:r>
              <a:t>9. Palmar grasp: The examiner places a finger in the palm of the </a:t>
            </a:r>
          </a:p>
          <a:p>
            <a:r>
              <a:t>neonate’s hand, he neonate grasps the finger tightly; if the neonate </a:t>
            </a:r>
          </a:p>
          <a:p>
            <a:r>
              <a:t>grasps the examiner’s finger with both hands, the neonate can be </a:t>
            </a:r>
          </a:p>
          <a:p>
            <a:r>
              <a:t>pulled to a sitting position. </a:t>
            </a:r>
          </a:p>
          <a:p>
            <a:r>
              <a:t>10. Plantar grasp: Place a thumb firmly against the ball of the infant’s </a:t>
            </a:r>
          </a:p>
          <a:p>
            <a:r>
              <a:t>foot, Toes flex tightly down in a grasping motion. </a:t>
            </a:r>
          </a:p>
          <a:p>
            <a:r>
              <a:t>11. Protective reflexes: Gag, cough, and sneeze reflexes also are present </a:t>
            </a:r>
          </a:p>
          <a:p>
            <a:r>
              <a:t>in newborns to maintain a clear airway.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Reflexes                                                                                    44 </a:t>
            </a:r>
          </a:p>
          <a:p>
            <a:r>
              <a:t> </a:t>
            </a:r>
          </a:p>
          <a:p>
            <a:r>
              <a:t>A, Moro reflex. B, Tonic neck reflex. C, Dance reflex. D, Crawl reflex.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E. Moro reflex                                  F. Grasp reflex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Reflexes                                                                                    45 </a:t>
            </a:r>
          </a:p>
          <a:p>
            <a:r>
              <a:t> </a:t>
            </a:r>
          </a:p>
          <a:p>
            <a:r>
              <a:t>G. Babinski reflex                      H. Direction (1. Direction of stroke.  </a:t>
            </a:r>
          </a:p>
          <a:p>
            <a:r>
              <a:t>                                                      2, Dorsiflexion of big toe. 3, fanning of toes)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References:  </a:t>
            </a:r>
          </a:p>
          <a:p>
            <a:r>
              <a:t>1- Hockenberry, M. J., Wilson, D.(2015). Wong’s nursing care of </a:t>
            </a:r>
          </a:p>
          <a:p>
            <a:r>
              <a:t>infants and children, 10th edition. Canada: Elsevier, P.P 113-124.  </a:t>
            </a:r>
          </a:p>
          <a:p>
            <a:r>
              <a:t>2- Hockenberry, M. J., Wilson, D.(2013). Wong’s essentials of </a:t>
            </a:r>
          </a:p>
          <a:p>
            <a:r>
              <a:t>pediatric nursing, 9th edition. USA: Elsevier, P.P 200, 102, 109-119.  </a:t>
            </a:r>
          </a:p>
          <a:p>
            <a:r>
              <a:t>3- Pillitteri, A. (2010). Maternal and child health nursing: care of the </a:t>
            </a:r>
          </a:p>
          <a:p>
            <a:r>
              <a:t>childbearing and childrearing family, 6th edition. Philadelphia: </a:t>
            </a:r>
          </a:p>
          <a:p>
            <a:r>
              <a:t>Lippincott Williams &amp; Wilkins, p p 450-453. </a:t>
            </a:r>
          </a:p>
          <a:p>
            <a:r>
              <a:t>4- Rudd, K., Kocisko, D. (2014). Pediatric Nursing: the critical </a:t>
            </a:r>
          </a:p>
          <a:p>
            <a:r>
              <a:t>components of nursing care, 1st edition. Philadelphia, USA: F.A, P.P </a:t>
            </a:r>
          </a:p>
          <a:p>
            <a:r>
              <a:t>374, 143-148.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Reflexes                                                                                    45 </a:t>
            </a:r>
          </a:p>
          <a:p>
            <a:r>
              <a:t> </a:t>
            </a:r>
          </a:p>
          <a:p>
            <a:r>
              <a:t>G. Babinski reflex                      H. Direction (1. Direction of stroke.  </a:t>
            </a:r>
          </a:p>
          <a:p>
            <a:r>
              <a:t>                                                      2, Dorsiflexion of big toe. 3, fanning of toes)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References:  </a:t>
            </a:r>
          </a:p>
          <a:p>
            <a:r>
              <a:t>1- Hockenberry, M. J., Wilson, D.(2015). Wong’s nursing care of </a:t>
            </a:r>
          </a:p>
          <a:p>
            <a:r>
              <a:t>infants and children, 10th edition. Canada: Elsevier, P.P 113-124.  </a:t>
            </a:r>
          </a:p>
          <a:p>
            <a:r>
              <a:t>2- Hockenberry, M. J., Wilson, D.(2013). Wong’s essentials of </a:t>
            </a:r>
          </a:p>
          <a:p>
            <a:r>
              <a:t>pediatric nursing, 9th edition. USA: Elsevier, P.P 200, 102, 109-119.  </a:t>
            </a:r>
          </a:p>
          <a:p>
            <a:r>
              <a:t>3- Pillitteri, A. (2010). Maternal and child health nursing: care of the </a:t>
            </a:r>
          </a:p>
          <a:p>
            <a:r>
              <a:t>childbearing and childrearing family, 6th edition. Philadelphia: </a:t>
            </a:r>
          </a:p>
          <a:p>
            <a:r>
              <a:t>Lippincott Williams &amp; Wilkins, p p 450-453. </a:t>
            </a:r>
          </a:p>
          <a:p>
            <a:r>
              <a:t>4- Rudd, K., Kocisko, D. (2014). Pediatric Nursing: the critical </a:t>
            </a:r>
          </a:p>
          <a:p>
            <a:r>
              <a:t>components of nursing care, 1st edition. Philadelphia, USA: F.A, P.P </a:t>
            </a:r>
          </a:p>
          <a:p>
            <a:r>
              <a:t>374, 143-148.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46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DRUG ADMINISTRATION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Objectives: </a:t>
            </a:r>
          </a:p>
          <a:p>
            <a:r>
              <a:t>By the end of this chapter, the student nurse will be able to: </a:t>
            </a:r>
          </a:p>
          <a:p>
            <a:r>
              <a:t>1- Define the meaning of medications. </a:t>
            </a:r>
          </a:p>
          <a:p>
            <a:r>
              <a:t>2- Calculate a safe drug dosage needed for the individual child. </a:t>
            </a:r>
          </a:p>
          <a:p>
            <a:r>
              <a:t>3- Identify the factors that influence medications action. </a:t>
            </a:r>
          </a:p>
          <a:p>
            <a:r>
              <a:t>4- List the essential principles for the administration of </a:t>
            </a:r>
          </a:p>
          <a:p>
            <a:r>
              <a:t>medications. </a:t>
            </a:r>
          </a:p>
          <a:p>
            <a:r>
              <a:t>5- Enumerate the different routes of medications </a:t>
            </a:r>
          </a:p>
          <a:p>
            <a:r>
              <a:t>administration. </a:t>
            </a:r>
          </a:p>
          <a:p>
            <a:r>
              <a:t>6- Explain preliminary information essential for the </a:t>
            </a:r>
          </a:p>
          <a:p>
            <a:r>
              <a:t>administration of the different routes: </a:t>
            </a:r>
          </a:p>
          <a:p>
            <a:r>
              <a:t>7- Discuss the steps of the different routes of administration of </a:t>
            </a:r>
          </a:p>
          <a:p>
            <a:r>
              <a:t>medications. </a:t>
            </a:r>
          </a:p>
          <a:p>
            <a:r>
              <a:t>8- Describe the role of the nurse in each route.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Drug Administration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46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DRUG ADMINISTRATION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Objectives: </a:t>
            </a:r>
          </a:p>
          <a:p>
            <a:r>
              <a:t>By the end of this chapter, the student nurse will be able to: </a:t>
            </a:r>
          </a:p>
          <a:p>
            <a:r>
              <a:t>1- Define the meaning of medications. </a:t>
            </a:r>
          </a:p>
          <a:p>
            <a:r>
              <a:t>2- Calculate a safe drug dosage needed for the individual child. </a:t>
            </a:r>
          </a:p>
          <a:p>
            <a:r>
              <a:t>3- Identify the factors that influence medications action. </a:t>
            </a:r>
          </a:p>
          <a:p>
            <a:r>
              <a:t>4- List the essential principles for the administration of </a:t>
            </a:r>
          </a:p>
          <a:p>
            <a:r>
              <a:t>medications. </a:t>
            </a:r>
          </a:p>
          <a:p>
            <a:r>
              <a:t>5- Enumerate the different routes of medications </a:t>
            </a:r>
          </a:p>
          <a:p>
            <a:r>
              <a:t>administration. </a:t>
            </a:r>
          </a:p>
          <a:p>
            <a:r>
              <a:t>6- Explain preliminary information essential for the </a:t>
            </a:r>
          </a:p>
          <a:p>
            <a:r>
              <a:t>administration of the different routes: </a:t>
            </a:r>
          </a:p>
          <a:p>
            <a:r>
              <a:t>7- Discuss the steps of the different routes of administration of </a:t>
            </a:r>
          </a:p>
          <a:p>
            <a:r>
              <a:t>medications. </a:t>
            </a:r>
          </a:p>
          <a:p>
            <a:r>
              <a:t>8- Describe the role of the nurse in each route.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Drug Administration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47 </a:t>
            </a:r>
          </a:p>
          <a:p>
            <a:r>
              <a:t>Introduction: </a:t>
            </a:r>
          </a:p>
          <a:p>
            <a:r>
              <a:t>Because a child responds to drugs more rapidly and unpredictably </a:t>
            </a:r>
          </a:p>
          <a:p>
            <a:r>
              <a:t>than an adult does, pediatric drug administration requires special </a:t>
            </a:r>
          </a:p>
          <a:p>
            <a:r>
              <a:t>care. Such factors as age, weight, body surface area, and drug </a:t>
            </a:r>
          </a:p>
          <a:p>
            <a:r>
              <a:t>form and route may dramatically affect a child's response to a </a:t>
            </a:r>
          </a:p>
          <a:p>
            <a:r>
              <a:t>drug. For example, because of his thin epithelium, a neonate or </a:t>
            </a:r>
          </a:p>
          <a:p>
            <a:r>
              <a:t>an infant absorbs topical medications much faster than an older </a:t>
            </a:r>
          </a:p>
          <a:p>
            <a:r>
              <a:t>child does. </a:t>
            </a:r>
          </a:p>
          <a:p>
            <a:r>
              <a:t>Usual drug administration techniques may need adjustment to </a:t>
            </a:r>
          </a:p>
          <a:p>
            <a:r>
              <a:t>account for the child's age, size, and developmental level. A tablet </a:t>
            </a:r>
          </a:p>
          <a:p>
            <a:r>
              <a:t>for   young child, for example, may be crushed and mixed with a </a:t>
            </a:r>
          </a:p>
          <a:p>
            <a:r>
              <a:t>liquid for oral administration. In addition, the injection site and </a:t>
            </a:r>
          </a:p>
          <a:p>
            <a:r>
              <a:t>needle size will vary depending on the child's age and physical </a:t>
            </a:r>
          </a:p>
          <a:p>
            <a:r>
              <a:t>development. </a:t>
            </a:r>
          </a:p>
          <a:p>
            <a:r>
              <a:t> </a:t>
            </a:r>
          </a:p>
          <a:p>
            <a:r>
              <a:t>Usual drug administration techniques may need </a:t>
            </a:r>
          </a:p>
          <a:p>
            <a:r>
              <a:t>adjustment to account for the child's age, size, and developmental </a:t>
            </a:r>
          </a:p>
          <a:p>
            <a:r>
              <a:t>level. A tablet for a young child, for example, may be crushed and </a:t>
            </a:r>
          </a:p>
          <a:p>
            <a:r>
              <a:t>mixed with a liquid for oral administration. In addition, the </a:t>
            </a:r>
          </a:p>
          <a:p>
            <a:r>
              <a:t>injection site and needle size will vary depending on the child's </a:t>
            </a:r>
          </a:p>
          <a:p>
            <a:r>
              <a:t>age and physical development.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48 </a:t>
            </a:r>
          </a:p>
          <a:p>
            <a:r>
              <a:t>General steps for administer medication </a:t>
            </a:r>
          </a:p>
          <a:p>
            <a:r>
              <a:t> Assess the child's condition to determine the need for the </a:t>
            </a:r>
          </a:p>
          <a:p>
            <a:r>
              <a:t>medication and the effectiveness of previous therapy. </a:t>
            </a:r>
          </a:p>
          <a:p>
            <a:r>
              <a:t> Carefully observe the child for a rash, pruritus, cough, or </a:t>
            </a:r>
          </a:p>
          <a:p>
            <a:r>
              <a:t>other signs of an adverse reaction to a previously </a:t>
            </a:r>
          </a:p>
          <a:p>
            <a:r>
              <a:t>administered drug. </a:t>
            </a:r>
          </a:p>
          <a:p>
            <a:r>
              <a:t> Identify the child by comparing the name on his wristband </a:t>
            </a:r>
          </a:p>
          <a:p>
            <a:r>
              <a:t>with that on the medication card. If the child can talk and </a:t>
            </a:r>
          </a:p>
          <a:p>
            <a:r>
              <a:t>respond, ask him his name. </a:t>
            </a:r>
          </a:p>
          <a:p>
            <a:r>
              <a:t> Explain the procedure to the child and his parents. Use </a:t>
            </a:r>
          </a:p>
          <a:p>
            <a:r>
              <a:t>terms the child can understand. </a:t>
            </a:r>
          </a:p>
          <a:p>
            <a:r>
              <a:t> Provide privacy, especially for an older child.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Administering Oral Medications </a:t>
            </a:r>
          </a:p>
          <a:p>
            <a:r>
              <a:t> </a:t>
            </a:r>
          </a:p>
          <a:p>
            <a:r>
              <a:t>ESSENTIAL STEPS for oral medication </a:t>
            </a:r>
          </a:p>
          <a:p>
            <a:r>
              <a:t> Check the physician’s order for the prescribed drug and </a:t>
            </a:r>
          </a:p>
          <a:p>
            <a:r>
              <a:t>dosage. </a:t>
            </a:r>
          </a:p>
          <a:p>
            <a:r>
              <a:t> Compare the order with the drug label, check the drug </a:t>
            </a:r>
          </a:p>
          <a:p>
            <a:r>
              <a:t>expiration date, and review the child’s chart for any drug </a:t>
            </a:r>
          </a:p>
          <a:p>
            <a:r>
              <a:t>allergies. </a:t>
            </a:r>
          </a:p>
          <a:p>
            <a:r>
              <a:t> Carefully calculate the dosage. Double-check dosages with </a:t>
            </a:r>
          </a:p>
          <a:p>
            <a:r>
              <a:t>another nurse for potentially hazardous or lethal drugs, such as </a:t>
            </a:r>
          </a:p>
          <a:p>
            <a:r>
              <a:t>insulin, heparin, digoxin, epinephrine, and opioids. Check your </a:t>
            </a:r>
          </a:p>
          <a:p>
            <a:r>
              <a:t>Administering Oral Medications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48 </a:t>
            </a:r>
          </a:p>
          <a:p>
            <a:r>
              <a:t>General steps for administer medication </a:t>
            </a:r>
          </a:p>
          <a:p>
            <a:r>
              <a:t> Assess the child's condition to determine the need for the </a:t>
            </a:r>
          </a:p>
          <a:p>
            <a:r>
              <a:t>medication and the effectiveness of previous therapy. </a:t>
            </a:r>
          </a:p>
          <a:p>
            <a:r>
              <a:t> Carefully observe the child for a rash, pruritus, cough, or </a:t>
            </a:r>
          </a:p>
          <a:p>
            <a:r>
              <a:t>other signs of an adverse reaction to a previously </a:t>
            </a:r>
          </a:p>
          <a:p>
            <a:r>
              <a:t>administered drug. </a:t>
            </a:r>
          </a:p>
          <a:p>
            <a:r>
              <a:t> Identify the child by comparing the name on his wristband </a:t>
            </a:r>
          </a:p>
          <a:p>
            <a:r>
              <a:t>with that on the medication card. If the child can talk and </a:t>
            </a:r>
          </a:p>
          <a:p>
            <a:r>
              <a:t>respond, ask him his name. </a:t>
            </a:r>
          </a:p>
          <a:p>
            <a:r>
              <a:t> Explain the procedure to the child and his parents. Use </a:t>
            </a:r>
          </a:p>
          <a:p>
            <a:r>
              <a:t>terms the child can understand. </a:t>
            </a:r>
          </a:p>
          <a:p>
            <a:r>
              <a:t> Provide privacy, especially for an older child.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Administering Oral Medications </a:t>
            </a:r>
          </a:p>
          <a:p>
            <a:r>
              <a:t> </a:t>
            </a:r>
          </a:p>
          <a:p>
            <a:r>
              <a:t>ESSENTIAL STEPS for oral medication </a:t>
            </a:r>
          </a:p>
          <a:p>
            <a:r>
              <a:t> Check the physician’s order for the prescribed drug and </a:t>
            </a:r>
          </a:p>
          <a:p>
            <a:r>
              <a:t>dosage. </a:t>
            </a:r>
          </a:p>
          <a:p>
            <a:r>
              <a:t> Compare the order with the drug label, check the drug </a:t>
            </a:r>
          </a:p>
          <a:p>
            <a:r>
              <a:t>expiration date, and review the child’s chart for any drug </a:t>
            </a:r>
          </a:p>
          <a:p>
            <a:r>
              <a:t>allergies. </a:t>
            </a:r>
          </a:p>
          <a:p>
            <a:r>
              <a:t> Carefully calculate the dosage. Double-check dosages with </a:t>
            </a:r>
          </a:p>
          <a:p>
            <a:r>
              <a:t>another nurse for potentially hazardous or lethal drugs, such as </a:t>
            </a:r>
          </a:p>
          <a:p>
            <a:r>
              <a:t>insulin, heparin, digoxin, epinephrine, and opioids. Check your </a:t>
            </a:r>
          </a:p>
          <a:p>
            <a:r>
              <a:t>Administering Oral Medications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49 </a:t>
            </a:r>
          </a:p>
          <a:p>
            <a:r>
              <a:t>facility’s policy to learn which drugs must be calculated and </a:t>
            </a:r>
          </a:p>
          <a:p>
            <a:r>
              <a:t>checked by two nurses. </a:t>
            </a:r>
          </a:p>
          <a:p>
            <a:r>
              <a:t> Confirm the child’s identity using two patient identifiers </a:t>
            </a:r>
          </a:p>
          <a:p>
            <a:r>
              <a:t>according to facility policy. </a:t>
            </a:r>
          </a:p>
          <a:p>
            <a:r>
              <a:t>Purpose </a:t>
            </a:r>
          </a:p>
          <a:p>
            <a:r>
              <a:t>To safely administer oral medications </a:t>
            </a:r>
          </a:p>
          <a:p>
            <a:r>
              <a:t> </a:t>
            </a:r>
          </a:p>
          <a:p>
            <a:r>
              <a:t>Equipment </a:t>
            </a:r>
          </a:p>
          <a:p>
            <a:r>
              <a:t>For oral medications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 Prescribed medication </a:t>
            </a:r>
          </a:p>
          <a:p>
            <a:r>
              <a:t> Plastic disposable syringe, plastic medicine dropper, or </a:t>
            </a:r>
          </a:p>
          <a:p>
            <a:r>
              <a:t>spoon </a:t>
            </a:r>
          </a:p>
          <a:p>
            <a:r>
              <a:t> Medication cup  </a:t>
            </a:r>
          </a:p>
          <a:p>
            <a:r>
              <a:t> Water, syrup, or jelly (for tablets) </a:t>
            </a:r>
          </a:p>
          <a:p>
            <a:r>
              <a:t> Optional: fruit juice.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Steps </a:t>
            </a:r>
          </a:p>
          <a:p>
            <a:r>
              <a:t>1. Verify medication orders and assemble supplies. </a:t>
            </a:r>
          </a:p>
          <a:p>
            <a:r>
              <a:t>2. Place the infant’s legs between your knees to maintain control </a:t>
            </a:r>
          </a:p>
          <a:p>
            <a:r>
              <a:t>of them. </a:t>
            </a:r>
          </a:p>
          <a:p>
            <a:r>
              <a:t>3. Place one of the infant’s arms behind your back and restrain </a:t>
            </a:r>
          </a:p>
          <a:p>
            <a:r>
              <a:t>the other arm by “hugging” the child (this helps to prevent the </a:t>
            </a:r>
          </a:p>
          <a:p>
            <a:r>
              <a:t>child from tipping the medication cup).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49 </a:t>
            </a:r>
          </a:p>
          <a:p>
            <a:r>
              <a:t>facility’s policy to learn which drugs must be calculated and </a:t>
            </a:r>
          </a:p>
          <a:p>
            <a:r>
              <a:t>checked by two nurses. </a:t>
            </a:r>
          </a:p>
          <a:p>
            <a:r>
              <a:t> Confirm the child’s identity using two patient identifiers </a:t>
            </a:r>
          </a:p>
          <a:p>
            <a:r>
              <a:t>according to facility policy. </a:t>
            </a:r>
          </a:p>
          <a:p>
            <a:r>
              <a:t>Purpose </a:t>
            </a:r>
          </a:p>
          <a:p>
            <a:r>
              <a:t>To safely administer oral medications </a:t>
            </a:r>
          </a:p>
          <a:p>
            <a:r>
              <a:t> </a:t>
            </a:r>
          </a:p>
          <a:p>
            <a:r>
              <a:t>Equipment </a:t>
            </a:r>
          </a:p>
          <a:p>
            <a:r>
              <a:t>For oral medications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 Prescribed medication </a:t>
            </a:r>
          </a:p>
          <a:p>
            <a:r>
              <a:t> Plastic disposable syringe, plastic medicine dropper, or </a:t>
            </a:r>
          </a:p>
          <a:p>
            <a:r>
              <a:t>spoon </a:t>
            </a:r>
          </a:p>
          <a:p>
            <a:r>
              <a:t> Medication cup  </a:t>
            </a:r>
          </a:p>
          <a:p>
            <a:r>
              <a:t> Water, syrup, or jelly (for tablets) </a:t>
            </a:r>
          </a:p>
          <a:p>
            <a:r>
              <a:t> Optional: fruit juice.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Steps </a:t>
            </a:r>
          </a:p>
          <a:p>
            <a:r>
              <a:t>1. Verify medication orders and assemble supplies. </a:t>
            </a:r>
          </a:p>
          <a:p>
            <a:r>
              <a:t>2. Place the infant’s legs between your knees to maintain control </a:t>
            </a:r>
          </a:p>
          <a:p>
            <a:r>
              <a:t>of them. </a:t>
            </a:r>
          </a:p>
          <a:p>
            <a:r>
              <a:t>3. Place one of the infant’s arms behind your back and restrain </a:t>
            </a:r>
          </a:p>
          <a:p>
            <a:r>
              <a:t>the other arm by “hugging” the child (this helps to prevent the </a:t>
            </a:r>
          </a:p>
          <a:p>
            <a:r>
              <a:t>child from tipping the medication cup).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49 </a:t>
            </a:r>
          </a:p>
          <a:p>
            <a:r>
              <a:t>facility’s policy to learn which drugs must be calculated and </a:t>
            </a:r>
          </a:p>
          <a:p>
            <a:r>
              <a:t>checked by two nurses. </a:t>
            </a:r>
          </a:p>
          <a:p>
            <a:r>
              <a:t> Confirm the child’s identity using two patient identifiers </a:t>
            </a:r>
          </a:p>
          <a:p>
            <a:r>
              <a:t>according to facility policy. </a:t>
            </a:r>
          </a:p>
          <a:p>
            <a:r>
              <a:t>Purpose </a:t>
            </a:r>
          </a:p>
          <a:p>
            <a:r>
              <a:t>To safely administer oral medications </a:t>
            </a:r>
          </a:p>
          <a:p>
            <a:r>
              <a:t> </a:t>
            </a:r>
          </a:p>
          <a:p>
            <a:r>
              <a:t>Equipment </a:t>
            </a:r>
          </a:p>
          <a:p>
            <a:r>
              <a:t>For oral medications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 Prescribed medication </a:t>
            </a:r>
          </a:p>
          <a:p>
            <a:r>
              <a:t> Plastic disposable syringe, plastic medicine dropper, or </a:t>
            </a:r>
          </a:p>
          <a:p>
            <a:r>
              <a:t>spoon </a:t>
            </a:r>
          </a:p>
          <a:p>
            <a:r>
              <a:t> Medication cup  </a:t>
            </a:r>
          </a:p>
          <a:p>
            <a:r>
              <a:t> Water, syrup, or jelly (for tablets) </a:t>
            </a:r>
          </a:p>
          <a:p>
            <a:r>
              <a:t> Optional: fruit juice.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Steps </a:t>
            </a:r>
          </a:p>
          <a:p>
            <a:r>
              <a:t>1. Verify medication orders and assemble supplies. </a:t>
            </a:r>
          </a:p>
          <a:p>
            <a:r>
              <a:t>2. Place the infant’s legs between your knees to maintain control </a:t>
            </a:r>
          </a:p>
          <a:p>
            <a:r>
              <a:t>of them. </a:t>
            </a:r>
          </a:p>
          <a:p>
            <a:r>
              <a:t>3. Place one of the infant’s arms behind your back and restrain </a:t>
            </a:r>
          </a:p>
          <a:p>
            <a:r>
              <a:t>the other arm by “hugging” the child (this helps to prevent the </a:t>
            </a:r>
          </a:p>
          <a:p>
            <a:r>
              <a:t>child from tipping the medication cup).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50 </a:t>
            </a:r>
          </a:p>
          <a:p>
            <a:r>
              <a:t>4. Give the medication slowly by cup or syringe to allow the child </a:t>
            </a:r>
          </a:p>
          <a:p>
            <a:r>
              <a:t>time to swallow. An older child may be given the choice to self-</a:t>
            </a:r>
          </a:p>
          <a:p>
            <a:r>
              <a:t>administer the medication by cup or syringe. </a:t>
            </a:r>
          </a:p>
          <a:p>
            <a:r>
              <a:t>5. Provide “chasers” of water, fruit juice, or frozen ice-pops to </a:t>
            </a:r>
          </a:p>
          <a:p>
            <a:r>
              <a:t>help lessen the residual taste of the medicine. The patient’s age </a:t>
            </a:r>
          </a:p>
          <a:p>
            <a:r>
              <a:t>and diet prescription are considered when choosing a chaser. </a:t>
            </a:r>
          </a:p>
          <a:p>
            <a:r>
              <a:t>6. Remove gloves and perform hand hygiene. </a:t>
            </a:r>
          </a:p>
          <a:p>
            <a:r>
              <a:t>7. Document in the medication administration record (MAR) the </a:t>
            </a:r>
          </a:p>
          <a:p>
            <a:r>
              <a:t>medication, route, time, and dose given </a:t>
            </a:r>
          </a:p>
          <a:p>
            <a:r>
              <a:t> Measure a drug ordered in teaspoons in milliliters; the </a:t>
            </a:r>
          </a:p>
          <a:p>
            <a:r>
              <a:t>established standard is 5 ml/tsp. </a:t>
            </a:r>
          </a:p>
          <a:p>
            <a:r>
              <a:t> </a:t>
            </a:r>
          </a:p>
          <a:p>
            <a:r>
              <a:t>Notices </a:t>
            </a:r>
          </a:p>
          <a:p>
            <a:r>
              <a:t> The administration of medication by mouth is preferred in </a:t>
            </a:r>
          </a:p>
          <a:p>
            <a:r>
              <a:t>children but is not always possible because of vomiting, </a:t>
            </a:r>
          </a:p>
          <a:p>
            <a:r>
              <a:t>malabsorption, or refusal. </a:t>
            </a:r>
          </a:p>
          <a:p>
            <a:r>
              <a:t> </a:t>
            </a:r>
          </a:p>
          <a:p>
            <a:r>
              <a:t> Only scored tablets should be divided. Extended-release </a:t>
            </a:r>
          </a:p>
          <a:p>
            <a:r>
              <a:t>tablets should not be chewed or crushed. Gel tablets should </a:t>
            </a:r>
          </a:p>
          <a:p>
            <a:r>
              <a:t>not be cut or dissolved. Suspensions must be fully shaken </a:t>
            </a:r>
          </a:p>
          <a:p>
            <a:r>
              <a:t>before use. </a:t>
            </a:r>
          </a:p>
          <a:p>
            <a:r>
              <a:t> </a:t>
            </a:r>
          </a:p>
          <a:p>
            <a:r>
              <a:t> Medications should not be diluted in formula or water, </a:t>
            </a:r>
          </a:p>
          <a:p>
            <a:r>
              <a:t>because medications should be given in the smallest amount </a:t>
            </a:r>
          </a:p>
          <a:p>
            <a:r>
              <a:t>possible to assure the complete dose is consumed. </a:t>
            </a:r>
          </a:p>
          <a:p>
            <a:r>
              <a:t> </a:t>
            </a:r>
          </a:p>
          <a:p>
            <a:r>
              <a:t> The use of important sources of nutrients, foods, or liquids </a:t>
            </a:r>
          </a:p>
          <a:p>
            <a:r>
              <a:t>(e.g., orange juice) for disguising the taste of the medication </a:t>
            </a:r>
          </a:p>
          <a:p>
            <a:r>
              <a:t>is discouraged because the child may develop a distaste for </a:t>
            </a:r>
          </a:p>
          <a:p>
            <a:r>
              <a:t>these foods.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50 </a:t>
            </a:r>
          </a:p>
          <a:p>
            <a:r>
              <a:t>4. Give the medication slowly by cup or syringe to allow the child </a:t>
            </a:r>
          </a:p>
          <a:p>
            <a:r>
              <a:t>time to swallow. An older child may be given the choice to self-</a:t>
            </a:r>
          </a:p>
          <a:p>
            <a:r>
              <a:t>administer the medication by cup or syringe. </a:t>
            </a:r>
          </a:p>
          <a:p>
            <a:r>
              <a:t>5. Provide “chasers” of water, fruit juice, or frozen ice-pops to </a:t>
            </a:r>
          </a:p>
          <a:p>
            <a:r>
              <a:t>help lessen the residual taste of the medicine. The patient’s age </a:t>
            </a:r>
          </a:p>
          <a:p>
            <a:r>
              <a:t>and diet prescription are considered when choosing a chaser. </a:t>
            </a:r>
          </a:p>
          <a:p>
            <a:r>
              <a:t>6. Remove gloves and perform hand hygiene. </a:t>
            </a:r>
          </a:p>
          <a:p>
            <a:r>
              <a:t>7. Document in the medication administration record (MAR) the </a:t>
            </a:r>
          </a:p>
          <a:p>
            <a:r>
              <a:t>medication, route, time, and dose given </a:t>
            </a:r>
          </a:p>
          <a:p>
            <a:r>
              <a:t> Measure a drug ordered in teaspoons in milliliters; the </a:t>
            </a:r>
          </a:p>
          <a:p>
            <a:r>
              <a:t>established standard is 5 ml/tsp. </a:t>
            </a:r>
          </a:p>
          <a:p>
            <a:r>
              <a:t> </a:t>
            </a:r>
          </a:p>
          <a:p>
            <a:r>
              <a:t>Notices </a:t>
            </a:r>
          </a:p>
          <a:p>
            <a:r>
              <a:t> The administration of medication by mouth is preferred in </a:t>
            </a:r>
          </a:p>
          <a:p>
            <a:r>
              <a:t>children but is not always possible because of vomiting, </a:t>
            </a:r>
          </a:p>
          <a:p>
            <a:r>
              <a:t>malabsorption, or refusal. </a:t>
            </a:r>
          </a:p>
          <a:p>
            <a:r>
              <a:t> </a:t>
            </a:r>
          </a:p>
          <a:p>
            <a:r>
              <a:t> Only scored tablets should be divided. Extended-release </a:t>
            </a:r>
          </a:p>
          <a:p>
            <a:r>
              <a:t>tablets should not be chewed or crushed. Gel tablets should </a:t>
            </a:r>
          </a:p>
          <a:p>
            <a:r>
              <a:t>not be cut or dissolved. Suspensions must be fully shaken </a:t>
            </a:r>
          </a:p>
          <a:p>
            <a:r>
              <a:t>before use. </a:t>
            </a:r>
          </a:p>
          <a:p>
            <a:r>
              <a:t> </a:t>
            </a:r>
          </a:p>
          <a:p>
            <a:r>
              <a:t> Medications should not be diluted in formula or water, </a:t>
            </a:r>
          </a:p>
          <a:p>
            <a:r>
              <a:t>because medications should be given in the smallest amount </a:t>
            </a:r>
          </a:p>
          <a:p>
            <a:r>
              <a:t>possible to assure the complete dose is consumed. </a:t>
            </a:r>
          </a:p>
          <a:p>
            <a:r>
              <a:t> </a:t>
            </a:r>
          </a:p>
          <a:p>
            <a:r>
              <a:t> The use of important sources of nutrients, foods, or liquids </a:t>
            </a:r>
          </a:p>
          <a:p>
            <a:r>
              <a:t>(e.g., orange juice) for disguising the taste of the medication </a:t>
            </a:r>
          </a:p>
          <a:p>
            <a:r>
              <a:t>is discouraged because the child may develop a distaste for </a:t>
            </a:r>
          </a:p>
          <a:p>
            <a:r>
              <a:t>these foods.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51 </a:t>
            </a:r>
          </a:p>
          <a:p>
            <a:r>
              <a:t> Medication is administered slowly, especially if the child is </a:t>
            </a:r>
          </a:p>
          <a:p>
            <a:r>
              <a:t>crying. The child’s head and shoulders are elevated to </a:t>
            </a:r>
          </a:p>
          <a:p>
            <a:r>
              <a:t>prevent aspiration. Toddlers may attempt to push away the </a:t>
            </a:r>
          </a:p>
          <a:p>
            <a:r>
              <a:t>medicine cup. In anticipation of this response, the nurse holds </a:t>
            </a:r>
          </a:p>
          <a:p>
            <a:r>
              <a:t>the child in a “hug” position in the nurse’s lap in a semi </a:t>
            </a:r>
          </a:p>
          <a:p>
            <a:r>
              <a:t>sitting position </a:t>
            </a:r>
          </a:p>
          <a:p>
            <a:r>
              <a:t> </a:t>
            </a:r>
          </a:p>
          <a:p>
            <a:r>
              <a:t> If a nasogastric tube is in place, the nurse tests for proper </a:t>
            </a:r>
          </a:p>
          <a:p>
            <a:r>
              <a:t>placement of the tube before pouring medication into the </a:t>
            </a:r>
          </a:p>
          <a:p>
            <a:r>
              <a:t>funnel. A small amount of water is administered afterward to </a:t>
            </a:r>
          </a:p>
          <a:p>
            <a:r>
              <a:t>flush (cleanse) the tube. </a:t>
            </a:r>
          </a:p>
          <a:p>
            <a:r>
              <a:t> </a:t>
            </a:r>
          </a:p>
          <a:p>
            <a:r>
              <a:t> An oral syringe is an excellent device for measuring small </a:t>
            </a:r>
          </a:p>
          <a:p>
            <a:r>
              <a:t>quantities. It is easily transported, and medication can be </a:t>
            </a:r>
          </a:p>
          <a:p>
            <a:r>
              <a:t>provided directly from the syringe. The syringe is placed </a:t>
            </a:r>
          </a:p>
          <a:p>
            <a:r>
              <a:t>midway back at the side of the mouth.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Giving oral medication to an infant </a:t>
            </a:r>
          </a:p>
          <a:p>
            <a:r>
              <a:t> Use a plastic syringe without a needle or a drug-specific </a:t>
            </a:r>
          </a:p>
          <a:p>
            <a:r>
              <a:t>medicine dropper to measure the dose. If the medication </a:t>
            </a:r>
          </a:p>
          <a:p>
            <a:r>
              <a:t>comes in tablet form, first crush the tablet (if appropriate)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51 </a:t>
            </a:r>
          </a:p>
          <a:p>
            <a:r>
              <a:t> Medication is administered slowly, especially if the child is </a:t>
            </a:r>
          </a:p>
          <a:p>
            <a:r>
              <a:t>crying. The child’s head and shoulders are elevated to </a:t>
            </a:r>
          </a:p>
          <a:p>
            <a:r>
              <a:t>prevent aspiration. Toddlers may attempt to push away the </a:t>
            </a:r>
          </a:p>
          <a:p>
            <a:r>
              <a:t>medicine cup. In anticipation of this response, the nurse holds </a:t>
            </a:r>
          </a:p>
          <a:p>
            <a:r>
              <a:t>the child in a “hug” position in the nurse’s lap in a semi </a:t>
            </a:r>
          </a:p>
          <a:p>
            <a:r>
              <a:t>sitting position </a:t>
            </a:r>
          </a:p>
          <a:p>
            <a:r>
              <a:t> </a:t>
            </a:r>
          </a:p>
          <a:p>
            <a:r>
              <a:t> If a nasogastric tube is in place, the nurse tests for proper </a:t>
            </a:r>
          </a:p>
          <a:p>
            <a:r>
              <a:t>placement of the tube before pouring medication into the </a:t>
            </a:r>
          </a:p>
          <a:p>
            <a:r>
              <a:t>funnel. A small amount of water is administered afterward to </a:t>
            </a:r>
          </a:p>
          <a:p>
            <a:r>
              <a:t>flush (cleanse) the tube. </a:t>
            </a:r>
          </a:p>
          <a:p>
            <a:r>
              <a:t> </a:t>
            </a:r>
          </a:p>
          <a:p>
            <a:r>
              <a:t> An oral syringe is an excellent device for measuring small </a:t>
            </a:r>
          </a:p>
          <a:p>
            <a:r>
              <a:t>quantities. It is easily transported, and medication can be </a:t>
            </a:r>
          </a:p>
          <a:p>
            <a:r>
              <a:t>provided directly from the syringe. The syringe is placed </a:t>
            </a:r>
          </a:p>
          <a:p>
            <a:r>
              <a:t>midway back at the side of the mouth.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Giving oral medication to an infant </a:t>
            </a:r>
          </a:p>
          <a:p>
            <a:r>
              <a:t> Use a plastic syringe without a needle or a drug-specific </a:t>
            </a:r>
          </a:p>
          <a:p>
            <a:r>
              <a:t>medicine dropper to measure the dose. If the medication </a:t>
            </a:r>
          </a:p>
          <a:p>
            <a:r>
              <a:t>comes in tablet form, first crush the tablet (if appropriate)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51 </a:t>
            </a:r>
          </a:p>
          <a:p>
            <a:r>
              <a:t> Medication is administered slowly, especially if the child is </a:t>
            </a:r>
          </a:p>
          <a:p>
            <a:r>
              <a:t>crying. The child’s head and shoulders are elevated to </a:t>
            </a:r>
          </a:p>
          <a:p>
            <a:r>
              <a:t>prevent aspiration. Toddlers may attempt to push away the </a:t>
            </a:r>
          </a:p>
          <a:p>
            <a:r>
              <a:t>medicine cup. In anticipation of this response, the nurse holds </a:t>
            </a:r>
          </a:p>
          <a:p>
            <a:r>
              <a:t>the child in a “hug” position in the nurse’s lap in a semi </a:t>
            </a:r>
          </a:p>
          <a:p>
            <a:r>
              <a:t>sitting position </a:t>
            </a:r>
          </a:p>
          <a:p>
            <a:r>
              <a:t> </a:t>
            </a:r>
          </a:p>
          <a:p>
            <a:r>
              <a:t> If a nasogastric tube is in place, the nurse tests for proper </a:t>
            </a:r>
          </a:p>
          <a:p>
            <a:r>
              <a:t>placement of the tube before pouring medication into the </a:t>
            </a:r>
          </a:p>
          <a:p>
            <a:r>
              <a:t>funnel. A small amount of water is administered afterward to </a:t>
            </a:r>
          </a:p>
          <a:p>
            <a:r>
              <a:t>flush (cleanse) the tube. </a:t>
            </a:r>
          </a:p>
          <a:p>
            <a:r>
              <a:t> </a:t>
            </a:r>
          </a:p>
          <a:p>
            <a:r>
              <a:t> An oral syringe is an excellent device for measuring small </a:t>
            </a:r>
          </a:p>
          <a:p>
            <a:r>
              <a:t>quantities. It is easily transported, and medication can be </a:t>
            </a:r>
          </a:p>
          <a:p>
            <a:r>
              <a:t>provided directly from the syringe. The syringe is placed </a:t>
            </a:r>
          </a:p>
          <a:p>
            <a:r>
              <a:t>midway back at the side of the mouth.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Giving oral medication to an infant </a:t>
            </a:r>
          </a:p>
          <a:p>
            <a:r>
              <a:t> Use a plastic syringe without a needle or a drug-specific </a:t>
            </a:r>
          </a:p>
          <a:p>
            <a:r>
              <a:t>medicine dropper to measure the dose. If the medication </a:t>
            </a:r>
          </a:p>
          <a:p>
            <a:r>
              <a:t>comes in tablet form, first crush the tablet (if appropriate)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52 </a:t>
            </a:r>
          </a:p>
          <a:p>
            <a:r>
              <a:t>and mix it with water or syrup. Then draw the mixture into </a:t>
            </a:r>
          </a:p>
          <a:p>
            <a:r>
              <a:t>the syringe or dropper. </a:t>
            </a:r>
          </a:p>
          <a:p>
            <a:r>
              <a:t> Pick up the infant, raising his head and shoulders or turning </a:t>
            </a:r>
          </a:p>
          <a:p>
            <a:r>
              <a:t>his head to one side  </a:t>
            </a:r>
          </a:p>
          <a:p>
            <a:r>
              <a:t>R:to prevent aspiration.  </a:t>
            </a:r>
          </a:p>
          <a:p>
            <a:r>
              <a:t> Hold the infant close to your body </a:t>
            </a:r>
          </a:p>
          <a:p>
            <a:r>
              <a:t>R: To help restrain him. </a:t>
            </a:r>
          </a:p>
          <a:p>
            <a:r>
              <a:t> Using your thumb, press down on the infant's chin </a:t>
            </a:r>
          </a:p>
          <a:p>
            <a:r>
              <a:t>R: to open his mouth. </a:t>
            </a:r>
          </a:p>
          <a:p>
            <a:r>
              <a:t> Slide the syringe or medicine dropper into the infant's </a:t>
            </a:r>
          </a:p>
          <a:p>
            <a:r>
              <a:t>mouth alongside his tongue. Release the medication slowly  </a:t>
            </a:r>
          </a:p>
          <a:p>
            <a:r>
              <a:t>R:to let the infant swallow and to prevent choking. If appropriate, </a:t>
            </a:r>
          </a:p>
          <a:p>
            <a:r>
              <a:t>allow him to suck on the syringe as you expel the medication. </a:t>
            </a:r>
          </a:p>
          <a:p>
            <a:r>
              <a:t> If not contraindicated, give fruit juice after giving </a:t>
            </a:r>
          </a:p>
          <a:p>
            <a:r>
              <a:t>medication. </a:t>
            </a:r>
          </a:p>
          <a:p>
            <a:r>
              <a:t> Then place a particularly small or inactive infant on his side </a:t>
            </a:r>
          </a:p>
          <a:p>
            <a:r>
              <a:t>or back  </a:t>
            </a:r>
          </a:p>
          <a:p>
            <a:r>
              <a:t>R:to decrease the risk of sudden infant death syndrome, as </a:t>
            </a:r>
          </a:p>
          <a:p>
            <a:r>
              <a:t>recommended by the American Academy of Pediatrics.  </a:t>
            </a:r>
          </a:p>
          <a:p>
            <a:r>
              <a:t> Allow an active infant to assume a position that's </a:t>
            </a:r>
          </a:p>
          <a:p>
            <a:r>
              <a:t>comfortable for him; avoid forcing him into a side lying </a:t>
            </a:r>
          </a:p>
          <a:p>
            <a:r>
              <a:t>position  </a:t>
            </a:r>
          </a:p>
          <a:p>
            <a:r>
              <a:t>R:to prevent agitation. </a:t>
            </a:r>
          </a:p>
          <a:p>
            <a:r>
              <a:t> </a:t>
            </a:r>
          </a:p>
          <a:p>
            <a:r>
              <a:t>Giving oral medication to a toddler </a:t>
            </a:r>
          </a:p>
          <a:p>
            <a:r>
              <a:t> Use a plastic, disposable syringe or dropper to measure </a:t>
            </a:r>
          </a:p>
          <a:p>
            <a:r>
              <a:t>liquid medication. Then transfer the fluid to a medication </a:t>
            </a:r>
          </a:p>
          <a:p>
            <a:r>
              <a:t>cup. </a:t>
            </a:r>
          </a:p>
          <a:p>
            <a:r>
              <a:t> Elevate the toddler's head and shoulders </a:t>
            </a:r>
          </a:p>
          <a:p>
            <a:r>
              <a:t>R: to prevent aspiration. </a:t>
            </a:r>
          </a:p>
          <a:p>
            <a:r>
              <a:t> If possible, ask him to help hold the cup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52 </a:t>
            </a:r>
          </a:p>
          <a:p>
            <a:r>
              <a:t>and mix it with water or syrup. Then draw the mixture into </a:t>
            </a:r>
          </a:p>
          <a:p>
            <a:r>
              <a:t>the syringe or dropper. </a:t>
            </a:r>
          </a:p>
          <a:p>
            <a:r>
              <a:t> Pick up the infant, raising his head and shoulders or turning </a:t>
            </a:r>
          </a:p>
          <a:p>
            <a:r>
              <a:t>his head to one side  </a:t>
            </a:r>
          </a:p>
          <a:p>
            <a:r>
              <a:t>R:to prevent aspiration.  </a:t>
            </a:r>
          </a:p>
          <a:p>
            <a:r>
              <a:t> Hold the infant close to your body </a:t>
            </a:r>
          </a:p>
          <a:p>
            <a:r>
              <a:t>R: To help restrain him. </a:t>
            </a:r>
          </a:p>
          <a:p>
            <a:r>
              <a:t> Using your thumb, press down on the infant's chin </a:t>
            </a:r>
          </a:p>
          <a:p>
            <a:r>
              <a:t>R: to open his mouth. </a:t>
            </a:r>
          </a:p>
          <a:p>
            <a:r>
              <a:t> Slide the syringe or medicine dropper into the infant's </a:t>
            </a:r>
          </a:p>
          <a:p>
            <a:r>
              <a:t>mouth alongside his tongue. Release the medication slowly  </a:t>
            </a:r>
          </a:p>
          <a:p>
            <a:r>
              <a:t>R:to let the infant swallow and to prevent choking. If appropriate, </a:t>
            </a:r>
          </a:p>
          <a:p>
            <a:r>
              <a:t>allow him to suck on the syringe as you expel the medication. </a:t>
            </a:r>
          </a:p>
          <a:p>
            <a:r>
              <a:t> If not contraindicated, give fruit juice after giving </a:t>
            </a:r>
          </a:p>
          <a:p>
            <a:r>
              <a:t>medication. </a:t>
            </a:r>
          </a:p>
          <a:p>
            <a:r>
              <a:t> Then place a particularly small or inactive infant on his side </a:t>
            </a:r>
          </a:p>
          <a:p>
            <a:r>
              <a:t>or back  </a:t>
            </a:r>
          </a:p>
          <a:p>
            <a:r>
              <a:t>R:to decrease the risk of sudden infant death syndrome, as </a:t>
            </a:r>
          </a:p>
          <a:p>
            <a:r>
              <a:t>recommended by the American Academy of Pediatrics.  </a:t>
            </a:r>
          </a:p>
          <a:p>
            <a:r>
              <a:t> Allow an active infant to assume a position that's </a:t>
            </a:r>
          </a:p>
          <a:p>
            <a:r>
              <a:t>comfortable for him; avoid forcing him into a side lying </a:t>
            </a:r>
          </a:p>
          <a:p>
            <a:r>
              <a:t>position  </a:t>
            </a:r>
          </a:p>
          <a:p>
            <a:r>
              <a:t>R:to prevent agitation. </a:t>
            </a:r>
          </a:p>
          <a:p>
            <a:r>
              <a:t> </a:t>
            </a:r>
          </a:p>
          <a:p>
            <a:r>
              <a:t>Giving oral medication to a toddler </a:t>
            </a:r>
          </a:p>
          <a:p>
            <a:r>
              <a:t> Use a plastic, disposable syringe or dropper to measure </a:t>
            </a:r>
          </a:p>
          <a:p>
            <a:r>
              <a:t>liquid medication. Then transfer the fluid to a medication </a:t>
            </a:r>
          </a:p>
          <a:p>
            <a:r>
              <a:t>cup. </a:t>
            </a:r>
          </a:p>
          <a:p>
            <a:r>
              <a:t> Elevate the toddler's head and shoulders </a:t>
            </a:r>
          </a:p>
          <a:p>
            <a:r>
              <a:t>R: to prevent aspiration. </a:t>
            </a:r>
          </a:p>
          <a:p>
            <a:r>
              <a:t> If possible, ask him to help hold the cup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52 </a:t>
            </a:r>
          </a:p>
          <a:p>
            <a:r>
              <a:t>and mix it with water or syrup. Then draw the mixture into </a:t>
            </a:r>
          </a:p>
          <a:p>
            <a:r>
              <a:t>the syringe or dropper. </a:t>
            </a:r>
          </a:p>
          <a:p>
            <a:r>
              <a:t> Pick up the infant, raising his head and shoulders or turning </a:t>
            </a:r>
          </a:p>
          <a:p>
            <a:r>
              <a:t>his head to one side  </a:t>
            </a:r>
          </a:p>
          <a:p>
            <a:r>
              <a:t>R:to prevent aspiration.  </a:t>
            </a:r>
          </a:p>
          <a:p>
            <a:r>
              <a:t> Hold the infant close to your body </a:t>
            </a:r>
          </a:p>
          <a:p>
            <a:r>
              <a:t>R: To help restrain him. </a:t>
            </a:r>
          </a:p>
          <a:p>
            <a:r>
              <a:t> Using your thumb, press down on the infant's chin </a:t>
            </a:r>
          </a:p>
          <a:p>
            <a:r>
              <a:t>R: to open his mouth. </a:t>
            </a:r>
          </a:p>
          <a:p>
            <a:r>
              <a:t> Slide the syringe or medicine dropper into the infant's </a:t>
            </a:r>
          </a:p>
          <a:p>
            <a:r>
              <a:t>mouth alongside his tongue. Release the medication slowly  </a:t>
            </a:r>
          </a:p>
          <a:p>
            <a:r>
              <a:t>R:to let the infant swallow and to prevent choking. If appropriate, </a:t>
            </a:r>
          </a:p>
          <a:p>
            <a:r>
              <a:t>allow him to suck on the syringe as you expel the medication. </a:t>
            </a:r>
          </a:p>
          <a:p>
            <a:r>
              <a:t> If not contraindicated, give fruit juice after giving </a:t>
            </a:r>
          </a:p>
          <a:p>
            <a:r>
              <a:t>medication. </a:t>
            </a:r>
          </a:p>
          <a:p>
            <a:r>
              <a:t> Then place a particularly small or inactive infant on his side </a:t>
            </a:r>
          </a:p>
          <a:p>
            <a:r>
              <a:t>or back  </a:t>
            </a:r>
          </a:p>
          <a:p>
            <a:r>
              <a:t>R:to decrease the risk of sudden infant death syndrome, as </a:t>
            </a:r>
          </a:p>
          <a:p>
            <a:r>
              <a:t>recommended by the American Academy of Pediatrics.  </a:t>
            </a:r>
          </a:p>
          <a:p>
            <a:r>
              <a:t> Allow an active infant to assume a position that's </a:t>
            </a:r>
          </a:p>
          <a:p>
            <a:r>
              <a:t>comfortable for him; avoid forcing him into a side lying </a:t>
            </a:r>
          </a:p>
          <a:p>
            <a:r>
              <a:t>position  </a:t>
            </a:r>
          </a:p>
          <a:p>
            <a:r>
              <a:t>R:to prevent agitation. </a:t>
            </a:r>
          </a:p>
          <a:p>
            <a:r>
              <a:t> </a:t>
            </a:r>
          </a:p>
          <a:p>
            <a:r>
              <a:t>Giving oral medication to a toddler </a:t>
            </a:r>
          </a:p>
          <a:p>
            <a:r>
              <a:t> Use a plastic, disposable syringe or dropper to measure </a:t>
            </a:r>
          </a:p>
          <a:p>
            <a:r>
              <a:t>liquid medication. Then transfer the fluid to a medication </a:t>
            </a:r>
          </a:p>
          <a:p>
            <a:r>
              <a:t>cup. </a:t>
            </a:r>
          </a:p>
          <a:p>
            <a:r>
              <a:t> Elevate the toddler's head and shoulders </a:t>
            </a:r>
          </a:p>
          <a:p>
            <a:r>
              <a:t>R: to prevent aspiration. </a:t>
            </a:r>
          </a:p>
          <a:p>
            <a:r>
              <a:t> If possible, ask him to help hold the cup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53 </a:t>
            </a:r>
          </a:p>
          <a:p>
            <a:r>
              <a:t>R:to enlist his cooperation. Otherwise, hold the cup to the </a:t>
            </a:r>
          </a:p>
          <a:p>
            <a:r>
              <a:t>toddler's lips, or use a syringe or a spoon to administer the liquid. </a:t>
            </a:r>
          </a:p>
          <a:p>
            <a:r>
              <a:t>Make sure the toddler ingests all of the medication. </a:t>
            </a:r>
          </a:p>
          <a:p>
            <a:r>
              <a:t> If the medication is in tablet form, first crush the tablet, </a:t>
            </a:r>
          </a:p>
          <a:p>
            <a:r>
              <a:t>if appropriate, and mix it with water, syrup, or jelly. Use a </a:t>
            </a:r>
          </a:p>
          <a:p>
            <a:r>
              <a:t>spoon, syringe, or dropper to administer the medication.  </a:t>
            </a:r>
          </a:p>
          <a:p>
            <a:r>
              <a:t> </a:t>
            </a:r>
          </a:p>
          <a:p>
            <a:r>
              <a:t>Giving oral medication to an older child </a:t>
            </a:r>
          </a:p>
          <a:p>
            <a:r>
              <a:t> If possible, let the child choose the liquid medication </a:t>
            </a:r>
          </a:p>
          <a:p>
            <a:r>
              <a:t>mixer and a beverage to drink after taking the medication. </a:t>
            </a:r>
          </a:p>
          <a:p>
            <a:r>
              <a:t> If appropriate, allow him to choose where he'll take the </a:t>
            </a:r>
          </a:p>
          <a:p>
            <a:r>
              <a:t>medication, for example, sitting in bed or sitting on a parent's lap. </a:t>
            </a:r>
          </a:p>
          <a:p>
            <a:r>
              <a:t> If the medication comes in tablet or capsule form, and if </a:t>
            </a:r>
          </a:p>
          <a:p>
            <a:r>
              <a:t>the child is old enough (between ages 4 and 6), teach him how to </a:t>
            </a:r>
          </a:p>
          <a:p>
            <a:r>
              <a:t>swallow solid medication. (If he knows how to do this, review the </a:t>
            </a:r>
          </a:p>
          <a:p>
            <a:r>
              <a:t>procedure with him for safety's sake.) Tell him to place the pill </a:t>
            </a:r>
          </a:p>
          <a:p>
            <a:r>
              <a:t>on the back of his tongue and to swallow it immediately by </a:t>
            </a:r>
          </a:p>
          <a:p>
            <a:r>
              <a:t>drinking water or juice. Focus most of your explanation on the </a:t>
            </a:r>
          </a:p>
          <a:p>
            <a:r>
              <a:t>water or juice. </a:t>
            </a:r>
          </a:p>
          <a:p>
            <a:r>
              <a:t> R:to draw the child's attention away from the pill. Make sure the </a:t>
            </a:r>
          </a:p>
          <a:p>
            <a:r>
              <a:t>child drinks enough water or juice to keep the pill from lodging </a:t>
            </a:r>
          </a:p>
          <a:p>
            <a:r>
              <a:t>in his esophagus. Afterward, look inside the child's mouth </a:t>
            </a:r>
          </a:p>
          <a:p>
            <a:r>
              <a:t>R: to confirm that he swallowed the pill. </a:t>
            </a:r>
          </a:p>
          <a:p>
            <a:r>
              <a:t> </a:t>
            </a:r>
          </a:p>
          <a:p>
            <a:r>
              <a:t>If the child can't swallow the pill whole, crush it (if </a:t>
            </a:r>
          </a:p>
          <a:p>
            <a:r>
              <a:t>appropriate) and mix it with water, syrup, or jelly. Alternatively, </a:t>
            </a:r>
          </a:p>
          <a:p>
            <a:r>
              <a:t>after checking with the child's physician, order the medication in </a:t>
            </a:r>
          </a:p>
          <a:p>
            <a:r>
              <a:t>liquid form. </a:t>
            </a:r>
          </a:p>
          <a:p>
            <a:r>
              <a:t> </a:t>
            </a:r>
          </a:p>
          <a:p>
            <a:r>
              <a:t>Guidelines for administering oral medication </a:t>
            </a:r>
          </a:p>
          <a:p>
            <a:r>
              <a:t> Do not say, “Can you drink this for me?” If an adult seems </a:t>
            </a:r>
          </a:p>
          <a:p>
            <a:r>
              <a:t>unsure whether children can do a task, children can develop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53 </a:t>
            </a:r>
          </a:p>
          <a:p>
            <a:r>
              <a:t>R:to enlist his cooperation. Otherwise, hold the cup to the </a:t>
            </a:r>
          </a:p>
          <a:p>
            <a:r>
              <a:t>toddler's lips, or use a syringe or a spoon to administer the liquid. </a:t>
            </a:r>
          </a:p>
          <a:p>
            <a:r>
              <a:t>Make sure the toddler ingests all of the medication. </a:t>
            </a:r>
          </a:p>
          <a:p>
            <a:r>
              <a:t> If the medication is in tablet form, first crush the tablet, </a:t>
            </a:r>
          </a:p>
          <a:p>
            <a:r>
              <a:t>if appropriate, and mix it with water, syrup, or jelly. Use a </a:t>
            </a:r>
          </a:p>
          <a:p>
            <a:r>
              <a:t>spoon, syringe, or dropper to administer the medication.  </a:t>
            </a:r>
          </a:p>
          <a:p>
            <a:r>
              <a:t> </a:t>
            </a:r>
          </a:p>
          <a:p>
            <a:r>
              <a:t>Giving oral medication to an older child </a:t>
            </a:r>
          </a:p>
          <a:p>
            <a:r>
              <a:t> If possible, let the child choose the liquid medication </a:t>
            </a:r>
          </a:p>
          <a:p>
            <a:r>
              <a:t>mixer and a beverage to drink after taking the medication. </a:t>
            </a:r>
          </a:p>
          <a:p>
            <a:r>
              <a:t> If appropriate, allow him to choose where he'll take the </a:t>
            </a:r>
          </a:p>
          <a:p>
            <a:r>
              <a:t>medication, for example, sitting in bed or sitting on a parent's lap. </a:t>
            </a:r>
          </a:p>
          <a:p>
            <a:r>
              <a:t> If the medication comes in tablet or capsule form, and if </a:t>
            </a:r>
          </a:p>
          <a:p>
            <a:r>
              <a:t>the child is old enough (between ages 4 and 6), teach him how to </a:t>
            </a:r>
          </a:p>
          <a:p>
            <a:r>
              <a:t>swallow solid medication. (If he knows how to do this, review the </a:t>
            </a:r>
          </a:p>
          <a:p>
            <a:r>
              <a:t>procedure with him for safety's sake.) Tell him to place the pill </a:t>
            </a:r>
          </a:p>
          <a:p>
            <a:r>
              <a:t>on the back of his tongue and to swallow it immediately by </a:t>
            </a:r>
          </a:p>
          <a:p>
            <a:r>
              <a:t>drinking water or juice. Focus most of your explanation on the </a:t>
            </a:r>
          </a:p>
          <a:p>
            <a:r>
              <a:t>water or juice. </a:t>
            </a:r>
          </a:p>
          <a:p>
            <a:r>
              <a:t> R:to draw the child's attention away from the pill. Make sure the </a:t>
            </a:r>
          </a:p>
          <a:p>
            <a:r>
              <a:t>child drinks enough water or juice to keep the pill from lodging </a:t>
            </a:r>
          </a:p>
          <a:p>
            <a:r>
              <a:t>in his esophagus. Afterward, look inside the child's mouth </a:t>
            </a:r>
          </a:p>
          <a:p>
            <a:r>
              <a:t>R: to confirm that he swallowed the pill. </a:t>
            </a:r>
          </a:p>
          <a:p>
            <a:r>
              <a:t> </a:t>
            </a:r>
          </a:p>
          <a:p>
            <a:r>
              <a:t>If the child can't swallow the pill whole, crush it (if </a:t>
            </a:r>
          </a:p>
          <a:p>
            <a:r>
              <a:t>appropriate) and mix it with water, syrup, or jelly. Alternatively, </a:t>
            </a:r>
          </a:p>
          <a:p>
            <a:r>
              <a:t>after checking with the child's physician, order the medication in </a:t>
            </a:r>
          </a:p>
          <a:p>
            <a:r>
              <a:t>liquid form. </a:t>
            </a:r>
          </a:p>
          <a:p>
            <a:r>
              <a:t> </a:t>
            </a:r>
          </a:p>
          <a:p>
            <a:r>
              <a:t>Guidelines for administering oral medication </a:t>
            </a:r>
          </a:p>
          <a:p>
            <a:r>
              <a:t> Do not say, “Can you drink this for me?” If an adult seems </a:t>
            </a:r>
          </a:p>
          <a:p>
            <a:r>
              <a:t>unsure whether children can do a task, children can develop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54 </a:t>
            </a:r>
          </a:p>
          <a:p>
            <a:r>
              <a:t>grave doubts themselves or they may just not want to and say </a:t>
            </a:r>
          </a:p>
          <a:p>
            <a:r>
              <a:t>“No.” </a:t>
            </a:r>
          </a:p>
          <a:p>
            <a:r>
              <a:t> Do not say, “Will you drink this for me?” This leaves a </a:t>
            </a:r>
          </a:p>
          <a:p>
            <a:r>
              <a:t>child the opportunity to say no and creates the awkward </a:t>
            </a:r>
          </a:p>
          <a:p>
            <a:r>
              <a:t>position of having to admit the child really does not have a </a:t>
            </a:r>
          </a:p>
          <a:p>
            <a:r>
              <a:t>choice in the matter; the child must take the medicine. </a:t>
            </a:r>
          </a:p>
          <a:p>
            <a:r>
              <a:t> State firmly, “It’s time for you to drink your medicine </a:t>
            </a:r>
          </a:p>
          <a:p>
            <a:r>
              <a:t>now.” Give the child a secondary choice to allow a sense of </a:t>
            </a:r>
          </a:p>
          <a:p>
            <a:r>
              <a:t>control: “It’s time to drink your medicine now; do you </a:t>
            </a:r>
          </a:p>
          <a:p>
            <a:r>
              <a:t>want milk or water to swallow after it?” is a suitable choice, </a:t>
            </a:r>
          </a:p>
          <a:p>
            <a:r>
              <a:t>assuming both milk and water are compatible with the </a:t>
            </a:r>
          </a:p>
          <a:p>
            <a:r>
              <a:t>medication. </a:t>
            </a:r>
          </a:p>
          <a:p>
            <a:r>
              <a:t> Never refer to medicine as candy. If they think it is candy, </a:t>
            </a:r>
          </a:p>
          <a:p>
            <a:r>
              <a:t>children may help themselves to fatal amounts of medicine </a:t>
            </a:r>
          </a:p>
          <a:p>
            <a:r>
              <a:t>when everyone’s back is turned. </a:t>
            </a:r>
          </a:p>
          <a:p>
            <a:r>
              <a:t> Do not use reward systems to persuade children to take </a:t>
            </a:r>
          </a:p>
          <a:p>
            <a:r>
              <a:t>medicine. Bribing may work for one dose, but when a second </a:t>
            </a:r>
          </a:p>
          <a:p>
            <a:r>
              <a:t>dose is due, the child will ask for a bigger bribe; for a third </a:t>
            </a:r>
          </a:p>
          <a:p>
            <a:r>
              <a:t>dose, an even bigger one. At some point (generally reached </a:t>
            </a:r>
          </a:p>
          <a:p>
            <a:r>
              <a:t>quickly), it is impossible to supply such large bribes, and </a:t>
            </a:r>
          </a:p>
          <a:p>
            <a:r>
              <a:t>therefore, it is impossible to gain the child’s cooperation. </a:t>
            </a:r>
          </a:p>
          <a:p>
            <a:r>
              <a:t> Do not threaten. Statements such as “Take this quickly or I</a:t>
            </a:r>
          </a:p>
          <a:p>
            <a:r>
              <a:t>’ll ask the doctor to make it into a shot” are not appropriate </a:t>
            </a:r>
          </a:p>
          <a:p>
            <a:r>
              <a:t>or therapeutic.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54 </a:t>
            </a:r>
          </a:p>
          <a:p>
            <a:r>
              <a:t>grave doubts themselves or they may just not want to and say </a:t>
            </a:r>
          </a:p>
          <a:p>
            <a:r>
              <a:t>“No.” </a:t>
            </a:r>
          </a:p>
          <a:p>
            <a:r>
              <a:t> Do not say, “Will you drink this for me?” This leaves a </a:t>
            </a:r>
          </a:p>
          <a:p>
            <a:r>
              <a:t>child the opportunity to say no and creates the awkward </a:t>
            </a:r>
          </a:p>
          <a:p>
            <a:r>
              <a:t>position of having to admit the child really does not have a </a:t>
            </a:r>
          </a:p>
          <a:p>
            <a:r>
              <a:t>choice in the matter; the child must take the medicine. </a:t>
            </a:r>
          </a:p>
          <a:p>
            <a:r>
              <a:t> State firmly, “It’s time for you to drink your medicine </a:t>
            </a:r>
          </a:p>
          <a:p>
            <a:r>
              <a:t>now.” Give the child a secondary choice to allow a sense of </a:t>
            </a:r>
          </a:p>
          <a:p>
            <a:r>
              <a:t>control: “It’s time to drink your medicine now; do you </a:t>
            </a:r>
          </a:p>
          <a:p>
            <a:r>
              <a:t>want milk or water to swallow after it?” is a suitable choice, </a:t>
            </a:r>
          </a:p>
          <a:p>
            <a:r>
              <a:t>assuming both milk and water are compatible with the </a:t>
            </a:r>
          </a:p>
          <a:p>
            <a:r>
              <a:t>medication. </a:t>
            </a:r>
          </a:p>
          <a:p>
            <a:r>
              <a:t> Never refer to medicine as candy. If they think it is candy, </a:t>
            </a:r>
          </a:p>
          <a:p>
            <a:r>
              <a:t>children may help themselves to fatal amounts of medicine </a:t>
            </a:r>
          </a:p>
          <a:p>
            <a:r>
              <a:t>when everyone’s back is turned. </a:t>
            </a:r>
          </a:p>
          <a:p>
            <a:r>
              <a:t> Do not use reward systems to persuade children to take </a:t>
            </a:r>
          </a:p>
          <a:p>
            <a:r>
              <a:t>medicine. Bribing may work for one dose, but when a second </a:t>
            </a:r>
          </a:p>
          <a:p>
            <a:r>
              <a:t>dose is due, the child will ask for a bigger bribe; for a third </a:t>
            </a:r>
          </a:p>
          <a:p>
            <a:r>
              <a:t>dose, an even bigger one. At some point (generally reached </a:t>
            </a:r>
          </a:p>
          <a:p>
            <a:r>
              <a:t>quickly), it is impossible to supply such large bribes, and </a:t>
            </a:r>
          </a:p>
          <a:p>
            <a:r>
              <a:t>therefore, it is impossible to gain the child’s cooperation. </a:t>
            </a:r>
          </a:p>
          <a:p>
            <a:r>
              <a:t> Do not threaten. Statements such as “Take this quickly or I</a:t>
            </a:r>
          </a:p>
          <a:p>
            <a:r>
              <a:t>’ll ask the doctor to make it into a shot” are not appropriate </a:t>
            </a:r>
          </a:p>
          <a:p>
            <a:r>
              <a:t>or therapeutic.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55 </a:t>
            </a:r>
          </a:p>
          <a:p>
            <a:r>
              <a:t> Children expect honesty from adults; therefore, do not lie </a:t>
            </a:r>
          </a:p>
          <a:p>
            <a:r>
              <a:t>about the taste of medicine. If in doubt about the taste, taste </a:t>
            </a:r>
          </a:p>
          <a:p>
            <a:r>
              <a:t>it (with the obvious exception of drugs such as digoxin). </a:t>
            </a:r>
          </a:p>
          <a:p>
            <a:r>
              <a:t>Most children’s medicines are artificially flavored with </a:t>
            </a:r>
          </a:p>
          <a:p>
            <a:r>
              <a:t>raspberry, orange, or cherry syrup, so they do not taste bad. </a:t>
            </a:r>
          </a:p>
          <a:p>
            <a:r>
              <a:t> If a medicine tastes bitter, mix it with a spoonful of strained </a:t>
            </a:r>
          </a:p>
          <a:p>
            <a:r>
              <a:t>applesauce or a teaspoonful of flavored syrup. Do not mix </a:t>
            </a:r>
          </a:p>
          <a:p>
            <a:r>
              <a:t>medicine with a full jar of baby food or put it into a bottle of </a:t>
            </a:r>
          </a:p>
          <a:p>
            <a:r>
              <a:t>milk or juice because the child will then have to eat the entire </a:t>
            </a:r>
          </a:p>
          <a:p>
            <a:r>
              <a:t>jar of food or drink the entire bottle to get all of the medicine. </a:t>
            </a:r>
          </a:p>
          <a:p>
            <a:r>
              <a:t>As a rule, encourage children to take liquid medicine straight </a:t>
            </a:r>
          </a:p>
          <a:p>
            <a:r>
              <a:t>and then follow it with a pleasant-tasting drink to take away </a:t>
            </a:r>
          </a:p>
          <a:p>
            <a:r>
              <a:t>any bitter taste. You could offer the choice of taking it in </a:t>
            </a:r>
          </a:p>
          <a:p>
            <a:r>
              <a:t>syringe or a medicine cup to provide some control. </a:t>
            </a:r>
          </a:p>
          <a:p>
            <a:r>
              <a:t> If a medicine is supplied in tablet form, you could crush or </a:t>
            </a:r>
          </a:p>
          <a:p>
            <a:r>
              <a:t>dissolve it in with syrup or applesauce for a better taste if </a:t>
            </a:r>
          </a:p>
          <a:p>
            <a:r>
              <a:t>appropriate. Be certain before removing the particles from a </a:t>
            </a:r>
          </a:p>
          <a:p>
            <a:r>
              <a:t>capsule that the medicine will work properly when not in </a:t>
            </a:r>
          </a:p>
          <a:p>
            <a:r>
              <a:t>capsule form: Some are encapsulated to keep them from </a:t>
            </a:r>
          </a:p>
          <a:p>
            <a:r>
              <a:t>dissolving in the stomach and to bring them into the intestine, </a:t>
            </a:r>
          </a:p>
          <a:p>
            <a:r>
              <a:t>where they have a therapeutic effect. The same precaution </a:t>
            </a:r>
          </a:p>
          <a:p>
            <a:r>
              <a:t>must be followed when giving enteric coated tablets. </a:t>
            </a:r>
          </a:p>
          <a:p>
            <a:r>
              <a:t> Never leave medicine by a child’s bed or chair for the child </a:t>
            </a:r>
          </a:p>
          <a:p>
            <a:r>
              <a:t>to take “in a minute” or “after your shower.” The child </a:t>
            </a:r>
          </a:p>
          <a:p>
            <a:r>
              <a:t>may become involved with another activity “in a minute”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55 </a:t>
            </a:r>
          </a:p>
          <a:p>
            <a:r>
              <a:t> Children expect honesty from adults; therefore, do not lie </a:t>
            </a:r>
          </a:p>
          <a:p>
            <a:r>
              <a:t>about the taste of medicine. If in doubt about the taste, taste </a:t>
            </a:r>
          </a:p>
          <a:p>
            <a:r>
              <a:t>it (with the obvious exception of drugs such as digoxin). </a:t>
            </a:r>
          </a:p>
          <a:p>
            <a:r>
              <a:t>Most children’s medicines are artificially flavored with </a:t>
            </a:r>
          </a:p>
          <a:p>
            <a:r>
              <a:t>raspberry, orange, or cherry syrup, so they do not taste bad. </a:t>
            </a:r>
          </a:p>
          <a:p>
            <a:r>
              <a:t> If a medicine tastes bitter, mix it with a spoonful of strained </a:t>
            </a:r>
          </a:p>
          <a:p>
            <a:r>
              <a:t>applesauce or a teaspoonful of flavored syrup. Do not mix </a:t>
            </a:r>
          </a:p>
          <a:p>
            <a:r>
              <a:t>medicine with a full jar of baby food or put it into a bottle of </a:t>
            </a:r>
          </a:p>
          <a:p>
            <a:r>
              <a:t>milk or juice because the child will then have to eat the entire </a:t>
            </a:r>
          </a:p>
          <a:p>
            <a:r>
              <a:t>jar of food or drink the entire bottle to get all of the medicine. </a:t>
            </a:r>
          </a:p>
          <a:p>
            <a:r>
              <a:t>As a rule, encourage children to take liquid medicine straight </a:t>
            </a:r>
          </a:p>
          <a:p>
            <a:r>
              <a:t>and then follow it with a pleasant-tasting drink to take away </a:t>
            </a:r>
          </a:p>
          <a:p>
            <a:r>
              <a:t>any bitter taste. You could offer the choice of taking it in </a:t>
            </a:r>
          </a:p>
          <a:p>
            <a:r>
              <a:t>syringe or a medicine cup to provide some control. </a:t>
            </a:r>
          </a:p>
          <a:p>
            <a:r>
              <a:t> If a medicine is supplied in tablet form, you could crush or </a:t>
            </a:r>
          </a:p>
          <a:p>
            <a:r>
              <a:t>dissolve it in with syrup or applesauce for a better taste if </a:t>
            </a:r>
          </a:p>
          <a:p>
            <a:r>
              <a:t>appropriate. Be certain before removing the particles from a </a:t>
            </a:r>
          </a:p>
          <a:p>
            <a:r>
              <a:t>capsule that the medicine will work properly when not in </a:t>
            </a:r>
          </a:p>
          <a:p>
            <a:r>
              <a:t>capsule form: Some are encapsulated to keep them from </a:t>
            </a:r>
          </a:p>
          <a:p>
            <a:r>
              <a:t>dissolving in the stomach and to bring them into the intestine, </a:t>
            </a:r>
          </a:p>
          <a:p>
            <a:r>
              <a:t>where they have a therapeutic effect. The same precaution </a:t>
            </a:r>
          </a:p>
          <a:p>
            <a:r>
              <a:t>must be followed when giving enteric coated tablets. </a:t>
            </a:r>
          </a:p>
          <a:p>
            <a:r>
              <a:t> Never leave medicine by a child’s bed or chair for the child </a:t>
            </a:r>
          </a:p>
          <a:p>
            <a:r>
              <a:t>to take “in a minute” or “after your shower.” The child </a:t>
            </a:r>
          </a:p>
          <a:p>
            <a:r>
              <a:t>may become involved with another activity “in a minute”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56 </a:t>
            </a:r>
          </a:p>
          <a:p>
            <a:r>
              <a:t>and will not take it or a smaller child could find the medicine </a:t>
            </a:r>
          </a:p>
          <a:p>
            <a:r>
              <a:t>appealing and swallow it.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Except for a few differences, the principles for administering nose </a:t>
            </a:r>
          </a:p>
          <a:p>
            <a:r>
              <a:t>drops, ear drops, and eye drops to children are essentially the </a:t>
            </a:r>
          </a:p>
          <a:p>
            <a:r>
              <a:t>same as for adults. Infants and small children may need to be </a:t>
            </a:r>
          </a:p>
          <a:p>
            <a:r>
              <a:t>restrained </a:t>
            </a:r>
          </a:p>
          <a:p>
            <a:r>
              <a:t>in </a:t>
            </a:r>
          </a:p>
          <a:p>
            <a:r>
              <a:t>a </a:t>
            </a:r>
          </a:p>
          <a:p>
            <a:r>
              <a:t>mummy </a:t>
            </a:r>
          </a:p>
          <a:p>
            <a:r>
              <a:t>restraint </a:t>
            </a:r>
          </a:p>
          <a:p>
            <a:r>
              <a:t>NURSING TIP  </a:t>
            </a:r>
          </a:p>
          <a:p>
            <a:r>
              <a:t>To reduce unpleasant sensations when administering </a:t>
            </a:r>
          </a:p>
          <a:p>
            <a:r>
              <a:t>medications: </a:t>
            </a:r>
          </a:p>
          <a:p>
            <a:r>
              <a:t>• Eye—Apply finger pressure to the lacrimal punctum at the inner </a:t>
            </a:r>
          </a:p>
          <a:p>
            <a:r>
              <a:t>aspect of  the eyelid for 1 minute to prevent drainage of </a:t>
            </a:r>
          </a:p>
          <a:p>
            <a:r>
              <a:t>medication to the nasopharynx and the unpleasant “tasting” of the </a:t>
            </a:r>
          </a:p>
          <a:p>
            <a:r>
              <a:t>drug. </a:t>
            </a:r>
          </a:p>
          <a:p>
            <a:r>
              <a:t>• Ear—Allow medications stored in the refrigerator to warm to </a:t>
            </a:r>
          </a:p>
          <a:p>
            <a:r>
              <a:t>room temperature before instillation. </a:t>
            </a:r>
          </a:p>
          <a:p>
            <a:r>
              <a:t>• Nose—Position the child with the head hyperextended to </a:t>
            </a:r>
          </a:p>
          <a:p>
            <a:r>
              <a:t>prevent strangling sensations caused by medication trickling into </a:t>
            </a:r>
          </a:p>
          <a:p>
            <a:r>
              <a:t>the throat rather than up into the nasal passages. </a:t>
            </a:r>
          </a:p>
          <a:p>
            <a:r>
              <a:t>The procedure for administering nose drops to a small child </a:t>
            </a:r>
          </a:p>
          <a:p>
            <a:r>
              <a:t>Purpose </a:t>
            </a:r>
          </a:p>
          <a:p>
            <a:r>
              <a:t>To administer medication by nasal route </a:t>
            </a:r>
          </a:p>
          <a:p>
            <a:r>
              <a:t>Administering parenteral medications</a:t>
            </a:r>
          </a:p>
          <a:p>
            <a:r>
              <a:t> </a:t>
            </a:r>
          </a:p>
          <a:p>
            <a:r>
              <a:t>Nose Drops, Ear Drops, and Eye Drops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56 </a:t>
            </a:r>
          </a:p>
          <a:p>
            <a:r>
              <a:t>and will not take it or a smaller child could find the medicine </a:t>
            </a:r>
          </a:p>
          <a:p>
            <a:r>
              <a:t>appealing and swallow it.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Except for a few differences, the principles for administering nose </a:t>
            </a:r>
          </a:p>
          <a:p>
            <a:r>
              <a:t>drops, ear drops, and eye drops to children are essentially the </a:t>
            </a:r>
          </a:p>
          <a:p>
            <a:r>
              <a:t>same as for adults. Infants and small children may need to be </a:t>
            </a:r>
          </a:p>
          <a:p>
            <a:r>
              <a:t>restrained </a:t>
            </a:r>
          </a:p>
          <a:p>
            <a:r>
              <a:t>in </a:t>
            </a:r>
          </a:p>
          <a:p>
            <a:r>
              <a:t>a </a:t>
            </a:r>
          </a:p>
          <a:p>
            <a:r>
              <a:t>mummy </a:t>
            </a:r>
          </a:p>
          <a:p>
            <a:r>
              <a:t>restraint </a:t>
            </a:r>
          </a:p>
          <a:p>
            <a:r>
              <a:t>NURSING TIP  </a:t>
            </a:r>
          </a:p>
          <a:p>
            <a:r>
              <a:t>To reduce unpleasant sensations when administering </a:t>
            </a:r>
          </a:p>
          <a:p>
            <a:r>
              <a:t>medications: </a:t>
            </a:r>
          </a:p>
          <a:p>
            <a:r>
              <a:t>• Eye—Apply finger pressure to the lacrimal punctum at the inner </a:t>
            </a:r>
          </a:p>
          <a:p>
            <a:r>
              <a:t>aspect of  the eyelid for 1 minute to prevent drainage of </a:t>
            </a:r>
          </a:p>
          <a:p>
            <a:r>
              <a:t>medication to the nasopharynx and the unpleasant “tasting” of the </a:t>
            </a:r>
          </a:p>
          <a:p>
            <a:r>
              <a:t>drug. </a:t>
            </a:r>
          </a:p>
          <a:p>
            <a:r>
              <a:t>• Ear—Allow medications stored in the refrigerator to warm to </a:t>
            </a:r>
          </a:p>
          <a:p>
            <a:r>
              <a:t>room temperature before instillation. </a:t>
            </a:r>
          </a:p>
          <a:p>
            <a:r>
              <a:t>• Nose—Position the child with the head hyperextended to </a:t>
            </a:r>
          </a:p>
          <a:p>
            <a:r>
              <a:t>prevent strangling sensations caused by medication trickling into </a:t>
            </a:r>
          </a:p>
          <a:p>
            <a:r>
              <a:t>the throat rather than up into the nasal passages. </a:t>
            </a:r>
          </a:p>
          <a:p>
            <a:r>
              <a:t>The procedure for administering nose drops to a small child </a:t>
            </a:r>
          </a:p>
          <a:p>
            <a:r>
              <a:t>Purpose </a:t>
            </a:r>
          </a:p>
          <a:p>
            <a:r>
              <a:t>To administer medication by nasal route </a:t>
            </a:r>
          </a:p>
          <a:p>
            <a:r>
              <a:t>Administering parenteral medications</a:t>
            </a:r>
          </a:p>
          <a:p>
            <a:r>
              <a:t> </a:t>
            </a:r>
          </a:p>
          <a:p>
            <a:r>
              <a:t>Nose Drops, Ear Drops, and Eye Drops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57 </a:t>
            </a:r>
          </a:p>
          <a:p>
            <a:r>
              <a:t> </a:t>
            </a:r>
          </a:p>
          <a:p>
            <a:r>
              <a:t>Steps </a:t>
            </a:r>
          </a:p>
          <a:p>
            <a:r>
              <a:t>1. Immobilize the infant with a mummy restraint. </a:t>
            </a:r>
          </a:p>
          <a:p>
            <a:r>
              <a:t>2. Wipe excess mucus from nose with a tissue. </a:t>
            </a:r>
          </a:p>
          <a:p>
            <a:r>
              <a:t>3. Place the infant on his or her back, with the head over the side </a:t>
            </a:r>
          </a:p>
          <a:p>
            <a:r>
              <a:t>of the mattress or the neck extended over a pillow. </a:t>
            </a:r>
          </a:p>
          <a:p>
            <a:r>
              <a:t>4. Encircle the infant’s cheeks and chin with the left arm and </a:t>
            </a:r>
          </a:p>
          <a:p>
            <a:r>
              <a:t>hand to steady. </a:t>
            </a:r>
          </a:p>
          <a:p>
            <a:r>
              <a:t>5. Instill drops with the right hand. </a:t>
            </a:r>
          </a:p>
          <a:p>
            <a:r>
              <a:t>6. Keep infant in this position for 30 seconds to 1 minute to allow </a:t>
            </a:r>
          </a:p>
          <a:p>
            <a:r>
              <a:t>the drops to reach the proper area. </a:t>
            </a:r>
          </a:p>
          <a:p>
            <a:r>
              <a:t>7. Remove restraints. Make the infant comfortable. </a:t>
            </a:r>
          </a:p>
          <a:p>
            <a:r>
              <a:t>8. Remove gloves and perform hand hygiene. </a:t>
            </a:r>
          </a:p>
          <a:p>
            <a:r>
              <a:t>9. In the patient’s chart, record: time, name of nose drops, </a:t>
            </a:r>
          </a:p>
          <a:p>
            <a:r>
              <a:t>strength, and number of drops instilled, how the patient tolerated </a:t>
            </a:r>
          </a:p>
          <a:p>
            <a:r>
              <a:t>the procedure, and untoward reactions. </a:t>
            </a:r>
          </a:p>
          <a:p>
            <a:r>
              <a:t>The </a:t>
            </a:r>
          </a:p>
          <a:p>
            <a:r>
              <a:t>health </a:t>
            </a:r>
          </a:p>
          <a:p>
            <a:r>
              <a:t>care </a:t>
            </a:r>
          </a:p>
          <a:p>
            <a:r>
              <a:t>provider </a:t>
            </a:r>
          </a:p>
          <a:p>
            <a:r>
              <a:t>may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57 </a:t>
            </a:r>
          </a:p>
          <a:p>
            <a:r>
              <a:t> </a:t>
            </a:r>
          </a:p>
          <a:p>
            <a:r>
              <a:t>Steps </a:t>
            </a:r>
          </a:p>
          <a:p>
            <a:r>
              <a:t>1. Immobilize the infant with a mummy restraint. </a:t>
            </a:r>
          </a:p>
          <a:p>
            <a:r>
              <a:t>2. Wipe excess mucus from nose with a tissue. </a:t>
            </a:r>
          </a:p>
          <a:p>
            <a:r>
              <a:t>3. Place the infant on his or her back, with the head over the side </a:t>
            </a:r>
          </a:p>
          <a:p>
            <a:r>
              <a:t>of the mattress or the neck extended over a pillow. </a:t>
            </a:r>
          </a:p>
          <a:p>
            <a:r>
              <a:t>4. Encircle the infant’s cheeks and chin with the left arm and </a:t>
            </a:r>
          </a:p>
          <a:p>
            <a:r>
              <a:t>hand to steady. </a:t>
            </a:r>
          </a:p>
          <a:p>
            <a:r>
              <a:t>5. Instill drops with the right hand. </a:t>
            </a:r>
          </a:p>
          <a:p>
            <a:r>
              <a:t>6. Keep infant in this position for 30 seconds to 1 minute to allow </a:t>
            </a:r>
          </a:p>
          <a:p>
            <a:r>
              <a:t>the drops to reach the proper area. </a:t>
            </a:r>
          </a:p>
          <a:p>
            <a:r>
              <a:t>7. Remove restraints. Make the infant comfortable. </a:t>
            </a:r>
          </a:p>
          <a:p>
            <a:r>
              <a:t>8. Remove gloves and perform hand hygiene. </a:t>
            </a:r>
          </a:p>
          <a:p>
            <a:r>
              <a:t>9. In the patient’s chart, record: time, name of nose drops, </a:t>
            </a:r>
          </a:p>
          <a:p>
            <a:r>
              <a:t>strength, and number of drops instilled, how the patient tolerated </a:t>
            </a:r>
          </a:p>
          <a:p>
            <a:r>
              <a:t>the procedure, and untoward reactions. </a:t>
            </a:r>
          </a:p>
          <a:p>
            <a:r>
              <a:t>The </a:t>
            </a:r>
          </a:p>
          <a:p>
            <a:r>
              <a:t>health </a:t>
            </a:r>
          </a:p>
          <a:p>
            <a:r>
              <a:t>care </a:t>
            </a:r>
          </a:p>
          <a:p>
            <a:r>
              <a:t>provider </a:t>
            </a:r>
          </a:p>
          <a:p>
            <a:r>
              <a:t>may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57 </a:t>
            </a:r>
          </a:p>
          <a:p>
            <a:r>
              <a:t> </a:t>
            </a:r>
          </a:p>
          <a:p>
            <a:r>
              <a:t>Steps </a:t>
            </a:r>
          </a:p>
          <a:p>
            <a:r>
              <a:t>1. Immobilize the infant with a mummy restraint. </a:t>
            </a:r>
          </a:p>
          <a:p>
            <a:r>
              <a:t>2. Wipe excess mucus from nose with a tissue. </a:t>
            </a:r>
          </a:p>
          <a:p>
            <a:r>
              <a:t>3. Place the infant on his or her back, with the head over the side </a:t>
            </a:r>
          </a:p>
          <a:p>
            <a:r>
              <a:t>of the mattress or the neck extended over a pillow. </a:t>
            </a:r>
          </a:p>
          <a:p>
            <a:r>
              <a:t>4. Encircle the infant’s cheeks and chin with the left arm and </a:t>
            </a:r>
          </a:p>
          <a:p>
            <a:r>
              <a:t>hand to steady. </a:t>
            </a:r>
          </a:p>
          <a:p>
            <a:r>
              <a:t>5. Instill drops with the right hand. </a:t>
            </a:r>
          </a:p>
          <a:p>
            <a:r>
              <a:t>6. Keep infant in this position for 30 seconds to 1 minute to allow </a:t>
            </a:r>
          </a:p>
          <a:p>
            <a:r>
              <a:t>the drops to reach the proper area. </a:t>
            </a:r>
          </a:p>
          <a:p>
            <a:r>
              <a:t>7. Remove restraints. Make the infant comfortable. </a:t>
            </a:r>
          </a:p>
          <a:p>
            <a:r>
              <a:t>8. Remove gloves and perform hand hygiene. </a:t>
            </a:r>
          </a:p>
          <a:p>
            <a:r>
              <a:t>9. In the patient’s chart, record: time, name of nose drops, </a:t>
            </a:r>
          </a:p>
          <a:p>
            <a:r>
              <a:t>strength, and number of drops instilled, how the patient tolerated </a:t>
            </a:r>
          </a:p>
          <a:p>
            <a:r>
              <a:t>the procedure, and untoward reactions. </a:t>
            </a:r>
          </a:p>
          <a:p>
            <a:r>
              <a:t>The </a:t>
            </a:r>
          </a:p>
          <a:p>
            <a:r>
              <a:t>health </a:t>
            </a:r>
          </a:p>
          <a:p>
            <a:r>
              <a:t>care </a:t>
            </a:r>
          </a:p>
          <a:p>
            <a:r>
              <a:t>provider </a:t>
            </a:r>
          </a:p>
          <a:p>
            <a:r>
              <a:t>may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58 </a:t>
            </a:r>
          </a:p>
          <a:p>
            <a:r>
              <a:t>prescribe a drug to be instilled into the ear to relieve pain. If the </a:t>
            </a:r>
          </a:p>
          <a:p>
            <a:r>
              <a:t>drops were refrigerated, they are allowed to warm to room </a:t>
            </a:r>
          </a:p>
          <a:p>
            <a:r>
              <a:t>temperature before administration. </a:t>
            </a:r>
          </a:p>
          <a:p>
            <a:r>
              <a:t> </a:t>
            </a:r>
          </a:p>
          <a:p>
            <a:r>
              <a:t>Purpose </a:t>
            </a:r>
          </a:p>
          <a:p>
            <a:r>
              <a:t>To administer medications into the ear canal </a:t>
            </a:r>
          </a:p>
          <a:p>
            <a:r>
              <a:t>Steps </a:t>
            </a:r>
          </a:p>
          <a:p>
            <a:r>
              <a:t>1. Place child in supine position with unaffected ear down. </a:t>
            </a:r>
          </a:p>
          <a:p>
            <a:r>
              <a:t>2. Instill the ordered number of drops: </a:t>
            </a:r>
          </a:p>
          <a:p>
            <a:r>
              <a:t>a. In children less than 3 years of age, pull the pinna (earlobe) of </a:t>
            </a:r>
          </a:p>
          <a:p>
            <a:r>
              <a:t>the affected ear down and back to </a:t>
            </a:r>
          </a:p>
          <a:p>
            <a:r>
              <a:t>straighten the canal. </a:t>
            </a:r>
          </a:p>
          <a:p>
            <a:r>
              <a:t>b. In older children, pull the upper pinna </a:t>
            </a:r>
          </a:p>
          <a:p>
            <a:r>
              <a:t>(auricle) up and back to straighten the </a:t>
            </a:r>
          </a:p>
          <a:p>
            <a:r>
              <a:t>canal. </a:t>
            </a:r>
          </a:p>
          <a:p>
            <a:r>
              <a:t>3. Gently massage the area in front of </a:t>
            </a:r>
          </a:p>
          <a:p>
            <a:r>
              <a:t>the ear to facilitate entry of the drops. </a:t>
            </a:r>
          </a:p>
          <a:p>
            <a:r>
              <a:t>4. Keep the patient in a supine position for a few minutes to </a:t>
            </a:r>
          </a:p>
          <a:p>
            <a:r>
              <a:t>permit the fluid to be absorbed. </a:t>
            </a:r>
          </a:p>
          <a:p>
            <a:r>
              <a:t>5. Remove gloves and perform hand hygiene. </a:t>
            </a:r>
          </a:p>
          <a:p>
            <a:r>
              <a:t>6. Document the time, name of drug, number of drops </a:t>
            </a:r>
          </a:p>
          <a:p>
            <a:r>
              <a:t>administered, area (right or left ear), untoward reactions, and </a:t>
            </a:r>
          </a:p>
          <a:p>
            <a:r>
              <a:t>whether or not the patient obtained relief.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58 </a:t>
            </a:r>
          </a:p>
          <a:p>
            <a:r>
              <a:t>prescribe a drug to be instilled into the ear to relieve pain. If the </a:t>
            </a:r>
          </a:p>
          <a:p>
            <a:r>
              <a:t>drops were refrigerated, they are allowed to warm to room </a:t>
            </a:r>
          </a:p>
          <a:p>
            <a:r>
              <a:t>temperature before administration. </a:t>
            </a:r>
          </a:p>
          <a:p>
            <a:r>
              <a:t> </a:t>
            </a:r>
          </a:p>
          <a:p>
            <a:r>
              <a:t>Purpose </a:t>
            </a:r>
          </a:p>
          <a:p>
            <a:r>
              <a:t>To administer medications into the ear canal </a:t>
            </a:r>
          </a:p>
          <a:p>
            <a:r>
              <a:t>Steps </a:t>
            </a:r>
          </a:p>
          <a:p>
            <a:r>
              <a:t>1. Place child in supine position with unaffected ear down. </a:t>
            </a:r>
          </a:p>
          <a:p>
            <a:r>
              <a:t>2. Instill the ordered number of drops: </a:t>
            </a:r>
          </a:p>
          <a:p>
            <a:r>
              <a:t>a. In children less than 3 years of age, pull the pinna (earlobe) of </a:t>
            </a:r>
          </a:p>
          <a:p>
            <a:r>
              <a:t>the affected ear down and back to </a:t>
            </a:r>
          </a:p>
          <a:p>
            <a:r>
              <a:t>straighten the canal. </a:t>
            </a:r>
          </a:p>
          <a:p>
            <a:r>
              <a:t>b. In older children, pull the upper pinna </a:t>
            </a:r>
          </a:p>
          <a:p>
            <a:r>
              <a:t>(auricle) up and back to straighten the </a:t>
            </a:r>
          </a:p>
          <a:p>
            <a:r>
              <a:t>canal. </a:t>
            </a:r>
          </a:p>
          <a:p>
            <a:r>
              <a:t>3. Gently massage the area in front of </a:t>
            </a:r>
          </a:p>
          <a:p>
            <a:r>
              <a:t>the ear to facilitate entry of the drops. </a:t>
            </a:r>
          </a:p>
          <a:p>
            <a:r>
              <a:t>4. Keep the patient in a supine position for a few minutes to </a:t>
            </a:r>
          </a:p>
          <a:p>
            <a:r>
              <a:t>permit the fluid to be absorbed. </a:t>
            </a:r>
          </a:p>
          <a:p>
            <a:r>
              <a:t>5. Remove gloves and perform hand hygiene. </a:t>
            </a:r>
          </a:p>
          <a:p>
            <a:r>
              <a:t>6. Document the time, name of drug, number of drops </a:t>
            </a:r>
          </a:p>
          <a:p>
            <a:r>
              <a:t>administered, area (right or left ear), untoward reactions, and </a:t>
            </a:r>
          </a:p>
          <a:p>
            <a:r>
              <a:t>whether or not the patient obtained relief.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58 </a:t>
            </a:r>
          </a:p>
          <a:p>
            <a:r>
              <a:t>prescribe a drug to be instilled into the ear to relieve pain. If the </a:t>
            </a:r>
          </a:p>
          <a:p>
            <a:r>
              <a:t>drops were refrigerated, they are allowed to warm to room </a:t>
            </a:r>
          </a:p>
          <a:p>
            <a:r>
              <a:t>temperature before administration. </a:t>
            </a:r>
          </a:p>
          <a:p>
            <a:r>
              <a:t> </a:t>
            </a:r>
          </a:p>
          <a:p>
            <a:r>
              <a:t>Purpose </a:t>
            </a:r>
          </a:p>
          <a:p>
            <a:r>
              <a:t>To administer medications into the ear canal </a:t>
            </a:r>
          </a:p>
          <a:p>
            <a:r>
              <a:t>Steps </a:t>
            </a:r>
          </a:p>
          <a:p>
            <a:r>
              <a:t>1. Place child in supine position with unaffected ear down. </a:t>
            </a:r>
          </a:p>
          <a:p>
            <a:r>
              <a:t>2. Instill the ordered number of drops: </a:t>
            </a:r>
          </a:p>
          <a:p>
            <a:r>
              <a:t>a. In children less than 3 years of age, pull the pinna (earlobe) of </a:t>
            </a:r>
          </a:p>
          <a:p>
            <a:r>
              <a:t>the affected ear down and back to </a:t>
            </a:r>
          </a:p>
          <a:p>
            <a:r>
              <a:t>straighten the canal. </a:t>
            </a:r>
          </a:p>
          <a:p>
            <a:r>
              <a:t>b. In older children, pull the upper pinna </a:t>
            </a:r>
          </a:p>
          <a:p>
            <a:r>
              <a:t>(auricle) up and back to straighten the </a:t>
            </a:r>
          </a:p>
          <a:p>
            <a:r>
              <a:t>canal. </a:t>
            </a:r>
          </a:p>
          <a:p>
            <a:r>
              <a:t>3. Gently massage the area in front of </a:t>
            </a:r>
          </a:p>
          <a:p>
            <a:r>
              <a:t>the ear to facilitate entry of the drops. </a:t>
            </a:r>
          </a:p>
          <a:p>
            <a:r>
              <a:t>4. Keep the patient in a supine position for a few minutes to </a:t>
            </a:r>
          </a:p>
          <a:p>
            <a:r>
              <a:t>permit the fluid to be absorbed. </a:t>
            </a:r>
          </a:p>
          <a:p>
            <a:r>
              <a:t>5. Remove gloves and perform hand hygiene. </a:t>
            </a:r>
          </a:p>
          <a:p>
            <a:r>
              <a:t>6. Document the time, name of drug, number of drops </a:t>
            </a:r>
          </a:p>
          <a:p>
            <a:r>
              <a:t>administered, area (right or left ear), untoward reactions, and </a:t>
            </a:r>
          </a:p>
          <a:p>
            <a:r>
              <a:t>whether or not the patient obtained relief.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59 </a:t>
            </a:r>
          </a:p>
          <a:p>
            <a:r>
              <a:t> </a:t>
            </a:r>
          </a:p>
          <a:p>
            <a:r>
              <a:t>Purpose </a:t>
            </a:r>
          </a:p>
          <a:p>
            <a:r>
              <a:t>To protect against ophthalmia neonatorum and chlamydia </a:t>
            </a:r>
          </a:p>
          <a:p>
            <a:r>
              <a:t>infections (all newborns have this prophylactic treatment before </a:t>
            </a:r>
          </a:p>
          <a:p>
            <a:r>
              <a:t>leaving the delivery room) </a:t>
            </a:r>
          </a:p>
          <a:p>
            <a:r>
              <a:t>Steps: </a:t>
            </a:r>
          </a:p>
          <a:p>
            <a:r>
              <a:t> Ophthalmic medication is administered to a child in the same </a:t>
            </a:r>
          </a:p>
          <a:p>
            <a:r>
              <a:t>manner as for the adult </a:t>
            </a:r>
          </a:p>
          <a:p>
            <a:r>
              <a:t> The child is informed of the need for the medication. </a:t>
            </a:r>
          </a:p>
          <a:p>
            <a:r>
              <a:t> The patient is identified, and the orders and the label on the </a:t>
            </a:r>
          </a:p>
          <a:p>
            <a:r>
              <a:t>bottle are checked for correct medication </a:t>
            </a:r>
          </a:p>
          <a:p>
            <a:r>
              <a:t>and concentration. </a:t>
            </a:r>
          </a:p>
          <a:p>
            <a:r>
              <a:t> The nurse ascertains which eye requires </a:t>
            </a:r>
          </a:p>
          <a:p>
            <a:r>
              <a:t>treatment. </a:t>
            </a:r>
          </a:p>
          <a:p>
            <a:r>
              <a:t> Hand hygiene is performed before and after </a:t>
            </a:r>
          </a:p>
          <a:p>
            <a:r>
              <a:t>the procedure, and clean gloves are worn. With the thumb </a:t>
            </a:r>
          </a:p>
          <a:p>
            <a:r>
              <a:t>and index finger, gentle pressure is applied in opposite </a:t>
            </a:r>
          </a:p>
          <a:p>
            <a:r>
              <a:t>directions to open the eye. </a:t>
            </a:r>
          </a:p>
          <a:p>
            <a:r>
              <a:t> The older child is instructed to “look up.” The nurse </a:t>
            </a:r>
          </a:p>
          <a:p>
            <a:r>
              <a:t>supports his or her hand on the patient’s forehead, and </a:t>
            </a:r>
          </a:p>
          <a:p>
            <a:r>
              <a:t>instills the medication into the center of the lower lid </a:t>
            </a:r>
          </a:p>
          <a:p>
            <a:r>
              <a:t>(conjunctival sac) </a:t>
            </a:r>
          </a:p>
          <a:p>
            <a:r>
              <a:t> The child is instructed to close the eye but not to squeeze it, </a:t>
            </a:r>
          </a:p>
          <a:p>
            <a:r>
              <a:t>because this could expel some of the solution. </a:t>
            </a:r>
          </a:p>
          <a:p>
            <a:r>
              <a:t>Ointment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59 </a:t>
            </a:r>
          </a:p>
          <a:p>
            <a:r>
              <a:t> </a:t>
            </a:r>
          </a:p>
          <a:p>
            <a:r>
              <a:t>Purpose </a:t>
            </a:r>
          </a:p>
          <a:p>
            <a:r>
              <a:t>To protect against ophthalmia neonatorum and chlamydia </a:t>
            </a:r>
          </a:p>
          <a:p>
            <a:r>
              <a:t>infections (all newborns have this prophylactic treatment before </a:t>
            </a:r>
          </a:p>
          <a:p>
            <a:r>
              <a:t>leaving the delivery room) </a:t>
            </a:r>
          </a:p>
          <a:p>
            <a:r>
              <a:t>Steps: </a:t>
            </a:r>
          </a:p>
          <a:p>
            <a:r>
              <a:t> Ophthalmic medication is administered to a child in the same </a:t>
            </a:r>
          </a:p>
          <a:p>
            <a:r>
              <a:t>manner as for the adult </a:t>
            </a:r>
          </a:p>
          <a:p>
            <a:r>
              <a:t> The child is informed of the need for the medication. </a:t>
            </a:r>
          </a:p>
          <a:p>
            <a:r>
              <a:t> The patient is identified, and the orders and the label on the </a:t>
            </a:r>
          </a:p>
          <a:p>
            <a:r>
              <a:t>bottle are checked for correct medication </a:t>
            </a:r>
          </a:p>
          <a:p>
            <a:r>
              <a:t>and concentration. </a:t>
            </a:r>
          </a:p>
          <a:p>
            <a:r>
              <a:t> The nurse ascertains which eye requires </a:t>
            </a:r>
          </a:p>
          <a:p>
            <a:r>
              <a:t>treatment. </a:t>
            </a:r>
          </a:p>
          <a:p>
            <a:r>
              <a:t> Hand hygiene is performed before and after </a:t>
            </a:r>
          </a:p>
          <a:p>
            <a:r>
              <a:t>the procedure, and clean gloves are worn. With the thumb </a:t>
            </a:r>
          </a:p>
          <a:p>
            <a:r>
              <a:t>and index finger, gentle pressure is applied in opposite </a:t>
            </a:r>
          </a:p>
          <a:p>
            <a:r>
              <a:t>directions to open the eye. </a:t>
            </a:r>
          </a:p>
          <a:p>
            <a:r>
              <a:t> The older child is instructed to “look up.” The nurse </a:t>
            </a:r>
          </a:p>
          <a:p>
            <a:r>
              <a:t>supports his or her hand on the patient’s forehead, and </a:t>
            </a:r>
          </a:p>
          <a:p>
            <a:r>
              <a:t>instills the medication into the center of the lower lid </a:t>
            </a:r>
          </a:p>
          <a:p>
            <a:r>
              <a:t>(conjunctival sac) </a:t>
            </a:r>
          </a:p>
          <a:p>
            <a:r>
              <a:t> The child is instructed to close the eye but not to squeeze it, </a:t>
            </a:r>
          </a:p>
          <a:p>
            <a:r>
              <a:t>because this could expel some of the solution. </a:t>
            </a:r>
          </a:p>
          <a:p>
            <a:r>
              <a:t>Ointment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59 </a:t>
            </a:r>
          </a:p>
          <a:p>
            <a:r>
              <a:t> </a:t>
            </a:r>
          </a:p>
          <a:p>
            <a:r>
              <a:t>Purpose </a:t>
            </a:r>
          </a:p>
          <a:p>
            <a:r>
              <a:t>To protect against ophthalmia neonatorum and chlamydia </a:t>
            </a:r>
          </a:p>
          <a:p>
            <a:r>
              <a:t>infections (all newborns have this prophylactic treatment before </a:t>
            </a:r>
          </a:p>
          <a:p>
            <a:r>
              <a:t>leaving the delivery room) </a:t>
            </a:r>
          </a:p>
          <a:p>
            <a:r>
              <a:t>Steps: </a:t>
            </a:r>
          </a:p>
          <a:p>
            <a:r>
              <a:t> Ophthalmic medication is administered to a child in the same </a:t>
            </a:r>
          </a:p>
          <a:p>
            <a:r>
              <a:t>manner as for the adult </a:t>
            </a:r>
          </a:p>
          <a:p>
            <a:r>
              <a:t> The child is informed of the need for the medication. </a:t>
            </a:r>
          </a:p>
          <a:p>
            <a:r>
              <a:t> The patient is identified, and the orders and the label on the </a:t>
            </a:r>
          </a:p>
          <a:p>
            <a:r>
              <a:t>bottle are checked for correct medication </a:t>
            </a:r>
          </a:p>
          <a:p>
            <a:r>
              <a:t>and concentration. </a:t>
            </a:r>
          </a:p>
          <a:p>
            <a:r>
              <a:t> The nurse ascertains which eye requires </a:t>
            </a:r>
          </a:p>
          <a:p>
            <a:r>
              <a:t>treatment. </a:t>
            </a:r>
          </a:p>
          <a:p>
            <a:r>
              <a:t> Hand hygiene is performed before and after </a:t>
            </a:r>
          </a:p>
          <a:p>
            <a:r>
              <a:t>the procedure, and clean gloves are worn. With the thumb </a:t>
            </a:r>
          </a:p>
          <a:p>
            <a:r>
              <a:t>and index finger, gentle pressure is applied in opposite </a:t>
            </a:r>
          </a:p>
          <a:p>
            <a:r>
              <a:t>directions to open the eye. </a:t>
            </a:r>
          </a:p>
          <a:p>
            <a:r>
              <a:t> The older child is instructed to “look up.” The nurse </a:t>
            </a:r>
          </a:p>
          <a:p>
            <a:r>
              <a:t>supports his or her hand on the patient’s forehead, and </a:t>
            </a:r>
          </a:p>
          <a:p>
            <a:r>
              <a:t>instills the medication into the center of the lower lid </a:t>
            </a:r>
          </a:p>
          <a:p>
            <a:r>
              <a:t>(conjunctival sac) </a:t>
            </a:r>
          </a:p>
          <a:p>
            <a:r>
              <a:t> The child is instructed to close the eye but not to squeeze it, </a:t>
            </a:r>
          </a:p>
          <a:p>
            <a:r>
              <a:t>because this could expel some of the solution. </a:t>
            </a:r>
          </a:p>
          <a:p>
            <a:r>
              <a:t>Ointment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60 </a:t>
            </a:r>
          </a:p>
          <a:p>
            <a:r>
              <a:t> Ointment is applied to the same conjunctival sac as eye </a:t>
            </a:r>
          </a:p>
          <a:p>
            <a:r>
              <a:t>drops.  </a:t>
            </a:r>
          </a:p>
          <a:p>
            <a:r>
              <a:t> The mummy restraint is applied when only one nurse is </a:t>
            </a:r>
          </a:p>
          <a:p>
            <a:r>
              <a:t>available and the patient is an infant. </a:t>
            </a:r>
          </a:p>
          <a:p>
            <a:r>
              <a:t> Occasionally children refuse to open their eyes. </a:t>
            </a:r>
          </a:p>
          <a:p>
            <a:r>
              <a:t> The nurse must use ingenuity to coax reluctant children. It </a:t>
            </a:r>
          </a:p>
          <a:p>
            <a:r>
              <a:t>may help to involve the parents. </a:t>
            </a:r>
          </a:p>
          <a:p>
            <a:r>
              <a:t>If both eye ointment and drops are ordered, give drops first, wait </a:t>
            </a:r>
          </a:p>
          <a:p>
            <a:r>
              <a:t>3 minutes, and then apply the ointment to allow each drug to </a:t>
            </a:r>
          </a:p>
          <a:p>
            <a:r>
              <a:t>work. When possible, administer eye ointments before bedtime </a:t>
            </a:r>
          </a:p>
          <a:p>
            <a:r>
              <a:t>or naptime because the child’s vision will be blurred temporarily. </a:t>
            </a:r>
          </a:p>
          <a:p>
            <a:r>
              <a:t> </a:t>
            </a:r>
          </a:p>
          <a:p>
            <a:r>
              <a:t> To administer oral, nasal, or optic medication when only one </a:t>
            </a:r>
          </a:p>
          <a:p>
            <a:r>
              <a:t>person is available to hold the child, use the following procedure: </a:t>
            </a:r>
          </a:p>
          <a:p>
            <a:r>
              <a:t> Place child supine on a flat surface (e.g., bed, couch, floor). </a:t>
            </a:r>
          </a:p>
          <a:p>
            <a:r>
              <a:t> Sit facing child so child’s head is between operator’s thighs </a:t>
            </a:r>
          </a:p>
          <a:p>
            <a:r>
              <a:t>and child’s arms are under operator’s legs. </a:t>
            </a:r>
          </a:p>
          <a:p>
            <a:r>
              <a:t> Place lower legs over child’s legs to restrain lower body, if </a:t>
            </a:r>
          </a:p>
          <a:p>
            <a:r>
              <a:t>necessary. </a:t>
            </a:r>
          </a:p>
          <a:p>
            <a:r>
              <a:t> To administer oral medication, place a small pillow under </a:t>
            </a:r>
          </a:p>
          <a:p>
            <a:r>
              <a:t>child’s head to reduce risk of aspiration. </a:t>
            </a:r>
          </a:p>
          <a:p>
            <a:r>
              <a:t> To administer nasal medication, place a small pillow under </a:t>
            </a:r>
          </a:p>
          <a:p>
            <a:r>
              <a:t>child’s shoulders to aid flow of liquid through nasal passages.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60 </a:t>
            </a:r>
          </a:p>
          <a:p>
            <a:r>
              <a:t> Ointment is applied to the same conjunctival sac as eye </a:t>
            </a:r>
          </a:p>
          <a:p>
            <a:r>
              <a:t>drops.  </a:t>
            </a:r>
          </a:p>
          <a:p>
            <a:r>
              <a:t> The mummy restraint is applied when only one nurse is </a:t>
            </a:r>
          </a:p>
          <a:p>
            <a:r>
              <a:t>available and the patient is an infant. </a:t>
            </a:r>
          </a:p>
          <a:p>
            <a:r>
              <a:t> Occasionally children refuse to open their eyes. </a:t>
            </a:r>
          </a:p>
          <a:p>
            <a:r>
              <a:t> The nurse must use ingenuity to coax reluctant children. It </a:t>
            </a:r>
          </a:p>
          <a:p>
            <a:r>
              <a:t>may help to involve the parents. </a:t>
            </a:r>
          </a:p>
          <a:p>
            <a:r>
              <a:t>If both eye ointment and drops are ordered, give drops first, wait </a:t>
            </a:r>
          </a:p>
          <a:p>
            <a:r>
              <a:t>3 minutes, and then apply the ointment to allow each drug to </a:t>
            </a:r>
          </a:p>
          <a:p>
            <a:r>
              <a:t>work. When possible, administer eye ointments before bedtime </a:t>
            </a:r>
          </a:p>
          <a:p>
            <a:r>
              <a:t>or naptime because the child’s vision will be blurred temporarily. </a:t>
            </a:r>
          </a:p>
          <a:p>
            <a:r>
              <a:t> </a:t>
            </a:r>
          </a:p>
          <a:p>
            <a:r>
              <a:t> To administer oral, nasal, or optic medication when only one </a:t>
            </a:r>
          </a:p>
          <a:p>
            <a:r>
              <a:t>person is available to hold the child, use the following procedure: </a:t>
            </a:r>
          </a:p>
          <a:p>
            <a:r>
              <a:t> Place child supine on a flat surface (e.g., bed, couch, floor). </a:t>
            </a:r>
          </a:p>
          <a:p>
            <a:r>
              <a:t> Sit facing child so child’s head is between operator’s thighs </a:t>
            </a:r>
          </a:p>
          <a:p>
            <a:r>
              <a:t>and child’s arms are under operator’s legs. </a:t>
            </a:r>
          </a:p>
          <a:p>
            <a:r>
              <a:t> Place lower legs over child’s legs to restrain lower body, if </a:t>
            </a:r>
          </a:p>
          <a:p>
            <a:r>
              <a:t>necessary. </a:t>
            </a:r>
          </a:p>
          <a:p>
            <a:r>
              <a:t> To administer oral medication, place a small pillow under </a:t>
            </a:r>
          </a:p>
          <a:p>
            <a:r>
              <a:t>child’s head to reduce risk of aspiration. </a:t>
            </a:r>
          </a:p>
          <a:p>
            <a:r>
              <a:t> To administer nasal medication, place a small pillow under </a:t>
            </a:r>
          </a:p>
          <a:p>
            <a:r>
              <a:t>child’s shoulders to aid flow of liquid through nasal passages.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61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Introduction </a:t>
            </a:r>
          </a:p>
          <a:p>
            <a:r>
              <a:t> </a:t>
            </a:r>
          </a:p>
          <a:p>
            <a:r>
              <a:t>Administering inhaled medication to children through a nebulizer </a:t>
            </a:r>
          </a:p>
          <a:p>
            <a:r>
              <a:t>has the advantage of delivering a medication directly to the </a:t>
            </a:r>
          </a:p>
          <a:p>
            <a:r>
              <a:t>needed site of action. Advantages of administering inhaled </a:t>
            </a:r>
          </a:p>
          <a:p>
            <a:r>
              <a:t>medication with appropriate technique show an improvement in </a:t>
            </a:r>
          </a:p>
          <a:p>
            <a:r>
              <a:t>the onset of action, and a decrease in the dose needed. </a:t>
            </a:r>
          </a:p>
          <a:p>
            <a:r>
              <a:t> </a:t>
            </a:r>
          </a:p>
          <a:p>
            <a:r>
              <a:t>Equipment </a:t>
            </a:r>
          </a:p>
          <a:p>
            <a:r>
              <a:t> </a:t>
            </a:r>
          </a:p>
          <a:p>
            <a:r>
              <a:t>A pressurized canister </a:t>
            </a:r>
          </a:p>
          <a:p>
            <a:r>
              <a:t>A plastic holder </a:t>
            </a:r>
          </a:p>
          <a:p>
            <a:r>
              <a:t>A cap.  </a:t>
            </a:r>
          </a:p>
          <a:p>
            <a:r>
              <a:t>Often a spacer or special tube that attaches to the inhaler is used </a:t>
            </a:r>
          </a:p>
          <a:p>
            <a:r>
              <a:t>to increase the amount of medication delivered to the lungs per </a:t>
            </a:r>
          </a:p>
          <a:p>
            <a:r>
              <a:t>spray. A spacer has either a mouthpiece or a mask for ease of </a:t>
            </a:r>
          </a:p>
          <a:p>
            <a:r>
              <a:t>administration and is specific to the child’s developmental need.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Prepare to give inhaled medication by removing the cap from the </a:t>
            </a:r>
          </a:p>
          <a:p>
            <a:r>
              <a:t>inhaler and spacer as needed. Prime the inhaler by squirting a puff </a:t>
            </a:r>
          </a:p>
          <a:p>
            <a:r>
              <a:t>of medication into the air if the canister is new or has not been </a:t>
            </a:r>
          </a:p>
          <a:p>
            <a:r>
              <a:t>INHALED MEDICATION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61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Introduction </a:t>
            </a:r>
          </a:p>
          <a:p>
            <a:r>
              <a:t> </a:t>
            </a:r>
          </a:p>
          <a:p>
            <a:r>
              <a:t>Administering inhaled medication to children through a nebulizer </a:t>
            </a:r>
          </a:p>
          <a:p>
            <a:r>
              <a:t>has the advantage of delivering a medication directly to the </a:t>
            </a:r>
          </a:p>
          <a:p>
            <a:r>
              <a:t>needed site of action. Advantages of administering inhaled </a:t>
            </a:r>
          </a:p>
          <a:p>
            <a:r>
              <a:t>medication with appropriate technique show an improvement in </a:t>
            </a:r>
          </a:p>
          <a:p>
            <a:r>
              <a:t>the onset of action, and a decrease in the dose needed. </a:t>
            </a:r>
          </a:p>
          <a:p>
            <a:r>
              <a:t> </a:t>
            </a:r>
          </a:p>
          <a:p>
            <a:r>
              <a:t>Equipment </a:t>
            </a:r>
          </a:p>
          <a:p>
            <a:r>
              <a:t> </a:t>
            </a:r>
          </a:p>
          <a:p>
            <a:r>
              <a:t>A pressurized canister </a:t>
            </a:r>
          </a:p>
          <a:p>
            <a:r>
              <a:t>A plastic holder </a:t>
            </a:r>
          </a:p>
          <a:p>
            <a:r>
              <a:t>A cap.  </a:t>
            </a:r>
          </a:p>
          <a:p>
            <a:r>
              <a:t>Often a spacer or special tube that attaches to the inhaler is used </a:t>
            </a:r>
          </a:p>
          <a:p>
            <a:r>
              <a:t>to increase the amount of medication delivered to the lungs per </a:t>
            </a:r>
          </a:p>
          <a:p>
            <a:r>
              <a:t>spray. A spacer has either a mouthpiece or a mask for ease of </a:t>
            </a:r>
          </a:p>
          <a:p>
            <a:r>
              <a:t>administration and is specific to the child’s developmental need.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Prepare to give inhaled medication by removing the cap from the </a:t>
            </a:r>
          </a:p>
          <a:p>
            <a:r>
              <a:t>inhaler and spacer as needed. Prime the inhaler by squirting a puff </a:t>
            </a:r>
          </a:p>
          <a:p>
            <a:r>
              <a:t>of medication into the air if the canister is new or has not been </a:t>
            </a:r>
          </a:p>
          <a:p>
            <a:r>
              <a:t>INHALED MEDICATION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62 </a:t>
            </a:r>
          </a:p>
          <a:p>
            <a:r>
              <a:t>used in the last 48 hours. If a spacer is used, insert the inhaler’s </a:t>
            </a:r>
          </a:p>
          <a:p>
            <a:r>
              <a:t>mouthpiece into the rubber end of the spacer. Shake the inhaler </a:t>
            </a:r>
          </a:p>
          <a:p>
            <a:r>
              <a:t>immediately before each puff.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 Placing the mouthpiece fully into the mouth between the </a:t>
            </a:r>
          </a:p>
          <a:p>
            <a:r>
              <a:t>teeth </a:t>
            </a:r>
          </a:p>
          <a:p>
            <a:r>
              <a:t> Hold the inhaler in the upright position and close the lips </a:t>
            </a:r>
          </a:p>
          <a:p>
            <a:r>
              <a:t>around the mouthpiece </a:t>
            </a:r>
          </a:p>
          <a:p>
            <a:r>
              <a:t> Press down on the canister to dispense the medication into </a:t>
            </a:r>
          </a:p>
          <a:p>
            <a:r>
              <a:t>the spacer </a:t>
            </a:r>
          </a:p>
          <a:p>
            <a:r>
              <a:t> Instruct the patient to breathe deeply for 3–5 seconds </a:t>
            </a:r>
          </a:p>
          <a:p>
            <a:r>
              <a:t>through the mouth, and then hold the breath for 10 seconds. </a:t>
            </a:r>
          </a:p>
          <a:p>
            <a:r>
              <a:t> Remove the spacer from the mouth and breathe out slowly. </a:t>
            </a:r>
          </a:p>
          <a:p>
            <a:r>
              <a:t> Patient should rinse the mouth out with water after each use </a:t>
            </a:r>
          </a:p>
          <a:p>
            <a:r>
              <a:t>of inhaled steroids to help prevent oral infections, and the </a:t>
            </a:r>
          </a:p>
          <a:p>
            <a:r>
              <a:t>spacer should routinely be washed with warm soapy water </a:t>
            </a:r>
          </a:p>
          <a:p>
            <a:r>
              <a:t>and air dried </a:t>
            </a:r>
          </a:p>
          <a:p>
            <a:r>
              <a:t> </a:t>
            </a:r>
          </a:p>
          <a:p>
            <a:r>
              <a:t>Teach families to consistently </a:t>
            </a:r>
          </a:p>
          <a:p>
            <a:r>
              <a:t>use proper technique with their </a:t>
            </a:r>
          </a:p>
          <a:p>
            <a:r>
              <a:t>children </a:t>
            </a:r>
          </a:p>
          <a:p>
            <a:r>
              <a:t> </a:t>
            </a:r>
          </a:p>
          <a:p>
            <a:r>
              <a:t>Often young children resist the </a:t>
            </a:r>
          </a:p>
          <a:p>
            <a:r>
              <a:t>mask when it is first introduced; </a:t>
            </a:r>
          </a:p>
          <a:p>
            <a:r>
              <a:t>however, with consistent practice </a:t>
            </a:r>
          </a:p>
          <a:p>
            <a:r>
              <a:t>eventually they will cooperate when </a:t>
            </a:r>
          </a:p>
          <a:p>
            <a:r>
              <a:t>they realize the parent is serious </a:t>
            </a:r>
          </a:p>
          <a:p>
            <a:r>
              <a:t>about </a:t>
            </a:r>
          </a:p>
          <a:p>
            <a:r>
              <a:t>giving </a:t>
            </a:r>
          </a:p>
          <a:p>
            <a:r>
              <a:t>their </a:t>
            </a:r>
          </a:p>
          <a:p>
            <a:r>
              <a:t>medications </a:t>
            </a:r>
          </a:p>
          <a:p>
            <a:r>
              <a:t>effectively.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62 </a:t>
            </a:r>
          </a:p>
          <a:p>
            <a:r>
              <a:t>used in the last 48 hours. If a spacer is used, insert the inhaler’s </a:t>
            </a:r>
          </a:p>
          <a:p>
            <a:r>
              <a:t>mouthpiece into the rubber end of the spacer. Shake the inhaler </a:t>
            </a:r>
          </a:p>
          <a:p>
            <a:r>
              <a:t>immediately before each puff.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 Placing the mouthpiece fully into the mouth between the </a:t>
            </a:r>
          </a:p>
          <a:p>
            <a:r>
              <a:t>teeth </a:t>
            </a:r>
          </a:p>
          <a:p>
            <a:r>
              <a:t> Hold the inhaler in the upright position and close the lips </a:t>
            </a:r>
          </a:p>
          <a:p>
            <a:r>
              <a:t>around the mouthpiece </a:t>
            </a:r>
          </a:p>
          <a:p>
            <a:r>
              <a:t> Press down on the canister to dispense the medication into </a:t>
            </a:r>
          </a:p>
          <a:p>
            <a:r>
              <a:t>the spacer </a:t>
            </a:r>
          </a:p>
          <a:p>
            <a:r>
              <a:t> Instruct the patient to breathe deeply for 3–5 seconds </a:t>
            </a:r>
          </a:p>
          <a:p>
            <a:r>
              <a:t>through the mouth, and then hold the breath for 10 seconds. </a:t>
            </a:r>
          </a:p>
          <a:p>
            <a:r>
              <a:t> Remove the spacer from the mouth and breathe out slowly. </a:t>
            </a:r>
          </a:p>
          <a:p>
            <a:r>
              <a:t> Patient should rinse the mouth out with water after each use </a:t>
            </a:r>
          </a:p>
          <a:p>
            <a:r>
              <a:t>of inhaled steroids to help prevent oral infections, and the </a:t>
            </a:r>
          </a:p>
          <a:p>
            <a:r>
              <a:t>spacer should routinely be washed with warm soapy water </a:t>
            </a:r>
          </a:p>
          <a:p>
            <a:r>
              <a:t>and air dried </a:t>
            </a:r>
          </a:p>
          <a:p>
            <a:r>
              <a:t> </a:t>
            </a:r>
          </a:p>
          <a:p>
            <a:r>
              <a:t>Teach families to consistently </a:t>
            </a:r>
          </a:p>
          <a:p>
            <a:r>
              <a:t>use proper technique with their </a:t>
            </a:r>
          </a:p>
          <a:p>
            <a:r>
              <a:t>children </a:t>
            </a:r>
          </a:p>
          <a:p>
            <a:r>
              <a:t> </a:t>
            </a:r>
          </a:p>
          <a:p>
            <a:r>
              <a:t>Often young children resist the </a:t>
            </a:r>
          </a:p>
          <a:p>
            <a:r>
              <a:t>mask when it is first introduced; </a:t>
            </a:r>
          </a:p>
          <a:p>
            <a:r>
              <a:t>however, with consistent practice </a:t>
            </a:r>
          </a:p>
          <a:p>
            <a:r>
              <a:t>eventually they will cooperate when </a:t>
            </a:r>
          </a:p>
          <a:p>
            <a:r>
              <a:t>they realize the parent is serious </a:t>
            </a:r>
          </a:p>
          <a:p>
            <a:r>
              <a:t>about </a:t>
            </a:r>
          </a:p>
          <a:p>
            <a:r>
              <a:t>giving </a:t>
            </a:r>
          </a:p>
          <a:p>
            <a:r>
              <a:t>their </a:t>
            </a:r>
          </a:p>
          <a:p>
            <a:r>
              <a:t>medications </a:t>
            </a:r>
          </a:p>
          <a:p>
            <a:r>
              <a:t>effectively.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62 </a:t>
            </a:r>
          </a:p>
          <a:p>
            <a:r>
              <a:t>used in the last 48 hours. If a spacer is used, insert the inhaler’s </a:t>
            </a:r>
          </a:p>
          <a:p>
            <a:r>
              <a:t>mouthpiece into the rubber end of the spacer. Shake the inhaler </a:t>
            </a:r>
          </a:p>
          <a:p>
            <a:r>
              <a:t>immediately before each puff.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 Placing the mouthpiece fully into the mouth between the </a:t>
            </a:r>
          </a:p>
          <a:p>
            <a:r>
              <a:t>teeth </a:t>
            </a:r>
          </a:p>
          <a:p>
            <a:r>
              <a:t> Hold the inhaler in the upright position and close the lips </a:t>
            </a:r>
          </a:p>
          <a:p>
            <a:r>
              <a:t>around the mouthpiece </a:t>
            </a:r>
          </a:p>
          <a:p>
            <a:r>
              <a:t> Press down on the canister to dispense the medication into </a:t>
            </a:r>
          </a:p>
          <a:p>
            <a:r>
              <a:t>the spacer </a:t>
            </a:r>
          </a:p>
          <a:p>
            <a:r>
              <a:t> Instruct the patient to breathe deeply for 3–5 seconds </a:t>
            </a:r>
          </a:p>
          <a:p>
            <a:r>
              <a:t>through the mouth, and then hold the breath for 10 seconds. </a:t>
            </a:r>
          </a:p>
          <a:p>
            <a:r>
              <a:t> Remove the spacer from the mouth and breathe out slowly. </a:t>
            </a:r>
          </a:p>
          <a:p>
            <a:r>
              <a:t> Patient should rinse the mouth out with water after each use </a:t>
            </a:r>
          </a:p>
          <a:p>
            <a:r>
              <a:t>of inhaled steroids to help prevent oral infections, and the </a:t>
            </a:r>
          </a:p>
          <a:p>
            <a:r>
              <a:t>spacer should routinely be washed with warm soapy water </a:t>
            </a:r>
          </a:p>
          <a:p>
            <a:r>
              <a:t>and air dried </a:t>
            </a:r>
          </a:p>
          <a:p>
            <a:r>
              <a:t> </a:t>
            </a:r>
          </a:p>
          <a:p>
            <a:r>
              <a:t>Teach families to consistently </a:t>
            </a:r>
          </a:p>
          <a:p>
            <a:r>
              <a:t>use proper technique with their </a:t>
            </a:r>
          </a:p>
          <a:p>
            <a:r>
              <a:t>children </a:t>
            </a:r>
          </a:p>
          <a:p>
            <a:r>
              <a:t> </a:t>
            </a:r>
          </a:p>
          <a:p>
            <a:r>
              <a:t>Often young children resist the </a:t>
            </a:r>
          </a:p>
          <a:p>
            <a:r>
              <a:t>mask when it is first introduced; </a:t>
            </a:r>
          </a:p>
          <a:p>
            <a:r>
              <a:t>however, with consistent practice </a:t>
            </a:r>
          </a:p>
          <a:p>
            <a:r>
              <a:t>eventually they will cooperate when </a:t>
            </a:r>
          </a:p>
          <a:p>
            <a:r>
              <a:t>they realize the parent is serious </a:t>
            </a:r>
          </a:p>
          <a:p>
            <a:r>
              <a:t>about </a:t>
            </a:r>
          </a:p>
          <a:p>
            <a:r>
              <a:t>giving </a:t>
            </a:r>
          </a:p>
          <a:p>
            <a:r>
              <a:t>their </a:t>
            </a:r>
          </a:p>
          <a:p>
            <a:r>
              <a:t>medications </a:t>
            </a:r>
          </a:p>
          <a:p>
            <a:r>
              <a:t>effectively.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62 </a:t>
            </a:r>
          </a:p>
          <a:p>
            <a:r>
              <a:t>used in the last 48 hours. If a spacer is used, insert the inhaler’s </a:t>
            </a:r>
          </a:p>
          <a:p>
            <a:r>
              <a:t>mouthpiece into the rubber end of the spacer. Shake the inhaler </a:t>
            </a:r>
          </a:p>
          <a:p>
            <a:r>
              <a:t>immediately before each puff.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 Placing the mouthpiece fully into the mouth between the </a:t>
            </a:r>
          </a:p>
          <a:p>
            <a:r>
              <a:t>teeth </a:t>
            </a:r>
          </a:p>
          <a:p>
            <a:r>
              <a:t> Hold the inhaler in the upright position and close the lips </a:t>
            </a:r>
          </a:p>
          <a:p>
            <a:r>
              <a:t>around the mouthpiece </a:t>
            </a:r>
          </a:p>
          <a:p>
            <a:r>
              <a:t> Press down on the canister to dispense the medication into </a:t>
            </a:r>
          </a:p>
          <a:p>
            <a:r>
              <a:t>the spacer </a:t>
            </a:r>
          </a:p>
          <a:p>
            <a:r>
              <a:t> Instruct the patient to breathe deeply for 3–5 seconds </a:t>
            </a:r>
          </a:p>
          <a:p>
            <a:r>
              <a:t>through the mouth, and then hold the breath for 10 seconds. </a:t>
            </a:r>
          </a:p>
          <a:p>
            <a:r>
              <a:t> Remove the spacer from the mouth and breathe out slowly. </a:t>
            </a:r>
          </a:p>
          <a:p>
            <a:r>
              <a:t> Patient should rinse the mouth out with water after each use </a:t>
            </a:r>
          </a:p>
          <a:p>
            <a:r>
              <a:t>of inhaled steroids to help prevent oral infections, and the </a:t>
            </a:r>
          </a:p>
          <a:p>
            <a:r>
              <a:t>spacer should routinely be washed with warm soapy water </a:t>
            </a:r>
          </a:p>
          <a:p>
            <a:r>
              <a:t>and air dried </a:t>
            </a:r>
          </a:p>
          <a:p>
            <a:r>
              <a:t> </a:t>
            </a:r>
          </a:p>
          <a:p>
            <a:r>
              <a:t>Teach families to consistently </a:t>
            </a:r>
          </a:p>
          <a:p>
            <a:r>
              <a:t>use proper technique with their </a:t>
            </a:r>
          </a:p>
          <a:p>
            <a:r>
              <a:t>children </a:t>
            </a:r>
          </a:p>
          <a:p>
            <a:r>
              <a:t> </a:t>
            </a:r>
          </a:p>
          <a:p>
            <a:r>
              <a:t>Often young children resist the </a:t>
            </a:r>
          </a:p>
          <a:p>
            <a:r>
              <a:t>mask when it is first introduced; </a:t>
            </a:r>
          </a:p>
          <a:p>
            <a:r>
              <a:t>however, with consistent practice </a:t>
            </a:r>
          </a:p>
          <a:p>
            <a:r>
              <a:t>eventually they will cooperate when </a:t>
            </a:r>
          </a:p>
          <a:p>
            <a:r>
              <a:t>they realize the parent is serious </a:t>
            </a:r>
          </a:p>
          <a:p>
            <a:r>
              <a:t>about </a:t>
            </a:r>
          </a:p>
          <a:p>
            <a:r>
              <a:t>giving </a:t>
            </a:r>
          </a:p>
          <a:p>
            <a:r>
              <a:t>their </a:t>
            </a:r>
          </a:p>
          <a:p>
            <a:r>
              <a:t>medications </a:t>
            </a:r>
          </a:p>
          <a:p>
            <a:r>
              <a:t>effectively.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63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Purpose:  </a:t>
            </a:r>
          </a:p>
          <a:p>
            <a:r>
              <a:t> </a:t>
            </a:r>
          </a:p>
          <a:p>
            <a:r>
              <a:t>To place medication into the muscle without injury. </a:t>
            </a:r>
          </a:p>
          <a:p>
            <a:r>
              <a:t> </a:t>
            </a:r>
          </a:p>
          <a:p>
            <a:r>
              <a:t>Equipment: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 Prescribed medication  </a:t>
            </a:r>
          </a:p>
          <a:p>
            <a:r>
              <a:t> Appropriately sized syringe and needle </a:t>
            </a:r>
          </a:p>
          <a:p>
            <a:r>
              <a:t> Alcohol pads or povidone-iodine solution </a:t>
            </a:r>
          </a:p>
          <a:p>
            <a:r>
              <a:t> Gloves </a:t>
            </a:r>
          </a:p>
          <a:p>
            <a:r>
              <a:t> Gauze pads </a:t>
            </a:r>
          </a:p>
          <a:p>
            <a:r>
              <a:t> Cold compresses  </a:t>
            </a:r>
          </a:p>
          <a:p>
            <a:r>
              <a:t> Adhesive bandage. </a:t>
            </a:r>
          </a:p>
          <a:p>
            <a:r>
              <a:t> </a:t>
            </a:r>
          </a:p>
          <a:p>
            <a:r>
              <a:t>I.M. INJECTION SITES IN CHILDREN </a:t>
            </a:r>
          </a:p>
          <a:p>
            <a:r>
              <a:t>Administering Intramuscular Injections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63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Purpose:  </a:t>
            </a:r>
          </a:p>
          <a:p>
            <a:r>
              <a:t> </a:t>
            </a:r>
          </a:p>
          <a:p>
            <a:r>
              <a:t>To place medication into the muscle without injury. </a:t>
            </a:r>
          </a:p>
          <a:p>
            <a:r>
              <a:t> </a:t>
            </a:r>
          </a:p>
          <a:p>
            <a:r>
              <a:t>Equipment: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 Prescribed medication  </a:t>
            </a:r>
          </a:p>
          <a:p>
            <a:r>
              <a:t> Appropriately sized syringe and needle </a:t>
            </a:r>
          </a:p>
          <a:p>
            <a:r>
              <a:t> Alcohol pads or povidone-iodine solution </a:t>
            </a:r>
          </a:p>
          <a:p>
            <a:r>
              <a:t> Gloves </a:t>
            </a:r>
          </a:p>
          <a:p>
            <a:r>
              <a:t> Gauze pads </a:t>
            </a:r>
          </a:p>
          <a:p>
            <a:r>
              <a:t> Cold compresses  </a:t>
            </a:r>
          </a:p>
          <a:p>
            <a:r>
              <a:t> Adhesive bandage. </a:t>
            </a:r>
          </a:p>
          <a:p>
            <a:r>
              <a:t> </a:t>
            </a:r>
          </a:p>
          <a:p>
            <a:r>
              <a:t>I.M. INJECTION SITES IN CHILDREN </a:t>
            </a:r>
          </a:p>
          <a:p>
            <a:r>
              <a:t>Administering Intramuscular Injections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64 </a:t>
            </a:r>
          </a:p>
          <a:p>
            <a:r>
              <a:t>When selecting the best site for a child's I.M. injection, </a:t>
            </a:r>
          </a:p>
          <a:p>
            <a:r>
              <a:t>consider: </a:t>
            </a:r>
          </a:p>
          <a:p>
            <a:r>
              <a:t> </a:t>
            </a:r>
          </a:p>
          <a:p>
            <a:r>
              <a:t>the child's age, weight, and muscular development </a:t>
            </a:r>
          </a:p>
          <a:p>
            <a:r>
              <a:t> </a:t>
            </a:r>
          </a:p>
          <a:p>
            <a:r>
              <a:t>the amount of subcutaneous fat over the injection site </a:t>
            </a:r>
          </a:p>
          <a:p>
            <a:r>
              <a:t> </a:t>
            </a:r>
          </a:p>
          <a:p>
            <a:r>
              <a:t>the type of drug you're administering </a:t>
            </a:r>
          </a:p>
          <a:p>
            <a:r>
              <a:t> </a:t>
            </a:r>
          </a:p>
          <a:p>
            <a:r>
              <a:t>the drug's absorption rate. </a:t>
            </a:r>
          </a:p>
          <a:p>
            <a:r>
              <a:t>Vastus lateralis and rectus femoris </a:t>
            </a:r>
          </a:p>
          <a:p>
            <a:r>
              <a:t>For a child under age 3, you'll typically use the vastus lateralis or </a:t>
            </a:r>
          </a:p>
          <a:p>
            <a:r>
              <a:t>rectus femoris muscle for an I.M. injection. Constituting the </a:t>
            </a:r>
          </a:p>
          <a:p>
            <a:r>
              <a:t>largest muscle mass in this age-group, the vastus lateralis and </a:t>
            </a:r>
          </a:p>
          <a:p>
            <a:r>
              <a:t>rectus femoris have fewer major blood vessels and nerves.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64 </a:t>
            </a:r>
          </a:p>
          <a:p>
            <a:r>
              <a:t>When selecting the best site for a child's I.M. injection, </a:t>
            </a:r>
          </a:p>
          <a:p>
            <a:r>
              <a:t>consider: </a:t>
            </a:r>
          </a:p>
          <a:p>
            <a:r>
              <a:t> </a:t>
            </a:r>
          </a:p>
          <a:p>
            <a:r>
              <a:t>the child's age, weight, and muscular development </a:t>
            </a:r>
          </a:p>
          <a:p>
            <a:r>
              <a:t> </a:t>
            </a:r>
          </a:p>
          <a:p>
            <a:r>
              <a:t>the amount of subcutaneous fat over the injection site </a:t>
            </a:r>
          </a:p>
          <a:p>
            <a:r>
              <a:t> </a:t>
            </a:r>
          </a:p>
          <a:p>
            <a:r>
              <a:t>the type of drug you're administering </a:t>
            </a:r>
          </a:p>
          <a:p>
            <a:r>
              <a:t> </a:t>
            </a:r>
          </a:p>
          <a:p>
            <a:r>
              <a:t>the drug's absorption rate. </a:t>
            </a:r>
          </a:p>
          <a:p>
            <a:r>
              <a:t>Vastus lateralis and rectus femoris </a:t>
            </a:r>
          </a:p>
          <a:p>
            <a:r>
              <a:t>For a child under age 3, you'll typically use the vastus lateralis or </a:t>
            </a:r>
          </a:p>
          <a:p>
            <a:r>
              <a:t>rectus femoris muscle for an I.M. injection. Constituting the </a:t>
            </a:r>
          </a:p>
          <a:p>
            <a:r>
              <a:t>largest muscle mass in this age-group, the vastus lateralis and </a:t>
            </a:r>
          </a:p>
          <a:p>
            <a:r>
              <a:t>rectus femoris have fewer major blood vessels and nerves.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65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Ventrogluteal and dorsogluteal </a:t>
            </a:r>
          </a:p>
          <a:p>
            <a:r>
              <a:t>For a child who can walk and is over age 3, use the ventrogluteal </a:t>
            </a:r>
          </a:p>
          <a:p>
            <a:r>
              <a:t>and dorsogluteal muscles. Like the vastus lateralis, the </a:t>
            </a:r>
          </a:p>
          <a:p>
            <a:r>
              <a:t>ventrogluteal site is relatively free from major blood vessels and </a:t>
            </a:r>
          </a:p>
          <a:p>
            <a:r>
              <a:t>nerves. Before you select either site, make sure that the child has </a:t>
            </a:r>
          </a:p>
          <a:p>
            <a:r>
              <a:t>been walking for at least 1 year to ensure sufficient muscle </a:t>
            </a:r>
          </a:p>
          <a:p>
            <a:r>
              <a:t>development.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65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Ventrogluteal and dorsogluteal </a:t>
            </a:r>
          </a:p>
          <a:p>
            <a:r>
              <a:t>For a child who can walk and is over age 3, use the ventrogluteal </a:t>
            </a:r>
          </a:p>
          <a:p>
            <a:r>
              <a:t>and dorsogluteal muscles. Like the vastus lateralis, the </a:t>
            </a:r>
          </a:p>
          <a:p>
            <a:r>
              <a:t>ventrogluteal site is relatively free from major blood vessels and </a:t>
            </a:r>
          </a:p>
          <a:p>
            <a:r>
              <a:t>nerves. Before you select either site, make sure that the child has </a:t>
            </a:r>
          </a:p>
          <a:p>
            <a:r>
              <a:t>been walking for at least 1 year to ensure sufficient muscle </a:t>
            </a:r>
          </a:p>
          <a:p>
            <a:r>
              <a:t>development.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66 </a:t>
            </a:r>
          </a:p>
          <a:p>
            <a:r>
              <a:t> </a:t>
            </a:r>
          </a:p>
          <a:p>
            <a:r>
              <a:t>Deltoid </a:t>
            </a:r>
          </a:p>
          <a:p>
            <a:r>
              <a:t>For a child older than 18 months who needs rapid medication </a:t>
            </a:r>
          </a:p>
          <a:p>
            <a:r>
              <a:t>results, consider using the deltoid muscle for the injection. </a:t>
            </a:r>
          </a:p>
          <a:p>
            <a:r>
              <a:t>Because blood flows faster in the deltoid muscle than in other </a:t>
            </a:r>
          </a:p>
          <a:p>
            <a:r>
              <a:t>muscles, drug absorption should be faster. However, be careful </a:t>
            </a:r>
          </a:p>
          <a:p>
            <a:r>
              <a:t>when using this site because the deltoid doesn't develop fully until </a:t>
            </a:r>
          </a:p>
          <a:p>
            <a:r>
              <a:t>adolescence. In a younger child, it's small and close to the radial </a:t>
            </a:r>
          </a:p>
          <a:p>
            <a:r>
              <a:t>nerve, which may be injured during needle insertion.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66 </a:t>
            </a:r>
          </a:p>
          <a:p>
            <a:r>
              <a:t> </a:t>
            </a:r>
          </a:p>
          <a:p>
            <a:r>
              <a:t>Deltoid </a:t>
            </a:r>
          </a:p>
          <a:p>
            <a:r>
              <a:t>For a child older than 18 months who needs rapid medication </a:t>
            </a:r>
          </a:p>
          <a:p>
            <a:r>
              <a:t>results, consider using the deltoid muscle for the injection. </a:t>
            </a:r>
          </a:p>
          <a:p>
            <a:r>
              <a:t>Because blood flows faster in the deltoid muscle than in other </a:t>
            </a:r>
          </a:p>
          <a:p>
            <a:r>
              <a:t>muscles, drug absorption should be faster. However, be careful </a:t>
            </a:r>
          </a:p>
          <a:p>
            <a:r>
              <a:t>when using this site because the deltoid doesn't develop fully until </a:t>
            </a:r>
          </a:p>
          <a:p>
            <a:r>
              <a:t>adolescence. In a younger child, it's small and close to the radial </a:t>
            </a:r>
          </a:p>
          <a:p>
            <a:r>
              <a:t>nerve, which may be injured during needle insertion.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66 </a:t>
            </a:r>
          </a:p>
          <a:p>
            <a:r>
              <a:t> </a:t>
            </a:r>
          </a:p>
          <a:p>
            <a:r>
              <a:t>Deltoid </a:t>
            </a:r>
          </a:p>
          <a:p>
            <a:r>
              <a:t>For a child older than 18 months who needs rapid medication </a:t>
            </a:r>
          </a:p>
          <a:p>
            <a:r>
              <a:t>results, consider using the deltoid muscle for the injection. </a:t>
            </a:r>
          </a:p>
          <a:p>
            <a:r>
              <a:t>Because blood flows faster in the deltoid muscle than in other </a:t>
            </a:r>
          </a:p>
          <a:p>
            <a:r>
              <a:t>muscles, drug absorption should be faster. However, be careful </a:t>
            </a:r>
          </a:p>
          <a:p>
            <a:r>
              <a:t>when using this site because the deltoid doesn't develop fully until </a:t>
            </a:r>
          </a:p>
          <a:p>
            <a:r>
              <a:t>adolescence. In a younger child, it's small and close to the radial </a:t>
            </a:r>
          </a:p>
          <a:p>
            <a:r>
              <a:t>nerve, which may be injured during needle insertion.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67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68 </a:t>
            </a:r>
          </a:p>
          <a:p>
            <a:r>
              <a:t> </a:t>
            </a:r>
          </a:p>
          <a:p>
            <a:r>
              <a:t>Procedure steps </a:t>
            </a:r>
          </a:p>
          <a:p>
            <a:r>
              <a:t>1.Wash the infant's thigh if the bath has not yet been given. Blood </a:t>
            </a:r>
          </a:p>
          <a:p>
            <a:r>
              <a:t>from the mother is present on the infant’s skin.  </a:t>
            </a:r>
          </a:p>
          <a:p>
            <a:r>
              <a:t>R: Washing prevents that blood from being carried into the </a:t>
            </a:r>
          </a:p>
          <a:p>
            <a:r>
              <a:t>infant’s tissues during the needle insertion. </a:t>
            </a:r>
          </a:p>
          <a:p>
            <a:r>
              <a:t>2. Prepare medication for injection. Use a 1mL syringe and in, </a:t>
            </a:r>
          </a:p>
          <a:p>
            <a:r>
              <a:t>25gauge needle. If the medication is in a glass ampule, use a filter </a:t>
            </a:r>
          </a:p>
          <a:p>
            <a:r>
              <a:t>needle to draw it up. Remove the filter needle, and place a </a:t>
            </a:r>
          </a:p>
          <a:p>
            <a:r>
              <a:t>25gauge needle on the syringe to give the injection.  Use of a filter </a:t>
            </a:r>
          </a:p>
          <a:p>
            <a:r>
              <a:t>needle prevents particles of glass from being drawn into the </a:t>
            </a:r>
          </a:p>
          <a:p>
            <a:r>
              <a:t>syringe. A small need/e reaches the newborn’s muscle but avoids </a:t>
            </a:r>
          </a:p>
          <a:p>
            <a:r>
              <a:t>the bone. </a:t>
            </a:r>
          </a:p>
          <a:p>
            <a:r>
              <a:t>3. Put on gloves.  </a:t>
            </a:r>
          </a:p>
          <a:p>
            <a:r>
              <a:t>R: Gloves protect the nurse from contamination by blood. </a:t>
            </a:r>
          </a:p>
          <a:p>
            <a:r>
              <a:t>4. Locate the correct site. The best site for newborn intramuscular </a:t>
            </a:r>
          </a:p>
          <a:p>
            <a:r>
              <a:t>injections is the vastus lateralis muscle. Divide the area between </a:t>
            </a:r>
          </a:p>
          <a:p>
            <a:r>
              <a:t>the greater trochanter of the femur and the knee into thirds. Give </a:t>
            </a:r>
          </a:p>
          <a:p>
            <a:r>
              <a:t>the injection in the middle third of the muscle, lateral to the </a:t>
            </a:r>
          </a:p>
          <a:p>
            <a:r>
              <a:t>midline of the anterior thigh. The large vastus lateralis is located </a:t>
            </a:r>
          </a:p>
          <a:p>
            <a:r>
              <a:t>away from the sciatic nerve and the femoral artery and vein. The </a:t>
            </a:r>
          </a:p>
          <a:p>
            <a:r>
              <a:t>rectus femoris muscle is nearer to these structures and poses more </a:t>
            </a:r>
          </a:p>
          <a:p>
            <a:r>
              <a:t>of a danger. (Note: The gluteal muscles are not used until a child </a:t>
            </a:r>
          </a:p>
          <a:p>
            <a:r>
              <a:t>has been walking for at least a year. These muscles are poorly </a:t>
            </a:r>
          </a:p>
          <a:p>
            <a:r>
              <a:t>developed and dangerous/y near the sciatic nerve.)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68 </a:t>
            </a:r>
          </a:p>
          <a:p>
            <a:r>
              <a:t> </a:t>
            </a:r>
          </a:p>
          <a:p>
            <a:r>
              <a:t>Procedure steps </a:t>
            </a:r>
          </a:p>
          <a:p>
            <a:r>
              <a:t>1.Wash the infant's thigh if the bath has not yet been given. Blood </a:t>
            </a:r>
          </a:p>
          <a:p>
            <a:r>
              <a:t>from the mother is present on the infant’s skin.  </a:t>
            </a:r>
          </a:p>
          <a:p>
            <a:r>
              <a:t>R: Washing prevents that blood from being carried into the </a:t>
            </a:r>
          </a:p>
          <a:p>
            <a:r>
              <a:t>infant’s tissues during the needle insertion. </a:t>
            </a:r>
          </a:p>
          <a:p>
            <a:r>
              <a:t>2. Prepare medication for injection. Use a 1mL syringe and in, </a:t>
            </a:r>
          </a:p>
          <a:p>
            <a:r>
              <a:t>25gauge needle. If the medication is in a glass ampule, use a filter </a:t>
            </a:r>
          </a:p>
          <a:p>
            <a:r>
              <a:t>needle to draw it up. Remove the filter needle, and place a </a:t>
            </a:r>
          </a:p>
          <a:p>
            <a:r>
              <a:t>25gauge needle on the syringe to give the injection.  Use of a filter </a:t>
            </a:r>
          </a:p>
          <a:p>
            <a:r>
              <a:t>needle prevents particles of glass from being drawn into the </a:t>
            </a:r>
          </a:p>
          <a:p>
            <a:r>
              <a:t>syringe. A small need/e reaches the newborn’s muscle but avoids </a:t>
            </a:r>
          </a:p>
          <a:p>
            <a:r>
              <a:t>the bone. </a:t>
            </a:r>
          </a:p>
          <a:p>
            <a:r>
              <a:t>3. Put on gloves.  </a:t>
            </a:r>
          </a:p>
          <a:p>
            <a:r>
              <a:t>R: Gloves protect the nurse from contamination by blood. </a:t>
            </a:r>
          </a:p>
          <a:p>
            <a:r>
              <a:t>4. Locate the correct site. The best site for newborn intramuscular </a:t>
            </a:r>
          </a:p>
          <a:p>
            <a:r>
              <a:t>injections is the vastus lateralis muscle. Divide the area between </a:t>
            </a:r>
          </a:p>
          <a:p>
            <a:r>
              <a:t>the greater trochanter of the femur and the knee into thirds. Give </a:t>
            </a:r>
          </a:p>
          <a:p>
            <a:r>
              <a:t>the injection in the middle third of the muscle, lateral to the </a:t>
            </a:r>
          </a:p>
          <a:p>
            <a:r>
              <a:t>midline of the anterior thigh. The large vastus lateralis is located </a:t>
            </a:r>
          </a:p>
          <a:p>
            <a:r>
              <a:t>away from the sciatic nerve and the femoral artery and vein. The </a:t>
            </a:r>
          </a:p>
          <a:p>
            <a:r>
              <a:t>rectus femoris muscle is nearer to these structures and poses more </a:t>
            </a:r>
          </a:p>
          <a:p>
            <a:r>
              <a:t>of a danger. (Note: The gluteal muscles are not used until a child </a:t>
            </a:r>
          </a:p>
          <a:p>
            <a:r>
              <a:t>has been walking for at least a year. These muscles are poorly </a:t>
            </a:r>
          </a:p>
          <a:p>
            <a:r>
              <a:t>developed and dangerous/y near the sciatic nerve.)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69 </a:t>
            </a:r>
          </a:p>
          <a:p>
            <a:r>
              <a:t> </a:t>
            </a:r>
          </a:p>
          <a:p>
            <a:r>
              <a:t>5. Cleanse the area with an alcohol wipe. </a:t>
            </a:r>
          </a:p>
          <a:p>
            <a:r>
              <a:t>R: Cleansing removes organisms and prevents infection. </a:t>
            </a:r>
          </a:p>
          <a:p>
            <a:r>
              <a:t>6. Stabilize the leg firmly while grasping the thigh between the </a:t>
            </a:r>
          </a:p>
          <a:p>
            <a:r>
              <a:t>thumb and fingers.  </a:t>
            </a:r>
          </a:p>
          <a:p>
            <a:r>
              <a:t>R: Holding the leg prevents sudden movement by the infant and </a:t>
            </a:r>
          </a:p>
          <a:p>
            <a:r>
              <a:t>possible injury </a:t>
            </a:r>
          </a:p>
          <a:p>
            <a:r>
              <a:t>7. Insert the needle at a 90—degree angle. Inject the medication. </a:t>
            </a:r>
          </a:p>
          <a:p>
            <a:r>
              <a:t>R: This places the medication into the muscle rather than into the </a:t>
            </a:r>
          </a:p>
          <a:p>
            <a:r>
              <a:t>subcutaneous tissue.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69 </a:t>
            </a:r>
          </a:p>
          <a:p>
            <a:r>
              <a:t> </a:t>
            </a:r>
          </a:p>
          <a:p>
            <a:r>
              <a:t>5. Cleanse the area with an alcohol wipe. </a:t>
            </a:r>
          </a:p>
          <a:p>
            <a:r>
              <a:t>R: Cleansing removes organisms and prevents infection. </a:t>
            </a:r>
          </a:p>
          <a:p>
            <a:r>
              <a:t>6. Stabilize the leg firmly while grasping the thigh between the </a:t>
            </a:r>
          </a:p>
          <a:p>
            <a:r>
              <a:t>thumb and fingers.  </a:t>
            </a:r>
          </a:p>
          <a:p>
            <a:r>
              <a:t>R: Holding the leg prevents sudden movement by the infant and </a:t>
            </a:r>
          </a:p>
          <a:p>
            <a:r>
              <a:t>possible injury </a:t>
            </a:r>
          </a:p>
          <a:p>
            <a:r>
              <a:t>7. Insert the needle at a 90—degree angle. Inject the medication. </a:t>
            </a:r>
          </a:p>
          <a:p>
            <a:r>
              <a:t>R: This places the medication into the muscle rather than into the </a:t>
            </a:r>
          </a:p>
          <a:p>
            <a:r>
              <a:t>subcutaneous tissue.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70 </a:t>
            </a:r>
          </a:p>
          <a:p>
            <a:r>
              <a:t>8. Withdraw the needle and apply gentle pressure to the site with </a:t>
            </a:r>
          </a:p>
          <a:p>
            <a:r>
              <a:t>small gauze pad. R: Massaging promotes absorption of the </a:t>
            </a:r>
          </a:p>
          <a:p>
            <a:r>
              <a:t>medication. </a:t>
            </a:r>
          </a:p>
          <a:p>
            <a:r>
              <a:t>9. Discard the needle and syringe in the appropriate place and </a:t>
            </a:r>
          </a:p>
          <a:p>
            <a:r>
              <a:t>comfort the infant. R: The needle and syringe should be placed </a:t>
            </a:r>
          </a:p>
          <a:p>
            <a:r>
              <a:t>in the proper container to prevent injury or contamination to </a:t>
            </a:r>
          </a:p>
          <a:p>
            <a:r>
              <a:t>others. Infants should be comforted after painful procedures. </a:t>
            </a:r>
          </a:p>
          <a:p>
            <a:r>
              <a:t>9- Choose an injection site that's appropriate for the child's age </a:t>
            </a:r>
          </a:p>
          <a:p>
            <a:r>
              <a:t>and muscle mass.  </a:t>
            </a:r>
          </a:p>
          <a:p>
            <a:r>
              <a:t>10- Position the patient appropriately for the site chosen, and </a:t>
            </a:r>
          </a:p>
          <a:p>
            <a:r>
              <a:t>locate key landmarks, for example, the posterior superior iliac </a:t>
            </a:r>
          </a:p>
          <a:p>
            <a:r>
              <a:t>spine and the greater trochanter. Have someone help you restrain </a:t>
            </a:r>
          </a:p>
          <a:p>
            <a:r>
              <a:t>an infant; seek an older child's cooperation before enlisting </a:t>
            </a:r>
          </a:p>
          <a:p>
            <a:r>
              <a:t>assistance. </a:t>
            </a:r>
          </a:p>
          <a:p>
            <a:r>
              <a:t>11- Put on gloves. Clean the injection site with an alcohol or </a:t>
            </a:r>
          </a:p>
          <a:p>
            <a:r>
              <a:t>povidone-iodine pad. Wipe outward from the center with a spiral </a:t>
            </a:r>
          </a:p>
          <a:p>
            <a:r>
              <a:t>motion to avoid contaminating the clean area. </a:t>
            </a:r>
          </a:p>
          <a:p>
            <a:r>
              <a:t>12- Grasp the tissue surrounding the site between your index </a:t>
            </a:r>
          </a:p>
          <a:p>
            <a:r>
              <a:t>finger and thumb to immobilize the site and to create a muscle </a:t>
            </a:r>
          </a:p>
          <a:p>
            <a:r>
              <a:t>mass for the injection. </a:t>
            </a:r>
          </a:p>
          <a:p>
            <a:r>
              <a:t>13- Insert the needle quickly, using a darting motion. If you're </a:t>
            </a:r>
          </a:p>
          <a:p>
            <a:r>
              <a:t>using the ventrogluteal site, insert the needle at a 45-degree angle </a:t>
            </a:r>
          </a:p>
          <a:p>
            <a:r>
              <a:t>toward the knee.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70 </a:t>
            </a:r>
          </a:p>
          <a:p>
            <a:r>
              <a:t>8. Withdraw the needle and apply gentle pressure to the site with </a:t>
            </a:r>
          </a:p>
          <a:p>
            <a:r>
              <a:t>small gauze pad. R: Massaging promotes absorption of the </a:t>
            </a:r>
          </a:p>
          <a:p>
            <a:r>
              <a:t>medication. </a:t>
            </a:r>
          </a:p>
          <a:p>
            <a:r>
              <a:t>9. Discard the needle and syringe in the appropriate place and </a:t>
            </a:r>
          </a:p>
          <a:p>
            <a:r>
              <a:t>comfort the infant. R: The needle and syringe should be placed </a:t>
            </a:r>
          </a:p>
          <a:p>
            <a:r>
              <a:t>in the proper container to prevent injury or contamination to </a:t>
            </a:r>
          </a:p>
          <a:p>
            <a:r>
              <a:t>others. Infants should be comforted after painful procedures. </a:t>
            </a:r>
          </a:p>
          <a:p>
            <a:r>
              <a:t>9- Choose an injection site that's appropriate for the child's age </a:t>
            </a:r>
          </a:p>
          <a:p>
            <a:r>
              <a:t>and muscle mass.  </a:t>
            </a:r>
          </a:p>
          <a:p>
            <a:r>
              <a:t>10- Position the patient appropriately for the site chosen, and </a:t>
            </a:r>
          </a:p>
          <a:p>
            <a:r>
              <a:t>locate key landmarks, for example, the posterior superior iliac </a:t>
            </a:r>
          </a:p>
          <a:p>
            <a:r>
              <a:t>spine and the greater trochanter. Have someone help you restrain </a:t>
            </a:r>
          </a:p>
          <a:p>
            <a:r>
              <a:t>an infant; seek an older child's cooperation before enlisting </a:t>
            </a:r>
          </a:p>
          <a:p>
            <a:r>
              <a:t>assistance. </a:t>
            </a:r>
          </a:p>
          <a:p>
            <a:r>
              <a:t>11- Put on gloves. Clean the injection site with an alcohol or </a:t>
            </a:r>
          </a:p>
          <a:p>
            <a:r>
              <a:t>povidone-iodine pad. Wipe outward from the center with a spiral </a:t>
            </a:r>
          </a:p>
          <a:p>
            <a:r>
              <a:t>motion to avoid contaminating the clean area. </a:t>
            </a:r>
          </a:p>
          <a:p>
            <a:r>
              <a:t>12- Grasp the tissue surrounding the site between your index </a:t>
            </a:r>
          </a:p>
          <a:p>
            <a:r>
              <a:t>finger and thumb to immobilize the site and to create a muscle </a:t>
            </a:r>
          </a:p>
          <a:p>
            <a:r>
              <a:t>mass for the injection. </a:t>
            </a:r>
          </a:p>
          <a:p>
            <a:r>
              <a:t>13- Insert the needle quickly, using a darting motion. If you're </a:t>
            </a:r>
          </a:p>
          <a:p>
            <a:r>
              <a:t>using the ventrogluteal site, insert the needle at a 45-degree angle </a:t>
            </a:r>
          </a:p>
          <a:p>
            <a:r>
              <a:t>toward the knee.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71 </a:t>
            </a:r>
          </a:p>
          <a:p>
            <a:r>
              <a:t>14- Aspirate the plunger to ensure that the needle isn't in a blood </a:t>
            </a:r>
          </a:p>
          <a:p>
            <a:r>
              <a:t>vessel. If no blood appears, inject the medication slowly so that </a:t>
            </a:r>
          </a:p>
          <a:p>
            <a:r>
              <a:t>the muscle can distend to accommodate the volume. </a:t>
            </a:r>
          </a:p>
          <a:p>
            <a:r>
              <a:t>15- Withdraw the needle and gently massage the area with a </a:t>
            </a:r>
          </a:p>
          <a:p>
            <a:r>
              <a:t>gauze pad to stimulate circulation and enhance absorption. </a:t>
            </a:r>
          </a:p>
          <a:p>
            <a:r>
              <a:t>16-Provide comfort and praise. </a:t>
            </a:r>
          </a:p>
          <a:p>
            <a:r>
              <a:t> </a:t>
            </a:r>
          </a:p>
          <a:p>
            <a:r>
              <a:t>Giving a subcutaneous injection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Procedure: </a:t>
            </a:r>
          </a:p>
          <a:p>
            <a:r>
              <a:t> Select from these possible sites: the middle third of the </a:t>
            </a:r>
          </a:p>
          <a:p>
            <a:r>
              <a:t>upper outer arm, the middle third of the upper outer thigh, or the </a:t>
            </a:r>
          </a:p>
          <a:p>
            <a:r>
              <a:t>abdomen. You may apply a cold compress to the injection site to </a:t>
            </a:r>
          </a:p>
          <a:p>
            <a:r>
              <a:t>minimize pain. </a:t>
            </a:r>
          </a:p>
          <a:p>
            <a:r>
              <a:t> Put on gloves, and prepare the injection site with alcohol </a:t>
            </a:r>
          </a:p>
          <a:p>
            <a:r>
              <a:t>or povidone-iodine solution according to the patient's needs and </a:t>
            </a:r>
          </a:p>
          <a:p>
            <a:r>
              <a:t>hospital policy. </a:t>
            </a:r>
          </a:p>
          <a:p>
            <a:r>
              <a:t> Pinch the tissue surrounding the site between your index </a:t>
            </a:r>
          </a:p>
          <a:p>
            <a:r>
              <a:t>finger and thumb to ensure injection into the subcutaneous tissue.  </a:t>
            </a:r>
          </a:p>
          <a:p>
            <a:r>
              <a:t> Holding the needle at a 45- to 90-degree angle, quickly </a:t>
            </a:r>
          </a:p>
          <a:p>
            <a:r>
              <a:t>insert it into the tissue.  </a:t>
            </a:r>
          </a:p>
          <a:p>
            <a:r>
              <a:t> Release your grasp on the tissue, and slowly inject the </a:t>
            </a:r>
          </a:p>
          <a:p>
            <a:r>
              <a:t>medication. </a:t>
            </a:r>
          </a:p>
          <a:p>
            <a:r>
              <a:t> Remove the needle quickly to decrease discomfort.  </a:t>
            </a:r>
          </a:p>
          <a:p>
            <a:r>
              <a:t> Unless contraindicated, gently massage the area to </a:t>
            </a:r>
          </a:p>
          <a:p>
            <a:r>
              <a:t>facilitate the drug's absorption.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Giving a subcutaneous </a:t>
            </a:r>
          </a:p>
          <a:p>
            <a:r>
              <a:t>injection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71 </a:t>
            </a:r>
          </a:p>
          <a:p>
            <a:r>
              <a:t>14- Aspirate the plunger to ensure that the needle isn't in a blood </a:t>
            </a:r>
          </a:p>
          <a:p>
            <a:r>
              <a:t>vessel. If no blood appears, inject the medication slowly so that </a:t>
            </a:r>
          </a:p>
          <a:p>
            <a:r>
              <a:t>the muscle can distend to accommodate the volume. </a:t>
            </a:r>
          </a:p>
          <a:p>
            <a:r>
              <a:t>15- Withdraw the needle and gently massage the area with a </a:t>
            </a:r>
          </a:p>
          <a:p>
            <a:r>
              <a:t>gauze pad to stimulate circulation and enhance absorption. </a:t>
            </a:r>
          </a:p>
          <a:p>
            <a:r>
              <a:t>16-Provide comfort and praise. </a:t>
            </a:r>
          </a:p>
          <a:p>
            <a:r>
              <a:t> </a:t>
            </a:r>
          </a:p>
          <a:p>
            <a:r>
              <a:t>Giving a subcutaneous injection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Procedure: </a:t>
            </a:r>
          </a:p>
          <a:p>
            <a:r>
              <a:t> Select from these possible sites: the middle third of the </a:t>
            </a:r>
          </a:p>
          <a:p>
            <a:r>
              <a:t>upper outer arm, the middle third of the upper outer thigh, or the </a:t>
            </a:r>
          </a:p>
          <a:p>
            <a:r>
              <a:t>abdomen. You may apply a cold compress to the injection site to </a:t>
            </a:r>
          </a:p>
          <a:p>
            <a:r>
              <a:t>minimize pain. </a:t>
            </a:r>
          </a:p>
          <a:p>
            <a:r>
              <a:t> Put on gloves, and prepare the injection site with alcohol </a:t>
            </a:r>
          </a:p>
          <a:p>
            <a:r>
              <a:t>or povidone-iodine solution according to the patient's needs and </a:t>
            </a:r>
          </a:p>
          <a:p>
            <a:r>
              <a:t>hospital policy. </a:t>
            </a:r>
          </a:p>
          <a:p>
            <a:r>
              <a:t> Pinch the tissue surrounding the site between your index </a:t>
            </a:r>
          </a:p>
          <a:p>
            <a:r>
              <a:t>finger and thumb to ensure injection into the subcutaneous tissue.  </a:t>
            </a:r>
          </a:p>
          <a:p>
            <a:r>
              <a:t> Holding the needle at a 45- to 90-degree angle, quickly </a:t>
            </a:r>
          </a:p>
          <a:p>
            <a:r>
              <a:t>insert it into the tissue.  </a:t>
            </a:r>
          </a:p>
          <a:p>
            <a:r>
              <a:t> Release your grasp on the tissue, and slowly inject the </a:t>
            </a:r>
          </a:p>
          <a:p>
            <a:r>
              <a:t>medication. </a:t>
            </a:r>
          </a:p>
          <a:p>
            <a:r>
              <a:t> Remove the needle quickly to decrease discomfort.  </a:t>
            </a:r>
          </a:p>
          <a:p>
            <a:r>
              <a:t> Unless contraindicated, gently massage the area to </a:t>
            </a:r>
          </a:p>
          <a:p>
            <a:r>
              <a:t>facilitate the drug's absorption.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Giving a subcutaneous </a:t>
            </a:r>
          </a:p>
          <a:p>
            <a:r>
              <a:t>injection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72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Giving an intradermal injection </a:t>
            </a:r>
          </a:p>
          <a:p>
            <a:r>
              <a:t>  </a:t>
            </a:r>
          </a:p>
          <a:p>
            <a:r>
              <a:t> </a:t>
            </a:r>
          </a:p>
          <a:p>
            <a:r>
              <a:t>Procedure: </a:t>
            </a:r>
          </a:p>
          <a:p>
            <a:r>
              <a:t> Put on gloves and pull the patient's skin taut (the site of </a:t>
            </a:r>
          </a:p>
          <a:p>
            <a:r>
              <a:t>choice is the inner aspect of the forearm). </a:t>
            </a:r>
          </a:p>
          <a:p>
            <a:r>
              <a:t> Insert the needle, bevel up, at a 10- to 15-degree angle </a:t>
            </a:r>
          </a:p>
          <a:p>
            <a:r>
              <a:t>just beneath the outer skin layer. </a:t>
            </a:r>
          </a:p>
          <a:p>
            <a:r>
              <a:t> Slowly inject the medication, and watch for a bleb to </a:t>
            </a:r>
          </a:p>
          <a:p>
            <a:r>
              <a:t>appear. Quickly remove the needle, being careful to maintain </a:t>
            </a:r>
          </a:p>
          <a:p>
            <a:r>
              <a:t>the injection angle. If appropriate—for example, if the injection </a:t>
            </a:r>
          </a:p>
          <a:p>
            <a:r>
              <a:t>is related to allergy testing—draw a circle around the bleb, and </a:t>
            </a:r>
          </a:p>
          <a:p>
            <a:r>
              <a:t>avoid massaging the area to avoid interfering with test results. </a:t>
            </a:r>
          </a:p>
          <a:p>
            <a:r>
              <a:t>Special considerations when drug administration </a:t>
            </a:r>
          </a:p>
          <a:p>
            <a:r>
              <a:t> Don't hesitate to consult the parents for tips on </a:t>
            </a:r>
          </a:p>
          <a:p>
            <a:r>
              <a:t>successfully giving medication to their child. If possible, have a </a:t>
            </a:r>
          </a:p>
          <a:p>
            <a:r>
              <a:t>parent administer a prescribed oral drug while you supervise. </a:t>
            </a:r>
          </a:p>
          <a:p>
            <a:r>
              <a:t>However, avoid asking a parent to help with injections because </a:t>
            </a:r>
          </a:p>
          <a:p>
            <a:r>
              <a:t>the child may perceive the parent as a cause of pain. </a:t>
            </a:r>
          </a:p>
          <a:p>
            <a:r>
              <a:t> Aim for a trusting relationship with the child and his </a:t>
            </a:r>
          </a:p>
          <a:p>
            <a:r>
              <a:t>parents so that you can offer support and promote cooperation </a:t>
            </a:r>
          </a:p>
          <a:p>
            <a:r>
              <a:t>even when a medication causes discomfort. If the child will </a:t>
            </a:r>
          </a:p>
          <a:p>
            <a:r>
              <a:t>receive one injection, allow him to choose from the appropriate </a:t>
            </a:r>
          </a:p>
          <a:p>
            <a:r>
              <a:t>sites. However, if he'll receive numerous injections, remember </a:t>
            </a:r>
          </a:p>
          <a:p>
            <a:r>
              <a:t>that site rotation must follow a set pattern. Allow the child to </a:t>
            </a:r>
          </a:p>
          <a:p>
            <a:r>
              <a:t>play with a medication cup or syringe and to pretend to give </a:t>
            </a:r>
          </a:p>
          <a:p>
            <a:r>
              <a:t>medication to a doll. </a:t>
            </a:r>
          </a:p>
          <a:p>
            <a:r>
              <a:t> When giving medication to an older child, be honest. </a:t>
            </a:r>
          </a:p>
          <a:p>
            <a:r>
              <a:t>Reassure him that distaste or discomfort will be brief. </a:t>
            </a:r>
          </a:p>
          <a:p>
            <a:r>
              <a:t>Giving an intradermal injection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73 </a:t>
            </a:r>
          </a:p>
          <a:p>
            <a:r>
              <a:t>Emphasize that he must remain still to promote safety and </a:t>
            </a:r>
          </a:p>
          <a:p>
            <a:r>
              <a:t>minimize discomfort. Explain to the child and his parents that an </a:t>
            </a:r>
          </a:p>
          <a:p>
            <a:r>
              <a:t>assistant will help the child remain still if necessary. Keep your </a:t>
            </a:r>
          </a:p>
          <a:p>
            <a:r>
              <a:t>explanations brief and simple. </a:t>
            </a:r>
          </a:p>
          <a:p>
            <a:r>
              <a:t> To divert the child's attention, have him start counting </a:t>
            </a:r>
          </a:p>
          <a:p>
            <a:r>
              <a:t>just before the injection, and challenge him to try to reach 10 </a:t>
            </a:r>
          </a:p>
          <a:p>
            <a:r>
              <a:t>before you finish the injection. If the child cries, don't scold him </a:t>
            </a:r>
          </a:p>
          <a:p>
            <a:r>
              <a:t>or allow the parents to scold him. Have one of the parents hold a </a:t>
            </a:r>
          </a:p>
          <a:p>
            <a:r>
              <a:t>younger child and praise him for allowing you to give him the </a:t>
            </a:r>
          </a:p>
          <a:p>
            <a:r>
              <a:t>injection. You can also apply an adhesive bandage to the </a:t>
            </a:r>
          </a:p>
          <a:p>
            <a:r>
              <a:t>injection site as a form of reward or badge. </a:t>
            </a:r>
          </a:p>
          <a:p>
            <a:r>
              <a:t> If the prescribed medication comes only in tablet form, </a:t>
            </a:r>
          </a:p>
          <a:p>
            <a:r>
              <a:t>consult the pharmacist (or an appropriate drug reference book) </a:t>
            </a:r>
          </a:p>
          <a:p>
            <a:r>
              <a:t>to make sure crushing the tablet won't invalidate its </a:t>
            </a:r>
          </a:p>
          <a:p>
            <a:r>
              <a:t>effectiveness. Avoid adding medication to a large amount of </a:t>
            </a:r>
          </a:p>
          <a:p>
            <a:r>
              <a:t>liquid such as the child's milk or formula because the child may </a:t>
            </a:r>
          </a:p>
          <a:p>
            <a:r>
              <a:t>not drink the entire amount, resulting in an inaccurate dose of </a:t>
            </a:r>
          </a:p>
          <a:p>
            <a:r>
              <a:t>medication. </a:t>
            </a:r>
          </a:p>
          <a:p>
            <a:r>
              <a:t> Because infants and toddlers can't tell you what effects </a:t>
            </a:r>
          </a:p>
          <a:p>
            <a:r>
              <a:t>they're experiencing from a medication, you must be alert for </a:t>
            </a:r>
          </a:p>
          <a:p>
            <a:r>
              <a:t>signs of an adverse reaction. Compile a list of appropriate </a:t>
            </a:r>
          </a:p>
          <a:p>
            <a:r>
              <a:t>emergency drugs, calculating the dosages to the patient's weight. </a:t>
            </a:r>
          </a:p>
          <a:p>
            <a:r>
              <a:t>Post the list near the patient's bed for reference in an emergency. </a:t>
            </a:r>
          </a:p>
          <a:p>
            <a:r>
              <a:t> If you have any doubt about proper medication dosage, </a:t>
            </a:r>
          </a:p>
          <a:p>
            <a:r>
              <a:t>always consult the physician who ordered the drug. Double-</a:t>
            </a:r>
          </a:p>
          <a:p>
            <a:r>
              <a:t>check information in a reliable drug reference. </a:t>
            </a:r>
          </a:p>
          <a:p>
            <a:r>
              <a:t> </a:t>
            </a:r>
          </a:p>
          <a:p>
            <a:r>
              <a:t>Administration of safe medication: </a:t>
            </a:r>
          </a:p>
          <a:p>
            <a:r>
              <a:t>To administer medications safely, the following actions are </a:t>
            </a:r>
          </a:p>
          <a:p>
            <a:r>
              <a:t>necessary: </a:t>
            </a:r>
          </a:p>
          <a:p>
            <a:r>
              <a:t>1- Accurately interpret the doctor's order.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73 </a:t>
            </a:r>
          </a:p>
          <a:p>
            <a:r>
              <a:t>Emphasize that he must remain still to promote safety and </a:t>
            </a:r>
          </a:p>
          <a:p>
            <a:r>
              <a:t>minimize discomfort. Explain to the child and his parents that an </a:t>
            </a:r>
          </a:p>
          <a:p>
            <a:r>
              <a:t>assistant will help the child remain still if necessary. Keep your </a:t>
            </a:r>
          </a:p>
          <a:p>
            <a:r>
              <a:t>explanations brief and simple. </a:t>
            </a:r>
          </a:p>
          <a:p>
            <a:r>
              <a:t> To divert the child's attention, have him start counting </a:t>
            </a:r>
          </a:p>
          <a:p>
            <a:r>
              <a:t>just before the injection, and challenge him to try to reach 10 </a:t>
            </a:r>
          </a:p>
          <a:p>
            <a:r>
              <a:t>before you finish the injection. If the child cries, don't scold him </a:t>
            </a:r>
          </a:p>
          <a:p>
            <a:r>
              <a:t>or allow the parents to scold him. Have one of the parents hold a </a:t>
            </a:r>
          </a:p>
          <a:p>
            <a:r>
              <a:t>younger child and praise him for allowing you to give him the </a:t>
            </a:r>
          </a:p>
          <a:p>
            <a:r>
              <a:t>injection. You can also apply an adhesive bandage to the </a:t>
            </a:r>
          </a:p>
          <a:p>
            <a:r>
              <a:t>injection site as a form of reward or badge. </a:t>
            </a:r>
          </a:p>
          <a:p>
            <a:r>
              <a:t> If the prescribed medication comes only in tablet form, </a:t>
            </a:r>
          </a:p>
          <a:p>
            <a:r>
              <a:t>consult the pharmacist (or an appropriate drug reference book) </a:t>
            </a:r>
          </a:p>
          <a:p>
            <a:r>
              <a:t>to make sure crushing the tablet won't invalidate its </a:t>
            </a:r>
          </a:p>
          <a:p>
            <a:r>
              <a:t>effectiveness. Avoid adding medication to a large amount of </a:t>
            </a:r>
          </a:p>
          <a:p>
            <a:r>
              <a:t>liquid such as the child's milk or formula because the child may </a:t>
            </a:r>
          </a:p>
          <a:p>
            <a:r>
              <a:t>not drink the entire amount, resulting in an inaccurate dose of </a:t>
            </a:r>
          </a:p>
          <a:p>
            <a:r>
              <a:t>medication. </a:t>
            </a:r>
          </a:p>
          <a:p>
            <a:r>
              <a:t> Because infants and toddlers can't tell you what effects </a:t>
            </a:r>
          </a:p>
          <a:p>
            <a:r>
              <a:t>they're experiencing from a medication, you must be alert for </a:t>
            </a:r>
          </a:p>
          <a:p>
            <a:r>
              <a:t>signs of an adverse reaction. Compile a list of appropriate </a:t>
            </a:r>
          </a:p>
          <a:p>
            <a:r>
              <a:t>emergency drugs, calculating the dosages to the patient's weight. </a:t>
            </a:r>
          </a:p>
          <a:p>
            <a:r>
              <a:t>Post the list near the patient's bed for reference in an emergency. </a:t>
            </a:r>
          </a:p>
          <a:p>
            <a:r>
              <a:t> If you have any doubt about proper medication dosage, </a:t>
            </a:r>
          </a:p>
          <a:p>
            <a:r>
              <a:t>always consult the physician who ordered the drug. Double-</a:t>
            </a:r>
          </a:p>
          <a:p>
            <a:r>
              <a:t>check information in a reliable drug reference. </a:t>
            </a:r>
          </a:p>
          <a:p>
            <a:r>
              <a:t> </a:t>
            </a:r>
          </a:p>
          <a:p>
            <a:r>
              <a:t>Administration of safe medication: </a:t>
            </a:r>
          </a:p>
          <a:p>
            <a:r>
              <a:t>To administer medications safely, the following actions are </a:t>
            </a:r>
          </a:p>
          <a:p>
            <a:r>
              <a:t>necessary: </a:t>
            </a:r>
          </a:p>
          <a:p>
            <a:r>
              <a:t>1- Accurately interpret the doctor's order.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74 </a:t>
            </a:r>
          </a:p>
          <a:p>
            <a:r>
              <a:t>2- Accurately calculate the amount of drug to be given for the </a:t>
            </a:r>
          </a:p>
          <a:p>
            <a:r>
              <a:t>prescribed dose. </a:t>
            </a:r>
          </a:p>
          <a:p>
            <a:r>
              <a:t>3- Using the five rights for drug administration such as: </a:t>
            </a:r>
          </a:p>
          <a:p>
            <a:r>
              <a:t>Right medication, Right dose, Right patient, Right time and </a:t>
            </a:r>
          </a:p>
          <a:p>
            <a:r>
              <a:t>Right route of administration. </a:t>
            </a:r>
          </a:p>
          <a:p>
            <a:r>
              <a:t>4- Document medication administration according to agency </a:t>
            </a:r>
          </a:p>
          <a:p>
            <a:r>
              <a:t>policy. </a:t>
            </a:r>
          </a:p>
          <a:p>
            <a:r>
              <a:t> </a:t>
            </a:r>
          </a:p>
          <a:p>
            <a:r>
              <a:t>Six right for administer medication </a:t>
            </a:r>
          </a:p>
          <a:p>
            <a:r>
              <a:t>1-Right Medication </a:t>
            </a:r>
          </a:p>
          <a:p>
            <a:r>
              <a:t>2-Right Patient </a:t>
            </a:r>
          </a:p>
          <a:p>
            <a:r>
              <a:t>3-Right Dosage </a:t>
            </a:r>
          </a:p>
          <a:p>
            <a:r>
              <a:t>To calculate a fractional drug dose use the formula: </a:t>
            </a:r>
          </a:p>
          <a:p>
            <a:r>
              <a:t> </a:t>
            </a:r>
          </a:p>
          <a:p>
            <a:r>
              <a:t>For example, you have a prescription for 90 mg acetaminophen. </a:t>
            </a:r>
          </a:p>
          <a:p>
            <a:r>
              <a:t>Acetaminophen is supplied as 125 mg drug in 5 ml liquid. Using the </a:t>
            </a:r>
          </a:p>
          <a:p>
            <a:r>
              <a:t>formula: </a:t>
            </a:r>
          </a:p>
          <a:p>
            <a:r>
              <a:t> </a:t>
            </a:r>
          </a:p>
          <a:p>
            <a:r>
              <a:t>Cross multiply: 125 QD = 450 (5 × 90) </a:t>
            </a:r>
          </a:p>
          <a:p>
            <a:r>
              <a:t>Dose ordered = 90 mg divided by what you have on hand (how the </a:t>
            </a:r>
          </a:p>
          <a:p>
            <a:r>
              <a:t>medication is </a:t>
            </a:r>
          </a:p>
          <a:p>
            <a:r>
              <a:t>available) 125 mg times quantity (5 ml) </a:t>
            </a:r>
          </a:p>
          <a:p>
            <a:r>
              <a:t> </a:t>
            </a:r>
          </a:p>
          <a:p>
            <a:r>
              <a:t>4- Right Route  </a:t>
            </a:r>
          </a:p>
          <a:p>
            <a:r>
              <a:t>5- Right Time  </a:t>
            </a:r>
          </a:p>
          <a:p>
            <a:r>
              <a:t>6-Documentation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74 </a:t>
            </a:r>
          </a:p>
          <a:p>
            <a:r>
              <a:t>2- Accurately calculate the amount of drug to be given for the </a:t>
            </a:r>
          </a:p>
          <a:p>
            <a:r>
              <a:t>prescribed dose. </a:t>
            </a:r>
          </a:p>
          <a:p>
            <a:r>
              <a:t>3- Using the five rights for drug administration such as: </a:t>
            </a:r>
          </a:p>
          <a:p>
            <a:r>
              <a:t>Right medication, Right dose, Right patient, Right time and </a:t>
            </a:r>
          </a:p>
          <a:p>
            <a:r>
              <a:t>Right route of administration. </a:t>
            </a:r>
          </a:p>
          <a:p>
            <a:r>
              <a:t>4- Document medication administration according to agency </a:t>
            </a:r>
          </a:p>
          <a:p>
            <a:r>
              <a:t>policy. </a:t>
            </a:r>
          </a:p>
          <a:p>
            <a:r>
              <a:t> </a:t>
            </a:r>
          </a:p>
          <a:p>
            <a:r>
              <a:t>Six right for administer medication </a:t>
            </a:r>
          </a:p>
          <a:p>
            <a:r>
              <a:t>1-Right Medication </a:t>
            </a:r>
          </a:p>
          <a:p>
            <a:r>
              <a:t>2-Right Patient </a:t>
            </a:r>
          </a:p>
          <a:p>
            <a:r>
              <a:t>3-Right Dosage </a:t>
            </a:r>
          </a:p>
          <a:p>
            <a:r>
              <a:t>To calculate a fractional drug dose use the formula: </a:t>
            </a:r>
          </a:p>
          <a:p>
            <a:r>
              <a:t> </a:t>
            </a:r>
          </a:p>
          <a:p>
            <a:r>
              <a:t>For example, you have a prescription for 90 mg acetaminophen. </a:t>
            </a:r>
          </a:p>
          <a:p>
            <a:r>
              <a:t>Acetaminophen is supplied as 125 mg drug in 5 ml liquid. Using the </a:t>
            </a:r>
          </a:p>
          <a:p>
            <a:r>
              <a:t>formula: </a:t>
            </a:r>
          </a:p>
          <a:p>
            <a:r>
              <a:t> </a:t>
            </a:r>
          </a:p>
          <a:p>
            <a:r>
              <a:t>Cross multiply: 125 QD = 450 (5 × 90) </a:t>
            </a:r>
          </a:p>
          <a:p>
            <a:r>
              <a:t>Dose ordered = 90 mg divided by what you have on hand (how the </a:t>
            </a:r>
          </a:p>
          <a:p>
            <a:r>
              <a:t>medication is </a:t>
            </a:r>
          </a:p>
          <a:p>
            <a:r>
              <a:t>available) 125 mg times quantity (5 ml) </a:t>
            </a:r>
          </a:p>
          <a:p>
            <a:r>
              <a:t> </a:t>
            </a:r>
          </a:p>
          <a:p>
            <a:r>
              <a:t>4- Right Route  </a:t>
            </a:r>
          </a:p>
          <a:p>
            <a:r>
              <a:t>5- Right Time  </a:t>
            </a:r>
          </a:p>
          <a:p>
            <a:r>
              <a:t>6-Documentation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74 </a:t>
            </a:r>
          </a:p>
          <a:p>
            <a:r>
              <a:t>2- Accurately calculate the amount of drug to be given for the </a:t>
            </a:r>
          </a:p>
          <a:p>
            <a:r>
              <a:t>prescribed dose. </a:t>
            </a:r>
          </a:p>
          <a:p>
            <a:r>
              <a:t>3- Using the five rights for drug administration such as: </a:t>
            </a:r>
          </a:p>
          <a:p>
            <a:r>
              <a:t>Right medication, Right dose, Right patient, Right time and </a:t>
            </a:r>
          </a:p>
          <a:p>
            <a:r>
              <a:t>Right route of administration. </a:t>
            </a:r>
          </a:p>
          <a:p>
            <a:r>
              <a:t>4- Document medication administration according to agency </a:t>
            </a:r>
          </a:p>
          <a:p>
            <a:r>
              <a:t>policy. </a:t>
            </a:r>
          </a:p>
          <a:p>
            <a:r>
              <a:t> </a:t>
            </a:r>
          </a:p>
          <a:p>
            <a:r>
              <a:t>Six right for administer medication </a:t>
            </a:r>
          </a:p>
          <a:p>
            <a:r>
              <a:t>1-Right Medication </a:t>
            </a:r>
          </a:p>
          <a:p>
            <a:r>
              <a:t>2-Right Patient </a:t>
            </a:r>
          </a:p>
          <a:p>
            <a:r>
              <a:t>3-Right Dosage </a:t>
            </a:r>
          </a:p>
          <a:p>
            <a:r>
              <a:t>To calculate a fractional drug dose use the formula: </a:t>
            </a:r>
          </a:p>
          <a:p>
            <a:r>
              <a:t> </a:t>
            </a:r>
          </a:p>
          <a:p>
            <a:r>
              <a:t>For example, you have a prescription for 90 mg acetaminophen. </a:t>
            </a:r>
          </a:p>
          <a:p>
            <a:r>
              <a:t>Acetaminophen is supplied as 125 mg drug in 5 ml liquid. Using the </a:t>
            </a:r>
          </a:p>
          <a:p>
            <a:r>
              <a:t>formula: </a:t>
            </a:r>
          </a:p>
          <a:p>
            <a:r>
              <a:t> </a:t>
            </a:r>
          </a:p>
          <a:p>
            <a:r>
              <a:t>Cross multiply: 125 QD = 450 (5 × 90) </a:t>
            </a:r>
          </a:p>
          <a:p>
            <a:r>
              <a:t>Dose ordered = 90 mg divided by what you have on hand (how the </a:t>
            </a:r>
          </a:p>
          <a:p>
            <a:r>
              <a:t>medication is </a:t>
            </a:r>
          </a:p>
          <a:p>
            <a:r>
              <a:t>available) 125 mg times quantity (5 ml) </a:t>
            </a:r>
          </a:p>
          <a:p>
            <a:r>
              <a:t> </a:t>
            </a:r>
          </a:p>
          <a:p>
            <a:r>
              <a:t>4- Right Route  </a:t>
            </a:r>
          </a:p>
          <a:p>
            <a:r>
              <a:t>5- Right Time  </a:t>
            </a:r>
          </a:p>
          <a:p>
            <a:r>
              <a:t>6-Documentation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74 </a:t>
            </a:r>
          </a:p>
          <a:p>
            <a:r>
              <a:t>2- Accurately calculate the amount of drug to be given for the </a:t>
            </a:r>
          </a:p>
          <a:p>
            <a:r>
              <a:t>prescribed dose. </a:t>
            </a:r>
          </a:p>
          <a:p>
            <a:r>
              <a:t>3- Using the five rights for drug administration such as: </a:t>
            </a:r>
          </a:p>
          <a:p>
            <a:r>
              <a:t>Right medication, Right dose, Right patient, Right time and </a:t>
            </a:r>
          </a:p>
          <a:p>
            <a:r>
              <a:t>Right route of administration. </a:t>
            </a:r>
          </a:p>
          <a:p>
            <a:r>
              <a:t>4- Document medication administration according to agency </a:t>
            </a:r>
          </a:p>
          <a:p>
            <a:r>
              <a:t>policy. </a:t>
            </a:r>
          </a:p>
          <a:p>
            <a:r>
              <a:t> </a:t>
            </a:r>
          </a:p>
          <a:p>
            <a:r>
              <a:t>Six right for administer medication </a:t>
            </a:r>
          </a:p>
          <a:p>
            <a:r>
              <a:t>1-Right Medication </a:t>
            </a:r>
          </a:p>
          <a:p>
            <a:r>
              <a:t>2-Right Patient </a:t>
            </a:r>
          </a:p>
          <a:p>
            <a:r>
              <a:t>3-Right Dosage </a:t>
            </a:r>
          </a:p>
          <a:p>
            <a:r>
              <a:t>To calculate a fractional drug dose use the formula: </a:t>
            </a:r>
          </a:p>
          <a:p>
            <a:r>
              <a:t> </a:t>
            </a:r>
          </a:p>
          <a:p>
            <a:r>
              <a:t>For example, you have a prescription for 90 mg acetaminophen. </a:t>
            </a:r>
          </a:p>
          <a:p>
            <a:r>
              <a:t>Acetaminophen is supplied as 125 mg drug in 5 ml liquid. Using the </a:t>
            </a:r>
          </a:p>
          <a:p>
            <a:r>
              <a:t>formula: </a:t>
            </a:r>
          </a:p>
          <a:p>
            <a:r>
              <a:t> </a:t>
            </a:r>
          </a:p>
          <a:p>
            <a:r>
              <a:t>Cross multiply: 125 QD = 450 (5 × 90) </a:t>
            </a:r>
          </a:p>
          <a:p>
            <a:r>
              <a:t>Dose ordered = 90 mg divided by what you have on hand (how the </a:t>
            </a:r>
          </a:p>
          <a:p>
            <a:r>
              <a:t>medication is </a:t>
            </a:r>
          </a:p>
          <a:p>
            <a:r>
              <a:t>available) 125 mg times quantity (5 ml) </a:t>
            </a:r>
          </a:p>
          <a:p>
            <a:r>
              <a:t> </a:t>
            </a:r>
          </a:p>
          <a:p>
            <a:r>
              <a:t>4- Right Route  </a:t>
            </a:r>
          </a:p>
          <a:p>
            <a:r>
              <a:t>5- Right Time  </a:t>
            </a:r>
          </a:p>
          <a:p>
            <a:r>
              <a:t>6-Documentation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75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Calculating Safe Dosages for Children </a:t>
            </a:r>
          </a:p>
          <a:p>
            <a:r>
              <a:t>STEPS </a:t>
            </a:r>
          </a:p>
          <a:p>
            <a:r>
              <a:t>Dosage based on weight in kilograms </a:t>
            </a:r>
          </a:p>
          <a:p>
            <a:r>
              <a:t> </a:t>
            </a:r>
          </a:p>
          <a:p>
            <a:r>
              <a:t> If necessary, convert child’s weight in pounds to kilograms. </a:t>
            </a:r>
          </a:p>
          <a:p>
            <a:r>
              <a:t>Child weighs 22 pounds. </a:t>
            </a:r>
          </a:p>
          <a:p>
            <a:r>
              <a:t>o </a:t>
            </a:r>
          </a:p>
          <a:p>
            <a:r>
              <a:t>Conversion: 1 kilogram (kg) = 2.2 lb </a:t>
            </a:r>
          </a:p>
          <a:p>
            <a:r>
              <a:t>o </a:t>
            </a:r>
          </a:p>
          <a:p>
            <a:r>
              <a:t>22 lb/2.2 = 10 kg </a:t>
            </a:r>
          </a:p>
          <a:p>
            <a:r>
              <a:t> Review medication reference to determine recommended </a:t>
            </a:r>
          </a:p>
          <a:p>
            <a:r>
              <a:t>range in </a:t>
            </a:r>
          </a:p>
          <a:p>
            <a:r>
              <a:t>Milligrams/kilogram (mg/kg). </a:t>
            </a:r>
          </a:p>
          <a:p>
            <a:r>
              <a:t> Reference text states recommended dosage range is 30 to 50 </a:t>
            </a:r>
          </a:p>
          <a:p>
            <a:r>
              <a:t>mg/kg/day in 4 divided doses. </a:t>
            </a:r>
          </a:p>
          <a:p>
            <a:r>
              <a:t> Multiply child’s weight by the lower and upper limits of the </a:t>
            </a:r>
          </a:p>
          <a:p>
            <a:r>
              <a:t>dosage range. • 10 kg × 30 = 300 mg/day </a:t>
            </a:r>
          </a:p>
          <a:p>
            <a:r>
              <a:t>o </a:t>
            </a:r>
          </a:p>
          <a:p>
            <a:r>
              <a:t>10 kg × 50 = 500 mg/day </a:t>
            </a:r>
          </a:p>
          <a:p>
            <a:r>
              <a:t> Child’s recommended range = 300 to 500 mg/day </a:t>
            </a:r>
          </a:p>
          <a:p>
            <a:r>
              <a:t> Compare physician’s order with dosage range to determine </a:t>
            </a:r>
          </a:p>
          <a:p>
            <a:r>
              <a:t>whether medication dosage is safe. </a:t>
            </a:r>
          </a:p>
          <a:p>
            <a:r>
              <a:t> Order reads: Give 500 mg q6h. </a:t>
            </a:r>
          </a:p>
          <a:p>
            <a:r>
              <a:t>o </a:t>
            </a:r>
          </a:p>
          <a:p>
            <a:r>
              <a:t>500 mg given q6h = 500 × 4 = 2000 mg/day </a:t>
            </a:r>
          </a:p>
          <a:p>
            <a:r>
              <a:t> Conclusion: Dosage exceeds recommended range. </a:t>
            </a:r>
          </a:p>
          <a:p>
            <a:r>
              <a:t> Dosages outside recommended range should be verified with </a:t>
            </a:r>
          </a:p>
          <a:p>
            <a:r>
              <a:t>physician. “Dr. Jones, I’ve just reviewed the new medication </a:t>
            </a:r>
          </a:p>
          <a:p>
            <a:r>
              <a:t>order for Sam Lee. According to my calculations, the dosage </a:t>
            </a:r>
          </a:p>
          <a:p>
            <a:r>
              <a:t>exceeds that  recommended for his weight according to both </a:t>
            </a:r>
          </a:p>
          <a:p>
            <a:r>
              <a:t>the formulary and pharmacist.” </a:t>
            </a:r>
          </a:p>
          <a:p>
            <a:r>
              <a:t> </a:t>
            </a:r>
          </a:p>
          <a:p>
            <a:r>
              <a:t>Calculating Safe Dosages </a:t>
            </a:r>
          </a:p>
          <a:p>
            <a:r>
              <a:t>for Children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75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Calculating Safe Dosages for Children </a:t>
            </a:r>
          </a:p>
          <a:p>
            <a:r>
              <a:t>STEPS </a:t>
            </a:r>
          </a:p>
          <a:p>
            <a:r>
              <a:t>Dosage based on weight in kilograms </a:t>
            </a:r>
          </a:p>
          <a:p>
            <a:r>
              <a:t> </a:t>
            </a:r>
          </a:p>
          <a:p>
            <a:r>
              <a:t> If necessary, convert child’s weight in pounds to kilograms. </a:t>
            </a:r>
          </a:p>
          <a:p>
            <a:r>
              <a:t>Child weighs 22 pounds. </a:t>
            </a:r>
          </a:p>
          <a:p>
            <a:r>
              <a:t>o </a:t>
            </a:r>
          </a:p>
          <a:p>
            <a:r>
              <a:t>Conversion: 1 kilogram (kg) = 2.2 lb </a:t>
            </a:r>
          </a:p>
          <a:p>
            <a:r>
              <a:t>o </a:t>
            </a:r>
          </a:p>
          <a:p>
            <a:r>
              <a:t>22 lb/2.2 = 10 kg </a:t>
            </a:r>
          </a:p>
          <a:p>
            <a:r>
              <a:t> Review medication reference to determine recommended </a:t>
            </a:r>
          </a:p>
          <a:p>
            <a:r>
              <a:t>range in </a:t>
            </a:r>
          </a:p>
          <a:p>
            <a:r>
              <a:t>Milligrams/kilogram (mg/kg). </a:t>
            </a:r>
          </a:p>
          <a:p>
            <a:r>
              <a:t> Reference text states recommended dosage range is 30 to 50 </a:t>
            </a:r>
          </a:p>
          <a:p>
            <a:r>
              <a:t>mg/kg/day in 4 divided doses. </a:t>
            </a:r>
          </a:p>
          <a:p>
            <a:r>
              <a:t> Multiply child’s weight by the lower and upper limits of the </a:t>
            </a:r>
          </a:p>
          <a:p>
            <a:r>
              <a:t>dosage range. • 10 kg × 30 = 300 mg/day </a:t>
            </a:r>
          </a:p>
          <a:p>
            <a:r>
              <a:t>o </a:t>
            </a:r>
          </a:p>
          <a:p>
            <a:r>
              <a:t>10 kg × 50 = 500 mg/day </a:t>
            </a:r>
          </a:p>
          <a:p>
            <a:r>
              <a:t> Child’s recommended range = 300 to 500 mg/day </a:t>
            </a:r>
          </a:p>
          <a:p>
            <a:r>
              <a:t> Compare physician’s order with dosage range to determine </a:t>
            </a:r>
          </a:p>
          <a:p>
            <a:r>
              <a:t>whether medication dosage is safe. </a:t>
            </a:r>
          </a:p>
          <a:p>
            <a:r>
              <a:t> Order reads: Give 500 mg q6h. </a:t>
            </a:r>
          </a:p>
          <a:p>
            <a:r>
              <a:t>o </a:t>
            </a:r>
          </a:p>
          <a:p>
            <a:r>
              <a:t>500 mg given q6h = 500 × 4 = 2000 mg/day </a:t>
            </a:r>
          </a:p>
          <a:p>
            <a:r>
              <a:t> Conclusion: Dosage exceeds recommended range. </a:t>
            </a:r>
          </a:p>
          <a:p>
            <a:r>
              <a:t> Dosages outside recommended range should be verified with </a:t>
            </a:r>
          </a:p>
          <a:p>
            <a:r>
              <a:t>physician. “Dr. Jones, I’ve just reviewed the new medication </a:t>
            </a:r>
          </a:p>
          <a:p>
            <a:r>
              <a:t>order for Sam Lee. According to my calculations, the dosage </a:t>
            </a:r>
          </a:p>
          <a:p>
            <a:r>
              <a:t>exceeds that  recommended for his weight according to both </a:t>
            </a:r>
          </a:p>
          <a:p>
            <a:r>
              <a:t>the formulary and pharmacist.” </a:t>
            </a:r>
          </a:p>
          <a:p>
            <a:r>
              <a:t> </a:t>
            </a:r>
          </a:p>
          <a:p>
            <a:r>
              <a:t>Calculating Safe Dosages </a:t>
            </a:r>
          </a:p>
          <a:p>
            <a:r>
              <a:t>for Children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75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Calculating Safe Dosages for Children </a:t>
            </a:r>
          </a:p>
          <a:p>
            <a:r>
              <a:t>STEPS </a:t>
            </a:r>
          </a:p>
          <a:p>
            <a:r>
              <a:t>Dosage based on weight in kilograms </a:t>
            </a:r>
          </a:p>
          <a:p>
            <a:r>
              <a:t> </a:t>
            </a:r>
          </a:p>
          <a:p>
            <a:r>
              <a:t> If necessary, convert child’s weight in pounds to kilograms. </a:t>
            </a:r>
          </a:p>
          <a:p>
            <a:r>
              <a:t>Child weighs 22 pounds. </a:t>
            </a:r>
          </a:p>
          <a:p>
            <a:r>
              <a:t>o </a:t>
            </a:r>
          </a:p>
          <a:p>
            <a:r>
              <a:t>Conversion: 1 kilogram (kg) = 2.2 lb </a:t>
            </a:r>
          </a:p>
          <a:p>
            <a:r>
              <a:t>o </a:t>
            </a:r>
          </a:p>
          <a:p>
            <a:r>
              <a:t>22 lb/2.2 = 10 kg </a:t>
            </a:r>
          </a:p>
          <a:p>
            <a:r>
              <a:t> Review medication reference to determine recommended </a:t>
            </a:r>
          </a:p>
          <a:p>
            <a:r>
              <a:t>range in </a:t>
            </a:r>
          </a:p>
          <a:p>
            <a:r>
              <a:t>Milligrams/kilogram (mg/kg). </a:t>
            </a:r>
          </a:p>
          <a:p>
            <a:r>
              <a:t> Reference text states recommended dosage range is 30 to 50 </a:t>
            </a:r>
          </a:p>
          <a:p>
            <a:r>
              <a:t>mg/kg/day in 4 divided doses. </a:t>
            </a:r>
          </a:p>
          <a:p>
            <a:r>
              <a:t> Multiply child’s weight by the lower and upper limits of the </a:t>
            </a:r>
          </a:p>
          <a:p>
            <a:r>
              <a:t>dosage range. • 10 kg × 30 = 300 mg/day </a:t>
            </a:r>
          </a:p>
          <a:p>
            <a:r>
              <a:t>o </a:t>
            </a:r>
          </a:p>
          <a:p>
            <a:r>
              <a:t>10 kg × 50 = 500 mg/day </a:t>
            </a:r>
          </a:p>
          <a:p>
            <a:r>
              <a:t> Child’s recommended range = 300 to 500 mg/day </a:t>
            </a:r>
          </a:p>
          <a:p>
            <a:r>
              <a:t> Compare physician’s order with dosage range to determine </a:t>
            </a:r>
          </a:p>
          <a:p>
            <a:r>
              <a:t>whether medication dosage is safe. </a:t>
            </a:r>
          </a:p>
          <a:p>
            <a:r>
              <a:t> Order reads: Give 500 mg q6h. </a:t>
            </a:r>
          </a:p>
          <a:p>
            <a:r>
              <a:t>o </a:t>
            </a:r>
          </a:p>
          <a:p>
            <a:r>
              <a:t>500 mg given q6h = 500 × 4 = 2000 mg/day </a:t>
            </a:r>
          </a:p>
          <a:p>
            <a:r>
              <a:t> Conclusion: Dosage exceeds recommended range. </a:t>
            </a:r>
          </a:p>
          <a:p>
            <a:r>
              <a:t> Dosages outside recommended range should be verified with </a:t>
            </a:r>
          </a:p>
          <a:p>
            <a:r>
              <a:t>physician. “Dr. Jones, I’ve just reviewed the new medication </a:t>
            </a:r>
          </a:p>
          <a:p>
            <a:r>
              <a:t>order for Sam Lee. According to my calculations, the dosage </a:t>
            </a:r>
          </a:p>
          <a:p>
            <a:r>
              <a:t>exceeds that  recommended for his weight according to both </a:t>
            </a:r>
          </a:p>
          <a:p>
            <a:r>
              <a:t>the formulary and pharmacist.” </a:t>
            </a:r>
          </a:p>
          <a:p>
            <a:r>
              <a:t> </a:t>
            </a:r>
          </a:p>
          <a:p>
            <a:r>
              <a:t>Calculating Safe Dosages </a:t>
            </a:r>
          </a:p>
          <a:p>
            <a:r>
              <a:t>for Children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76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 </a:t>
            </a:r>
          </a:p>
          <a:p>
            <a:r>
              <a:t>Other examples (Appendix 1).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purpose </a:t>
            </a:r>
          </a:p>
          <a:p>
            <a:r>
              <a:t> </a:t>
            </a:r>
          </a:p>
          <a:p>
            <a:r>
              <a:t>The rectal route for administration is less reliable but is </a:t>
            </a:r>
          </a:p>
          <a:p>
            <a:r>
              <a:t>sometimes used when the oral route is difficult or contraindicated. </a:t>
            </a:r>
          </a:p>
          <a:p>
            <a:r>
              <a:t>It is also used when oral preparations are unsuitable to control </a:t>
            </a:r>
          </a:p>
          <a:p>
            <a:r>
              <a:t>Vomiting. </a:t>
            </a:r>
          </a:p>
          <a:p>
            <a:r>
              <a:t> </a:t>
            </a:r>
          </a:p>
          <a:p>
            <a:r>
              <a:t>Procedure: </a:t>
            </a:r>
          </a:p>
          <a:p>
            <a:r>
              <a:t> </a:t>
            </a:r>
          </a:p>
          <a:p>
            <a:r>
              <a:t> Remove the wrapping on the suppository and lubricate the </a:t>
            </a:r>
          </a:p>
          <a:p>
            <a:r>
              <a:t>suppository with warm water (water-soluble jelly may affect </a:t>
            </a:r>
          </a:p>
          <a:p>
            <a:r>
              <a:t>medication absorption). </a:t>
            </a:r>
          </a:p>
          <a:p>
            <a:r>
              <a:t>RECTAL ADMINISTRATION</a:t>
            </a:r>
          </a:p>
          <a:p>
            <a:r>
              <a:t> </a:t>
            </a:r>
          </a:p>
          <a:p>
            <a:r>
              <a:t>ild you are caring for has an order for </a:t>
            </a:r>
          </a:p>
          <a:p>
            <a:r>
              <a:t>The ch</a:t>
            </a:r>
          </a:p>
          <a:p>
            <a:r>
              <a:t> </a:t>
            </a:r>
          </a:p>
          <a:p>
            <a:r>
              <a:t>Example:</a:t>
            </a:r>
          </a:p>
          <a:p>
            <a:r>
              <a:t>Amoxicillin 400 mg PO BID. Begin by checking the dose </a:t>
            </a:r>
          </a:p>
          <a:p>
            <a:r>
              <a:t>against the pediatric drug dosing handbook. The child’s </a:t>
            </a:r>
          </a:p>
          <a:p>
            <a:r>
              <a:t>weight is 10 kg. You note that the appropriate dose for </a:t>
            </a:r>
          </a:p>
          <a:p>
            <a:r>
              <a:t>Amoxicillin is 80 mg/kg/ day divided BID. Set up the equation </a:t>
            </a:r>
          </a:p>
          <a:p>
            <a:r>
              <a:t>by multiplying the recommended dose by the child’s weight. </a:t>
            </a:r>
          </a:p>
          <a:p>
            <a:r>
              <a:t>Divide the dose calculated (80 x 10 = 800) by the number of </a:t>
            </a:r>
          </a:p>
          <a:p>
            <a:r>
              <a:t>doses recommended (800 / 2 = 400). So, an appropriate </a:t>
            </a:r>
          </a:p>
          <a:p>
            <a:r>
              <a:t>dose for a 10 kg child would be 400 mg per dose, two times </a:t>
            </a:r>
          </a:p>
          <a:p>
            <a:r>
              <a:t>per day.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76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 </a:t>
            </a:r>
          </a:p>
          <a:p>
            <a:r>
              <a:t>Other examples (Appendix 1).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purpose </a:t>
            </a:r>
          </a:p>
          <a:p>
            <a:r>
              <a:t> </a:t>
            </a:r>
          </a:p>
          <a:p>
            <a:r>
              <a:t>The rectal route for administration is less reliable but is </a:t>
            </a:r>
          </a:p>
          <a:p>
            <a:r>
              <a:t>sometimes used when the oral route is difficult or contraindicated. </a:t>
            </a:r>
          </a:p>
          <a:p>
            <a:r>
              <a:t>It is also used when oral preparations are unsuitable to control </a:t>
            </a:r>
          </a:p>
          <a:p>
            <a:r>
              <a:t>Vomiting. </a:t>
            </a:r>
          </a:p>
          <a:p>
            <a:r>
              <a:t> </a:t>
            </a:r>
          </a:p>
          <a:p>
            <a:r>
              <a:t>Procedure: </a:t>
            </a:r>
          </a:p>
          <a:p>
            <a:r>
              <a:t> </a:t>
            </a:r>
          </a:p>
          <a:p>
            <a:r>
              <a:t> Remove the wrapping on the suppository and lubricate the </a:t>
            </a:r>
          </a:p>
          <a:p>
            <a:r>
              <a:t>suppository with warm water (water-soluble jelly may affect </a:t>
            </a:r>
          </a:p>
          <a:p>
            <a:r>
              <a:t>medication absorption). </a:t>
            </a:r>
          </a:p>
          <a:p>
            <a:r>
              <a:t>RECTAL ADMINISTRATION</a:t>
            </a:r>
          </a:p>
          <a:p>
            <a:r>
              <a:t> </a:t>
            </a:r>
          </a:p>
          <a:p>
            <a:r>
              <a:t>ild you are caring for has an order for </a:t>
            </a:r>
          </a:p>
          <a:p>
            <a:r>
              <a:t>The ch</a:t>
            </a:r>
          </a:p>
          <a:p>
            <a:r>
              <a:t> </a:t>
            </a:r>
          </a:p>
          <a:p>
            <a:r>
              <a:t>Example:</a:t>
            </a:r>
          </a:p>
          <a:p>
            <a:r>
              <a:t>Amoxicillin 400 mg PO BID. Begin by checking the dose </a:t>
            </a:r>
          </a:p>
          <a:p>
            <a:r>
              <a:t>against the pediatric drug dosing handbook. The child’s </a:t>
            </a:r>
          </a:p>
          <a:p>
            <a:r>
              <a:t>weight is 10 kg. You note that the appropriate dose for </a:t>
            </a:r>
          </a:p>
          <a:p>
            <a:r>
              <a:t>Amoxicillin is 80 mg/kg/ day divided BID. Set up the equation </a:t>
            </a:r>
          </a:p>
          <a:p>
            <a:r>
              <a:t>by multiplying the recommended dose by the child’s weight. </a:t>
            </a:r>
          </a:p>
          <a:p>
            <a:r>
              <a:t>Divide the dose calculated (80 x 10 = 800) by the number of </a:t>
            </a:r>
          </a:p>
          <a:p>
            <a:r>
              <a:t>doses recommended (800 / 2 = 400). So, an appropriate </a:t>
            </a:r>
          </a:p>
          <a:p>
            <a:r>
              <a:t>dose for a 10 kg child would be 400 mg per dose, two times </a:t>
            </a:r>
          </a:p>
          <a:p>
            <a:r>
              <a:t>per day.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77 </a:t>
            </a:r>
          </a:p>
          <a:p>
            <a:r>
              <a:t> </a:t>
            </a:r>
          </a:p>
          <a:p>
            <a:r>
              <a:t> Reverse contractions or the pressure gradient of the anal </a:t>
            </a:r>
          </a:p>
          <a:p>
            <a:r>
              <a:t>canal may help the suppository slip higher into the canal. </a:t>
            </a:r>
          </a:p>
          <a:p>
            <a:r>
              <a:t> </a:t>
            </a:r>
          </a:p>
          <a:p>
            <a:r>
              <a:t> Using a glove or finger cot, quickly but gently insert the </a:t>
            </a:r>
          </a:p>
          <a:p>
            <a:r>
              <a:t>suppository into the rectum beyond both of the rectal </a:t>
            </a:r>
          </a:p>
          <a:p>
            <a:r>
              <a:t>sphincters </a:t>
            </a:r>
          </a:p>
          <a:p>
            <a:r>
              <a:t> Then hold the buttocks together firmly to relieve pressure on </a:t>
            </a:r>
          </a:p>
          <a:p>
            <a:r>
              <a:t>the anal sphincter until the urge to expel the suppository has </a:t>
            </a:r>
          </a:p>
          <a:p>
            <a:r>
              <a:t>passed, which occurs within 5 to 10 minutes. </a:t>
            </a:r>
          </a:p>
          <a:p>
            <a:r>
              <a:t> </a:t>
            </a:r>
          </a:p>
          <a:p>
            <a:r>
              <a:t> If medication is administered via a retention enema, the same </a:t>
            </a:r>
          </a:p>
          <a:p>
            <a:r>
              <a:t>procedure is used. Drugs given by enema are diluted in the </a:t>
            </a:r>
          </a:p>
          <a:p>
            <a:r>
              <a:t>smallest amount of solution possible to minimize the </a:t>
            </a:r>
          </a:p>
          <a:p>
            <a:r>
              <a:t>likelihood of being evacuated.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 </a:t>
            </a:r>
          </a:p>
          <a:p>
            <a:r>
              <a:t> </a:t>
            </a:r>
          </a:p>
          <a:p>
            <a:r>
              <a:t>Introduction </a:t>
            </a:r>
          </a:p>
          <a:p>
            <a:r>
              <a:t>In children, I.V. therapy may be prescribed to administer </a:t>
            </a:r>
          </a:p>
          <a:p>
            <a:r>
              <a:t>medications or to correct a fluid deficit, improve serum </a:t>
            </a:r>
          </a:p>
          <a:p>
            <a:r>
              <a:t>electrolyte balance, or provide nourishment. Primary nursing </a:t>
            </a:r>
          </a:p>
          <a:p>
            <a:r>
              <a:t>concerns related to pediatric I.V. therapy include correlating the </a:t>
            </a:r>
          </a:p>
          <a:p>
            <a:r>
              <a:t>I.V. site and equipment with the reason for therapy and the </a:t>
            </a:r>
          </a:p>
          <a:p>
            <a:r>
              <a:t>patient's age, size, and activity level. For example, a foot or scalp </a:t>
            </a:r>
          </a:p>
          <a:p>
            <a:r>
              <a:t>vein I.V. site may be used for infants, whereas a peripheral hand </a:t>
            </a:r>
          </a:p>
          <a:p>
            <a:r>
              <a:t>or wrist vein may be more suitable for ambulatory older children. </a:t>
            </a:r>
          </a:p>
          <a:p>
            <a:r>
              <a:t>During I.V. therapy, the nurse must continually assess the patient </a:t>
            </a:r>
          </a:p>
          <a:p>
            <a:r>
              <a:t>and the infusion to prevent fluid overload and other </a:t>
            </a:r>
          </a:p>
          <a:p>
            <a:r>
              <a:t>complications. </a:t>
            </a:r>
          </a:p>
          <a:p>
            <a:r>
              <a:t> </a:t>
            </a:r>
          </a:p>
          <a:p>
            <a:r>
              <a:t>I.V. Therapy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77 </a:t>
            </a:r>
          </a:p>
          <a:p>
            <a:r>
              <a:t> </a:t>
            </a:r>
          </a:p>
          <a:p>
            <a:r>
              <a:t> Reverse contractions or the pressure gradient of the anal </a:t>
            </a:r>
          </a:p>
          <a:p>
            <a:r>
              <a:t>canal may help the suppository slip higher into the canal. </a:t>
            </a:r>
          </a:p>
          <a:p>
            <a:r>
              <a:t> </a:t>
            </a:r>
          </a:p>
          <a:p>
            <a:r>
              <a:t> Using a glove or finger cot, quickly but gently insert the </a:t>
            </a:r>
          </a:p>
          <a:p>
            <a:r>
              <a:t>suppository into the rectum beyond both of the rectal </a:t>
            </a:r>
          </a:p>
          <a:p>
            <a:r>
              <a:t>sphincters </a:t>
            </a:r>
          </a:p>
          <a:p>
            <a:r>
              <a:t> Then hold the buttocks together firmly to relieve pressure on </a:t>
            </a:r>
          </a:p>
          <a:p>
            <a:r>
              <a:t>the anal sphincter until the urge to expel the suppository has </a:t>
            </a:r>
          </a:p>
          <a:p>
            <a:r>
              <a:t>passed, which occurs within 5 to 10 minutes. </a:t>
            </a:r>
          </a:p>
          <a:p>
            <a:r>
              <a:t> </a:t>
            </a:r>
          </a:p>
          <a:p>
            <a:r>
              <a:t> If medication is administered via a retention enema, the same </a:t>
            </a:r>
          </a:p>
          <a:p>
            <a:r>
              <a:t>procedure is used. Drugs given by enema are diluted in the </a:t>
            </a:r>
          </a:p>
          <a:p>
            <a:r>
              <a:t>smallest amount of solution possible to minimize the </a:t>
            </a:r>
          </a:p>
          <a:p>
            <a:r>
              <a:t>likelihood of being evacuated.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 </a:t>
            </a:r>
          </a:p>
          <a:p>
            <a:r>
              <a:t> </a:t>
            </a:r>
          </a:p>
          <a:p>
            <a:r>
              <a:t>Introduction </a:t>
            </a:r>
          </a:p>
          <a:p>
            <a:r>
              <a:t>In children, I.V. therapy may be prescribed to administer </a:t>
            </a:r>
          </a:p>
          <a:p>
            <a:r>
              <a:t>medications or to correct a fluid deficit, improve serum </a:t>
            </a:r>
          </a:p>
          <a:p>
            <a:r>
              <a:t>electrolyte balance, or provide nourishment. Primary nursing </a:t>
            </a:r>
          </a:p>
          <a:p>
            <a:r>
              <a:t>concerns related to pediatric I.V. therapy include correlating the </a:t>
            </a:r>
          </a:p>
          <a:p>
            <a:r>
              <a:t>I.V. site and equipment with the reason for therapy and the </a:t>
            </a:r>
          </a:p>
          <a:p>
            <a:r>
              <a:t>patient's age, size, and activity level. For example, a foot or scalp </a:t>
            </a:r>
          </a:p>
          <a:p>
            <a:r>
              <a:t>vein I.V. site may be used for infants, whereas a peripheral hand </a:t>
            </a:r>
          </a:p>
          <a:p>
            <a:r>
              <a:t>or wrist vein may be more suitable for ambulatory older children. </a:t>
            </a:r>
          </a:p>
          <a:p>
            <a:r>
              <a:t>During I.V. therapy, the nurse must continually assess the patient </a:t>
            </a:r>
          </a:p>
          <a:p>
            <a:r>
              <a:t>and the infusion to prevent fluid overload and other </a:t>
            </a:r>
          </a:p>
          <a:p>
            <a:r>
              <a:t>complications. </a:t>
            </a:r>
          </a:p>
          <a:p>
            <a:r>
              <a:t> </a:t>
            </a:r>
          </a:p>
          <a:p>
            <a:r>
              <a:t>I.V. Therapy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78 </a:t>
            </a:r>
          </a:p>
          <a:p>
            <a:r>
              <a:t>Equipment </a:t>
            </a:r>
          </a:p>
          <a:p>
            <a:r>
              <a:t> Prescribed I.V. fluid  </a:t>
            </a:r>
          </a:p>
          <a:p>
            <a:r>
              <a:t> volume-control set with micro drip tubing  </a:t>
            </a:r>
          </a:p>
          <a:p>
            <a:r>
              <a:t> infusion pump  </a:t>
            </a:r>
          </a:p>
          <a:p>
            <a:r>
              <a:t> I.V. pole </a:t>
            </a:r>
          </a:p>
          <a:p>
            <a:r>
              <a:t> normal saline solution or sterile dextrose 5% in water </a:t>
            </a:r>
          </a:p>
          <a:p>
            <a:r>
              <a:t>(D5W) for injection </a:t>
            </a:r>
          </a:p>
          <a:p>
            <a:r>
              <a:t> povidone-iodine solution  </a:t>
            </a:r>
          </a:p>
          <a:p>
            <a:r>
              <a:t> alcohol pads  </a:t>
            </a:r>
          </a:p>
          <a:p>
            <a:r>
              <a:t> 3-ml syringe  </a:t>
            </a:r>
          </a:p>
          <a:p>
            <a:r>
              <a:t> child-size butterfly needle or I.V. catheter </a:t>
            </a:r>
          </a:p>
          <a:p>
            <a:r>
              <a:t> tourniquet • ½″ or 1″ </a:t>
            </a:r>
          </a:p>
          <a:p>
            <a:r>
              <a:t> sterile tape gloves </a:t>
            </a:r>
          </a:p>
          <a:p>
            <a:r>
              <a:t> optional: arm board, insulated foam or medicine cup, luer-</a:t>
            </a:r>
          </a:p>
          <a:p>
            <a:r>
              <a:t>lock cap, air eliminator I.V. filter. </a:t>
            </a:r>
          </a:p>
          <a:p>
            <a:r>
              <a:t>Whenever possible, use a catheter instead of a needle. A flexible </a:t>
            </a:r>
          </a:p>
          <a:p>
            <a:r>
              <a:t>catheter is less likely to perforate the vein wall. To promote </a:t>
            </a:r>
          </a:p>
          <a:p>
            <a:r>
              <a:t>compliance and reduce the discomfort associated with catheter </a:t>
            </a:r>
          </a:p>
          <a:p>
            <a:r>
              <a:t>insertion, consider using a transdermal anesthetic cream.  </a:t>
            </a:r>
          </a:p>
          <a:p>
            <a:r>
              <a:t> </a:t>
            </a:r>
          </a:p>
          <a:p>
            <a:r>
              <a:t>Preparation of equipment </a:t>
            </a:r>
          </a:p>
          <a:p>
            <a:r>
              <a:t> Gather the I.V equipment and take it to the patient's </a:t>
            </a:r>
          </a:p>
          <a:p>
            <a:r>
              <a:t>bedside. Check the expiration date on the I.V. fluid and inspect </a:t>
            </a:r>
          </a:p>
          <a:p>
            <a:r>
              <a:t>the I.V. container (an I.V. bag for leakage, a bottle for cracks). </a:t>
            </a:r>
          </a:p>
          <a:p>
            <a:r>
              <a:t>Examine the I.V. tubing for defects or cracks. Make sure the </a:t>
            </a:r>
          </a:p>
          <a:p>
            <a:r>
              <a:t>packaging surrounding the I.V. catheter or needle remains intact. </a:t>
            </a:r>
          </a:p>
          <a:p>
            <a:r>
              <a:t> Open the wrappings on the I.V. solution and the volume-</a:t>
            </a:r>
          </a:p>
          <a:p>
            <a:r>
              <a:t>control tubing set. Close all clamps on the tubing set; then insert </a:t>
            </a:r>
          </a:p>
          <a:p>
            <a:r>
              <a:t>the tip of the tubing set into the entry port of the I.V. bag or bottle. </a:t>
            </a:r>
          </a:p>
          <a:p>
            <a:r>
              <a:t>(If you're using an I.V. bag, be sure to hold the bag upright when </a:t>
            </a:r>
          </a:p>
          <a:p>
            <a:r>
              <a:t>attaching the tubing. This will keep the sterile air inside the bag </a:t>
            </a:r>
          </a:p>
          <a:p>
            <a:r>
              <a:t>from escaping and making the fluid level difficult to read.)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78 </a:t>
            </a:r>
          </a:p>
          <a:p>
            <a:r>
              <a:t>Equipment </a:t>
            </a:r>
          </a:p>
          <a:p>
            <a:r>
              <a:t> Prescribed I.V. fluid  </a:t>
            </a:r>
          </a:p>
          <a:p>
            <a:r>
              <a:t> volume-control set with micro drip tubing  </a:t>
            </a:r>
          </a:p>
          <a:p>
            <a:r>
              <a:t> infusion pump  </a:t>
            </a:r>
          </a:p>
          <a:p>
            <a:r>
              <a:t> I.V. pole </a:t>
            </a:r>
          </a:p>
          <a:p>
            <a:r>
              <a:t> normal saline solution or sterile dextrose 5% in water </a:t>
            </a:r>
          </a:p>
          <a:p>
            <a:r>
              <a:t>(D5W) for injection </a:t>
            </a:r>
          </a:p>
          <a:p>
            <a:r>
              <a:t> povidone-iodine solution  </a:t>
            </a:r>
          </a:p>
          <a:p>
            <a:r>
              <a:t> alcohol pads  </a:t>
            </a:r>
          </a:p>
          <a:p>
            <a:r>
              <a:t> 3-ml syringe  </a:t>
            </a:r>
          </a:p>
          <a:p>
            <a:r>
              <a:t> child-size butterfly needle or I.V. catheter </a:t>
            </a:r>
          </a:p>
          <a:p>
            <a:r>
              <a:t> tourniquet • ½″ or 1″ </a:t>
            </a:r>
          </a:p>
          <a:p>
            <a:r>
              <a:t> sterile tape gloves </a:t>
            </a:r>
          </a:p>
          <a:p>
            <a:r>
              <a:t> optional: arm board, insulated foam or medicine cup, luer-</a:t>
            </a:r>
          </a:p>
          <a:p>
            <a:r>
              <a:t>lock cap, air eliminator I.V. filter. </a:t>
            </a:r>
          </a:p>
          <a:p>
            <a:r>
              <a:t>Whenever possible, use a catheter instead of a needle. A flexible </a:t>
            </a:r>
          </a:p>
          <a:p>
            <a:r>
              <a:t>catheter is less likely to perforate the vein wall. To promote </a:t>
            </a:r>
          </a:p>
          <a:p>
            <a:r>
              <a:t>compliance and reduce the discomfort associated with catheter </a:t>
            </a:r>
          </a:p>
          <a:p>
            <a:r>
              <a:t>insertion, consider using a transdermal anesthetic cream.  </a:t>
            </a:r>
          </a:p>
          <a:p>
            <a:r>
              <a:t> </a:t>
            </a:r>
          </a:p>
          <a:p>
            <a:r>
              <a:t>Preparation of equipment </a:t>
            </a:r>
          </a:p>
          <a:p>
            <a:r>
              <a:t> Gather the I.V equipment and take it to the patient's </a:t>
            </a:r>
          </a:p>
          <a:p>
            <a:r>
              <a:t>bedside. Check the expiration date on the I.V. fluid and inspect </a:t>
            </a:r>
          </a:p>
          <a:p>
            <a:r>
              <a:t>the I.V. container (an I.V. bag for leakage, a bottle for cracks). </a:t>
            </a:r>
          </a:p>
          <a:p>
            <a:r>
              <a:t>Examine the I.V. tubing for defects or cracks. Make sure the </a:t>
            </a:r>
          </a:p>
          <a:p>
            <a:r>
              <a:t>packaging surrounding the I.V. catheter or needle remains intact. </a:t>
            </a:r>
          </a:p>
          <a:p>
            <a:r>
              <a:t> Open the wrappings on the I.V. solution and the volume-</a:t>
            </a:r>
          </a:p>
          <a:p>
            <a:r>
              <a:t>control tubing set. Close all clamps on the tubing set; then insert </a:t>
            </a:r>
          </a:p>
          <a:p>
            <a:r>
              <a:t>the tip of the tubing set into the entry port of the I.V. bag or bottle. </a:t>
            </a:r>
          </a:p>
          <a:p>
            <a:r>
              <a:t>(If you're using an I.V. bag, be sure to hold the bag upright when </a:t>
            </a:r>
          </a:p>
          <a:p>
            <a:r>
              <a:t>attaching the tubing. This will keep the sterile air inside the bag </a:t>
            </a:r>
          </a:p>
          <a:p>
            <a:r>
              <a:t>from escaping and making the fluid level difficult to read.)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79 </a:t>
            </a:r>
          </a:p>
          <a:p>
            <a:r>
              <a:t> Hang the bottle or bag from the I.V. pole. Open the clamp </a:t>
            </a:r>
          </a:p>
          <a:p>
            <a:r>
              <a:t>between the bag and the volume-control set and allow 30 to 50 </a:t>
            </a:r>
          </a:p>
          <a:p>
            <a:r>
              <a:t>ml of solution to flow into the calibrated chamber. Close the </a:t>
            </a:r>
          </a:p>
          <a:p>
            <a:r>
              <a:t>clamp. </a:t>
            </a:r>
          </a:p>
          <a:p>
            <a:r>
              <a:t> Squeeze the drip chamber located below the calibrated </a:t>
            </a:r>
          </a:p>
          <a:p>
            <a:r>
              <a:t>chamber or volume-control set to create a vacuum. Release the </a:t>
            </a:r>
          </a:p>
          <a:p>
            <a:r>
              <a:t>drip chamber and allow it to fill halfway with solution. Then </a:t>
            </a:r>
          </a:p>
          <a:p>
            <a:r>
              <a:t>release the clamp below the drip chamber so that fluid flows into </a:t>
            </a:r>
          </a:p>
          <a:p>
            <a:r>
              <a:t>the remaining tubing, removing any air. After the tubing fills, </a:t>
            </a:r>
          </a:p>
          <a:p>
            <a:r>
              <a:t>close the clamp.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Common pediatric I.V. sites </a:t>
            </a:r>
          </a:p>
          <a:p>
            <a:r>
              <a:t>Below are the most common sites for I.V. therapy in infants and </a:t>
            </a:r>
          </a:p>
          <a:p>
            <a:r>
              <a:t>children. Peripheral hand, wrist, or foot veins are typically used </a:t>
            </a:r>
          </a:p>
          <a:p>
            <a:r>
              <a:t>with older children, whereas scalp veins are used with an infant.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79 </a:t>
            </a:r>
          </a:p>
          <a:p>
            <a:r>
              <a:t> Hang the bottle or bag from the I.V. pole. Open the clamp </a:t>
            </a:r>
          </a:p>
          <a:p>
            <a:r>
              <a:t>between the bag and the volume-control set and allow 30 to 50 </a:t>
            </a:r>
          </a:p>
          <a:p>
            <a:r>
              <a:t>ml of solution to flow into the calibrated chamber. Close the </a:t>
            </a:r>
          </a:p>
          <a:p>
            <a:r>
              <a:t>clamp. </a:t>
            </a:r>
          </a:p>
          <a:p>
            <a:r>
              <a:t> Squeeze the drip chamber located below the calibrated </a:t>
            </a:r>
          </a:p>
          <a:p>
            <a:r>
              <a:t>chamber or volume-control set to create a vacuum. Release the </a:t>
            </a:r>
          </a:p>
          <a:p>
            <a:r>
              <a:t>drip chamber and allow it to fill halfway with solution. Then </a:t>
            </a:r>
          </a:p>
          <a:p>
            <a:r>
              <a:t>release the clamp below the drip chamber so that fluid flows into </a:t>
            </a:r>
          </a:p>
          <a:p>
            <a:r>
              <a:t>the remaining tubing, removing any air. After the tubing fills, </a:t>
            </a:r>
          </a:p>
          <a:p>
            <a:r>
              <a:t>close the clamp.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Common pediatric I.V. sites </a:t>
            </a:r>
          </a:p>
          <a:p>
            <a:r>
              <a:t>Below are the most common sites for I.V. therapy in infants and </a:t>
            </a:r>
          </a:p>
          <a:p>
            <a:r>
              <a:t>children. Peripheral hand, wrist, or foot veins are typically used </a:t>
            </a:r>
          </a:p>
          <a:p>
            <a:r>
              <a:t>with older children, whereas scalp veins are used with an infant.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80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Procedure </a:t>
            </a:r>
          </a:p>
          <a:p>
            <a:r>
              <a:t> Match the name on the patient's wristband with the name on </a:t>
            </a:r>
          </a:p>
          <a:p>
            <a:r>
              <a:t>the physician's order (or on the medication card). Ask the patient </a:t>
            </a:r>
          </a:p>
          <a:p>
            <a:r>
              <a:t>(or his parents) whether he's allergic to povidone-iodine solution </a:t>
            </a:r>
          </a:p>
          <a:p>
            <a:r>
              <a:t>or to any type of tape. </a:t>
            </a:r>
          </a:p>
          <a:p>
            <a:r>
              <a:t> Explain the reason for the I.V. therapy. Reassure the parents, </a:t>
            </a:r>
          </a:p>
          <a:p>
            <a:r>
              <a:t>and enlist their assistance in explaining the procedure to the </a:t>
            </a:r>
          </a:p>
          <a:p>
            <a:r>
              <a:t>patient in terms he can understand. </a:t>
            </a:r>
          </a:p>
          <a:p>
            <a:r>
              <a:t> Be sure to have a staff member available to assist you. Inform </a:t>
            </a:r>
          </a:p>
          <a:p>
            <a:r>
              <a:t>the parents that the staff member will help the patient remain still, </a:t>
            </a:r>
          </a:p>
          <a:p>
            <a:r>
              <a:t>if necessary, during the procedure. </a:t>
            </a:r>
          </a:p>
          <a:p>
            <a:r>
              <a:t> Wash your hands and put on gloves. </a:t>
            </a:r>
          </a:p>
          <a:p>
            <a:r>
              <a:t> Select the insertion site for the butterfly needle or catheter. </a:t>
            </a:r>
          </a:p>
          <a:p>
            <a:r>
              <a:t>(See Common pediatric I.V. sites .) Aim for the most distal site </a:t>
            </a:r>
          </a:p>
          <a:p>
            <a:r>
              <a:t>possible, and avoid placing the I.V. line in the patient's dominant </a:t>
            </a:r>
          </a:p>
          <a:p>
            <a:r>
              <a:t>arm or in areas of flexion if possible. Avoid previously used or </a:t>
            </a:r>
          </a:p>
          <a:p>
            <a:r>
              <a:t>sclerotic veins. </a:t>
            </a:r>
          </a:p>
          <a:p>
            <a:r>
              <a:t> To locate an appropriate scalp vein, carefully palpate the site </a:t>
            </a:r>
          </a:p>
          <a:p>
            <a:r>
              <a:t>for arterial pulsations. If you feel these pulsations, select another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80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Procedure </a:t>
            </a:r>
          </a:p>
          <a:p>
            <a:r>
              <a:t> Match the name on the patient's wristband with the name on </a:t>
            </a:r>
          </a:p>
          <a:p>
            <a:r>
              <a:t>the physician's order (or on the medication card). Ask the patient </a:t>
            </a:r>
          </a:p>
          <a:p>
            <a:r>
              <a:t>(or his parents) whether he's allergic to povidone-iodine solution </a:t>
            </a:r>
          </a:p>
          <a:p>
            <a:r>
              <a:t>or to any type of tape. </a:t>
            </a:r>
          </a:p>
          <a:p>
            <a:r>
              <a:t> Explain the reason for the I.V. therapy. Reassure the parents, </a:t>
            </a:r>
          </a:p>
          <a:p>
            <a:r>
              <a:t>and enlist their assistance in explaining the procedure to the </a:t>
            </a:r>
          </a:p>
          <a:p>
            <a:r>
              <a:t>patient in terms he can understand. </a:t>
            </a:r>
          </a:p>
          <a:p>
            <a:r>
              <a:t> Be sure to have a staff member available to assist you. Inform </a:t>
            </a:r>
          </a:p>
          <a:p>
            <a:r>
              <a:t>the parents that the staff member will help the patient remain still, </a:t>
            </a:r>
          </a:p>
          <a:p>
            <a:r>
              <a:t>if necessary, during the procedure. </a:t>
            </a:r>
          </a:p>
          <a:p>
            <a:r>
              <a:t> Wash your hands and put on gloves. </a:t>
            </a:r>
          </a:p>
          <a:p>
            <a:r>
              <a:t> Select the insertion site for the butterfly needle or catheter. </a:t>
            </a:r>
          </a:p>
          <a:p>
            <a:r>
              <a:t>(See Common pediatric I.V. sites .) Aim for the most distal site </a:t>
            </a:r>
          </a:p>
          <a:p>
            <a:r>
              <a:t>possible, and avoid placing the I.V. line in the patient's dominant </a:t>
            </a:r>
          </a:p>
          <a:p>
            <a:r>
              <a:t>arm or in areas of flexion if possible. Avoid previously used or </a:t>
            </a:r>
          </a:p>
          <a:p>
            <a:r>
              <a:t>sclerotic veins. </a:t>
            </a:r>
          </a:p>
          <a:p>
            <a:r>
              <a:t> To locate an appropriate scalp vein, carefully palpate the site </a:t>
            </a:r>
          </a:p>
          <a:p>
            <a:r>
              <a:t>for arterial pulsations. If you feel these pulsations, select another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81 </a:t>
            </a:r>
          </a:p>
          <a:p>
            <a:r>
              <a:t>site. Then, before inserting the I.V. line, prepare the selected site </a:t>
            </a:r>
          </a:p>
          <a:p>
            <a:r>
              <a:t>as ordered. </a:t>
            </a:r>
          </a:p>
          <a:p>
            <a:r>
              <a:t> To find an appropriate peripheral site, apply a tourniquet to </a:t>
            </a:r>
          </a:p>
          <a:p>
            <a:r>
              <a:t>the patient's arm or leg and palpate a suitable vein. </a:t>
            </a:r>
          </a:p>
          <a:p>
            <a:r>
              <a:t> If you're inserting a butterfly needle, flush the tubing </a:t>
            </a:r>
          </a:p>
          <a:p>
            <a:r>
              <a:t>connected to the butterfly with D5W or normal saline solution. </a:t>
            </a:r>
          </a:p>
          <a:p>
            <a:r>
              <a:t> Clean the insertion site. Unless contraindicated, use a pad </a:t>
            </a:r>
          </a:p>
          <a:p>
            <a:r>
              <a:t>containing povidone-iodine solution. Wipe with a circular motion </a:t>
            </a:r>
          </a:p>
          <a:p>
            <a:r>
              <a:t>from the insertion site's center to the outer rim. Let the solution </a:t>
            </a:r>
          </a:p>
          <a:p>
            <a:r>
              <a:t>dry. </a:t>
            </a:r>
          </a:p>
          <a:p>
            <a:r>
              <a:t> Insert the I.V. needle into the vein. Watch for blood to flow </a:t>
            </a:r>
          </a:p>
          <a:p>
            <a:r>
              <a:t>backward through the catheter or butterfly tubing, which </a:t>
            </a:r>
          </a:p>
          <a:p>
            <a:r>
              <a:t>confirms that the needle is in the vein. </a:t>
            </a:r>
          </a:p>
          <a:p>
            <a:r>
              <a:t> Loosen the tourniquet, and attach the I.V. tubing to the hub </a:t>
            </a:r>
          </a:p>
          <a:p>
            <a:r>
              <a:t>of the needle or catheter. Begin the infusion. </a:t>
            </a:r>
          </a:p>
          <a:p>
            <a:r>
              <a:t> Secure the device by applying a piece of ½″ tape over the </a:t>
            </a:r>
          </a:p>
          <a:p>
            <a:r>
              <a:t>hub. Next, place a piece of tape, adhesive side up, underneath and </a:t>
            </a:r>
          </a:p>
          <a:p>
            <a:r>
              <a:t>perpendicular to the device. Lift the ends of the tape and </a:t>
            </a:r>
          </a:p>
          <a:p>
            <a:r>
              <a:t>crisscross them over the device. Further secure and protect the </a:t>
            </a:r>
          </a:p>
          <a:p>
            <a:r>
              <a:t>I.V. line as needed.  </a:t>
            </a:r>
          </a:p>
          <a:p>
            <a:r>
              <a:t>NURSING ALERT Remember to use only sterile tape under </a:t>
            </a:r>
          </a:p>
          <a:p>
            <a:r>
              <a:t>the transparent dressing. </a:t>
            </a:r>
          </a:p>
          <a:p>
            <a:r>
              <a:t> Adjust the infusion flow, as ordered, by using the clamp on </a:t>
            </a:r>
          </a:p>
          <a:p>
            <a:r>
              <a:t>the I.V. volume-control tubing or by setting the infusion rate on </a:t>
            </a:r>
          </a:p>
          <a:p>
            <a:r>
              <a:t>the infusion pump. </a:t>
            </a:r>
          </a:p>
          <a:p>
            <a:r>
              <a:t> Add solution hourly (or as needed) from the I.V. bag to the </a:t>
            </a:r>
          </a:p>
          <a:p>
            <a:r>
              <a:t>volume-control set. </a:t>
            </a:r>
          </a:p>
          <a:p>
            <a:r>
              <a:t> Assess the I.V. site frequently for signs of infiltration, and </a:t>
            </a:r>
          </a:p>
          <a:p>
            <a:r>
              <a:t>check the I.V. bottle or bag for the amount of solution infused. </a:t>
            </a:r>
          </a:p>
          <a:p>
            <a:r>
              <a:t> Change the I.V. dressing every 24 hours, according to your </a:t>
            </a:r>
          </a:p>
          <a:p>
            <a:r>
              <a:t>facility's policy, or as needed to prevent infection. Change the I.V. </a:t>
            </a:r>
          </a:p>
          <a:p>
            <a:r>
              <a:t>tubing every 48 to 72 hours and the I.V. solution bottle or bag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82 </a:t>
            </a:r>
          </a:p>
          <a:p>
            <a:r>
              <a:t>every 24 hours. Label the I.V. bottle or bag, tubing, and volume </a:t>
            </a:r>
          </a:p>
          <a:p>
            <a:r>
              <a:t>control set with the time and date of change. </a:t>
            </a:r>
          </a:p>
          <a:p>
            <a:r>
              <a:t> Change the I.V. insertion site every 72 hours, if possible, to </a:t>
            </a:r>
          </a:p>
          <a:p>
            <a:r>
              <a:t>minimize the risk of infection. If you inserted the I.V. line without </a:t>
            </a:r>
          </a:p>
          <a:p>
            <a:r>
              <a:t>proper skin preparation (during an emergency, for example), </a:t>
            </a:r>
          </a:p>
          <a:p>
            <a:r>
              <a:t>change the site sooner. </a:t>
            </a:r>
          </a:p>
          <a:p>
            <a:r>
              <a:t> </a:t>
            </a:r>
          </a:p>
          <a:p>
            <a:r>
              <a:t>Complications of I.V therapy </a:t>
            </a:r>
          </a:p>
          <a:p>
            <a:r>
              <a:t> </a:t>
            </a:r>
          </a:p>
          <a:p>
            <a:r>
              <a:t>Infection, fluid overload, electrolyte imbalance, infiltration, and </a:t>
            </a:r>
          </a:p>
          <a:p>
            <a:r>
              <a:t>circulatory impairment are complications of I.V. therapy. </a:t>
            </a:r>
          </a:p>
          <a:p>
            <a:r>
              <a:t> </a:t>
            </a:r>
          </a:p>
          <a:p>
            <a:r>
              <a:t>Documentation </a:t>
            </a:r>
          </a:p>
          <a:p>
            <a:r>
              <a:t> </a:t>
            </a:r>
          </a:p>
          <a:p>
            <a:r>
              <a:t>Record the date and time of the I.V. infusion, the insertion site, </a:t>
            </a:r>
          </a:p>
          <a:p>
            <a:r>
              <a:t>and the type and size of I.V. needle or catheter. Note the patient's </a:t>
            </a:r>
          </a:p>
          <a:p>
            <a:r>
              <a:t>tolerance of the procedure. Describe patient- and parent-teaching </a:t>
            </a:r>
          </a:p>
          <a:p>
            <a:r>
              <a:t>activities. Document the condition of the I.V. site according to </a:t>
            </a:r>
          </a:p>
          <a:p>
            <a:r>
              <a:t>hospital policy. If infiltration affects the I.V. site, document the </a:t>
            </a:r>
          </a:p>
          <a:p>
            <a:r>
              <a:t>condition of the site at every shift change until the condition </a:t>
            </a:r>
          </a:p>
          <a:p>
            <a:r>
              <a:t>resolves.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Administration of Medication                                                   83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References: </a:t>
            </a:r>
          </a:p>
          <a:p>
            <a:r>
              <a:t> </a:t>
            </a:r>
          </a:p>
          <a:p>
            <a:r>
              <a:t> Ball, J.W.B., Cowen, R.C. and KAY, J., 2013. CHILD </a:t>
            </a:r>
          </a:p>
          <a:p>
            <a:r>
              <a:t>HEALTH NURSING: Partnering with Children and </a:t>
            </a:r>
          </a:p>
          <a:p>
            <a:r>
              <a:t>Families. Pearson Education limited. </a:t>
            </a:r>
          </a:p>
          <a:p>
            <a:r>
              <a:t> Ball, J.W., Bindler, R.C., Cowen, K. and Shaw, M.R., 2017. </a:t>
            </a:r>
          </a:p>
          <a:p>
            <a:r>
              <a:t>Principles of pediatric nursing: Caring for children. </a:t>
            </a:r>
          </a:p>
          <a:p>
            <a:r>
              <a:t>Pearson. </a:t>
            </a:r>
          </a:p>
          <a:p>
            <a:r>
              <a:t> Hockenberry , M and Wilson, D. Wong’s nursing care of </a:t>
            </a:r>
          </a:p>
          <a:p>
            <a:r>
              <a:t>infants and children.10th edition (2015) </a:t>
            </a:r>
          </a:p>
          <a:p>
            <a:r>
              <a:t> Terri Kyle, Susan Carman, Essentials of pediatric </a:t>
            </a:r>
          </a:p>
          <a:p>
            <a:r>
              <a:t>nursing.2nd ed, Printed in China. Copyright © (2013)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Fluid Maintenance &amp; IV Calories Requirement                      84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Fluid Calculation and Calories Requirement  </a:t>
            </a:r>
          </a:p>
          <a:p>
            <a:r>
              <a:t> </a:t>
            </a:r>
          </a:p>
          <a:p>
            <a:r>
              <a:t>Objective </a:t>
            </a:r>
          </a:p>
          <a:p>
            <a:r>
              <a:t>1. Explaining compartments of body fluid </a:t>
            </a:r>
          </a:p>
          <a:p>
            <a:r>
              <a:t>2. Calculating Pediatric Fluid Needs </a:t>
            </a:r>
          </a:p>
          <a:p>
            <a:r>
              <a:t>3. Describe Types of I.V. solutions </a:t>
            </a:r>
          </a:p>
          <a:p>
            <a:r>
              <a:t>4. Identify calories required for child   </a:t>
            </a:r>
          </a:p>
          <a:p>
            <a:r>
              <a:t>5. Calculating a Formula’s Adequacy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Fluid Maintenance &amp; IV Calories Requirement                      85 </a:t>
            </a:r>
          </a:p>
          <a:p>
            <a:r>
              <a:t>Body fluid composition </a:t>
            </a:r>
          </a:p>
          <a:p>
            <a:r>
              <a:t>Body fluids are separated into two main compartments:  </a:t>
            </a:r>
          </a:p>
          <a:p>
            <a:r>
              <a:t>1. Intracellular (ICF 40%)  </a:t>
            </a:r>
          </a:p>
          <a:p>
            <a:r>
              <a:t>2. Extracellular (ECF) (divide into intravascular 5% and interstitial fluid 25%) </a:t>
            </a:r>
          </a:p>
          <a:p>
            <a:r>
              <a:t> </a:t>
            </a:r>
          </a:p>
          <a:p>
            <a:r>
              <a:t> The proportion of body weight that is water falls from about 78% in a term </a:t>
            </a:r>
          </a:p>
          <a:p>
            <a:r>
              <a:t>newborn to 60% in adults. </a:t>
            </a:r>
          </a:p>
          <a:p>
            <a:r>
              <a:t> Water balance depends on intake, output and usage for metabolism. Water </a:t>
            </a:r>
          </a:p>
          <a:p>
            <a:r>
              <a:t>is normally lost from skin, lung, intestine and kidney. </a:t>
            </a:r>
          </a:p>
          <a:p>
            <a:r>
              <a:t> Cell membranes are relatively permeable to water, potassium and chloride, </a:t>
            </a:r>
          </a:p>
          <a:p>
            <a:r>
              <a:t>and relatively impermeable to sodium, phosphate and protein. Sodium is </a:t>
            </a:r>
          </a:p>
          <a:p>
            <a:r>
              <a:t>actively transported out of cells by energy-dependent sodium pumps.  </a:t>
            </a:r>
          </a:p>
          <a:p>
            <a:r>
              <a:t> There is equilibrium in tonicity, hydrostatic and colloid osmotic pressure </a:t>
            </a:r>
          </a:p>
          <a:p>
            <a:r>
              <a:t>between plasma and interstitial fluid. Water leaves the arterial end of the </a:t>
            </a:r>
          </a:p>
          <a:p>
            <a:r>
              <a:t>capillary under hydrostatic pressure and is drawn into the venous end of </a:t>
            </a:r>
          </a:p>
          <a:p>
            <a:r>
              <a:t>capillary beds by plasma oncotic pressure. </a:t>
            </a:r>
          </a:p>
          <a:p>
            <a:r>
              <a:t> The plasma osmolality almost constant between 285 and 300mOsmol per kg </a:t>
            </a:r>
          </a:p>
          <a:p>
            <a:r>
              <a:t>H2O. </a:t>
            </a:r>
          </a:p>
          <a:p>
            <a:r>
              <a:t> </a:t>
            </a:r>
          </a:p>
          <a:p>
            <a:r>
              <a:t>Calculating Pediatric Fluid Needs  </a:t>
            </a:r>
          </a:p>
          <a:p>
            <a:r>
              <a:t>Maintenance requirements involve replacement of normal losses from urine, </a:t>
            </a:r>
          </a:p>
          <a:p>
            <a:r>
              <a:t>sweat, lungs and feces, and assume that any fluid deficit (dehydration) has been </a:t>
            </a:r>
          </a:p>
          <a:p>
            <a:r>
              <a:t>replaced. </a:t>
            </a:r>
          </a:p>
          <a:p>
            <a:r>
              <a:t>Fluid needs based on weight  </a:t>
            </a:r>
          </a:p>
          <a:p>
            <a:r>
              <a:t>The usual daily maintenance requirement can be calculated from the following </a:t>
            </a:r>
          </a:p>
          <a:p>
            <a:r>
              <a:t>formula: (South &amp; Isaacs, 2012) </a:t>
            </a:r>
          </a:p>
          <a:p>
            <a:r>
              <a:t>1. Children weighing under 10 kg require 100 ml of fluid per kilogram of </a:t>
            </a:r>
          </a:p>
          <a:p>
            <a:r>
              <a:t>body weight per day: </a:t>
            </a:r>
          </a:p>
          <a:p>
            <a:r>
              <a:t>Weight in kg ×100 ml/kg/day = fluid needs in ml/day </a:t>
            </a:r>
          </a:p>
          <a:p>
            <a:r>
              <a:t>e.g. child weight 7Kg =&gt; 7 × 100 ml = 700ml/day </a:t>
            </a:r>
          </a:p>
          <a:p>
            <a:r>
              <a:t> </a:t>
            </a:r>
          </a:p>
          <a:p>
            <a:r>
              <a:t>2. Children weighing 10 to 20 kg require 1,000 ml of fluid per day for the </a:t>
            </a:r>
          </a:p>
          <a:p>
            <a:r>
              <a:t>first 10 kg plus 50 ml for every kilogram over 10: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Fluid Maintenance &amp; IV Calories Requirement                      85 </a:t>
            </a:r>
          </a:p>
          <a:p>
            <a:r>
              <a:t>Body fluid composition </a:t>
            </a:r>
          </a:p>
          <a:p>
            <a:r>
              <a:t>Body fluids are separated into two main compartments:  </a:t>
            </a:r>
          </a:p>
          <a:p>
            <a:r>
              <a:t>1. Intracellular (ICF 40%)  </a:t>
            </a:r>
          </a:p>
          <a:p>
            <a:r>
              <a:t>2. Extracellular (ECF) (divide into intravascular 5% and interstitial fluid 25%) </a:t>
            </a:r>
          </a:p>
          <a:p>
            <a:r>
              <a:t> </a:t>
            </a:r>
          </a:p>
          <a:p>
            <a:r>
              <a:t> The proportion of body weight that is water falls from about 78% in a term </a:t>
            </a:r>
          </a:p>
          <a:p>
            <a:r>
              <a:t>newborn to 60% in adults. </a:t>
            </a:r>
          </a:p>
          <a:p>
            <a:r>
              <a:t> Water balance depends on intake, output and usage for metabolism. Water </a:t>
            </a:r>
          </a:p>
          <a:p>
            <a:r>
              <a:t>is normally lost from skin, lung, intestine and kidney. </a:t>
            </a:r>
          </a:p>
          <a:p>
            <a:r>
              <a:t> Cell membranes are relatively permeable to water, potassium and chloride, </a:t>
            </a:r>
          </a:p>
          <a:p>
            <a:r>
              <a:t>and relatively impermeable to sodium, phosphate and protein. Sodium is </a:t>
            </a:r>
          </a:p>
          <a:p>
            <a:r>
              <a:t>actively transported out of cells by energy-dependent sodium pumps.  </a:t>
            </a:r>
          </a:p>
          <a:p>
            <a:r>
              <a:t> There is equilibrium in tonicity, hydrostatic and colloid osmotic pressure </a:t>
            </a:r>
          </a:p>
          <a:p>
            <a:r>
              <a:t>between plasma and interstitial fluid. Water leaves the arterial end of the </a:t>
            </a:r>
          </a:p>
          <a:p>
            <a:r>
              <a:t>capillary under hydrostatic pressure and is drawn into the venous end of </a:t>
            </a:r>
          </a:p>
          <a:p>
            <a:r>
              <a:t>capillary beds by plasma oncotic pressure. </a:t>
            </a:r>
          </a:p>
          <a:p>
            <a:r>
              <a:t> The plasma osmolality almost constant between 285 and 300mOsmol per kg </a:t>
            </a:r>
          </a:p>
          <a:p>
            <a:r>
              <a:t>H2O. </a:t>
            </a:r>
          </a:p>
          <a:p>
            <a:r>
              <a:t> </a:t>
            </a:r>
          </a:p>
          <a:p>
            <a:r>
              <a:t>Calculating Pediatric Fluid Needs  </a:t>
            </a:r>
          </a:p>
          <a:p>
            <a:r>
              <a:t>Maintenance requirements involve replacement of normal losses from urine, </a:t>
            </a:r>
          </a:p>
          <a:p>
            <a:r>
              <a:t>sweat, lungs and feces, and assume that any fluid deficit (dehydration) has been </a:t>
            </a:r>
          </a:p>
          <a:p>
            <a:r>
              <a:t>replaced. </a:t>
            </a:r>
          </a:p>
          <a:p>
            <a:r>
              <a:t>Fluid needs based on weight  </a:t>
            </a:r>
          </a:p>
          <a:p>
            <a:r>
              <a:t>The usual daily maintenance requirement can be calculated from the following </a:t>
            </a:r>
          </a:p>
          <a:p>
            <a:r>
              <a:t>formula: (South &amp; Isaacs, 2012) </a:t>
            </a:r>
          </a:p>
          <a:p>
            <a:r>
              <a:t>1. Children weighing under 10 kg require 100 ml of fluid per kilogram of </a:t>
            </a:r>
          </a:p>
          <a:p>
            <a:r>
              <a:t>body weight per day: </a:t>
            </a:r>
          </a:p>
          <a:p>
            <a:r>
              <a:t>Weight in kg ×100 ml/kg/day = fluid needs in ml/day </a:t>
            </a:r>
          </a:p>
          <a:p>
            <a:r>
              <a:t>e.g. child weight 7Kg =&gt; 7 × 100 ml = 700ml/day </a:t>
            </a:r>
          </a:p>
          <a:p>
            <a:r>
              <a:t> </a:t>
            </a:r>
          </a:p>
          <a:p>
            <a:r>
              <a:t>2. Children weighing 10 to 20 kg require 1,000 ml of fluid per day for the </a:t>
            </a:r>
          </a:p>
          <a:p>
            <a:r>
              <a:t>first 10 kg plus 50 ml for every kilogram over 10: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Fluid Maintenance &amp; IV Calories Requirement                      86 </a:t>
            </a:r>
          </a:p>
          <a:p>
            <a:r>
              <a:t>11–20kg: 1000mL + 50mL/kg for every kilogram above 10kg= fluid needs in </a:t>
            </a:r>
          </a:p>
          <a:p>
            <a:r>
              <a:t>ml/day </a:t>
            </a:r>
          </a:p>
          <a:p>
            <a:r>
              <a:t>e.g. child weight 15Kg =&gt; 1000ml +50𝑚𝑙× 5kg = 1250ml/day </a:t>
            </a:r>
          </a:p>
          <a:p>
            <a:r>
              <a:t>3. Children weighing more than 20 kg require 1,500 ml of fluid for the first </a:t>
            </a:r>
          </a:p>
          <a:p>
            <a:r>
              <a:t>20 kg plus 20 ml for each additional kilogram: </a:t>
            </a:r>
          </a:p>
          <a:p>
            <a:r>
              <a:t>Above 20 kg: 1500mL + 20 mL/kg for every kilogram above 20 kg= fluid in </a:t>
            </a:r>
          </a:p>
          <a:p>
            <a:r>
              <a:t>ml/day </a:t>
            </a:r>
          </a:p>
          <a:p>
            <a:r>
              <a:t>e.g. child weight 24Kg =&gt; 1500ml +20𝑚𝑙× 4kg = 1580 ml/day </a:t>
            </a:r>
          </a:p>
          <a:p>
            <a:r>
              <a:t>The hourly maintenance requirement can be calculated from the </a:t>
            </a:r>
          </a:p>
          <a:p>
            <a:r>
              <a:t>following formula: </a:t>
            </a:r>
          </a:p>
          <a:p>
            <a:r>
              <a:t> </a:t>
            </a:r>
          </a:p>
          <a:p>
            <a:r>
              <a:t>1. First 10 kg body weight: 4mL/kg per h. </a:t>
            </a:r>
          </a:p>
          <a:p>
            <a:r>
              <a:t>2. 11–20 kg: (4 mL/kg for the first 10kg = 40 mL) + 2mL/kg for every </a:t>
            </a:r>
          </a:p>
          <a:p>
            <a:r>
              <a:t>kilogram above 10kg. </a:t>
            </a:r>
          </a:p>
          <a:p>
            <a:r>
              <a:t>3. Above 20 kg: (4 mL/kg for the first 10kg = 40mL) + (2mL/kg for the </a:t>
            </a:r>
          </a:p>
          <a:p>
            <a:r>
              <a:t>second 10kg = 20 mL) + 1mL/kg for every kilogram above 20kg. </a:t>
            </a:r>
          </a:p>
          <a:p>
            <a:r>
              <a:t> </a:t>
            </a:r>
          </a:p>
          <a:p>
            <a:r>
              <a:t>The volume of fluid deficit may then be calculated using the following </a:t>
            </a:r>
          </a:p>
          <a:p>
            <a:r>
              <a:t>formula: </a:t>
            </a:r>
          </a:p>
          <a:p>
            <a:r>
              <a:t>Calculated fluid deficit (mL) = %dehydration ×weight (kg) × 10 </a:t>
            </a:r>
          </a:p>
          <a:p>
            <a:r>
              <a:t>(e.g. 7% dehydration in a 12 kg child = 7 × 12 × 10 = 840 mL deficit). </a:t>
            </a:r>
          </a:p>
          <a:p>
            <a:r>
              <a:t>Types of I.V. solutions </a:t>
            </a:r>
          </a:p>
          <a:p>
            <a:r>
              <a:t>Solutions used for I.V. fluid replacement fall into the broad categories of </a:t>
            </a:r>
          </a:p>
          <a:p>
            <a:r>
              <a:t>crystalloids (which may be isotonic, hypotonic, or hypertonic) and colloids </a:t>
            </a:r>
          </a:p>
          <a:p>
            <a:r>
              <a:t>(which are always hypertonic) (Lippincott, 2012).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Fluid Maintenance &amp; IV Calories Requirement                      86 </a:t>
            </a:r>
          </a:p>
          <a:p>
            <a:r>
              <a:t>11–20kg: 1000mL + 50mL/kg for every kilogram above 10kg= fluid needs in </a:t>
            </a:r>
          </a:p>
          <a:p>
            <a:r>
              <a:t>ml/day </a:t>
            </a:r>
          </a:p>
          <a:p>
            <a:r>
              <a:t>e.g. child weight 15Kg =&gt; 1000ml +50𝑚𝑙× 5kg = 1250ml/day </a:t>
            </a:r>
          </a:p>
          <a:p>
            <a:r>
              <a:t>3. Children weighing more than 20 kg require 1,500 ml of fluid for the first </a:t>
            </a:r>
          </a:p>
          <a:p>
            <a:r>
              <a:t>20 kg plus 20 ml for each additional kilogram: </a:t>
            </a:r>
          </a:p>
          <a:p>
            <a:r>
              <a:t>Above 20 kg: 1500mL + 20 mL/kg for every kilogram above 20 kg= fluid in </a:t>
            </a:r>
          </a:p>
          <a:p>
            <a:r>
              <a:t>ml/day </a:t>
            </a:r>
          </a:p>
          <a:p>
            <a:r>
              <a:t>e.g. child weight 24Kg =&gt; 1500ml +20𝑚𝑙× 4kg = 1580 ml/day </a:t>
            </a:r>
          </a:p>
          <a:p>
            <a:r>
              <a:t>The hourly maintenance requirement can be calculated from the </a:t>
            </a:r>
          </a:p>
          <a:p>
            <a:r>
              <a:t>following formula: </a:t>
            </a:r>
          </a:p>
          <a:p>
            <a:r>
              <a:t> </a:t>
            </a:r>
          </a:p>
          <a:p>
            <a:r>
              <a:t>1. First 10 kg body weight: 4mL/kg per h. </a:t>
            </a:r>
          </a:p>
          <a:p>
            <a:r>
              <a:t>2. 11–20 kg: (4 mL/kg for the first 10kg = 40 mL) + 2mL/kg for every </a:t>
            </a:r>
          </a:p>
          <a:p>
            <a:r>
              <a:t>kilogram above 10kg. </a:t>
            </a:r>
          </a:p>
          <a:p>
            <a:r>
              <a:t>3. Above 20 kg: (4 mL/kg for the first 10kg = 40mL) + (2mL/kg for the </a:t>
            </a:r>
          </a:p>
          <a:p>
            <a:r>
              <a:t>second 10kg = 20 mL) + 1mL/kg for every kilogram above 20kg. </a:t>
            </a:r>
          </a:p>
          <a:p>
            <a:r>
              <a:t> </a:t>
            </a:r>
          </a:p>
          <a:p>
            <a:r>
              <a:t>The volume of fluid deficit may then be calculated using the following </a:t>
            </a:r>
          </a:p>
          <a:p>
            <a:r>
              <a:t>formula: </a:t>
            </a:r>
          </a:p>
          <a:p>
            <a:r>
              <a:t>Calculated fluid deficit (mL) = %dehydration ×weight (kg) × 10 </a:t>
            </a:r>
          </a:p>
          <a:p>
            <a:r>
              <a:t>(e.g. 7% dehydration in a 12 kg child = 7 × 12 × 10 = 840 mL deficit). </a:t>
            </a:r>
          </a:p>
          <a:p>
            <a:r>
              <a:t>Types of I.V. solutions </a:t>
            </a:r>
          </a:p>
          <a:p>
            <a:r>
              <a:t>Solutions used for I.V. fluid replacement fall into the broad categories of </a:t>
            </a:r>
          </a:p>
          <a:p>
            <a:r>
              <a:t>crystalloids (which may be isotonic, hypotonic, or hypertonic) and colloids </a:t>
            </a:r>
          </a:p>
          <a:p>
            <a:r>
              <a:t>(which are always hypertonic) (Lippincott, 2012).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Fluid Maintenance &amp; IV Calories Requirement                      86 </a:t>
            </a:r>
          </a:p>
          <a:p>
            <a:r>
              <a:t>11–20kg: 1000mL + 50mL/kg for every kilogram above 10kg= fluid needs in </a:t>
            </a:r>
          </a:p>
          <a:p>
            <a:r>
              <a:t>ml/day </a:t>
            </a:r>
          </a:p>
          <a:p>
            <a:r>
              <a:t>e.g. child weight 15Kg =&gt; 1000ml +50𝑚𝑙× 5kg = 1250ml/day </a:t>
            </a:r>
          </a:p>
          <a:p>
            <a:r>
              <a:t>3. Children weighing more than 20 kg require 1,500 ml of fluid for the first </a:t>
            </a:r>
          </a:p>
          <a:p>
            <a:r>
              <a:t>20 kg plus 20 ml for each additional kilogram: </a:t>
            </a:r>
          </a:p>
          <a:p>
            <a:r>
              <a:t>Above 20 kg: 1500mL + 20 mL/kg for every kilogram above 20 kg= fluid in </a:t>
            </a:r>
          </a:p>
          <a:p>
            <a:r>
              <a:t>ml/day </a:t>
            </a:r>
          </a:p>
          <a:p>
            <a:r>
              <a:t>e.g. child weight 24Kg =&gt; 1500ml +20𝑚𝑙× 4kg = 1580 ml/day </a:t>
            </a:r>
          </a:p>
          <a:p>
            <a:r>
              <a:t>The hourly maintenance requirement can be calculated from the </a:t>
            </a:r>
          </a:p>
          <a:p>
            <a:r>
              <a:t>following formula: </a:t>
            </a:r>
          </a:p>
          <a:p>
            <a:r>
              <a:t> </a:t>
            </a:r>
          </a:p>
          <a:p>
            <a:r>
              <a:t>1. First 10 kg body weight: 4mL/kg per h. </a:t>
            </a:r>
          </a:p>
          <a:p>
            <a:r>
              <a:t>2. 11–20 kg: (4 mL/kg for the first 10kg = 40 mL) + 2mL/kg for every </a:t>
            </a:r>
          </a:p>
          <a:p>
            <a:r>
              <a:t>kilogram above 10kg. </a:t>
            </a:r>
          </a:p>
          <a:p>
            <a:r>
              <a:t>3. Above 20 kg: (4 mL/kg for the first 10kg = 40mL) + (2mL/kg for the </a:t>
            </a:r>
          </a:p>
          <a:p>
            <a:r>
              <a:t>second 10kg = 20 mL) + 1mL/kg for every kilogram above 20kg. </a:t>
            </a:r>
          </a:p>
          <a:p>
            <a:r>
              <a:t> </a:t>
            </a:r>
          </a:p>
          <a:p>
            <a:r>
              <a:t>The volume of fluid deficit may then be calculated using the following </a:t>
            </a:r>
          </a:p>
          <a:p>
            <a:r>
              <a:t>formula: </a:t>
            </a:r>
          </a:p>
          <a:p>
            <a:r>
              <a:t>Calculated fluid deficit (mL) = %dehydration ×weight (kg) × 10 </a:t>
            </a:r>
          </a:p>
          <a:p>
            <a:r>
              <a:t>(e.g. 7% dehydration in a 12 kg child = 7 × 12 × 10 = 840 mL deficit). </a:t>
            </a:r>
          </a:p>
          <a:p>
            <a:r>
              <a:t>Types of I.V. solutions </a:t>
            </a:r>
          </a:p>
          <a:p>
            <a:r>
              <a:t>Solutions used for I.V. fluid replacement fall into the broad categories of </a:t>
            </a:r>
          </a:p>
          <a:p>
            <a:r>
              <a:t>crystalloids (which may be isotonic, hypotonic, or hypertonic) and colloids </a:t>
            </a:r>
          </a:p>
          <a:p>
            <a:r>
              <a:t>(which are always hypertonic) (Lippincott, 2012).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Fluid Maintenance &amp; IV Calories Requirement                      87 </a:t>
            </a:r>
          </a:p>
          <a:p>
            <a:r>
              <a:t>A. Crystalloids are solutions with small molecules that flow easily from the </a:t>
            </a:r>
          </a:p>
          <a:p>
            <a:r>
              <a:t>bloodstream into cells and tissues. </a:t>
            </a:r>
          </a:p>
          <a:p>
            <a:r>
              <a:t>Crystalloids I.V. solutions </a:t>
            </a:r>
          </a:p>
          <a:p>
            <a:r>
              <a:t>Isotonic </a:t>
            </a:r>
          </a:p>
          <a:p>
            <a:r>
              <a:t>Isotonic solutions expand the intravascular compartment. Isotonic solutions </a:t>
            </a:r>
          </a:p>
          <a:p>
            <a:r>
              <a:t>include: </a:t>
            </a:r>
          </a:p>
          <a:p>
            <a:r>
              <a:t>(D5W, 0.9% NaCl, Ringer’s solution and lactated Ringer’s solution). </a:t>
            </a:r>
          </a:p>
          <a:p>
            <a:r>
              <a:t>Hypertonic </a:t>
            </a:r>
          </a:p>
          <a:p>
            <a:r>
              <a:t>Hypertonic solutions greatly expand the intravascular compartment and draw </a:t>
            </a:r>
          </a:p>
          <a:p>
            <a:r>
              <a:t>fluid from intravascular areas. Hypertonic solutions include: (D10W, 3% NaCl, </a:t>
            </a:r>
          </a:p>
          <a:p>
            <a:r>
              <a:t>5% NaCl, D5 0.45% NaCl and  D5 0.9% NaCl). </a:t>
            </a:r>
          </a:p>
          <a:p>
            <a:r>
              <a:t>Hypotonic </a:t>
            </a:r>
          </a:p>
          <a:p>
            <a:r>
              <a:t>Hypotonic solutions cause a fluid shift from the intravascular compartment </a:t>
            </a:r>
          </a:p>
          <a:p>
            <a:r>
              <a:t>into the cells. Hypotonic solutions include: (D2.5W, 0.45% NaCl and 0.33% </a:t>
            </a:r>
          </a:p>
          <a:p>
            <a:r>
              <a:t>NaCl) </a:t>
            </a:r>
          </a:p>
          <a:p>
            <a:r>
              <a:t>B. Colloids </a:t>
            </a:r>
          </a:p>
          <a:p>
            <a:r>
              <a:t>The use of colloids over crystalloids is controversial. Still, the doctor may </a:t>
            </a:r>
          </a:p>
          <a:p>
            <a:r>
              <a:t>prescribe a colloid—or plasma expander—if your patient's blood volume doesn't </a:t>
            </a:r>
          </a:p>
          <a:p>
            <a:r>
              <a:t>improve with crystalloids. Examples of colloids that may be given include: </a:t>
            </a:r>
          </a:p>
          <a:p>
            <a:r>
              <a:t>• albumin (available in 5% solutions, which are osmotically equal to plasma, and </a:t>
            </a:r>
          </a:p>
          <a:p>
            <a:r>
              <a:t>25% solutions, which draw about four times their volume in interstitial fluid into </a:t>
            </a:r>
          </a:p>
          <a:p>
            <a:r>
              <a:t>the circulation within 15 minutes of administration) </a:t>
            </a:r>
          </a:p>
          <a:p>
            <a:r>
              <a:t>• Plasma protein fraction </a:t>
            </a:r>
          </a:p>
          <a:p>
            <a:r>
              <a:t>• Dextran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Energy / Calories requirement  </a:t>
            </a:r>
          </a:p>
          <a:p>
            <a:r>
              <a:t> Food is metabolized and provides energy required by the body for growth and </a:t>
            </a:r>
          </a:p>
          <a:p>
            <a:r>
              <a:t>synthesis of new tissue, for metabolic processes, and for physiological </a:t>
            </a:r>
          </a:p>
          <a:p>
            <a:r>
              <a:t>functions and activity.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Fluid Maintenance &amp; IV Calories Requirement                      87 </a:t>
            </a:r>
          </a:p>
          <a:p>
            <a:r>
              <a:t>A. Crystalloids are solutions with small molecules that flow easily from the </a:t>
            </a:r>
          </a:p>
          <a:p>
            <a:r>
              <a:t>bloodstream into cells and tissues. </a:t>
            </a:r>
          </a:p>
          <a:p>
            <a:r>
              <a:t>Crystalloids I.V. solutions </a:t>
            </a:r>
          </a:p>
          <a:p>
            <a:r>
              <a:t>Isotonic </a:t>
            </a:r>
          </a:p>
          <a:p>
            <a:r>
              <a:t>Isotonic solutions expand the intravascular compartment. Isotonic solutions </a:t>
            </a:r>
          </a:p>
          <a:p>
            <a:r>
              <a:t>include: </a:t>
            </a:r>
          </a:p>
          <a:p>
            <a:r>
              <a:t>(D5W, 0.9% NaCl, Ringer’s solution and lactated Ringer’s solution). </a:t>
            </a:r>
          </a:p>
          <a:p>
            <a:r>
              <a:t>Hypertonic </a:t>
            </a:r>
          </a:p>
          <a:p>
            <a:r>
              <a:t>Hypertonic solutions greatly expand the intravascular compartment and draw </a:t>
            </a:r>
          </a:p>
          <a:p>
            <a:r>
              <a:t>fluid from intravascular areas. Hypertonic solutions include: (D10W, 3% NaCl, </a:t>
            </a:r>
          </a:p>
          <a:p>
            <a:r>
              <a:t>5% NaCl, D5 0.45% NaCl and  D5 0.9% NaCl). </a:t>
            </a:r>
          </a:p>
          <a:p>
            <a:r>
              <a:t>Hypotonic </a:t>
            </a:r>
          </a:p>
          <a:p>
            <a:r>
              <a:t>Hypotonic solutions cause a fluid shift from the intravascular compartment </a:t>
            </a:r>
          </a:p>
          <a:p>
            <a:r>
              <a:t>into the cells. Hypotonic solutions include: (D2.5W, 0.45% NaCl and 0.33% </a:t>
            </a:r>
          </a:p>
          <a:p>
            <a:r>
              <a:t>NaCl) </a:t>
            </a:r>
          </a:p>
          <a:p>
            <a:r>
              <a:t>B. Colloids </a:t>
            </a:r>
          </a:p>
          <a:p>
            <a:r>
              <a:t>The use of colloids over crystalloids is controversial. Still, the doctor may </a:t>
            </a:r>
          </a:p>
          <a:p>
            <a:r>
              <a:t>prescribe a colloid—or plasma expander—if your patient's blood volume doesn't </a:t>
            </a:r>
          </a:p>
          <a:p>
            <a:r>
              <a:t>improve with crystalloids. Examples of colloids that may be given include: </a:t>
            </a:r>
          </a:p>
          <a:p>
            <a:r>
              <a:t>• albumin (available in 5% solutions, which are osmotically equal to plasma, and </a:t>
            </a:r>
          </a:p>
          <a:p>
            <a:r>
              <a:t>25% solutions, which draw about four times their volume in interstitial fluid into </a:t>
            </a:r>
          </a:p>
          <a:p>
            <a:r>
              <a:t>the circulation within 15 minutes of administration) </a:t>
            </a:r>
          </a:p>
          <a:p>
            <a:r>
              <a:t>• Plasma protein fraction </a:t>
            </a:r>
          </a:p>
          <a:p>
            <a:r>
              <a:t>• Dextran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Energy / Calories requirement  </a:t>
            </a:r>
          </a:p>
          <a:p>
            <a:r>
              <a:t> Food is metabolized and provides energy required by the body for growth and </a:t>
            </a:r>
          </a:p>
          <a:p>
            <a:r>
              <a:t>synthesis of new tissue, for metabolic processes, and for physiological </a:t>
            </a:r>
          </a:p>
          <a:p>
            <a:r>
              <a:t>functions and activity.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Fluid Maintenance &amp; IV Calories Requirement                      88 </a:t>
            </a:r>
          </a:p>
          <a:p>
            <a:r>
              <a:t> Fat, carbohydrate and protein provide energy, which is measured in </a:t>
            </a:r>
          </a:p>
          <a:p>
            <a:r>
              <a:t>kilocalories. Fat contributes 50% of the total energy in breast milk or standard </a:t>
            </a:r>
          </a:p>
          <a:p>
            <a:r>
              <a:t>infant formula. The average diet of older children provides 30–40% of total </a:t>
            </a:r>
          </a:p>
          <a:p>
            <a:r>
              <a:t>energy from fat, 45–55% from carbohydrate and about 15% from protein </a:t>
            </a:r>
          </a:p>
          <a:p>
            <a:r>
              <a:t>(South &amp; Isaacs, 2012).  </a:t>
            </a:r>
          </a:p>
          <a:p>
            <a:r>
              <a:t> On average, carbohydrates and protein contain 4 calories per gram, fats </a:t>
            </a:r>
          </a:p>
          <a:p>
            <a:r>
              <a:t>contain 9 calories per gram </a:t>
            </a:r>
          </a:p>
          <a:p>
            <a:r>
              <a:t>An infant (birth-6 months) of age requires 110 to 120 calories per kg /day. </a:t>
            </a:r>
          </a:p>
          <a:p>
            <a:r>
              <a:t> After 6 months of age, this amount gradually declines until the requirement at </a:t>
            </a:r>
          </a:p>
          <a:p>
            <a:r>
              <a:t>1 year is 100 kcal/kg per day. In contrast, the adult requirement is 42 kcal/kg </a:t>
            </a:r>
          </a:p>
          <a:p>
            <a:r>
              <a:t>per day. </a:t>
            </a:r>
          </a:p>
          <a:p>
            <a:r>
              <a:t> Adolescents have an increased caloric need due to rapid growth. For most </a:t>
            </a:r>
          </a:p>
          <a:p>
            <a:r>
              <a:t>adolescent boys, 2,800 calories per day &amp; girls, 2,200 kcal/kg/day is </a:t>
            </a:r>
          </a:p>
          <a:p>
            <a:r>
              <a:t>recommended (AAP, 2011) </a:t>
            </a:r>
          </a:p>
          <a:p>
            <a:r>
              <a:t> Caloric Requirements (Approximate) </a:t>
            </a:r>
          </a:p>
          <a:p>
            <a:r>
              <a:t> Preterm Infants 120 Kcal/kg/day </a:t>
            </a:r>
          </a:p>
          <a:p>
            <a:r>
              <a:t> Infants 100 Kcal/kg/day </a:t>
            </a:r>
          </a:p>
          <a:p>
            <a:r>
              <a:t> Young Child 80 Kcal/kg/day (1-10year) </a:t>
            </a:r>
          </a:p>
          <a:p>
            <a:r>
              <a:t> Older Child 60 Kcal/kg/day </a:t>
            </a:r>
          </a:p>
          <a:p>
            <a:r>
              <a:t>There are three type of milk each cup (200ml) contain: </a:t>
            </a:r>
          </a:p>
          <a:p>
            <a:r>
              <a:t>1. Whole fat milk ( 8gm fat , 12gm carbohydrate and 8gm protein)= 150kcal </a:t>
            </a:r>
          </a:p>
          <a:p>
            <a:r>
              <a:t>2. Low fat milk    ( 5gm fat , 12gm carbohydrate and 8gm protein)= 120kcal </a:t>
            </a:r>
          </a:p>
          <a:p>
            <a:r>
              <a:t>3. Free fat milk (skimmed) (1gm fat , 12gm carbohydrate and 8gm protein)= </a:t>
            </a:r>
          </a:p>
          <a:p>
            <a:r>
              <a:t>90kcal </a:t>
            </a:r>
          </a:p>
          <a:p>
            <a:r>
              <a:t> skim milk and low-fat milk must not be used for infant because they are </a:t>
            </a:r>
          </a:p>
          <a:p>
            <a:r>
              <a:t>deficient in caloric concentration, significantly increase the renal solute load </a:t>
            </a:r>
          </a:p>
          <a:p>
            <a:r>
              <a:t>and water demands, and deprive the body of essential fatty acids </a:t>
            </a:r>
          </a:p>
          <a:p>
            <a:r>
              <a:t>(Hockenberry &amp; Wilson, 2015). </a:t>
            </a:r>
          </a:p>
          <a:p>
            <a:r>
              <a:t> Low-fat (2%) cow's milk can be given to children over 2 years of age. Skim </a:t>
            </a:r>
          </a:p>
          <a:p>
            <a:r>
              <a:t>milk (no fat) is not recommended unless there is a specific medical condition, </a:t>
            </a:r>
          </a:p>
          <a:p>
            <a:r>
              <a:t>such as hypercholesterolemia.  </a:t>
            </a:r>
          </a:p>
          <a:p>
            <a:r>
              <a:t> Whole Cow's milk is appropriate to be introduced to infants over 12 months. </a:t>
            </a:r>
          </a:p>
          <a:p>
            <a:r>
              <a:t> Cow's milk has lower iron content and higher levels of protein, sodium, </a:t>
            </a:r>
          </a:p>
          <a:p>
            <a:r>
              <a:t>potassium, phosphorus and calcium than human milk or formula therefore it's </a:t>
            </a:r>
          </a:p>
          <a:p>
            <a:r>
              <a:t>not recommended for less than 1 year child.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Fluid Maintenance &amp; IV Calories Requirement                      88 </a:t>
            </a:r>
          </a:p>
          <a:p>
            <a:r>
              <a:t> Fat, carbohydrate and protein provide energy, which is measured in </a:t>
            </a:r>
          </a:p>
          <a:p>
            <a:r>
              <a:t>kilocalories. Fat contributes 50% of the total energy in breast milk or standard </a:t>
            </a:r>
          </a:p>
          <a:p>
            <a:r>
              <a:t>infant formula. The average diet of older children provides 30–40% of total </a:t>
            </a:r>
          </a:p>
          <a:p>
            <a:r>
              <a:t>energy from fat, 45–55% from carbohydrate and about 15% from protein </a:t>
            </a:r>
          </a:p>
          <a:p>
            <a:r>
              <a:t>(South &amp; Isaacs, 2012).  </a:t>
            </a:r>
          </a:p>
          <a:p>
            <a:r>
              <a:t> On average, carbohydrates and protein contain 4 calories per gram, fats </a:t>
            </a:r>
          </a:p>
          <a:p>
            <a:r>
              <a:t>contain 9 calories per gram </a:t>
            </a:r>
          </a:p>
          <a:p>
            <a:r>
              <a:t>An infant (birth-6 months) of age requires 110 to 120 calories per kg /day. </a:t>
            </a:r>
          </a:p>
          <a:p>
            <a:r>
              <a:t> After 6 months of age, this amount gradually declines until the requirement at </a:t>
            </a:r>
          </a:p>
          <a:p>
            <a:r>
              <a:t>1 year is 100 kcal/kg per day. In contrast, the adult requirement is 42 kcal/kg </a:t>
            </a:r>
          </a:p>
          <a:p>
            <a:r>
              <a:t>per day. </a:t>
            </a:r>
          </a:p>
          <a:p>
            <a:r>
              <a:t> Adolescents have an increased caloric need due to rapid growth. For most </a:t>
            </a:r>
          </a:p>
          <a:p>
            <a:r>
              <a:t>adolescent boys, 2,800 calories per day &amp; girls, 2,200 kcal/kg/day is </a:t>
            </a:r>
          </a:p>
          <a:p>
            <a:r>
              <a:t>recommended (AAP, 2011) </a:t>
            </a:r>
          </a:p>
          <a:p>
            <a:r>
              <a:t> Caloric Requirements (Approximate) </a:t>
            </a:r>
          </a:p>
          <a:p>
            <a:r>
              <a:t> Preterm Infants 120 Kcal/kg/day </a:t>
            </a:r>
          </a:p>
          <a:p>
            <a:r>
              <a:t> Infants 100 Kcal/kg/day </a:t>
            </a:r>
          </a:p>
          <a:p>
            <a:r>
              <a:t> Young Child 80 Kcal/kg/day (1-10year) </a:t>
            </a:r>
          </a:p>
          <a:p>
            <a:r>
              <a:t> Older Child 60 Kcal/kg/day </a:t>
            </a:r>
          </a:p>
          <a:p>
            <a:r>
              <a:t>There are three type of milk each cup (200ml) contain: </a:t>
            </a:r>
          </a:p>
          <a:p>
            <a:r>
              <a:t>1. Whole fat milk ( 8gm fat , 12gm carbohydrate and 8gm protein)= 150kcal </a:t>
            </a:r>
          </a:p>
          <a:p>
            <a:r>
              <a:t>2. Low fat milk    ( 5gm fat , 12gm carbohydrate and 8gm protein)= 120kcal </a:t>
            </a:r>
          </a:p>
          <a:p>
            <a:r>
              <a:t>3. Free fat milk (skimmed) (1gm fat , 12gm carbohydrate and 8gm protein)= </a:t>
            </a:r>
          </a:p>
          <a:p>
            <a:r>
              <a:t>90kcal </a:t>
            </a:r>
          </a:p>
          <a:p>
            <a:r>
              <a:t> skim milk and low-fat milk must not be used for infant because they are </a:t>
            </a:r>
          </a:p>
          <a:p>
            <a:r>
              <a:t>deficient in caloric concentration, significantly increase the renal solute load </a:t>
            </a:r>
          </a:p>
          <a:p>
            <a:r>
              <a:t>and water demands, and deprive the body of essential fatty acids </a:t>
            </a:r>
          </a:p>
          <a:p>
            <a:r>
              <a:t>(Hockenberry &amp; Wilson, 2015). </a:t>
            </a:r>
          </a:p>
          <a:p>
            <a:r>
              <a:t> Low-fat (2%) cow's milk can be given to children over 2 years of age. Skim </a:t>
            </a:r>
          </a:p>
          <a:p>
            <a:r>
              <a:t>milk (no fat) is not recommended unless there is a specific medical condition, </a:t>
            </a:r>
          </a:p>
          <a:p>
            <a:r>
              <a:t>such as hypercholesterolemia.  </a:t>
            </a:r>
          </a:p>
          <a:p>
            <a:r>
              <a:t> Whole Cow's milk is appropriate to be introduced to infants over 12 months. </a:t>
            </a:r>
          </a:p>
          <a:p>
            <a:r>
              <a:t> Cow's milk has lower iron content and higher levels of protein, sodium, </a:t>
            </a:r>
          </a:p>
          <a:p>
            <a:r>
              <a:t>potassium, phosphorus and calcium than human milk or formula therefore it's </a:t>
            </a:r>
          </a:p>
          <a:p>
            <a:r>
              <a:t>not recommended for less than 1 year child.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Fluid Maintenance &amp; IV Calories Requirement                      88 </a:t>
            </a:r>
          </a:p>
          <a:p>
            <a:r>
              <a:t> Fat, carbohydrate and protein provide energy, which is measured in </a:t>
            </a:r>
          </a:p>
          <a:p>
            <a:r>
              <a:t>kilocalories. Fat contributes 50% of the total energy in breast milk or standard </a:t>
            </a:r>
          </a:p>
          <a:p>
            <a:r>
              <a:t>infant formula. The average diet of older children provides 30–40% of total </a:t>
            </a:r>
          </a:p>
          <a:p>
            <a:r>
              <a:t>energy from fat, 45–55% from carbohydrate and about 15% from protein </a:t>
            </a:r>
          </a:p>
          <a:p>
            <a:r>
              <a:t>(South &amp; Isaacs, 2012).  </a:t>
            </a:r>
          </a:p>
          <a:p>
            <a:r>
              <a:t> On average, carbohydrates and protein contain 4 calories per gram, fats </a:t>
            </a:r>
          </a:p>
          <a:p>
            <a:r>
              <a:t>contain 9 calories per gram </a:t>
            </a:r>
          </a:p>
          <a:p>
            <a:r>
              <a:t>An infant (birth-6 months) of age requires 110 to 120 calories per kg /day. </a:t>
            </a:r>
          </a:p>
          <a:p>
            <a:r>
              <a:t> After 6 months of age, this amount gradually declines until the requirement at </a:t>
            </a:r>
          </a:p>
          <a:p>
            <a:r>
              <a:t>1 year is 100 kcal/kg per day. In contrast, the adult requirement is 42 kcal/kg </a:t>
            </a:r>
          </a:p>
          <a:p>
            <a:r>
              <a:t>per day. </a:t>
            </a:r>
          </a:p>
          <a:p>
            <a:r>
              <a:t> Adolescents have an increased caloric need due to rapid growth. For most </a:t>
            </a:r>
          </a:p>
          <a:p>
            <a:r>
              <a:t>adolescent boys, 2,800 calories per day &amp; girls, 2,200 kcal/kg/day is </a:t>
            </a:r>
          </a:p>
          <a:p>
            <a:r>
              <a:t>recommended (AAP, 2011) </a:t>
            </a:r>
          </a:p>
          <a:p>
            <a:r>
              <a:t> Caloric Requirements (Approximate) </a:t>
            </a:r>
          </a:p>
          <a:p>
            <a:r>
              <a:t> Preterm Infants 120 Kcal/kg/day </a:t>
            </a:r>
          </a:p>
          <a:p>
            <a:r>
              <a:t> Infants 100 Kcal/kg/day </a:t>
            </a:r>
          </a:p>
          <a:p>
            <a:r>
              <a:t> Young Child 80 Kcal/kg/day (1-10year) </a:t>
            </a:r>
          </a:p>
          <a:p>
            <a:r>
              <a:t> Older Child 60 Kcal/kg/day </a:t>
            </a:r>
          </a:p>
          <a:p>
            <a:r>
              <a:t>There are three type of milk each cup (200ml) contain: </a:t>
            </a:r>
          </a:p>
          <a:p>
            <a:r>
              <a:t>1. Whole fat milk ( 8gm fat , 12gm carbohydrate and 8gm protein)= 150kcal </a:t>
            </a:r>
          </a:p>
          <a:p>
            <a:r>
              <a:t>2. Low fat milk    ( 5gm fat , 12gm carbohydrate and 8gm protein)= 120kcal </a:t>
            </a:r>
          </a:p>
          <a:p>
            <a:r>
              <a:t>3. Free fat milk (skimmed) (1gm fat , 12gm carbohydrate and 8gm protein)= </a:t>
            </a:r>
          </a:p>
          <a:p>
            <a:r>
              <a:t>90kcal </a:t>
            </a:r>
          </a:p>
          <a:p>
            <a:r>
              <a:t> skim milk and low-fat milk must not be used for infant because they are </a:t>
            </a:r>
          </a:p>
          <a:p>
            <a:r>
              <a:t>deficient in caloric concentration, significantly increase the renal solute load </a:t>
            </a:r>
          </a:p>
          <a:p>
            <a:r>
              <a:t>and water demands, and deprive the body of essential fatty acids </a:t>
            </a:r>
          </a:p>
          <a:p>
            <a:r>
              <a:t>(Hockenberry &amp; Wilson, 2015). </a:t>
            </a:r>
          </a:p>
          <a:p>
            <a:r>
              <a:t> Low-fat (2%) cow's milk can be given to children over 2 years of age. Skim </a:t>
            </a:r>
          </a:p>
          <a:p>
            <a:r>
              <a:t>milk (no fat) is not recommended unless there is a specific medical condition, </a:t>
            </a:r>
          </a:p>
          <a:p>
            <a:r>
              <a:t>such as hypercholesterolemia.  </a:t>
            </a:r>
          </a:p>
          <a:p>
            <a:r>
              <a:t> Whole Cow's milk is appropriate to be introduced to infants over 12 months. </a:t>
            </a:r>
          </a:p>
          <a:p>
            <a:r>
              <a:t> Cow's milk has lower iron content and higher levels of protein, sodium, </a:t>
            </a:r>
          </a:p>
          <a:p>
            <a:r>
              <a:t>potassium, phosphorus and calcium than human milk or formula therefore it's </a:t>
            </a:r>
          </a:p>
          <a:p>
            <a:r>
              <a:t>not recommended for less than 1 year child.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Fluid Maintenance &amp; IV Calories Requirement                      89 </a:t>
            </a:r>
          </a:p>
          <a:p>
            <a:r>
              <a:t>Calculating a Formula’s Adequacy </a:t>
            </a:r>
          </a:p>
          <a:p>
            <a:r>
              <a:t> A quick rule of thumb to estimate how much an infant will drink at a feeding </a:t>
            </a:r>
          </a:p>
          <a:p>
            <a:r>
              <a:t>is to add 2 or 3 to the infant’s age in months. After initially taking 0.5 to 1 oz </a:t>
            </a:r>
          </a:p>
          <a:p>
            <a:r>
              <a:t>for the first 2 days, a newborn (0 age) will take 2 to 3 oz each feeding; a 3- </a:t>
            </a:r>
          </a:p>
          <a:p>
            <a:r>
              <a:t>month-old child, 5 to 6 oz (Pillitteri, 2010). </a:t>
            </a:r>
          </a:p>
          <a:p>
            <a:r>
              <a:t>* Both commercial formulas and breast milk contain 20 calories/oz. </a:t>
            </a:r>
          </a:p>
          <a:p>
            <a:r>
              <a:t>*The total fluid ingested for the infant: 75 to 90 mL (2.5 to 3 oz) / lb per day.  </a:t>
            </a:r>
          </a:p>
          <a:p>
            <a:r>
              <a:t>*1 kg = 2.2 lb </a:t>
            </a:r>
          </a:p>
          <a:p>
            <a:r>
              <a:t>e.g. infant (10kg=22 lb) take 55-66 oz =&gt;  (55-66 oz/day × 20kcal = 1100-</a:t>
            </a:r>
          </a:p>
          <a:p>
            <a:r>
              <a:t>1320kcal/day)  </a:t>
            </a:r>
          </a:p>
          <a:p>
            <a:r>
              <a:t>References: </a:t>
            </a:r>
          </a:p>
          <a:p>
            <a:r>
              <a:t>Hockenberry, M. J., &amp; Wilson, D. (2015). Wong’s nursing care of infants and </a:t>
            </a:r>
          </a:p>
          <a:p>
            <a:r>
              <a:t>children (10th ed.). St. Louis, Missouri: Mosby, an imprint of Elsevier </a:t>
            </a:r>
          </a:p>
          <a:p>
            <a:r>
              <a:t>Inc.p.p(283) </a:t>
            </a:r>
          </a:p>
          <a:p>
            <a:r>
              <a:t>Lippincott, W. (2012). Pediatric Facts made Incredibly Quick! TM. Lippincott </a:t>
            </a:r>
          </a:p>
          <a:p>
            <a:r>
              <a:t>Williams &amp; Wilkins.p.p( 79) </a:t>
            </a:r>
          </a:p>
          <a:p>
            <a:r>
              <a:t>Pillitteri, A. (2010). Maternal &amp; Child Health Nursing: Care of the Childbearing </a:t>
            </a:r>
          </a:p>
          <a:p>
            <a:r>
              <a:t>&amp; Childrearing Family (6th edition).p.p(786) </a:t>
            </a:r>
          </a:p>
          <a:p>
            <a:r>
              <a:t>South, M., &amp; Isaacs, D. (2012). Practical Paediatrics (Seventh Ed). Churchill </a:t>
            </a:r>
          </a:p>
          <a:p>
            <a:r>
              <a:t>livingstone elsevier.p.p(62,222,227)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Fluid Maintenance &amp; IV Calories Requirement                      89 </a:t>
            </a:r>
          </a:p>
          <a:p>
            <a:r>
              <a:t>Calculating a Formula’s Adequacy </a:t>
            </a:r>
          </a:p>
          <a:p>
            <a:r>
              <a:t> A quick rule of thumb to estimate how much an infant will drink at a feeding </a:t>
            </a:r>
          </a:p>
          <a:p>
            <a:r>
              <a:t>is to add 2 or 3 to the infant’s age in months. After initially taking 0.5 to 1 oz </a:t>
            </a:r>
          </a:p>
          <a:p>
            <a:r>
              <a:t>for the first 2 days, a newborn (0 age) will take 2 to 3 oz each feeding; a 3- </a:t>
            </a:r>
          </a:p>
          <a:p>
            <a:r>
              <a:t>month-old child, 5 to 6 oz (Pillitteri, 2010). </a:t>
            </a:r>
          </a:p>
          <a:p>
            <a:r>
              <a:t>* Both commercial formulas and breast milk contain 20 calories/oz. </a:t>
            </a:r>
          </a:p>
          <a:p>
            <a:r>
              <a:t>*The total fluid ingested for the infant: 75 to 90 mL (2.5 to 3 oz) / lb per day.  </a:t>
            </a:r>
          </a:p>
          <a:p>
            <a:r>
              <a:t>*1 kg = 2.2 lb </a:t>
            </a:r>
          </a:p>
          <a:p>
            <a:r>
              <a:t>e.g. infant (10kg=22 lb) take 55-66 oz =&gt;  (55-66 oz/day × 20kcal = 1100-</a:t>
            </a:r>
          </a:p>
          <a:p>
            <a:r>
              <a:t>1320kcal/day)  </a:t>
            </a:r>
          </a:p>
          <a:p>
            <a:r>
              <a:t>References: </a:t>
            </a:r>
          </a:p>
          <a:p>
            <a:r>
              <a:t>Hockenberry, M. J., &amp; Wilson, D. (2015). Wong’s nursing care of infants and </a:t>
            </a:r>
          </a:p>
          <a:p>
            <a:r>
              <a:t>children (10th ed.). St. Louis, Missouri: Mosby, an imprint of Elsevier </a:t>
            </a:r>
          </a:p>
          <a:p>
            <a:r>
              <a:t>Inc.p.p(283) </a:t>
            </a:r>
          </a:p>
          <a:p>
            <a:r>
              <a:t>Lippincott, W. (2012). Pediatric Facts made Incredibly Quick! TM. Lippincott </a:t>
            </a:r>
          </a:p>
          <a:p>
            <a:r>
              <a:t>Williams &amp; Wilkins.p.p( 79) </a:t>
            </a:r>
          </a:p>
          <a:p>
            <a:r>
              <a:t>Pillitteri, A. (2010). Maternal &amp; Child Health Nursing: Care of the Childbearing </a:t>
            </a:r>
          </a:p>
          <a:p>
            <a:r>
              <a:t>&amp; Childrearing Family (6th edition).p.p(786) </a:t>
            </a:r>
          </a:p>
          <a:p>
            <a:r>
              <a:t>South, M., &amp; Isaacs, D. (2012). Practical Paediatrics (Seventh Ed). Churchill </a:t>
            </a:r>
          </a:p>
          <a:p>
            <a:r>
              <a:t>livingstone elsevier.p.p(62,222,227)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90 </a:t>
            </a:r>
          </a:p>
          <a:p>
            <a:r>
              <a:t>Oxygen Therapy </a:t>
            </a:r>
          </a:p>
          <a:p>
            <a:r>
              <a:t> </a:t>
            </a:r>
          </a:p>
          <a:p>
            <a:r>
              <a:t>Objective: </a:t>
            </a:r>
          </a:p>
          <a:p>
            <a:r>
              <a:t>By the end of this chapter, the student nurse will be able to: </a:t>
            </a:r>
          </a:p>
          <a:p>
            <a:r>
              <a:t>1- Define oxygen therapy. </a:t>
            </a:r>
          </a:p>
          <a:p>
            <a:r>
              <a:t>2- List the purposes of oxygen therapy. </a:t>
            </a:r>
          </a:p>
          <a:p>
            <a:r>
              <a:t>3- Identify indications of oxygen therapy. </a:t>
            </a:r>
          </a:p>
          <a:p>
            <a:r>
              <a:t>4- List different methods of oxygen therapy. </a:t>
            </a:r>
          </a:p>
          <a:p>
            <a:r>
              <a:t>5- List the equipment required for oxygen therapy. </a:t>
            </a:r>
          </a:p>
          <a:p>
            <a:r>
              <a:t>6- Perform an appropriate technique for each method.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Introduction: </a:t>
            </a:r>
          </a:p>
          <a:p>
            <a:r>
              <a:t>Oxygen is an essential body requirement for any energy consumption, </a:t>
            </a:r>
          </a:p>
          <a:p>
            <a:r>
              <a:t>activity or function. Hypoxemia resulting from apnea or inadequate ventilation </a:t>
            </a:r>
          </a:p>
          <a:p>
            <a:r>
              <a:t>and it occurs more rapidly in children than in adults because of children's higher </a:t>
            </a:r>
          </a:p>
          <a:p>
            <a:r>
              <a:t>metabolic rate and increase oxygen consumption.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91 </a:t>
            </a:r>
          </a:p>
          <a:p>
            <a:r>
              <a:t>Definition: </a:t>
            </a:r>
          </a:p>
          <a:p>
            <a:r>
              <a:t>It is a type of treatment given to patient with acute or chronic respiratory </a:t>
            </a:r>
          </a:p>
          <a:p>
            <a:r>
              <a:t>diseases or ventilation failure as a lifesaving. </a:t>
            </a:r>
          </a:p>
          <a:p>
            <a:r>
              <a:t>Purpose: </a:t>
            </a:r>
          </a:p>
          <a:p>
            <a:r>
              <a:t>1. To prevent hypoxemia by adequate transport of oxygen in blood in patients with </a:t>
            </a:r>
          </a:p>
          <a:p>
            <a:r>
              <a:t>pulmonary diseases </a:t>
            </a:r>
          </a:p>
          <a:p>
            <a:r>
              <a:t>2. Provide adequate tissue oxygenation for problems associated with </a:t>
            </a:r>
          </a:p>
          <a:p>
            <a:r>
              <a:t>3. Reduced oxygen carrying capacity of blood </a:t>
            </a:r>
          </a:p>
          <a:p>
            <a:r>
              <a:t>4. Decreased cardiac output </a:t>
            </a:r>
          </a:p>
          <a:p>
            <a:r>
              <a:t>5. Hypoventilation </a:t>
            </a:r>
          </a:p>
          <a:p>
            <a:r>
              <a:t>6. Increased metabolism </a:t>
            </a:r>
          </a:p>
          <a:p>
            <a:r>
              <a:t> </a:t>
            </a:r>
          </a:p>
          <a:p>
            <a:r>
              <a:t>Indication: </a:t>
            </a:r>
          </a:p>
          <a:p>
            <a:r>
              <a:t>1- Decrease environmental oxygen: </a:t>
            </a:r>
          </a:p>
          <a:p>
            <a:r>
              <a:t> Inhalation of non-physical gas mixture. </a:t>
            </a:r>
          </a:p>
          <a:p>
            <a:r>
              <a:t>2- Impaired alveolar ventilation: </a:t>
            </a:r>
          </a:p>
          <a:p>
            <a:r>
              <a:t> Severe airway obstruction (upper or lower). </a:t>
            </a:r>
          </a:p>
          <a:p>
            <a:r>
              <a:t> Severe lung pathology (pneumonia, pulmonary edema). </a:t>
            </a:r>
          </a:p>
          <a:p>
            <a:r>
              <a:t> Severe respiratory weakness (C.N.S depression, respiratory muscles </a:t>
            </a:r>
          </a:p>
          <a:p>
            <a:r>
              <a:t>paralysis). </a:t>
            </a:r>
          </a:p>
          <a:p>
            <a:r>
              <a:t>3- Abnormal pulmonary blood flow: </a:t>
            </a:r>
          </a:p>
          <a:p>
            <a:r>
              <a:t> Persistant fetal circulation. </a:t>
            </a:r>
          </a:p>
          <a:p>
            <a:r>
              <a:t> Acute pulmonary hypertension. </a:t>
            </a:r>
          </a:p>
          <a:p>
            <a:r>
              <a:t>4- Decreased oxygen carrying capacity (low hemoglobin): </a:t>
            </a:r>
          </a:p>
          <a:p>
            <a:r>
              <a:t> Acute haemolytic anemia. </a:t>
            </a:r>
          </a:p>
          <a:p>
            <a:r>
              <a:t> Acute blood loss. </a:t>
            </a:r>
          </a:p>
          <a:p>
            <a:r>
              <a:t>5- Poor tissue perfusion: </a:t>
            </a:r>
          </a:p>
          <a:p>
            <a:r>
              <a:t> Shock state. </a:t>
            </a:r>
          </a:p>
          <a:p>
            <a:r>
              <a:t>6- Acute brain insult: </a:t>
            </a:r>
          </a:p>
          <a:p>
            <a:r>
              <a:t> Convulsion – coma – increase intracranial pressure. </a:t>
            </a:r>
          </a:p>
          <a:p>
            <a:r>
              <a:t>Types: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1- High flow rate </a:t>
            </a:r>
          </a:p>
          <a:p>
            <a:r>
              <a:t>- 13-15L/min. </a:t>
            </a:r>
          </a:p>
          <a:p>
            <a:r>
              <a:t>- 60-80% </a:t>
            </a:r>
          </a:p>
          <a:p>
            <a:r>
              <a:t>2- Low flow rate </a:t>
            </a:r>
          </a:p>
          <a:p>
            <a:r>
              <a:t>- 1-13L/min. </a:t>
            </a:r>
          </a:p>
          <a:p>
            <a:r>
              <a:t>- 40-60%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91 </a:t>
            </a:r>
          </a:p>
          <a:p>
            <a:r>
              <a:t>Definition: </a:t>
            </a:r>
          </a:p>
          <a:p>
            <a:r>
              <a:t>It is a type of treatment given to patient with acute or chronic respiratory </a:t>
            </a:r>
          </a:p>
          <a:p>
            <a:r>
              <a:t>diseases or ventilation failure as a lifesaving. </a:t>
            </a:r>
          </a:p>
          <a:p>
            <a:r>
              <a:t>Purpose: </a:t>
            </a:r>
          </a:p>
          <a:p>
            <a:r>
              <a:t>1. To prevent hypoxemia by adequate transport of oxygen in blood in patients with </a:t>
            </a:r>
          </a:p>
          <a:p>
            <a:r>
              <a:t>pulmonary diseases </a:t>
            </a:r>
          </a:p>
          <a:p>
            <a:r>
              <a:t>2. Provide adequate tissue oxygenation for problems associated with </a:t>
            </a:r>
          </a:p>
          <a:p>
            <a:r>
              <a:t>3. Reduced oxygen carrying capacity of blood </a:t>
            </a:r>
          </a:p>
          <a:p>
            <a:r>
              <a:t>4. Decreased cardiac output </a:t>
            </a:r>
          </a:p>
          <a:p>
            <a:r>
              <a:t>5. Hypoventilation </a:t>
            </a:r>
          </a:p>
          <a:p>
            <a:r>
              <a:t>6. Increased metabolism </a:t>
            </a:r>
          </a:p>
          <a:p>
            <a:r>
              <a:t> </a:t>
            </a:r>
          </a:p>
          <a:p>
            <a:r>
              <a:t>Indication: </a:t>
            </a:r>
          </a:p>
          <a:p>
            <a:r>
              <a:t>1- Decrease environmental oxygen: </a:t>
            </a:r>
          </a:p>
          <a:p>
            <a:r>
              <a:t> Inhalation of non-physical gas mixture. </a:t>
            </a:r>
          </a:p>
          <a:p>
            <a:r>
              <a:t>2- Impaired alveolar ventilation: </a:t>
            </a:r>
          </a:p>
          <a:p>
            <a:r>
              <a:t> Severe airway obstruction (upper or lower). </a:t>
            </a:r>
          </a:p>
          <a:p>
            <a:r>
              <a:t> Severe lung pathology (pneumonia, pulmonary edema). </a:t>
            </a:r>
          </a:p>
          <a:p>
            <a:r>
              <a:t> Severe respiratory weakness (C.N.S depression, respiratory muscles </a:t>
            </a:r>
          </a:p>
          <a:p>
            <a:r>
              <a:t>paralysis). </a:t>
            </a:r>
          </a:p>
          <a:p>
            <a:r>
              <a:t>3- Abnormal pulmonary blood flow: </a:t>
            </a:r>
          </a:p>
          <a:p>
            <a:r>
              <a:t> Persistant fetal circulation. </a:t>
            </a:r>
          </a:p>
          <a:p>
            <a:r>
              <a:t> Acute pulmonary hypertension. </a:t>
            </a:r>
          </a:p>
          <a:p>
            <a:r>
              <a:t>4- Decreased oxygen carrying capacity (low hemoglobin): </a:t>
            </a:r>
          </a:p>
          <a:p>
            <a:r>
              <a:t> Acute haemolytic anemia. </a:t>
            </a:r>
          </a:p>
          <a:p>
            <a:r>
              <a:t> Acute blood loss. </a:t>
            </a:r>
          </a:p>
          <a:p>
            <a:r>
              <a:t>5- Poor tissue perfusion: </a:t>
            </a:r>
          </a:p>
          <a:p>
            <a:r>
              <a:t> Shock state. </a:t>
            </a:r>
          </a:p>
          <a:p>
            <a:r>
              <a:t>6- Acute brain insult: </a:t>
            </a:r>
          </a:p>
          <a:p>
            <a:r>
              <a:t> Convulsion – coma – increase intracranial pressure. </a:t>
            </a:r>
          </a:p>
          <a:p>
            <a:r>
              <a:t>Types: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1- High flow rate </a:t>
            </a:r>
          </a:p>
          <a:p>
            <a:r>
              <a:t>- 13-15L/min. </a:t>
            </a:r>
          </a:p>
          <a:p>
            <a:r>
              <a:t>- 60-80% </a:t>
            </a:r>
          </a:p>
          <a:p>
            <a:r>
              <a:t>2- Low flow rate </a:t>
            </a:r>
          </a:p>
          <a:p>
            <a:r>
              <a:t>- 1-13L/min. </a:t>
            </a:r>
          </a:p>
          <a:p>
            <a:r>
              <a:t>- 40-60%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91 </a:t>
            </a:r>
          </a:p>
          <a:p>
            <a:r>
              <a:t>Definition: </a:t>
            </a:r>
          </a:p>
          <a:p>
            <a:r>
              <a:t>It is a type of treatment given to patient with acute or chronic respiratory </a:t>
            </a:r>
          </a:p>
          <a:p>
            <a:r>
              <a:t>diseases or ventilation failure as a lifesaving. </a:t>
            </a:r>
          </a:p>
          <a:p>
            <a:r>
              <a:t>Purpose: </a:t>
            </a:r>
          </a:p>
          <a:p>
            <a:r>
              <a:t>1. To prevent hypoxemia by adequate transport of oxygen in blood in patients with </a:t>
            </a:r>
          </a:p>
          <a:p>
            <a:r>
              <a:t>pulmonary diseases </a:t>
            </a:r>
          </a:p>
          <a:p>
            <a:r>
              <a:t>2. Provide adequate tissue oxygenation for problems associated with </a:t>
            </a:r>
          </a:p>
          <a:p>
            <a:r>
              <a:t>3. Reduced oxygen carrying capacity of blood </a:t>
            </a:r>
          </a:p>
          <a:p>
            <a:r>
              <a:t>4. Decreased cardiac output </a:t>
            </a:r>
          </a:p>
          <a:p>
            <a:r>
              <a:t>5. Hypoventilation </a:t>
            </a:r>
          </a:p>
          <a:p>
            <a:r>
              <a:t>6. Increased metabolism </a:t>
            </a:r>
          </a:p>
          <a:p>
            <a:r>
              <a:t> </a:t>
            </a:r>
          </a:p>
          <a:p>
            <a:r>
              <a:t>Indication: </a:t>
            </a:r>
          </a:p>
          <a:p>
            <a:r>
              <a:t>1- Decrease environmental oxygen: </a:t>
            </a:r>
          </a:p>
          <a:p>
            <a:r>
              <a:t> Inhalation of non-physical gas mixture. </a:t>
            </a:r>
          </a:p>
          <a:p>
            <a:r>
              <a:t>2- Impaired alveolar ventilation: </a:t>
            </a:r>
          </a:p>
          <a:p>
            <a:r>
              <a:t> Severe airway obstruction (upper or lower). </a:t>
            </a:r>
          </a:p>
          <a:p>
            <a:r>
              <a:t> Severe lung pathology (pneumonia, pulmonary edema). </a:t>
            </a:r>
          </a:p>
          <a:p>
            <a:r>
              <a:t> Severe respiratory weakness (C.N.S depression, respiratory muscles </a:t>
            </a:r>
          </a:p>
          <a:p>
            <a:r>
              <a:t>paralysis). </a:t>
            </a:r>
          </a:p>
          <a:p>
            <a:r>
              <a:t>3- Abnormal pulmonary blood flow: </a:t>
            </a:r>
          </a:p>
          <a:p>
            <a:r>
              <a:t> Persistant fetal circulation. </a:t>
            </a:r>
          </a:p>
          <a:p>
            <a:r>
              <a:t> Acute pulmonary hypertension. </a:t>
            </a:r>
          </a:p>
          <a:p>
            <a:r>
              <a:t>4- Decreased oxygen carrying capacity (low hemoglobin): </a:t>
            </a:r>
          </a:p>
          <a:p>
            <a:r>
              <a:t> Acute haemolytic anemia. </a:t>
            </a:r>
          </a:p>
          <a:p>
            <a:r>
              <a:t> Acute blood loss. </a:t>
            </a:r>
          </a:p>
          <a:p>
            <a:r>
              <a:t>5- Poor tissue perfusion: </a:t>
            </a:r>
          </a:p>
          <a:p>
            <a:r>
              <a:t> Shock state. </a:t>
            </a:r>
          </a:p>
          <a:p>
            <a:r>
              <a:t>6- Acute brain insult: </a:t>
            </a:r>
          </a:p>
          <a:p>
            <a:r>
              <a:t> Convulsion – coma – increase intracranial pressure. </a:t>
            </a:r>
          </a:p>
          <a:p>
            <a:r>
              <a:t>Types: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1- High flow rate </a:t>
            </a:r>
          </a:p>
          <a:p>
            <a:r>
              <a:t>- 13-15L/min. </a:t>
            </a:r>
          </a:p>
          <a:p>
            <a:r>
              <a:t>- 60-80% </a:t>
            </a:r>
          </a:p>
          <a:p>
            <a:r>
              <a:t>2- Low flow rate </a:t>
            </a:r>
          </a:p>
          <a:p>
            <a:r>
              <a:t>- 1-13L/min. </a:t>
            </a:r>
          </a:p>
          <a:p>
            <a:r>
              <a:t>- 40-60%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92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Methods: </a:t>
            </a:r>
          </a:p>
          <a:p>
            <a:r>
              <a:t>1- Simple face mask.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2- Nasal cannula. </a:t>
            </a:r>
          </a:p>
          <a:p>
            <a:r>
              <a:t>3- Hood (head box).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4- Mist tent. </a:t>
            </a:r>
          </a:p>
          <a:p>
            <a:r>
              <a:t>5- Incubator.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6- Ambo bag. </a:t>
            </a:r>
          </a:p>
          <a:p>
            <a:r>
              <a:t>7- Venturi mask (T. tube). </a:t>
            </a:r>
          </a:p>
          <a:p>
            <a:r>
              <a:t> </a:t>
            </a:r>
          </a:p>
          <a:p>
            <a:r>
              <a:t>1- Simple face mask </a:t>
            </a:r>
          </a:p>
          <a:p>
            <a:r>
              <a:t>Advantages: </a:t>
            </a:r>
          </a:p>
          <a:p>
            <a:r>
              <a:t> Available in wide variety of size. </a:t>
            </a:r>
          </a:p>
          <a:p>
            <a:r>
              <a:t> Suitable for all ages. </a:t>
            </a:r>
          </a:p>
          <a:p>
            <a:r>
              <a:t> Maximum flow rate 5-10L/m. </a:t>
            </a:r>
          </a:p>
          <a:p>
            <a:r>
              <a:t> Ability to provide predictable concentration of oxygen whether child </a:t>
            </a:r>
          </a:p>
          <a:p>
            <a:r>
              <a:t>breathes through nose or mouth. </a:t>
            </a:r>
          </a:p>
          <a:p>
            <a:r>
              <a:t>Disadvantage: </a:t>
            </a:r>
          </a:p>
          <a:p>
            <a:r>
              <a:t> Child may not tolerate the mask. </a:t>
            </a:r>
          </a:p>
          <a:p>
            <a:r>
              <a:t> Not suitable for long term therapy. </a:t>
            </a:r>
          </a:p>
          <a:p>
            <a:r>
              <a:t> The O2 concentration is depend on the security of  </a:t>
            </a:r>
          </a:p>
          <a:p>
            <a:r>
              <a:t> Eating talking disrupts oxygen delivery. </a:t>
            </a:r>
          </a:p>
          <a:p>
            <a:r>
              <a:t> </a:t>
            </a:r>
          </a:p>
          <a:p>
            <a:r>
              <a:t>2- Nasal Cannula </a:t>
            </a:r>
          </a:p>
          <a:p>
            <a:r>
              <a:t>Advantages: </a:t>
            </a:r>
          </a:p>
          <a:p>
            <a:r>
              <a:t> Suitable for all ages. </a:t>
            </a:r>
          </a:p>
          <a:p>
            <a:r>
              <a:t> Prongs allow considerable mobility. </a:t>
            </a:r>
          </a:p>
          <a:p>
            <a:r>
              <a:t> Doesn't distort child visual field. </a:t>
            </a:r>
          </a:p>
          <a:p>
            <a:r>
              <a:t> Flow rate 1-5L/m. </a:t>
            </a:r>
          </a:p>
          <a:p>
            <a:r>
              <a:t>O2 per face mask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92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Methods: </a:t>
            </a:r>
          </a:p>
          <a:p>
            <a:r>
              <a:t>1- Simple face mask.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2- Nasal cannula. </a:t>
            </a:r>
          </a:p>
          <a:p>
            <a:r>
              <a:t>3- Hood (head box).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4- Mist tent. </a:t>
            </a:r>
          </a:p>
          <a:p>
            <a:r>
              <a:t>5- Incubator.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6- Ambo bag. </a:t>
            </a:r>
          </a:p>
          <a:p>
            <a:r>
              <a:t>7- Venturi mask (T. tube). </a:t>
            </a:r>
          </a:p>
          <a:p>
            <a:r>
              <a:t> </a:t>
            </a:r>
          </a:p>
          <a:p>
            <a:r>
              <a:t>1- Simple face mask </a:t>
            </a:r>
          </a:p>
          <a:p>
            <a:r>
              <a:t>Advantages: </a:t>
            </a:r>
          </a:p>
          <a:p>
            <a:r>
              <a:t> Available in wide variety of size. </a:t>
            </a:r>
          </a:p>
          <a:p>
            <a:r>
              <a:t> Suitable for all ages. </a:t>
            </a:r>
          </a:p>
          <a:p>
            <a:r>
              <a:t> Maximum flow rate 5-10L/m. </a:t>
            </a:r>
          </a:p>
          <a:p>
            <a:r>
              <a:t> Ability to provide predictable concentration of oxygen whether child </a:t>
            </a:r>
          </a:p>
          <a:p>
            <a:r>
              <a:t>breathes through nose or mouth. </a:t>
            </a:r>
          </a:p>
          <a:p>
            <a:r>
              <a:t>Disadvantage: </a:t>
            </a:r>
          </a:p>
          <a:p>
            <a:r>
              <a:t> Child may not tolerate the mask. </a:t>
            </a:r>
          </a:p>
          <a:p>
            <a:r>
              <a:t> Not suitable for long term therapy. </a:t>
            </a:r>
          </a:p>
          <a:p>
            <a:r>
              <a:t> The O2 concentration is depend on the security of  </a:t>
            </a:r>
          </a:p>
          <a:p>
            <a:r>
              <a:t> Eating talking disrupts oxygen delivery. </a:t>
            </a:r>
          </a:p>
          <a:p>
            <a:r>
              <a:t> </a:t>
            </a:r>
          </a:p>
          <a:p>
            <a:r>
              <a:t>2- Nasal Cannula </a:t>
            </a:r>
          </a:p>
          <a:p>
            <a:r>
              <a:t>Advantages: </a:t>
            </a:r>
          </a:p>
          <a:p>
            <a:r>
              <a:t> Suitable for all ages. </a:t>
            </a:r>
          </a:p>
          <a:p>
            <a:r>
              <a:t> Prongs allow considerable mobility. </a:t>
            </a:r>
          </a:p>
          <a:p>
            <a:r>
              <a:t> Doesn't distort child visual field. </a:t>
            </a:r>
          </a:p>
          <a:p>
            <a:r>
              <a:t> Flow rate 1-5L/m. </a:t>
            </a:r>
          </a:p>
          <a:p>
            <a:r>
              <a:t>O2 per face mask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92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Methods: </a:t>
            </a:r>
          </a:p>
          <a:p>
            <a:r>
              <a:t>1- Simple face mask.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2- Nasal cannula. </a:t>
            </a:r>
          </a:p>
          <a:p>
            <a:r>
              <a:t>3- Hood (head box).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4- Mist tent. </a:t>
            </a:r>
          </a:p>
          <a:p>
            <a:r>
              <a:t>5- Incubator.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6- Ambo bag. </a:t>
            </a:r>
          </a:p>
          <a:p>
            <a:r>
              <a:t>7- Venturi mask (T. tube). </a:t>
            </a:r>
          </a:p>
          <a:p>
            <a:r>
              <a:t> </a:t>
            </a:r>
          </a:p>
          <a:p>
            <a:r>
              <a:t>1- Simple face mask </a:t>
            </a:r>
          </a:p>
          <a:p>
            <a:r>
              <a:t>Advantages: </a:t>
            </a:r>
          </a:p>
          <a:p>
            <a:r>
              <a:t> Available in wide variety of size. </a:t>
            </a:r>
          </a:p>
          <a:p>
            <a:r>
              <a:t> Suitable for all ages. </a:t>
            </a:r>
          </a:p>
          <a:p>
            <a:r>
              <a:t> Maximum flow rate 5-10L/m. </a:t>
            </a:r>
          </a:p>
          <a:p>
            <a:r>
              <a:t> Ability to provide predictable concentration of oxygen whether child </a:t>
            </a:r>
          </a:p>
          <a:p>
            <a:r>
              <a:t>breathes through nose or mouth. </a:t>
            </a:r>
          </a:p>
          <a:p>
            <a:r>
              <a:t>Disadvantage: </a:t>
            </a:r>
          </a:p>
          <a:p>
            <a:r>
              <a:t> Child may not tolerate the mask. </a:t>
            </a:r>
          </a:p>
          <a:p>
            <a:r>
              <a:t> Not suitable for long term therapy. </a:t>
            </a:r>
          </a:p>
          <a:p>
            <a:r>
              <a:t> The O2 concentration is depend on the security of  </a:t>
            </a:r>
          </a:p>
          <a:p>
            <a:r>
              <a:t> Eating talking disrupts oxygen delivery. </a:t>
            </a:r>
          </a:p>
          <a:p>
            <a:r>
              <a:t> </a:t>
            </a:r>
          </a:p>
          <a:p>
            <a:r>
              <a:t>2- Nasal Cannula </a:t>
            </a:r>
          </a:p>
          <a:p>
            <a:r>
              <a:t>Advantages: </a:t>
            </a:r>
          </a:p>
          <a:p>
            <a:r>
              <a:t> Suitable for all ages. </a:t>
            </a:r>
          </a:p>
          <a:p>
            <a:r>
              <a:t> Prongs allow considerable mobility. </a:t>
            </a:r>
          </a:p>
          <a:p>
            <a:r>
              <a:t> Doesn't distort child visual field. </a:t>
            </a:r>
          </a:p>
          <a:p>
            <a:r>
              <a:t> Flow rate 1-5L/m. </a:t>
            </a:r>
          </a:p>
          <a:p>
            <a:r>
              <a:t>O2 per face mask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92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Methods: </a:t>
            </a:r>
          </a:p>
          <a:p>
            <a:r>
              <a:t>1- Simple face mask.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2- Nasal cannula. </a:t>
            </a:r>
          </a:p>
          <a:p>
            <a:r>
              <a:t>3- Hood (head box).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4- Mist tent. </a:t>
            </a:r>
          </a:p>
          <a:p>
            <a:r>
              <a:t>5- Incubator.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6- Ambo bag. </a:t>
            </a:r>
          </a:p>
          <a:p>
            <a:r>
              <a:t>7- Venturi mask (T. tube). </a:t>
            </a:r>
          </a:p>
          <a:p>
            <a:r>
              <a:t> </a:t>
            </a:r>
          </a:p>
          <a:p>
            <a:r>
              <a:t>1- Simple face mask </a:t>
            </a:r>
          </a:p>
          <a:p>
            <a:r>
              <a:t>Advantages: </a:t>
            </a:r>
          </a:p>
          <a:p>
            <a:r>
              <a:t> Available in wide variety of size. </a:t>
            </a:r>
          </a:p>
          <a:p>
            <a:r>
              <a:t> Suitable for all ages. </a:t>
            </a:r>
          </a:p>
          <a:p>
            <a:r>
              <a:t> Maximum flow rate 5-10L/m. </a:t>
            </a:r>
          </a:p>
          <a:p>
            <a:r>
              <a:t> Ability to provide predictable concentration of oxygen whether child </a:t>
            </a:r>
          </a:p>
          <a:p>
            <a:r>
              <a:t>breathes through nose or mouth. </a:t>
            </a:r>
          </a:p>
          <a:p>
            <a:r>
              <a:t>Disadvantage: </a:t>
            </a:r>
          </a:p>
          <a:p>
            <a:r>
              <a:t> Child may not tolerate the mask. </a:t>
            </a:r>
          </a:p>
          <a:p>
            <a:r>
              <a:t> Not suitable for long term therapy. </a:t>
            </a:r>
          </a:p>
          <a:p>
            <a:r>
              <a:t> The O2 concentration is depend on the security of  </a:t>
            </a:r>
          </a:p>
          <a:p>
            <a:r>
              <a:t> Eating talking disrupts oxygen delivery. </a:t>
            </a:r>
          </a:p>
          <a:p>
            <a:r>
              <a:t> </a:t>
            </a:r>
          </a:p>
          <a:p>
            <a:r>
              <a:t>2- Nasal Cannula </a:t>
            </a:r>
          </a:p>
          <a:p>
            <a:r>
              <a:t>Advantages: </a:t>
            </a:r>
          </a:p>
          <a:p>
            <a:r>
              <a:t> Suitable for all ages. </a:t>
            </a:r>
          </a:p>
          <a:p>
            <a:r>
              <a:t> Prongs allow considerable mobility. </a:t>
            </a:r>
          </a:p>
          <a:p>
            <a:r>
              <a:t> Doesn't distort child visual field. </a:t>
            </a:r>
          </a:p>
          <a:p>
            <a:r>
              <a:t> Flow rate 1-5L/m. </a:t>
            </a:r>
          </a:p>
          <a:p>
            <a:r>
              <a:t>O2 per face mask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92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Methods: </a:t>
            </a:r>
          </a:p>
          <a:p>
            <a:r>
              <a:t>1- Simple face mask.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2- Nasal cannula. </a:t>
            </a:r>
          </a:p>
          <a:p>
            <a:r>
              <a:t>3- Hood (head box).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4- Mist tent. </a:t>
            </a:r>
          </a:p>
          <a:p>
            <a:r>
              <a:t>5- Incubator.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6- Ambo bag. </a:t>
            </a:r>
          </a:p>
          <a:p>
            <a:r>
              <a:t>7- Venturi mask (T. tube). </a:t>
            </a:r>
          </a:p>
          <a:p>
            <a:r>
              <a:t> </a:t>
            </a:r>
          </a:p>
          <a:p>
            <a:r>
              <a:t>1- Simple face mask </a:t>
            </a:r>
          </a:p>
          <a:p>
            <a:r>
              <a:t>Advantages: </a:t>
            </a:r>
          </a:p>
          <a:p>
            <a:r>
              <a:t> Available in wide variety of size. </a:t>
            </a:r>
          </a:p>
          <a:p>
            <a:r>
              <a:t> Suitable for all ages. </a:t>
            </a:r>
          </a:p>
          <a:p>
            <a:r>
              <a:t> Maximum flow rate 5-10L/m. </a:t>
            </a:r>
          </a:p>
          <a:p>
            <a:r>
              <a:t> Ability to provide predictable concentration of oxygen whether child </a:t>
            </a:r>
          </a:p>
          <a:p>
            <a:r>
              <a:t>breathes through nose or mouth. </a:t>
            </a:r>
          </a:p>
          <a:p>
            <a:r>
              <a:t>Disadvantage: </a:t>
            </a:r>
          </a:p>
          <a:p>
            <a:r>
              <a:t> Child may not tolerate the mask. </a:t>
            </a:r>
          </a:p>
          <a:p>
            <a:r>
              <a:t> Not suitable for long term therapy. </a:t>
            </a:r>
          </a:p>
          <a:p>
            <a:r>
              <a:t> The O2 concentration is depend on the security of  </a:t>
            </a:r>
          </a:p>
          <a:p>
            <a:r>
              <a:t> Eating talking disrupts oxygen delivery. </a:t>
            </a:r>
          </a:p>
          <a:p>
            <a:r>
              <a:t> </a:t>
            </a:r>
          </a:p>
          <a:p>
            <a:r>
              <a:t>2- Nasal Cannula </a:t>
            </a:r>
          </a:p>
          <a:p>
            <a:r>
              <a:t>Advantages: </a:t>
            </a:r>
          </a:p>
          <a:p>
            <a:r>
              <a:t> Suitable for all ages. </a:t>
            </a:r>
          </a:p>
          <a:p>
            <a:r>
              <a:t> Prongs allow considerable mobility. </a:t>
            </a:r>
          </a:p>
          <a:p>
            <a:r>
              <a:t> Doesn't distort child visual field. </a:t>
            </a:r>
          </a:p>
          <a:p>
            <a:r>
              <a:t> Flow rate 1-5L/m. </a:t>
            </a:r>
          </a:p>
          <a:p>
            <a:r>
              <a:t>O2 per face mask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93 </a:t>
            </a:r>
          </a:p>
          <a:p>
            <a:r>
              <a:t> Provision of constant O2 flow even while child </a:t>
            </a:r>
          </a:p>
          <a:p>
            <a:r>
              <a:t>eats or talks. </a:t>
            </a:r>
          </a:p>
          <a:p>
            <a:r>
              <a:t>Disadvantages: </a:t>
            </a:r>
          </a:p>
          <a:p>
            <a:r>
              <a:t> Young children often resist cannula. </a:t>
            </a:r>
          </a:p>
          <a:p>
            <a:r>
              <a:t> May irritate nasal mucosa. </a:t>
            </a:r>
          </a:p>
          <a:p>
            <a:r>
              <a:t> Restrain may be needed. </a:t>
            </a:r>
          </a:p>
          <a:p>
            <a:r>
              <a:t> Difficulty of controlling O2 concentration if child breaths through mouth. </a:t>
            </a:r>
          </a:p>
          <a:p>
            <a:r>
              <a:t>3- Head box (hood) </a:t>
            </a:r>
          </a:p>
          <a:p>
            <a:r>
              <a:t>Advantages: </a:t>
            </a:r>
          </a:p>
          <a:p>
            <a:r>
              <a:t> Available at any size. </a:t>
            </a:r>
          </a:p>
          <a:p>
            <a:r>
              <a:t> Maximum flow rate (10L/m). </a:t>
            </a:r>
          </a:p>
          <a:p>
            <a:r>
              <a:t> Facial movement isn't restricted. </a:t>
            </a:r>
          </a:p>
          <a:p>
            <a:r>
              <a:t>Disadvantages: </a:t>
            </a:r>
          </a:p>
          <a:p>
            <a:r>
              <a:t> Limit access to the head. </a:t>
            </a:r>
          </a:p>
          <a:p>
            <a:r>
              <a:t> High humidity environment. </a:t>
            </a:r>
          </a:p>
          <a:p>
            <a:r>
              <a:t> Need to remove box during feeding and providing care to patient. </a:t>
            </a:r>
          </a:p>
          <a:p>
            <a:r>
              <a:t> </a:t>
            </a:r>
          </a:p>
          <a:p>
            <a:r>
              <a:t>4- Mist tent </a:t>
            </a:r>
          </a:p>
          <a:p>
            <a:r>
              <a:t>Advantages: </a:t>
            </a:r>
          </a:p>
          <a:p>
            <a:r>
              <a:t> Tent allows older children considerable mobility. </a:t>
            </a:r>
          </a:p>
          <a:p>
            <a:r>
              <a:t> Maximum flow rate (10L/m). </a:t>
            </a:r>
          </a:p>
          <a:p>
            <a:r>
              <a:t>Disadvantages: </a:t>
            </a:r>
          </a:p>
          <a:p>
            <a:r>
              <a:t> Steady O2 concentration difficult to maintain. </a:t>
            </a:r>
          </a:p>
          <a:p>
            <a:r>
              <a:t> Child feel isolated. </a:t>
            </a:r>
          </a:p>
          <a:p>
            <a:r>
              <a:t> Cool and wet tent environment. </a:t>
            </a:r>
          </a:p>
          <a:p>
            <a:r>
              <a:t> Poor access to patient. </a:t>
            </a:r>
          </a:p>
          <a:p>
            <a:r>
              <a:t> </a:t>
            </a:r>
          </a:p>
          <a:p>
            <a:r>
              <a:t>5- Incubator </a:t>
            </a:r>
          </a:p>
          <a:p>
            <a:r>
              <a:t>Advantages: </a:t>
            </a:r>
          </a:p>
          <a:p>
            <a:r>
              <a:t> Only suitable for neonate and young infant. </a:t>
            </a:r>
          </a:p>
          <a:p>
            <a:r>
              <a:t> Mobility isn't restricted. </a:t>
            </a:r>
          </a:p>
          <a:p>
            <a:r>
              <a:t> Infant is easily observed for assessment. </a:t>
            </a:r>
          </a:p>
          <a:p>
            <a:r>
              <a:t> Infant is easily accessible for intervention. </a:t>
            </a:r>
          </a:p>
          <a:p>
            <a:r>
              <a:t> </a:t>
            </a:r>
          </a:p>
          <a:p>
            <a:r>
              <a:t>Disadvantages: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93 </a:t>
            </a:r>
          </a:p>
          <a:p>
            <a:r>
              <a:t> Provision of constant O2 flow even while child </a:t>
            </a:r>
          </a:p>
          <a:p>
            <a:r>
              <a:t>eats or talks. </a:t>
            </a:r>
          </a:p>
          <a:p>
            <a:r>
              <a:t>Disadvantages: </a:t>
            </a:r>
          </a:p>
          <a:p>
            <a:r>
              <a:t> Young children often resist cannula. </a:t>
            </a:r>
          </a:p>
          <a:p>
            <a:r>
              <a:t> May irritate nasal mucosa. </a:t>
            </a:r>
          </a:p>
          <a:p>
            <a:r>
              <a:t> Restrain may be needed. </a:t>
            </a:r>
          </a:p>
          <a:p>
            <a:r>
              <a:t> Difficulty of controlling O2 concentration if child breaths through mouth. </a:t>
            </a:r>
          </a:p>
          <a:p>
            <a:r>
              <a:t>3- Head box (hood) </a:t>
            </a:r>
          </a:p>
          <a:p>
            <a:r>
              <a:t>Advantages: </a:t>
            </a:r>
          </a:p>
          <a:p>
            <a:r>
              <a:t> Available at any size. </a:t>
            </a:r>
          </a:p>
          <a:p>
            <a:r>
              <a:t> Maximum flow rate (10L/m). </a:t>
            </a:r>
          </a:p>
          <a:p>
            <a:r>
              <a:t> Facial movement isn't restricted. </a:t>
            </a:r>
          </a:p>
          <a:p>
            <a:r>
              <a:t>Disadvantages: </a:t>
            </a:r>
          </a:p>
          <a:p>
            <a:r>
              <a:t> Limit access to the head. </a:t>
            </a:r>
          </a:p>
          <a:p>
            <a:r>
              <a:t> High humidity environment. </a:t>
            </a:r>
          </a:p>
          <a:p>
            <a:r>
              <a:t> Need to remove box during feeding and providing care to patient. </a:t>
            </a:r>
          </a:p>
          <a:p>
            <a:r>
              <a:t> </a:t>
            </a:r>
          </a:p>
          <a:p>
            <a:r>
              <a:t>4- Mist tent </a:t>
            </a:r>
          </a:p>
          <a:p>
            <a:r>
              <a:t>Advantages: </a:t>
            </a:r>
          </a:p>
          <a:p>
            <a:r>
              <a:t> Tent allows older children considerable mobility. </a:t>
            </a:r>
          </a:p>
          <a:p>
            <a:r>
              <a:t> Maximum flow rate (10L/m). </a:t>
            </a:r>
          </a:p>
          <a:p>
            <a:r>
              <a:t>Disadvantages: </a:t>
            </a:r>
          </a:p>
          <a:p>
            <a:r>
              <a:t> Steady O2 concentration difficult to maintain. </a:t>
            </a:r>
          </a:p>
          <a:p>
            <a:r>
              <a:t> Child feel isolated. </a:t>
            </a:r>
          </a:p>
          <a:p>
            <a:r>
              <a:t> Cool and wet tent environment. </a:t>
            </a:r>
          </a:p>
          <a:p>
            <a:r>
              <a:t> Poor access to patient. </a:t>
            </a:r>
          </a:p>
          <a:p>
            <a:r>
              <a:t> </a:t>
            </a:r>
          </a:p>
          <a:p>
            <a:r>
              <a:t>5- Incubator </a:t>
            </a:r>
          </a:p>
          <a:p>
            <a:r>
              <a:t>Advantages: </a:t>
            </a:r>
          </a:p>
          <a:p>
            <a:r>
              <a:t> Only suitable for neonate and young infant. </a:t>
            </a:r>
          </a:p>
          <a:p>
            <a:r>
              <a:t> Mobility isn't restricted. </a:t>
            </a:r>
          </a:p>
          <a:p>
            <a:r>
              <a:t> Infant is easily observed for assessment. </a:t>
            </a:r>
          </a:p>
          <a:p>
            <a:r>
              <a:t> Infant is easily accessible for intervention. </a:t>
            </a:r>
          </a:p>
          <a:p>
            <a:r>
              <a:t> </a:t>
            </a:r>
          </a:p>
          <a:p>
            <a:r>
              <a:t>Disadvantages: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94 </a:t>
            </a:r>
          </a:p>
          <a:p>
            <a:r>
              <a:t> An O2 hood must be placed inside it to achieve concentration higher than </a:t>
            </a:r>
          </a:p>
          <a:p>
            <a:r>
              <a:t>85%. </a:t>
            </a:r>
          </a:p>
          <a:p>
            <a:r>
              <a:t>Equipment: </a:t>
            </a:r>
          </a:p>
          <a:p>
            <a:r>
              <a:t> O2 source (cylinder or central piping system). </a:t>
            </a:r>
          </a:p>
          <a:p>
            <a:r>
              <a:t> Delivery equipment. </a:t>
            </a:r>
          </a:p>
          <a:p>
            <a:r>
              <a:t> Oxygen flowmeter. </a:t>
            </a:r>
          </a:p>
          <a:p>
            <a:r>
              <a:t> Oxygen tubing. </a:t>
            </a:r>
          </a:p>
          <a:p>
            <a:r>
              <a:t> Humidification attachment. </a:t>
            </a:r>
          </a:p>
          <a:p>
            <a:r>
              <a:t> No smoking sign. </a:t>
            </a:r>
          </a:p>
          <a:p>
            <a:r>
              <a:t> Disposable gloves. </a:t>
            </a:r>
          </a:p>
          <a:p>
            <a:r>
              <a:t> Water soluble lubricant (for catheter insertion). </a:t>
            </a:r>
          </a:p>
          <a:p>
            <a:r>
              <a:t>Humidification </a:t>
            </a:r>
          </a:p>
          <a:p>
            <a:r>
              <a:t>As oxygen and other compressed gases are dry (contains no water vapor) </a:t>
            </a:r>
          </a:p>
          <a:p>
            <a:r>
              <a:t>humidity is added before inhalation of the gas. Humidifiers are devices that add </a:t>
            </a:r>
          </a:p>
          <a:p>
            <a:r>
              <a:t>water vapor to inspired gas to decrease drying effect of the gas. Bubbling the O2 </a:t>
            </a:r>
          </a:p>
          <a:p>
            <a:r>
              <a:t>through water should humidify oxygen administration. The water may be at room </a:t>
            </a:r>
          </a:p>
          <a:p>
            <a:r>
              <a:t>temperature. </a:t>
            </a:r>
          </a:p>
          <a:p>
            <a:r>
              <a:t>Advantages of Humidification </a:t>
            </a:r>
          </a:p>
          <a:p>
            <a:r>
              <a:t> Prevents drying and irritation of respiratory mucous membranes. </a:t>
            </a:r>
          </a:p>
          <a:p>
            <a:r>
              <a:t> Prevents drying and thickening of respiratory tract secretions. </a:t>
            </a:r>
          </a:p>
          <a:p>
            <a:r>
              <a:t> Loosens secretions. </a:t>
            </a:r>
          </a:p>
          <a:p>
            <a:r>
              <a:t>Procedures of nasal cannula, mask or hood </a:t>
            </a:r>
          </a:p>
          <a:p>
            <a:r>
              <a:t>Steps: </a:t>
            </a:r>
          </a:p>
          <a:p>
            <a:r>
              <a:t>1- Perform hand hygiene. </a:t>
            </a:r>
          </a:p>
          <a:p>
            <a:r>
              <a:t>R. Reduces transmission of microorganism. </a:t>
            </a:r>
          </a:p>
          <a:p>
            <a:r>
              <a:t>2- Select proper size of cannula or mask. </a:t>
            </a:r>
          </a:p>
          <a:p>
            <a:r>
              <a:t>R. improper size can lead to nasal obstruction. </a:t>
            </a:r>
          </a:p>
          <a:p>
            <a:r>
              <a:t>3- Remove all friction toys form the area and display no smoking signs. </a:t>
            </a:r>
          </a:p>
          <a:p>
            <a:r>
              <a:t>4- Connect the flow meter to either oxygen source wall unit or freestanding </a:t>
            </a:r>
          </a:p>
          <a:p>
            <a:r>
              <a:t>tank. </a:t>
            </a:r>
          </a:p>
          <a:p>
            <a:r>
              <a:t>R. Allow for the oxygen to flow from at the prescribed rate. </a:t>
            </a:r>
          </a:p>
          <a:p>
            <a:r>
              <a:t>5- Connect the humidifier to oxygen setup. </a:t>
            </a:r>
          </a:p>
          <a:p>
            <a:r>
              <a:t>R. Provides for moisture in system.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94 </a:t>
            </a:r>
          </a:p>
          <a:p>
            <a:r>
              <a:t> An O2 hood must be placed inside it to achieve concentration higher than </a:t>
            </a:r>
          </a:p>
          <a:p>
            <a:r>
              <a:t>85%. </a:t>
            </a:r>
          </a:p>
          <a:p>
            <a:r>
              <a:t>Equipment: </a:t>
            </a:r>
          </a:p>
          <a:p>
            <a:r>
              <a:t> O2 source (cylinder or central piping system). </a:t>
            </a:r>
          </a:p>
          <a:p>
            <a:r>
              <a:t> Delivery equipment. </a:t>
            </a:r>
          </a:p>
          <a:p>
            <a:r>
              <a:t> Oxygen flowmeter. </a:t>
            </a:r>
          </a:p>
          <a:p>
            <a:r>
              <a:t> Oxygen tubing. </a:t>
            </a:r>
          </a:p>
          <a:p>
            <a:r>
              <a:t> Humidification attachment. </a:t>
            </a:r>
          </a:p>
          <a:p>
            <a:r>
              <a:t> No smoking sign. </a:t>
            </a:r>
          </a:p>
          <a:p>
            <a:r>
              <a:t> Disposable gloves. </a:t>
            </a:r>
          </a:p>
          <a:p>
            <a:r>
              <a:t> Water soluble lubricant (for catheter insertion). </a:t>
            </a:r>
          </a:p>
          <a:p>
            <a:r>
              <a:t>Humidification </a:t>
            </a:r>
          </a:p>
          <a:p>
            <a:r>
              <a:t>As oxygen and other compressed gases are dry (contains no water vapor) </a:t>
            </a:r>
          </a:p>
          <a:p>
            <a:r>
              <a:t>humidity is added before inhalation of the gas. Humidifiers are devices that add </a:t>
            </a:r>
          </a:p>
          <a:p>
            <a:r>
              <a:t>water vapor to inspired gas to decrease drying effect of the gas. Bubbling the O2 </a:t>
            </a:r>
          </a:p>
          <a:p>
            <a:r>
              <a:t>through water should humidify oxygen administration. The water may be at room </a:t>
            </a:r>
          </a:p>
          <a:p>
            <a:r>
              <a:t>temperature. </a:t>
            </a:r>
          </a:p>
          <a:p>
            <a:r>
              <a:t>Advantages of Humidification </a:t>
            </a:r>
          </a:p>
          <a:p>
            <a:r>
              <a:t> Prevents drying and irritation of respiratory mucous membranes. </a:t>
            </a:r>
          </a:p>
          <a:p>
            <a:r>
              <a:t> Prevents drying and thickening of respiratory tract secretions. </a:t>
            </a:r>
          </a:p>
          <a:p>
            <a:r>
              <a:t> Loosens secretions. </a:t>
            </a:r>
          </a:p>
          <a:p>
            <a:r>
              <a:t>Procedures of nasal cannula, mask or hood </a:t>
            </a:r>
          </a:p>
          <a:p>
            <a:r>
              <a:t>Steps: </a:t>
            </a:r>
          </a:p>
          <a:p>
            <a:r>
              <a:t>1- Perform hand hygiene. </a:t>
            </a:r>
          </a:p>
          <a:p>
            <a:r>
              <a:t>R. Reduces transmission of microorganism. </a:t>
            </a:r>
          </a:p>
          <a:p>
            <a:r>
              <a:t>2- Select proper size of cannula or mask. </a:t>
            </a:r>
          </a:p>
          <a:p>
            <a:r>
              <a:t>R. improper size can lead to nasal obstruction. </a:t>
            </a:r>
          </a:p>
          <a:p>
            <a:r>
              <a:t>3- Remove all friction toys form the area and display no smoking signs. </a:t>
            </a:r>
          </a:p>
          <a:p>
            <a:r>
              <a:t>4- Connect the flow meter to either oxygen source wall unit or freestanding </a:t>
            </a:r>
          </a:p>
          <a:p>
            <a:r>
              <a:t>tank. </a:t>
            </a:r>
          </a:p>
          <a:p>
            <a:r>
              <a:t>R. Allow for the oxygen to flow from at the prescribed rate. </a:t>
            </a:r>
          </a:p>
          <a:p>
            <a:r>
              <a:t>5- Connect the humidifier to oxygen setup. </a:t>
            </a:r>
          </a:p>
          <a:p>
            <a:r>
              <a:t>R. Provides for moisture in system.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94 </a:t>
            </a:r>
          </a:p>
          <a:p>
            <a:r>
              <a:t> An O2 hood must be placed inside it to achieve concentration higher than </a:t>
            </a:r>
          </a:p>
          <a:p>
            <a:r>
              <a:t>85%. </a:t>
            </a:r>
          </a:p>
          <a:p>
            <a:r>
              <a:t>Equipment: </a:t>
            </a:r>
          </a:p>
          <a:p>
            <a:r>
              <a:t> O2 source (cylinder or central piping system). </a:t>
            </a:r>
          </a:p>
          <a:p>
            <a:r>
              <a:t> Delivery equipment. </a:t>
            </a:r>
          </a:p>
          <a:p>
            <a:r>
              <a:t> Oxygen flowmeter. </a:t>
            </a:r>
          </a:p>
          <a:p>
            <a:r>
              <a:t> Oxygen tubing. </a:t>
            </a:r>
          </a:p>
          <a:p>
            <a:r>
              <a:t> Humidification attachment. </a:t>
            </a:r>
          </a:p>
          <a:p>
            <a:r>
              <a:t> No smoking sign. </a:t>
            </a:r>
          </a:p>
          <a:p>
            <a:r>
              <a:t> Disposable gloves. </a:t>
            </a:r>
          </a:p>
          <a:p>
            <a:r>
              <a:t> Water soluble lubricant (for catheter insertion). </a:t>
            </a:r>
          </a:p>
          <a:p>
            <a:r>
              <a:t>Humidification </a:t>
            </a:r>
          </a:p>
          <a:p>
            <a:r>
              <a:t>As oxygen and other compressed gases are dry (contains no water vapor) </a:t>
            </a:r>
          </a:p>
          <a:p>
            <a:r>
              <a:t>humidity is added before inhalation of the gas. Humidifiers are devices that add </a:t>
            </a:r>
          </a:p>
          <a:p>
            <a:r>
              <a:t>water vapor to inspired gas to decrease drying effect of the gas. Bubbling the O2 </a:t>
            </a:r>
          </a:p>
          <a:p>
            <a:r>
              <a:t>through water should humidify oxygen administration. The water may be at room </a:t>
            </a:r>
          </a:p>
          <a:p>
            <a:r>
              <a:t>temperature. </a:t>
            </a:r>
          </a:p>
          <a:p>
            <a:r>
              <a:t>Advantages of Humidification </a:t>
            </a:r>
          </a:p>
          <a:p>
            <a:r>
              <a:t> Prevents drying and irritation of respiratory mucous membranes. </a:t>
            </a:r>
          </a:p>
          <a:p>
            <a:r>
              <a:t> Prevents drying and thickening of respiratory tract secretions. </a:t>
            </a:r>
          </a:p>
          <a:p>
            <a:r>
              <a:t> Loosens secretions. </a:t>
            </a:r>
          </a:p>
          <a:p>
            <a:r>
              <a:t>Procedures of nasal cannula, mask or hood </a:t>
            </a:r>
          </a:p>
          <a:p>
            <a:r>
              <a:t>Steps: </a:t>
            </a:r>
          </a:p>
          <a:p>
            <a:r>
              <a:t>1- Perform hand hygiene. </a:t>
            </a:r>
          </a:p>
          <a:p>
            <a:r>
              <a:t>R. Reduces transmission of microorganism. </a:t>
            </a:r>
          </a:p>
          <a:p>
            <a:r>
              <a:t>2- Select proper size of cannula or mask. </a:t>
            </a:r>
          </a:p>
          <a:p>
            <a:r>
              <a:t>R. improper size can lead to nasal obstruction. </a:t>
            </a:r>
          </a:p>
          <a:p>
            <a:r>
              <a:t>3- Remove all friction toys form the area and display no smoking signs. </a:t>
            </a:r>
          </a:p>
          <a:p>
            <a:r>
              <a:t>4- Connect the flow meter to either oxygen source wall unit or freestanding </a:t>
            </a:r>
          </a:p>
          <a:p>
            <a:r>
              <a:t>tank. </a:t>
            </a:r>
          </a:p>
          <a:p>
            <a:r>
              <a:t>R. Allow for the oxygen to flow from at the prescribed rate. </a:t>
            </a:r>
          </a:p>
          <a:p>
            <a:r>
              <a:t>5- Connect the humidifier to oxygen setup. </a:t>
            </a:r>
          </a:p>
          <a:p>
            <a:r>
              <a:t>R. Provides for moisture in system.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95 </a:t>
            </a:r>
          </a:p>
          <a:p>
            <a:r>
              <a:t>Humidified air is less drying to nares and lungs, prevent dehydration of </a:t>
            </a:r>
          </a:p>
          <a:p>
            <a:r>
              <a:t>mucous membrane and liquefaction of thick mucus </a:t>
            </a:r>
          </a:p>
          <a:p>
            <a:r>
              <a:t>6- Following instruction for particular oxygen setup and fill reservoir with </a:t>
            </a:r>
          </a:p>
          <a:p>
            <a:r>
              <a:t>sterile water. </a:t>
            </a:r>
          </a:p>
          <a:p>
            <a:r>
              <a:t>R. Use sterile water decreases the incidence of bacterial growth. </a:t>
            </a:r>
          </a:p>
          <a:p>
            <a:r>
              <a:t>7- Attach tubing o oxygen source. </a:t>
            </a:r>
          </a:p>
          <a:p>
            <a:r>
              <a:t>R. Allow oxygen to flow from source to child. </a:t>
            </a:r>
          </a:p>
          <a:p>
            <a:r>
              <a:t>8- Connect the distal of oxygen tubing to delivery device (cannula, mask or </a:t>
            </a:r>
          </a:p>
          <a:p>
            <a:r>
              <a:t>hood). </a:t>
            </a:r>
          </a:p>
          <a:p>
            <a:r>
              <a:t>9- Turn on flowmeter to the prescribed amount. </a:t>
            </a:r>
          </a:p>
          <a:p>
            <a:r>
              <a:t>R. To ensure that child receive amount of oxygen physician deemed </a:t>
            </a:r>
          </a:p>
          <a:p>
            <a:r>
              <a:t>necessary. </a:t>
            </a:r>
          </a:p>
          <a:p>
            <a:r>
              <a:t>10- Feel oxygen flowing through the system. </a:t>
            </a:r>
          </a:p>
          <a:p>
            <a:r>
              <a:t>11- Place child in supine semi fowler's position. </a:t>
            </a:r>
          </a:p>
          <a:p>
            <a:r>
              <a:t>R. Raising the head of the bed protect the airway if the child should vomit </a:t>
            </a:r>
          </a:p>
          <a:p>
            <a:r>
              <a:t>during air way placement. </a:t>
            </a:r>
          </a:p>
          <a:p>
            <a:r>
              <a:t>N.B: </a:t>
            </a:r>
          </a:p>
          <a:p>
            <a:r>
              <a:t>For nasal cannula: </a:t>
            </a:r>
          </a:p>
          <a:p>
            <a:r>
              <a:t>12- Place nasal prong inside external meatus of the nares. </a:t>
            </a:r>
          </a:p>
          <a:p>
            <a:r>
              <a:t>13- Instruct child to breathe through his or her nose. </a:t>
            </a:r>
          </a:p>
          <a:p>
            <a:r>
              <a:t>R. Provides the prescribed oxygen. </a:t>
            </a:r>
          </a:p>
          <a:p>
            <a:r>
              <a:t>For mask: </a:t>
            </a:r>
          </a:p>
          <a:p>
            <a:r>
              <a:t>14- Place the oxygen mask over the mouth and nose. </a:t>
            </a:r>
          </a:p>
          <a:p>
            <a:r>
              <a:t>15- Tighten the straps attached to the mask until you can easily fit one finger </a:t>
            </a:r>
          </a:p>
          <a:p>
            <a:r>
              <a:t>between the strap and the face of the child. </a:t>
            </a:r>
          </a:p>
          <a:p>
            <a:r>
              <a:t>R.  A properly secured mask allow the prescribed amount oxygen to flow </a:t>
            </a:r>
          </a:p>
          <a:p>
            <a:r>
              <a:t>into respiratory system. </a:t>
            </a:r>
          </a:p>
          <a:p>
            <a:r>
              <a:t>For oxygen hood: </a:t>
            </a:r>
          </a:p>
          <a:p>
            <a:r>
              <a:t>16- Connect the unit to oxygen source. </a:t>
            </a:r>
          </a:p>
          <a:p>
            <a:r>
              <a:t>17- Place the hood on the crib or bed so the child's head is inside the unit. </a:t>
            </a:r>
          </a:p>
          <a:p>
            <a:r>
              <a:t>R. Prevents obstruction of the airway. </a:t>
            </a:r>
          </a:p>
          <a:p>
            <a:r>
              <a:t>18- The hood should not rest on child's neck and the child should be able to </a:t>
            </a:r>
          </a:p>
          <a:p>
            <a:r>
              <a:t>turn or her head side to side easily. </a:t>
            </a:r>
          </a:p>
          <a:p>
            <a:r>
              <a:t>R. An improperly sized hood can result in irritation to the child's skin. </a:t>
            </a:r>
          </a:p>
          <a:p>
            <a:r>
              <a:t>19- Encourage family and other staff to limit amount of time the child is </a:t>
            </a:r>
          </a:p>
          <a:p>
            <a:r>
              <a:t>outside of hood. </a:t>
            </a:r>
          </a:p>
          <a:p>
            <a:r>
              <a:t>R. To maximize the quality of oxygen therapy. </a:t>
            </a:r>
          </a:p>
          <a:p>
            <a:r>
              <a:t> </a:t>
            </a:r>
          </a:p>
          <a:p>
            <a:r>
              <a:t>O per oxygen hood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95 </a:t>
            </a:r>
          </a:p>
          <a:p>
            <a:r>
              <a:t>Humidified air is less drying to nares and lungs, prevent dehydration of </a:t>
            </a:r>
          </a:p>
          <a:p>
            <a:r>
              <a:t>mucous membrane and liquefaction of thick mucus </a:t>
            </a:r>
          </a:p>
          <a:p>
            <a:r>
              <a:t>6- Following instruction for particular oxygen setup and fill reservoir with </a:t>
            </a:r>
          </a:p>
          <a:p>
            <a:r>
              <a:t>sterile water. </a:t>
            </a:r>
          </a:p>
          <a:p>
            <a:r>
              <a:t>R. Use sterile water decreases the incidence of bacterial growth. </a:t>
            </a:r>
          </a:p>
          <a:p>
            <a:r>
              <a:t>7- Attach tubing o oxygen source. </a:t>
            </a:r>
          </a:p>
          <a:p>
            <a:r>
              <a:t>R. Allow oxygen to flow from source to child. </a:t>
            </a:r>
          </a:p>
          <a:p>
            <a:r>
              <a:t>8- Connect the distal of oxygen tubing to delivery device (cannula, mask or </a:t>
            </a:r>
          </a:p>
          <a:p>
            <a:r>
              <a:t>hood). </a:t>
            </a:r>
          </a:p>
          <a:p>
            <a:r>
              <a:t>9- Turn on flowmeter to the prescribed amount. </a:t>
            </a:r>
          </a:p>
          <a:p>
            <a:r>
              <a:t>R. To ensure that child receive amount of oxygen physician deemed </a:t>
            </a:r>
          </a:p>
          <a:p>
            <a:r>
              <a:t>necessary. </a:t>
            </a:r>
          </a:p>
          <a:p>
            <a:r>
              <a:t>10- Feel oxygen flowing through the system. </a:t>
            </a:r>
          </a:p>
          <a:p>
            <a:r>
              <a:t>11- Place child in supine semi fowler's position. </a:t>
            </a:r>
          </a:p>
          <a:p>
            <a:r>
              <a:t>R. Raising the head of the bed protect the airway if the child should vomit </a:t>
            </a:r>
          </a:p>
          <a:p>
            <a:r>
              <a:t>during air way placement. </a:t>
            </a:r>
          </a:p>
          <a:p>
            <a:r>
              <a:t>N.B: </a:t>
            </a:r>
          </a:p>
          <a:p>
            <a:r>
              <a:t>For nasal cannula: </a:t>
            </a:r>
          </a:p>
          <a:p>
            <a:r>
              <a:t>12- Place nasal prong inside external meatus of the nares. </a:t>
            </a:r>
          </a:p>
          <a:p>
            <a:r>
              <a:t>13- Instruct child to breathe through his or her nose. </a:t>
            </a:r>
          </a:p>
          <a:p>
            <a:r>
              <a:t>R. Provides the prescribed oxygen. </a:t>
            </a:r>
          </a:p>
          <a:p>
            <a:r>
              <a:t>For mask: </a:t>
            </a:r>
          </a:p>
          <a:p>
            <a:r>
              <a:t>14- Place the oxygen mask over the mouth and nose. </a:t>
            </a:r>
          </a:p>
          <a:p>
            <a:r>
              <a:t>15- Tighten the straps attached to the mask until you can easily fit one finger </a:t>
            </a:r>
          </a:p>
          <a:p>
            <a:r>
              <a:t>between the strap and the face of the child. </a:t>
            </a:r>
          </a:p>
          <a:p>
            <a:r>
              <a:t>R.  A properly secured mask allow the prescribed amount oxygen to flow </a:t>
            </a:r>
          </a:p>
          <a:p>
            <a:r>
              <a:t>into respiratory system. </a:t>
            </a:r>
          </a:p>
          <a:p>
            <a:r>
              <a:t>For oxygen hood: </a:t>
            </a:r>
          </a:p>
          <a:p>
            <a:r>
              <a:t>16- Connect the unit to oxygen source. </a:t>
            </a:r>
          </a:p>
          <a:p>
            <a:r>
              <a:t>17- Place the hood on the crib or bed so the child's head is inside the unit. </a:t>
            </a:r>
          </a:p>
          <a:p>
            <a:r>
              <a:t>R. Prevents obstruction of the airway. </a:t>
            </a:r>
          </a:p>
          <a:p>
            <a:r>
              <a:t>18- The hood should not rest on child's neck and the child should be able to </a:t>
            </a:r>
          </a:p>
          <a:p>
            <a:r>
              <a:t>turn or her head side to side easily. </a:t>
            </a:r>
          </a:p>
          <a:p>
            <a:r>
              <a:t>R. An improperly sized hood can result in irritation to the child's skin. </a:t>
            </a:r>
          </a:p>
          <a:p>
            <a:r>
              <a:t>19- Encourage family and other staff to limit amount of time the child is </a:t>
            </a:r>
          </a:p>
          <a:p>
            <a:r>
              <a:t>outside of hood. </a:t>
            </a:r>
          </a:p>
          <a:p>
            <a:r>
              <a:t>R. To maximize the quality of oxygen therapy. </a:t>
            </a:r>
          </a:p>
          <a:p>
            <a:r>
              <a:t> </a:t>
            </a:r>
          </a:p>
          <a:p>
            <a:r>
              <a:t>O per oxygen hood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95 </a:t>
            </a:r>
          </a:p>
          <a:p>
            <a:r>
              <a:t>Humidified air is less drying to nares and lungs, prevent dehydration of </a:t>
            </a:r>
          </a:p>
          <a:p>
            <a:r>
              <a:t>mucous membrane and liquefaction of thick mucus </a:t>
            </a:r>
          </a:p>
          <a:p>
            <a:r>
              <a:t>6- Following instruction for particular oxygen setup and fill reservoir with </a:t>
            </a:r>
          </a:p>
          <a:p>
            <a:r>
              <a:t>sterile water. </a:t>
            </a:r>
          </a:p>
          <a:p>
            <a:r>
              <a:t>R. Use sterile water decreases the incidence of bacterial growth. </a:t>
            </a:r>
          </a:p>
          <a:p>
            <a:r>
              <a:t>7- Attach tubing o oxygen source. </a:t>
            </a:r>
          </a:p>
          <a:p>
            <a:r>
              <a:t>R. Allow oxygen to flow from source to child. </a:t>
            </a:r>
          </a:p>
          <a:p>
            <a:r>
              <a:t>8- Connect the distal of oxygen tubing to delivery device (cannula, mask or </a:t>
            </a:r>
          </a:p>
          <a:p>
            <a:r>
              <a:t>hood). </a:t>
            </a:r>
          </a:p>
          <a:p>
            <a:r>
              <a:t>9- Turn on flowmeter to the prescribed amount. </a:t>
            </a:r>
          </a:p>
          <a:p>
            <a:r>
              <a:t>R. To ensure that child receive amount of oxygen physician deemed </a:t>
            </a:r>
          </a:p>
          <a:p>
            <a:r>
              <a:t>necessary. </a:t>
            </a:r>
          </a:p>
          <a:p>
            <a:r>
              <a:t>10- Feel oxygen flowing through the system. </a:t>
            </a:r>
          </a:p>
          <a:p>
            <a:r>
              <a:t>11- Place child in supine semi fowler's position. </a:t>
            </a:r>
          </a:p>
          <a:p>
            <a:r>
              <a:t>R. Raising the head of the bed protect the airway if the child should vomit </a:t>
            </a:r>
          </a:p>
          <a:p>
            <a:r>
              <a:t>during air way placement. </a:t>
            </a:r>
          </a:p>
          <a:p>
            <a:r>
              <a:t>N.B: </a:t>
            </a:r>
          </a:p>
          <a:p>
            <a:r>
              <a:t>For nasal cannula: </a:t>
            </a:r>
          </a:p>
          <a:p>
            <a:r>
              <a:t>12- Place nasal prong inside external meatus of the nares. </a:t>
            </a:r>
          </a:p>
          <a:p>
            <a:r>
              <a:t>13- Instruct child to breathe through his or her nose. </a:t>
            </a:r>
          </a:p>
          <a:p>
            <a:r>
              <a:t>R. Provides the prescribed oxygen. </a:t>
            </a:r>
          </a:p>
          <a:p>
            <a:r>
              <a:t>For mask: </a:t>
            </a:r>
          </a:p>
          <a:p>
            <a:r>
              <a:t>14- Place the oxygen mask over the mouth and nose. </a:t>
            </a:r>
          </a:p>
          <a:p>
            <a:r>
              <a:t>15- Tighten the straps attached to the mask until you can easily fit one finger </a:t>
            </a:r>
          </a:p>
          <a:p>
            <a:r>
              <a:t>between the strap and the face of the child. </a:t>
            </a:r>
          </a:p>
          <a:p>
            <a:r>
              <a:t>R.  A properly secured mask allow the prescribed amount oxygen to flow </a:t>
            </a:r>
          </a:p>
          <a:p>
            <a:r>
              <a:t>into respiratory system. </a:t>
            </a:r>
          </a:p>
          <a:p>
            <a:r>
              <a:t>For oxygen hood: </a:t>
            </a:r>
          </a:p>
          <a:p>
            <a:r>
              <a:t>16- Connect the unit to oxygen source. </a:t>
            </a:r>
          </a:p>
          <a:p>
            <a:r>
              <a:t>17- Place the hood on the crib or bed so the child's head is inside the unit. </a:t>
            </a:r>
          </a:p>
          <a:p>
            <a:r>
              <a:t>R. Prevents obstruction of the airway. </a:t>
            </a:r>
          </a:p>
          <a:p>
            <a:r>
              <a:t>18- The hood should not rest on child's neck and the child should be able to </a:t>
            </a:r>
          </a:p>
          <a:p>
            <a:r>
              <a:t>turn or her head side to side easily. </a:t>
            </a:r>
          </a:p>
          <a:p>
            <a:r>
              <a:t>R. An improperly sized hood can result in irritation to the child's skin. </a:t>
            </a:r>
          </a:p>
          <a:p>
            <a:r>
              <a:t>19- Encourage family and other staff to limit amount of time the child is </a:t>
            </a:r>
          </a:p>
          <a:p>
            <a:r>
              <a:t>outside of hood. </a:t>
            </a:r>
          </a:p>
          <a:p>
            <a:r>
              <a:t>R. To maximize the quality of oxygen therapy. </a:t>
            </a:r>
          </a:p>
          <a:p>
            <a:r>
              <a:t> </a:t>
            </a:r>
          </a:p>
          <a:p>
            <a:r>
              <a:t>O per oxygen hood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95 </a:t>
            </a:r>
          </a:p>
          <a:p>
            <a:r>
              <a:t>Humidified air is less drying to nares and lungs, prevent dehydration of </a:t>
            </a:r>
          </a:p>
          <a:p>
            <a:r>
              <a:t>mucous membrane and liquefaction of thick mucus </a:t>
            </a:r>
          </a:p>
          <a:p>
            <a:r>
              <a:t>6- Following instruction for particular oxygen setup and fill reservoir with </a:t>
            </a:r>
          </a:p>
          <a:p>
            <a:r>
              <a:t>sterile water. </a:t>
            </a:r>
          </a:p>
          <a:p>
            <a:r>
              <a:t>R. Use sterile water decreases the incidence of bacterial growth. </a:t>
            </a:r>
          </a:p>
          <a:p>
            <a:r>
              <a:t>7- Attach tubing o oxygen source. </a:t>
            </a:r>
          </a:p>
          <a:p>
            <a:r>
              <a:t>R. Allow oxygen to flow from source to child. </a:t>
            </a:r>
          </a:p>
          <a:p>
            <a:r>
              <a:t>8- Connect the distal of oxygen tubing to delivery device (cannula, mask or </a:t>
            </a:r>
          </a:p>
          <a:p>
            <a:r>
              <a:t>hood). </a:t>
            </a:r>
          </a:p>
          <a:p>
            <a:r>
              <a:t>9- Turn on flowmeter to the prescribed amount. </a:t>
            </a:r>
          </a:p>
          <a:p>
            <a:r>
              <a:t>R. To ensure that child receive amount of oxygen physician deemed </a:t>
            </a:r>
          </a:p>
          <a:p>
            <a:r>
              <a:t>necessary. </a:t>
            </a:r>
          </a:p>
          <a:p>
            <a:r>
              <a:t>10- Feel oxygen flowing through the system. </a:t>
            </a:r>
          </a:p>
          <a:p>
            <a:r>
              <a:t>11- Place child in supine semi fowler's position. </a:t>
            </a:r>
          </a:p>
          <a:p>
            <a:r>
              <a:t>R. Raising the head of the bed protect the airway if the child should vomit </a:t>
            </a:r>
          </a:p>
          <a:p>
            <a:r>
              <a:t>during air way placement. </a:t>
            </a:r>
          </a:p>
          <a:p>
            <a:r>
              <a:t>N.B: </a:t>
            </a:r>
          </a:p>
          <a:p>
            <a:r>
              <a:t>For nasal cannula: </a:t>
            </a:r>
          </a:p>
          <a:p>
            <a:r>
              <a:t>12- Place nasal prong inside external meatus of the nares. </a:t>
            </a:r>
          </a:p>
          <a:p>
            <a:r>
              <a:t>13- Instruct child to breathe through his or her nose. </a:t>
            </a:r>
          </a:p>
          <a:p>
            <a:r>
              <a:t>R. Provides the prescribed oxygen. </a:t>
            </a:r>
          </a:p>
          <a:p>
            <a:r>
              <a:t>For mask: </a:t>
            </a:r>
          </a:p>
          <a:p>
            <a:r>
              <a:t>14- Place the oxygen mask over the mouth and nose. </a:t>
            </a:r>
          </a:p>
          <a:p>
            <a:r>
              <a:t>15- Tighten the straps attached to the mask until you can easily fit one finger </a:t>
            </a:r>
          </a:p>
          <a:p>
            <a:r>
              <a:t>between the strap and the face of the child. </a:t>
            </a:r>
          </a:p>
          <a:p>
            <a:r>
              <a:t>R.  A properly secured mask allow the prescribed amount oxygen to flow </a:t>
            </a:r>
          </a:p>
          <a:p>
            <a:r>
              <a:t>into respiratory system. </a:t>
            </a:r>
          </a:p>
          <a:p>
            <a:r>
              <a:t>For oxygen hood: </a:t>
            </a:r>
          </a:p>
          <a:p>
            <a:r>
              <a:t>16- Connect the unit to oxygen source. </a:t>
            </a:r>
          </a:p>
          <a:p>
            <a:r>
              <a:t>17- Place the hood on the crib or bed so the child's head is inside the unit. </a:t>
            </a:r>
          </a:p>
          <a:p>
            <a:r>
              <a:t>R. Prevents obstruction of the airway. </a:t>
            </a:r>
          </a:p>
          <a:p>
            <a:r>
              <a:t>18- The hood should not rest on child's neck and the child should be able to </a:t>
            </a:r>
          </a:p>
          <a:p>
            <a:r>
              <a:t>turn or her head side to side easily. </a:t>
            </a:r>
          </a:p>
          <a:p>
            <a:r>
              <a:t>R. An improperly sized hood can result in irritation to the child's skin. </a:t>
            </a:r>
          </a:p>
          <a:p>
            <a:r>
              <a:t>19- Encourage family and other staff to limit amount of time the child is </a:t>
            </a:r>
          </a:p>
          <a:p>
            <a:r>
              <a:t>outside of hood. </a:t>
            </a:r>
          </a:p>
          <a:p>
            <a:r>
              <a:t>R. To maximize the quality of oxygen therapy. </a:t>
            </a:r>
          </a:p>
          <a:p>
            <a:r>
              <a:t> </a:t>
            </a:r>
          </a:p>
          <a:p>
            <a:r>
              <a:t>O per oxygen hood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Oxygen therapy                                                                        96 </a:t>
            </a:r>
          </a:p>
          <a:p>
            <a:r>
              <a:t>Evaluation of response: </a:t>
            </a:r>
          </a:p>
          <a:p>
            <a:r>
              <a:t> O2 saturation (SaO2) by pulse oximeter. </a:t>
            </a:r>
          </a:p>
          <a:p>
            <a:r>
              <a:t> PaO2 by A.B.Gs. </a:t>
            </a:r>
          </a:p>
          <a:p>
            <a:r>
              <a:t> If there is good response: </a:t>
            </a:r>
          </a:p>
          <a:p>
            <a:r>
              <a:t>- SaO2 will be above 90% or PaO2 will be above 90 mmHg. </a:t>
            </a:r>
          </a:p>
          <a:p>
            <a:r>
              <a:t> If there is poor response: </a:t>
            </a:r>
          </a:p>
          <a:p>
            <a:r>
              <a:t>- SaO2 will be under 85% or PaO2 will be under 60 mmHg. </a:t>
            </a:r>
          </a:p>
          <a:p>
            <a:r>
              <a:t>Complications: </a:t>
            </a:r>
          </a:p>
          <a:p>
            <a:r>
              <a:t>The most important complications are: </a:t>
            </a:r>
          </a:p>
          <a:p>
            <a:r>
              <a:t> Retinopathy of prematurity </a:t>
            </a:r>
          </a:p>
          <a:p>
            <a:r>
              <a:t> Hypoventilation </a:t>
            </a:r>
          </a:p>
          <a:p>
            <a:r>
              <a:t> Absorption atelectasis </a:t>
            </a:r>
          </a:p>
          <a:p>
            <a:r>
              <a:t> Bronchopulmonary dysplasia.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References: </a:t>
            </a:r>
          </a:p>
          <a:p>
            <a:r>
              <a:t>1-Langley,C.,2004. Nursing procedure. Lippincott Williams &amp; Wilkins </a:t>
            </a:r>
          </a:p>
          <a:p>
            <a:r>
              <a:t>2-Khilnani, P.,2009. Practical Approach to Pediatric Intensive Care. Jaypee </a:t>
            </a:r>
          </a:p>
          <a:p>
            <a:r>
              <a:t>Brothers Medical Publishers (P) Ltd.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97 </a:t>
            </a:r>
          </a:p>
          <a:p>
            <a:r>
              <a:t>Immunization and vaccination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Learning objectives </a:t>
            </a:r>
          </a:p>
          <a:p>
            <a:r>
              <a:t>1. To know the Iraqi immunization schedule </a:t>
            </a:r>
          </a:p>
          <a:p>
            <a:r>
              <a:t>2. To understand the details of each vaccine (type, route, doses, side effects) </a:t>
            </a:r>
          </a:p>
          <a:p>
            <a:r>
              <a:t>3. To recognize the differences between two types of polio vaccine </a:t>
            </a:r>
          </a:p>
          <a:p>
            <a:r>
              <a:t>4. To understand what to check before giving vaccine and general instructions </a:t>
            </a:r>
          </a:p>
          <a:p>
            <a:r>
              <a:t>about vaccination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Immunization </a:t>
            </a:r>
          </a:p>
          <a:p>
            <a:r>
              <a:t>Immunization is defined as the procedure by which the body is prepared to </a:t>
            </a:r>
          </a:p>
          <a:p>
            <a:r>
              <a:t>fight against a specific disease. It is used to induce the immune resistance of the </a:t>
            </a:r>
          </a:p>
          <a:p>
            <a:r>
              <a:t>body to a specific disease. Types of immunization </a:t>
            </a:r>
          </a:p>
          <a:p>
            <a:r>
              <a:t>I- Passive immunization </a:t>
            </a:r>
          </a:p>
          <a:p>
            <a:r>
              <a:t>It is classified into: </a:t>
            </a:r>
          </a:p>
          <a:p>
            <a:r>
              <a:t>A. Natural Passive Immunization </a:t>
            </a:r>
          </a:p>
          <a:p>
            <a:r>
              <a:t>B. Artificial Passive immunization: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98 </a:t>
            </a:r>
          </a:p>
          <a:p>
            <a:r>
              <a:t> It includes passage of maternal </a:t>
            </a:r>
          </a:p>
          <a:p>
            <a:r>
              <a:t>antibodies to the fetus through the </a:t>
            </a:r>
          </a:p>
          <a:p>
            <a:r>
              <a:t>placenta. </a:t>
            </a:r>
          </a:p>
          <a:p>
            <a:r>
              <a:t> These antibodies disappear from </a:t>
            </a:r>
          </a:p>
          <a:p>
            <a:r>
              <a:t>the infant circulation at about the </a:t>
            </a:r>
          </a:p>
          <a:p>
            <a:r>
              <a:t>fourth month of age. (e.g., </a:t>
            </a:r>
          </a:p>
          <a:p>
            <a:r>
              <a:t>antibodies against measles, </a:t>
            </a:r>
          </a:p>
          <a:p>
            <a:r>
              <a:t>poliomyelitis, diphtheria, scarlet </a:t>
            </a:r>
          </a:p>
          <a:p>
            <a:r>
              <a:t>fever and mumps). </a:t>
            </a:r>
          </a:p>
          <a:p>
            <a:r>
              <a:t> </a:t>
            </a:r>
          </a:p>
          <a:p>
            <a:r>
              <a:t> It is an administration of </a:t>
            </a:r>
          </a:p>
          <a:p>
            <a:r>
              <a:t>immunoglobulin (Gamma </a:t>
            </a:r>
          </a:p>
          <a:p>
            <a:r>
              <a:t>globulins) which contains </a:t>
            </a:r>
          </a:p>
          <a:p>
            <a:r>
              <a:t>antibodies it may be antiviral, </a:t>
            </a:r>
          </a:p>
          <a:p>
            <a:r>
              <a:t>antibacterial, or antitoxins either </a:t>
            </a:r>
          </a:p>
          <a:p>
            <a:r>
              <a:t>alone or combined. </a:t>
            </a:r>
          </a:p>
          <a:p>
            <a:r>
              <a:t> It has short duration. </a:t>
            </a:r>
          </a:p>
          <a:p>
            <a:r>
              <a:t> it is used in emergency cases and </a:t>
            </a:r>
          </a:p>
          <a:p>
            <a:r>
              <a:t>for contacts. </a:t>
            </a:r>
          </a:p>
          <a:p>
            <a:r>
              <a:t>II- Active immunization </a:t>
            </a:r>
          </a:p>
          <a:p>
            <a:r>
              <a:t>It is an entrance of antigens, which stimulates formation of antibodies by the </a:t>
            </a:r>
          </a:p>
          <a:p>
            <a:r>
              <a:t>immune system. It is classified into: </a:t>
            </a:r>
          </a:p>
          <a:p>
            <a:r>
              <a:t>A. Natural Active immunization </a:t>
            </a:r>
          </a:p>
          <a:p>
            <a:r>
              <a:t>B. Acquired Active immunization </a:t>
            </a:r>
          </a:p>
          <a:p>
            <a:r>
              <a:t> By acquiring the infections either </a:t>
            </a:r>
          </a:p>
          <a:p>
            <a:r>
              <a:t>sub - clinically or clinically. </a:t>
            </a:r>
          </a:p>
          <a:p>
            <a:r>
              <a:t> It is life long in measles, German </a:t>
            </a:r>
          </a:p>
          <a:p>
            <a:r>
              <a:t>measles, chicken pox and mumps.  </a:t>
            </a:r>
          </a:p>
          <a:p>
            <a:r>
              <a:t> </a:t>
            </a:r>
          </a:p>
          <a:p>
            <a:r>
              <a:t> By vaccines  </a:t>
            </a:r>
          </a:p>
          <a:p>
            <a:r>
              <a:t> </a:t>
            </a:r>
          </a:p>
          <a:p>
            <a:r>
              <a:t>Antibody: a protein that is produced in response to a particular pathogen. </a:t>
            </a:r>
          </a:p>
          <a:p>
            <a:r>
              <a:t>Antigen: the substance that induces the production of antibodies. </a:t>
            </a:r>
          </a:p>
          <a:p>
            <a:r>
              <a:t>Vaccine </a:t>
            </a:r>
          </a:p>
          <a:p>
            <a:r>
              <a:t>It is a suspension of live or killed microorganisms are antigenic portion these </a:t>
            </a:r>
          </a:p>
          <a:p>
            <a:r>
              <a:t>agents presented to potential host to induce immunity to specific disease cause by </a:t>
            </a:r>
          </a:p>
          <a:p>
            <a:r>
              <a:t>that organism. </a:t>
            </a:r>
          </a:p>
          <a:p>
            <a:r>
              <a:t>Toxoid: A modified bacterial toxin that is made nontoxic but is still able to </a:t>
            </a:r>
          </a:p>
          <a:p>
            <a:r>
              <a:t>induce an active immune response against the toxin. and toxoids (tetanus and </a:t>
            </a:r>
          </a:p>
          <a:p>
            <a:r>
              <a:t>diphtheria) </a:t>
            </a:r>
          </a:p>
          <a:p>
            <a:r>
              <a:t>The term immunity refers to all the processes used by the body to protect </a:t>
            </a:r>
          </a:p>
          <a:p>
            <a:r>
              <a:t>against foreign material from environmental sources, including microorganisms </a:t>
            </a:r>
          </a:p>
          <a:p>
            <a:r>
              <a:t>or their toxins, foods, chemicals, pollen, dander, or drugs. </a:t>
            </a:r>
          </a:p>
          <a:p>
            <a:r>
              <a:t> </a:t>
            </a:r>
          </a:p>
          <a:p>
            <a:r>
              <a:t>Types of vaccine  </a:t>
            </a:r>
          </a:p>
          <a:p>
            <a:r>
              <a:t> Live attenuated (Sabin (polio)- Measles–Mumps– BCG)  </a:t>
            </a:r>
          </a:p>
          <a:p>
            <a:r>
              <a:t> Inactivated or killed (Salk(polio)– Influenza- Rabies). </a:t>
            </a:r>
          </a:p>
          <a:p>
            <a:r>
              <a:t> Cellular fraction (Pnumoccocal Pneumonia – Meningococcal).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98 </a:t>
            </a:r>
          </a:p>
          <a:p>
            <a:r>
              <a:t> It includes passage of maternal </a:t>
            </a:r>
          </a:p>
          <a:p>
            <a:r>
              <a:t>antibodies to the fetus through the </a:t>
            </a:r>
          </a:p>
          <a:p>
            <a:r>
              <a:t>placenta. </a:t>
            </a:r>
          </a:p>
          <a:p>
            <a:r>
              <a:t> These antibodies disappear from </a:t>
            </a:r>
          </a:p>
          <a:p>
            <a:r>
              <a:t>the infant circulation at about the </a:t>
            </a:r>
          </a:p>
          <a:p>
            <a:r>
              <a:t>fourth month of age. (e.g., </a:t>
            </a:r>
          </a:p>
          <a:p>
            <a:r>
              <a:t>antibodies against measles, </a:t>
            </a:r>
          </a:p>
          <a:p>
            <a:r>
              <a:t>poliomyelitis, diphtheria, scarlet </a:t>
            </a:r>
          </a:p>
          <a:p>
            <a:r>
              <a:t>fever and mumps). </a:t>
            </a:r>
          </a:p>
          <a:p>
            <a:r>
              <a:t> </a:t>
            </a:r>
          </a:p>
          <a:p>
            <a:r>
              <a:t> It is an administration of </a:t>
            </a:r>
          </a:p>
          <a:p>
            <a:r>
              <a:t>immunoglobulin (Gamma </a:t>
            </a:r>
          </a:p>
          <a:p>
            <a:r>
              <a:t>globulins) which contains </a:t>
            </a:r>
          </a:p>
          <a:p>
            <a:r>
              <a:t>antibodies it may be antiviral, </a:t>
            </a:r>
          </a:p>
          <a:p>
            <a:r>
              <a:t>antibacterial, or antitoxins either </a:t>
            </a:r>
          </a:p>
          <a:p>
            <a:r>
              <a:t>alone or combined. </a:t>
            </a:r>
          </a:p>
          <a:p>
            <a:r>
              <a:t> It has short duration. </a:t>
            </a:r>
          </a:p>
          <a:p>
            <a:r>
              <a:t> it is used in emergency cases and </a:t>
            </a:r>
          </a:p>
          <a:p>
            <a:r>
              <a:t>for contacts. </a:t>
            </a:r>
          </a:p>
          <a:p>
            <a:r>
              <a:t>II- Active immunization </a:t>
            </a:r>
          </a:p>
          <a:p>
            <a:r>
              <a:t>It is an entrance of antigens, which stimulates formation of antibodies by the </a:t>
            </a:r>
          </a:p>
          <a:p>
            <a:r>
              <a:t>immune system. It is classified into: </a:t>
            </a:r>
          </a:p>
          <a:p>
            <a:r>
              <a:t>A. Natural Active immunization </a:t>
            </a:r>
          </a:p>
          <a:p>
            <a:r>
              <a:t>B. Acquired Active immunization </a:t>
            </a:r>
          </a:p>
          <a:p>
            <a:r>
              <a:t> By acquiring the infections either </a:t>
            </a:r>
          </a:p>
          <a:p>
            <a:r>
              <a:t>sub - clinically or clinically. </a:t>
            </a:r>
          </a:p>
          <a:p>
            <a:r>
              <a:t> It is life long in measles, German </a:t>
            </a:r>
          </a:p>
          <a:p>
            <a:r>
              <a:t>measles, chicken pox and mumps.  </a:t>
            </a:r>
          </a:p>
          <a:p>
            <a:r>
              <a:t> </a:t>
            </a:r>
          </a:p>
          <a:p>
            <a:r>
              <a:t> By vaccines  </a:t>
            </a:r>
          </a:p>
          <a:p>
            <a:r>
              <a:t> </a:t>
            </a:r>
          </a:p>
          <a:p>
            <a:r>
              <a:t>Antibody: a protein that is produced in response to a particular pathogen. </a:t>
            </a:r>
          </a:p>
          <a:p>
            <a:r>
              <a:t>Antigen: the substance that induces the production of antibodies. </a:t>
            </a:r>
          </a:p>
          <a:p>
            <a:r>
              <a:t>Vaccine </a:t>
            </a:r>
          </a:p>
          <a:p>
            <a:r>
              <a:t>It is a suspension of live or killed microorganisms are antigenic portion these </a:t>
            </a:r>
          </a:p>
          <a:p>
            <a:r>
              <a:t>agents presented to potential host to induce immunity to specific disease cause by </a:t>
            </a:r>
          </a:p>
          <a:p>
            <a:r>
              <a:t>that organism. </a:t>
            </a:r>
          </a:p>
          <a:p>
            <a:r>
              <a:t>Toxoid: A modified bacterial toxin that is made nontoxic but is still able to </a:t>
            </a:r>
          </a:p>
          <a:p>
            <a:r>
              <a:t>induce an active immune response against the toxin. and toxoids (tetanus and </a:t>
            </a:r>
          </a:p>
          <a:p>
            <a:r>
              <a:t>diphtheria) </a:t>
            </a:r>
          </a:p>
          <a:p>
            <a:r>
              <a:t>The term immunity refers to all the processes used by the body to protect </a:t>
            </a:r>
          </a:p>
          <a:p>
            <a:r>
              <a:t>against foreign material from environmental sources, including microorganisms </a:t>
            </a:r>
          </a:p>
          <a:p>
            <a:r>
              <a:t>or their toxins, foods, chemicals, pollen, dander, or drugs. </a:t>
            </a:r>
          </a:p>
          <a:p>
            <a:r>
              <a:t> </a:t>
            </a:r>
          </a:p>
          <a:p>
            <a:r>
              <a:t>Types of vaccine  </a:t>
            </a:r>
          </a:p>
          <a:p>
            <a:r>
              <a:t> Live attenuated (Sabin (polio)- Measles–Mumps– BCG)  </a:t>
            </a:r>
          </a:p>
          <a:p>
            <a:r>
              <a:t> Inactivated or killed (Salk(polio)– Influenza- Rabies). </a:t>
            </a:r>
          </a:p>
          <a:p>
            <a:r>
              <a:t> Cellular fraction (Pnumoccocal Pneumonia – Meningococcal).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99 </a:t>
            </a:r>
          </a:p>
          <a:p>
            <a:r>
              <a:t> Recombined vaccine (hepatitis B)  </a:t>
            </a:r>
          </a:p>
          <a:p>
            <a:r>
              <a:t> Toxoids (Tetanus, Diphtheria). </a:t>
            </a:r>
          </a:p>
          <a:p>
            <a:r>
              <a:t> Immunoglobulin (Hepatoglobulin)  </a:t>
            </a:r>
          </a:p>
          <a:p>
            <a:r>
              <a:t> Antitoxin (Tetaglobulin) </a:t>
            </a:r>
          </a:p>
          <a:p>
            <a:r>
              <a:t> </a:t>
            </a:r>
          </a:p>
          <a:p>
            <a:r>
              <a:t>The new recommended schedule of immunization in Iraq (2018) </a:t>
            </a:r>
          </a:p>
          <a:p>
            <a:r>
              <a:t>Age </a:t>
            </a:r>
          </a:p>
          <a:p>
            <a:r>
              <a:t>Vaccine </a:t>
            </a:r>
          </a:p>
          <a:p>
            <a:r>
              <a:t>Route </a:t>
            </a:r>
          </a:p>
          <a:p>
            <a:r>
              <a:t>Dose </a:t>
            </a:r>
          </a:p>
          <a:p>
            <a:r>
              <a:t>At birth </a:t>
            </a:r>
          </a:p>
          <a:p>
            <a:r>
              <a:t>HVB1+ BCG+ OPV(0) </a:t>
            </a:r>
          </a:p>
          <a:p>
            <a:r>
              <a:t>IM+ ID+ oral </a:t>
            </a:r>
          </a:p>
          <a:p>
            <a:r>
              <a:t>0.5ml, </a:t>
            </a:r>
          </a:p>
          <a:p>
            <a:r>
              <a:t>0.05ml </a:t>
            </a:r>
          </a:p>
          <a:p>
            <a:r>
              <a:t>2 Months </a:t>
            </a:r>
          </a:p>
          <a:p>
            <a:r>
              <a:t>Hexa(1)+POLIO(1)+Rota(1)</a:t>
            </a:r>
          </a:p>
          <a:p>
            <a:r>
              <a:t>+PCV1 </a:t>
            </a:r>
          </a:p>
          <a:p>
            <a:r>
              <a:t>IM+ORAL+ORAL</a:t>
            </a:r>
          </a:p>
          <a:p>
            <a:r>
              <a:t>+IM or SC </a:t>
            </a:r>
          </a:p>
          <a:p>
            <a:r>
              <a:t>0.5ml, 2ml </a:t>
            </a:r>
          </a:p>
          <a:p>
            <a:r>
              <a:t>6 Months </a:t>
            </a:r>
          </a:p>
          <a:p>
            <a:r>
              <a:t>Hexa(3)+POLIO(3) +PCV3 </a:t>
            </a:r>
          </a:p>
          <a:p>
            <a:r>
              <a:t>IM+ORAL </a:t>
            </a:r>
          </a:p>
          <a:p>
            <a:r>
              <a:t>0.5cc </a:t>
            </a:r>
          </a:p>
          <a:p>
            <a:r>
              <a:t>9 Months </a:t>
            </a:r>
          </a:p>
          <a:p>
            <a:r>
              <a:t>MEASLES+VIT </a:t>
            </a:r>
          </a:p>
          <a:p>
            <a:r>
              <a:t>A(100000IU) </a:t>
            </a:r>
          </a:p>
          <a:p>
            <a:r>
              <a:t>SC+ORAL </a:t>
            </a:r>
          </a:p>
          <a:p>
            <a:r>
              <a:t>0.5cc </a:t>
            </a:r>
          </a:p>
          <a:p>
            <a:r>
              <a:t>15Months </a:t>
            </a:r>
          </a:p>
          <a:p>
            <a:r>
              <a:t>M.M.R </a:t>
            </a:r>
          </a:p>
          <a:p>
            <a:r>
              <a:t>SC </a:t>
            </a:r>
          </a:p>
          <a:p>
            <a:r>
              <a:t>0.5cc </a:t>
            </a:r>
          </a:p>
          <a:p>
            <a:r>
              <a:t>18-24 Months FIRST.B00STER POLIO+ </a:t>
            </a:r>
          </a:p>
          <a:p>
            <a:r>
              <a:t>Penta + 200000IU VIT. A </a:t>
            </a:r>
          </a:p>
          <a:p>
            <a:r>
              <a:t>ORAL+IM+ORAL </a:t>
            </a:r>
          </a:p>
          <a:p>
            <a:r>
              <a:t>0.5cc </a:t>
            </a:r>
          </a:p>
          <a:p>
            <a:r>
              <a:t>4-6 Years</a:t>
            </a:r>
          </a:p>
          <a:p>
            <a:r>
              <a:t> </a:t>
            </a:r>
          </a:p>
          <a:p>
            <a:r>
              <a:t>2nd..B00STER POLIO+ </a:t>
            </a:r>
          </a:p>
          <a:p>
            <a:r>
              <a:t>Tetra+ MMR </a:t>
            </a:r>
          </a:p>
          <a:p>
            <a:r>
              <a:t>ORAL+IM+SC </a:t>
            </a:r>
          </a:p>
          <a:p>
            <a:r>
              <a:t>0.5cc </a:t>
            </a:r>
          </a:p>
          <a:p>
            <a:r>
              <a:t> Abbreviations with meaning </a:t>
            </a:r>
          </a:p>
          <a:p>
            <a:r>
              <a:t>Hexa:(DTaP, Hib, HBV and IPV) </a:t>
            </a:r>
          </a:p>
          <a:p>
            <a:r>
              <a:t>Penta (DTaP, Hib and IPV) </a:t>
            </a:r>
          </a:p>
          <a:p>
            <a:r>
              <a:t>Tetra (DTaP and IPV) </a:t>
            </a:r>
          </a:p>
          <a:p>
            <a:r>
              <a:t>ROV=Rota virus vaccine = severe diarrhea </a:t>
            </a:r>
          </a:p>
          <a:p>
            <a:r>
              <a:t>DTP=diphtheria, tetanus, pertussis </a:t>
            </a:r>
          </a:p>
          <a:p>
            <a:r>
              <a:t>IPV= inactive or injection polio vaccine </a:t>
            </a:r>
          </a:p>
          <a:p>
            <a:r>
              <a:t>OPV= oral polio vaccine= poliomyelitis </a:t>
            </a:r>
          </a:p>
          <a:p>
            <a:r>
              <a:t>Hib=Haemophilus influenza type B </a:t>
            </a:r>
          </a:p>
          <a:p>
            <a:r>
              <a:t>MMR= measles, rubella, mumps </a:t>
            </a:r>
          </a:p>
          <a:p>
            <a:r>
              <a:t>PCV = pneumococcal conjugate vaccine, streptococcal pneumonia </a:t>
            </a:r>
          </a:p>
          <a:p>
            <a:r>
              <a:t>BCG=Bacille Calmette-Guerin, Tuberculosis  </a:t>
            </a:r>
          </a:p>
          <a:p>
            <a:r>
              <a:t>* If the infant develops a severe reaction to a prior dose, give DT not DPT, </a:t>
            </a:r>
          </a:p>
          <a:p>
            <a:r>
              <a:t>because the pertussis component is responsible for this severe reaction.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99 </a:t>
            </a:r>
          </a:p>
          <a:p>
            <a:r>
              <a:t> Recombined vaccine (hepatitis B)  </a:t>
            </a:r>
          </a:p>
          <a:p>
            <a:r>
              <a:t> Toxoids (Tetanus, Diphtheria). </a:t>
            </a:r>
          </a:p>
          <a:p>
            <a:r>
              <a:t> Immunoglobulin (Hepatoglobulin)  </a:t>
            </a:r>
          </a:p>
          <a:p>
            <a:r>
              <a:t> Antitoxin (Tetaglobulin) </a:t>
            </a:r>
          </a:p>
          <a:p>
            <a:r>
              <a:t> </a:t>
            </a:r>
          </a:p>
          <a:p>
            <a:r>
              <a:t>The new recommended schedule of immunization in Iraq (2018) </a:t>
            </a:r>
          </a:p>
          <a:p>
            <a:r>
              <a:t>Age </a:t>
            </a:r>
          </a:p>
          <a:p>
            <a:r>
              <a:t>Vaccine </a:t>
            </a:r>
          </a:p>
          <a:p>
            <a:r>
              <a:t>Route </a:t>
            </a:r>
          </a:p>
          <a:p>
            <a:r>
              <a:t>Dose </a:t>
            </a:r>
          </a:p>
          <a:p>
            <a:r>
              <a:t>At birth </a:t>
            </a:r>
          </a:p>
          <a:p>
            <a:r>
              <a:t>HVB1+ BCG+ OPV(0) </a:t>
            </a:r>
          </a:p>
          <a:p>
            <a:r>
              <a:t>IM+ ID+ oral </a:t>
            </a:r>
          </a:p>
          <a:p>
            <a:r>
              <a:t>0.5ml, </a:t>
            </a:r>
          </a:p>
          <a:p>
            <a:r>
              <a:t>0.05ml </a:t>
            </a:r>
          </a:p>
          <a:p>
            <a:r>
              <a:t>2 Months </a:t>
            </a:r>
          </a:p>
          <a:p>
            <a:r>
              <a:t>Hexa(1)+POLIO(1)+Rota(1)</a:t>
            </a:r>
          </a:p>
          <a:p>
            <a:r>
              <a:t>+PCV1 </a:t>
            </a:r>
          </a:p>
          <a:p>
            <a:r>
              <a:t>IM+ORAL+ORAL</a:t>
            </a:r>
          </a:p>
          <a:p>
            <a:r>
              <a:t>+IM or SC </a:t>
            </a:r>
          </a:p>
          <a:p>
            <a:r>
              <a:t>0.5ml, 2ml </a:t>
            </a:r>
          </a:p>
          <a:p>
            <a:r>
              <a:t>6 Months </a:t>
            </a:r>
          </a:p>
          <a:p>
            <a:r>
              <a:t>Hexa(3)+POLIO(3) +PCV3 </a:t>
            </a:r>
          </a:p>
          <a:p>
            <a:r>
              <a:t>IM+ORAL </a:t>
            </a:r>
          </a:p>
          <a:p>
            <a:r>
              <a:t>0.5cc </a:t>
            </a:r>
          </a:p>
          <a:p>
            <a:r>
              <a:t>9 Months </a:t>
            </a:r>
          </a:p>
          <a:p>
            <a:r>
              <a:t>MEASLES+VIT </a:t>
            </a:r>
          </a:p>
          <a:p>
            <a:r>
              <a:t>A(100000IU) </a:t>
            </a:r>
          </a:p>
          <a:p>
            <a:r>
              <a:t>SC+ORAL </a:t>
            </a:r>
          </a:p>
          <a:p>
            <a:r>
              <a:t>0.5cc </a:t>
            </a:r>
          </a:p>
          <a:p>
            <a:r>
              <a:t>15Months </a:t>
            </a:r>
          </a:p>
          <a:p>
            <a:r>
              <a:t>M.M.R </a:t>
            </a:r>
          </a:p>
          <a:p>
            <a:r>
              <a:t>SC </a:t>
            </a:r>
          </a:p>
          <a:p>
            <a:r>
              <a:t>0.5cc </a:t>
            </a:r>
          </a:p>
          <a:p>
            <a:r>
              <a:t>18-24 Months FIRST.B00STER POLIO+ </a:t>
            </a:r>
          </a:p>
          <a:p>
            <a:r>
              <a:t>Penta + 200000IU VIT. A </a:t>
            </a:r>
          </a:p>
          <a:p>
            <a:r>
              <a:t>ORAL+IM+ORAL </a:t>
            </a:r>
          </a:p>
          <a:p>
            <a:r>
              <a:t>0.5cc </a:t>
            </a:r>
          </a:p>
          <a:p>
            <a:r>
              <a:t>4-6 Years</a:t>
            </a:r>
          </a:p>
          <a:p>
            <a:r>
              <a:t> </a:t>
            </a:r>
          </a:p>
          <a:p>
            <a:r>
              <a:t>2nd..B00STER POLIO+ </a:t>
            </a:r>
          </a:p>
          <a:p>
            <a:r>
              <a:t>Tetra+ MMR </a:t>
            </a:r>
          </a:p>
          <a:p>
            <a:r>
              <a:t>ORAL+IM+SC </a:t>
            </a:r>
          </a:p>
          <a:p>
            <a:r>
              <a:t>0.5cc </a:t>
            </a:r>
          </a:p>
          <a:p>
            <a:r>
              <a:t> Abbreviations with meaning </a:t>
            </a:r>
          </a:p>
          <a:p>
            <a:r>
              <a:t>Hexa:(DTaP, Hib, HBV and IPV) </a:t>
            </a:r>
          </a:p>
          <a:p>
            <a:r>
              <a:t>Penta (DTaP, Hib and IPV) </a:t>
            </a:r>
          </a:p>
          <a:p>
            <a:r>
              <a:t>Tetra (DTaP and IPV) </a:t>
            </a:r>
          </a:p>
          <a:p>
            <a:r>
              <a:t>ROV=Rota virus vaccine = severe diarrhea </a:t>
            </a:r>
          </a:p>
          <a:p>
            <a:r>
              <a:t>DTP=diphtheria, tetanus, pertussis </a:t>
            </a:r>
          </a:p>
          <a:p>
            <a:r>
              <a:t>IPV= inactive or injection polio vaccine </a:t>
            </a:r>
          </a:p>
          <a:p>
            <a:r>
              <a:t>OPV= oral polio vaccine= poliomyelitis </a:t>
            </a:r>
          </a:p>
          <a:p>
            <a:r>
              <a:t>Hib=Haemophilus influenza type B </a:t>
            </a:r>
          </a:p>
          <a:p>
            <a:r>
              <a:t>MMR= measles, rubella, mumps </a:t>
            </a:r>
          </a:p>
          <a:p>
            <a:r>
              <a:t>PCV = pneumococcal conjugate vaccine, streptococcal pneumonia </a:t>
            </a:r>
          </a:p>
          <a:p>
            <a:r>
              <a:t>BCG=Bacille Calmette-Guerin, Tuberculosis  </a:t>
            </a:r>
          </a:p>
          <a:p>
            <a:r>
              <a:t>* If the infant develops a severe reaction to a prior dose, give DT not DPT, </a:t>
            </a:r>
          </a:p>
          <a:p>
            <a:r>
              <a:t>because the pertussis component is responsible for this severe reaction.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100 </a:t>
            </a:r>
          </a:p>
          <a:p>
            <a:r>
              <a:t> </a:t>
            </a:r>
          </a:p>
          <a:p>
            <a:r>
              <a:t>BCG: contraindication with side effects </a:t>
            </a:r>
          </a:p>
          <a:p>
            <a:r>
              <a:t> The dose is 0.05ml intradermal in the deltoid region, successful vaccine </a:t>
            </a:r>
          </a:p>
          <a:p>
            <a:r>
              <a:t>produces a small indurated area (2-4mm) after 3-4weeks. The lesion </a:t>
            </a:r>
          </a:p>
          <a:p>
            <a:r>
              <a:t>progresses to a papule or shallow ulcer of approximately 10 mm diameter </a:t>
            </a:r>
          </a:p>
          <a:p>
            <a:r>
              <a:t>and heals within 12 weeks to form   </a:t>
            </a:r>
          </a:p>
          <a:p>
            <a:r>
              <a:t> small, flat scar. </a:t>
            </a:r>
          </a:p>
          <a:p>
            <a:r>
              <a:t> If given subcutaneously (instead of the usual intra-dermal route) it will lead </a:t>
            </a:r>
          </a:p>
          <a:p>
            <a:r>
              <a:t>to abscess formation &amp; regional lymphadenopathy. </a:t>
            </a:r>
          </a:p>
          <a:p>
            <a:r>
              <a:t> If the child is Tuberculin positive, it will lead to a severe reaction. </a:t>
            </a:r>
          </a:p>
          <a:p>
            <a:r>
              <a:t> Efficacy 50%for pulmonary TB, 50-80%for disseminated &amp; meningeal TB. </a:t>
            </a:r>
          </a:p>
          <a:p>
            <a:r>
              <a:t>B.C.G Side effects: </a:t>
            </a:r>
          </a:p>
          <a:p>
            <a:r>
              <a:t> Regional Lymphadenitis. </a:t>
            </a:r>
          </a:p>
          <a:p>
            <a:r>
              <a:t> Abscess. </a:t>
            </a:r>
          </a:p>
          <a:p>
            <a:r>
              <a:t> Osteomyelitis. </a:t>
            </a:r>
          </a:p>
          <a:p>
            <a:r>
              <a:t> Disseminated B.C.G infection (if immune deficient) </a:t>
            </a:r>
          </a:p>
          <a:p>
            <a:r>
              <a:t> Poliomyelitis Vaccines  </a:t>
            </a:r>
          </a:p>
          <a:p>
            <a:r>
              <a:t>1. Polio Vaccine </a:t>
            </a:r>
          </a:p>
          <a:p>
            <a:r>
              <a:t>There are two types of polio vaccine Sabin and Salk vaccine. </a:t>
            </a:r>
          </a:p>
          <a:p>
            <a:r>
              <a:t>A: sabin (oral) vaccine:  </a:t>
            </a:r>
          </a:p>
          <a:p>
            <a:r>
              <a:t>• It is preferred agent for prophylaxis.  </a:t>
            </a:r>
          </a:p>
          <a:p>
            <a:r>
              <a:t>• It eases of administration. </a:t>
            </a:r>
          </a:p>
          <a:p>
            <a:r>
              <a:t>• It is a vaccine containing live attenuated viruses.  </a:t>
            </a:r>
          </a:p>
          <a:p>
            <a:r>
              <a:t>• The vaccine is clear pink liquid and is kept at 00C to +80C at the Health </a:t>
            </a:r>
          </a:p>
          <a:p>
            <a:r>
              <a:t>Center on the top shelf of the refrigerator. </a:t>
            </a:r>
          </a:p>
          <a:p>
            <a:r>
              <a:t>•  Keeps the vaccine in a cup containing ice during the vaccination session. </a:t>
            </a:r>
          </a:p>
          <a:p>
            <a:r>
              <a:t>• This immunization protects not only the individual but also gives mass </a:t>
            </a:r>
          </a:p>
          <a:p>
            <a:r>
              <a:t>immunization to the community because the immune person is less likely carry </a:t>
            </a:r>
          </a:p>
          <a:p>
            <a:r>
              <a:t>the wild virus in his intestine and acts as a vector to the others due to the gained </a:t>
            </a:r>
          </a:p>
          <a:p>
            <a:r>
              <a:t>gastrointestinal immunity. </a:t>
            </a:r>
          </a:p>
          <a:p>
            <a:r>
              <a:t>• Throw away the vaccine that remains in the vial after every vaccination </a:t>
            </a:r>
          </a:p>
          <a:p>
            <a:r>
              <a:t>session even if this vial was opened for a single child, and do not keep it in the </a:t>
            </a:r>
          </a:p>
          <a:p>
            <a:r>
              <a:t>refrigerator.  </a:t>
            </a:r>
          </a:p>
          <a:p>
            <a:r>
              <a:t>• Let the mother hold the infant lying on his back and open the infant mouth </a:t>
            </a:r>
          </a:p>
          <a:p>
            <a:r>
              <a:t>by squeezing cheeks gently between your fingers then put two drops of the </a:t>
            </a:r>
          </a:p>
          <a:p>
            <a:r>
              <a:t>vaccine straight from the dropper into the child tongue. </a:t>
            </a:r>
          </a:p>
          <a:p>
            <a:r>
              <a:t>• Repeat the dose if the child spits out the drops.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100 </a:t>
            </a:r>
          </a:p>
          <a:p>
            <a:r>
              <a:t> </a:t>
            </a:r>
          </a:p>
          <a:p>
            <a:r>
              <a:t>BCG: contraindication with side effects </a:t>
            </a:r>
          </a:p>
          <a:p>
            <a:r>
              <a:t> The dose is 0.05ml intradermal in the deltoid region, successful vaccine </a:t>
            </a:r>
          </a:p>
          <a:p>
            <a:r>
              <a:t>produces a small indurated area (2-4mm) after 3-4weeks. The lesion </a:t>
            </a:r>
          </a:p>
          <a:p>
            <a:r>
              <a:t>progresses to a papule or shallow ulcer of approximately 10 mm diameter </a:t>
            </a:r>
          </a:p>
          <a:p>
            <a:r>
              <a:t>and heals within 12 weeks to form   </a:t>
            </a:r>
          </a:p>
          <a:p>
            <a:r>
              <a:t> small, flat scar. </a:t>
            </a:r>
          </a:p>
          <a:p>
            <a:r>
              <a:t> If given subcutaneously (instead of the usual intra-dermal route) it will lead </a:t>
            </a:r>
          </a:p>
          <a:p>
            <a:r>
              <a:t>to abscess formation &amp; regional lymphadenopathy. </a:t>
            </a:r>
          </a:p>
          <a:p>
            <a:r>
              <a:t> If the child is Tuberculin positive, it will lead to a severe reaction. </a:t>
            </a:r>
          </a:p>
          <a:p>
            <a:r>
              <a:t> Efficacy 50%for pulmonary TB, 50-80%for disseminated &amp; meningeal TB. </a:t>
            </a:r>
          </a:p>
          <a:p>
            <a:r>
              <a:t>B.C.G Side effects: </a:t>
            </a:r>
          </a:p>
          <a:p>
            <a:r>
              <a:t> Regional Lymphadenitis. </a:t>
            </a:r>
          </a:p>
          <a:p>
            <a:r>
              <a:t> Abscess. </a:t>
            </a:r>
          </a:p>
          <a:p>
            <a:r>
              <a:t> Osteomyelitis. </a:t>
            </a:r>
          </a:p>
          <a:p>
            <a:r>
              <a:t> Disseminated B.C.G infection (if immune deficient) </a:t>
            </a:r>
          </a:p>
          <a:p>
            <a:r>
              <a:t> Poliomyelitis Vaccines  </a:t>
            </a:r>
          </a:p>
          <a:p>
            <a:r>
              <a:t>1. Polio Vaccine </a:t>
            </a:r>
          </a:p>
          <a:p>
            <a:r>
              <a:t>There are two types of polio vaccine Sabin and Salk vaccine. </a:t>
            </a:r>
          </a:p>
          <a:p>
            <a:r>
              <a:t>A: sabin (oral) vaccine:  </a:t>
            </a:r>
          </a:p>
          <a:p>
            <a:r>
              <a:t>• It is preferred agent for prophylaxis.  </a:t>
            </a:r>
          </a:p>
          <a:p>
            <a:r>
              <a:t>• It eases of administration. </a:t>
            </a:r>
          </a:p>
          <a:p>
            <a:r>
              <a:t>• It is a vaccine containing live attenuated viruses.  </a:t>
            </a:r>
          </a:p>
          <a:p>
            <a:r>
              <a:t>• The vaccine is clear pink liquid and is kept at 00C to +80C at the Health </a:t>
            </a:r>
          </a:p>
          <a:p>
            <a:r>
              <a:t>Center on the top shelf of the refrigerator. </a:t>
            </a:r>
          </a:p>
          <a:p>
            <a:r>
              <a:t>•  Keeps the vaccine in a cup containing ice during the vaccination session. </a:t>
            </a:r>
          </a:p>
          <a:p>
            <a:r>
              <a:t>• This immunization protects not only the individual but also gives mass </a:t>
            </a:r>
          </a:p>
          <a:p>
            <a:r>
              <a:t>immunization to the community because the immune person is less likely carry </a:t>
            </a:r>
          </a:p>
          <a:p>
            <a:r>
              <a:t>the wild virus in his intestine and acts as a vector to the others due to the gained </a:t>
            </a:r>
          </a:p>
          <a:p>
            <a:r>
              <a:t>gastrointestinal immunity. </a:t>
            </a:r>
          </a:p>
          <a:p>
            <a:r>
              <a:t>• Throw away the vaccine that remains in the vial after every vaccination </a:t>
            </a:r>
          </a:p>
          <a:p>
            <a:r>
              <a:t>session even if this vial was opened for a single child, and do not keep it in the </a:t>
            </a:r>
          </a:p>
          <a:p>
            <a:r>
              <a:t>refrigerator.  </a:t>
            </a:r>
          </a:p>
          <a:p>
            <a:r>
              <a:t>• Let the mother hold the infant lying on his back and open the infant mouth </a:t>
            </a:r>
          </a:p>
          <a:p>
            <a:r>
              <a:t>by squeezing cheeks gently between your fingers then put two drops of the </a:t>
            </a:r>
          </a:p>
          <a:p>
            <a:r>
              <a:t>vaccine straight from the dropper into the child tongue. </a:t>
            </a:r>
          </a:p>
          <a:p>
            <a:r>
              <a:t>• Repeat the dose if the child spits out the drops.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100 </a:t>
            </a:r>
          </a:p>
          <a:p>
            <a:r>
              <a:t> </a:t>
            </a:r>
          </a:p>
          <a:p>
            <a:r>
              <a:t>BCG: contraindication with side effects </a:t>
            </a:r>
          </a:p>
          <a:p>
            <a:r>
              <a:t> The dose is 0.05ml intradermal in the deltoid region, successful vaccine </a:t>
            </a:r>
          </a:p>
          <a:p>
            <a:r>
              <a:t>produces a small indurated area (2-4mm) after 3-4weeks. The lesion </a:t>
            </a:r>
          </a:p>
          <a:p>
            <a:r>
              <a:t>progresses to a papule or shallow ulcer of approximately 10 mm diameter </a:t>
            </a:r>
          </a:p>
          <a:p>
            <a:r>
              <a:t>and heals within 12 weeks to form   </a:t>
            </a:r>
          </a:p>
          <a:p>
            <a:r>
              <a:t> small, flat scar. </a:t>
            </a:r>
          </a:p>
          <a:p>
            <a:r>
              <a:t> If given subcutaneously (instead of the usual intra-dermal route) it will lead </a:t>
            </a:r>
          </a:p>
          <a:p>
            <a:r>
              <a:t>to abscess formation &amp; regional lymphadenopathy. </a:t>
            </a:r>
          </a:p>
          <a:p>
            <a:r>
              <a:t> If the child is Tuberculin positive, it will lead to a severe reaction. </a:t>
            </a:r>
          </a:p>
          <a:p>
            <a:r>
              <a:t> Efficacy 50%for pulmonary TB, 50-80%for disseminated &amp; meningeal TB. </a:t>
            </a:r>
          </a:p>
          <a:p>
            <a:r>
              <a:t>B.C.G Side effects: </a:t>
            </a:r>
          </a:p>
          <a:p>
            <a:r>
              <a:t> Regional Lymphadenitis. </a:t>
            </a:r>
          </a:p>
          <a:p>
            <a:r>
              <a:t> Abscess. </a:t>
            </a:r>
          </a:p>
          <a:p>
            <a:r>
              <a:t> Osteomyelitis. </a:t>
            </a:r>
          </a:p>
          <a:p>
            <a:r>
              <a:t> Disseminated B.C.G infection (if immune deficient) </a:t>
            </a:r>
          </a:p>
          <a:p>
            <a:r>
              <a:t> Poliomyelitis Vaccines  </a:t>
            </a:r>
          </a:p>
          <a:p>
            <a:r>
              <a:t>1. Polio Vaccine </a:t>
            </a:r>
          </a:p>
          <a:p>
            <a:r>
              <a:t>There are two types of polio vaccine Sabin and Salk vaccine. </a:t>
            </a:r>
          </a:p>
          <a:p>
            <a:r>
              <a:t>A: sabin (oral) vaccine:  </a:t>
            </a:r>
          </a:p>
          <a:p>
            <a:r>
              <a:t>• It is preferred agent for prophylaxis.  </a:t>
            </a:r>
          </a:p>
          <a:p>
            <a:r>
              <a:t>• It eases of administration. </a:t>
            </a:r>
          </a:p>
          <a:p>
            <a:r>
              <a:t>• It is a vaccine containing live attenuated viruses.  </a:t>
            </a:r>
          </a:p>
          <a:p>
            <a:r>
              <a:t>• The vaccine is clear pink liquid and is kept at 00C to +80C at the Health </a:t>
            </a:r>
          </a:p>
          <a:p>
            <a:r>
              <a:t>Center on the top shelf of the refrigerator. </a:t>
            </a:r>
          </a:p>
          <a:p>
            <a:r>
              <a:t>•  Keeps the vaccine in a cup containing ice during the vaccination session. </a:t>
            </a:r>
          </a:p>
          <a:p>
            <a:r>
              <a:t>• This immunization protects not only the individual but also gives mass </a:t>
            </a:r>
          </a:p>
          <a:p>
            <a:r>
              <a:t>immunization to the community because the immune person is less likely carry </a:t>
            </a:r>
          </a:p>
          <a:p>
            <a:r>
              <a:t>the wild virus in his intestine and acts as a vector to the others due to the gained </a:t>
            </a:r>
          </a:p>
          <a:p>
            <a:r>
              <a:t>gastrointestinal immunity. </a:t>
            </a:r>
          </a:p>
          <a:p>
            <a:r>
              <a:t>• Throw away the vaccine that remains in the vial after every vaccination </a:t>
            </a:r>
          </a:p>
          <a:p>
            <a:r>
              <a:t>session even if this vial was opened for a single child, and do not keep it in the </a:t>
            </a:r>
          </a:p>
          <a:p>
            <a:r>
              <a:t>refrigerator.  </a:t>
            </a:r>
          </a:p>
          <a:p>
            <a:r>
              <a:t>• Let the mother hold the infant lying on his back and open the infant mouth </a:t>
            </a:r>
          </a:p>
          <a:p>
            <a:r>
              <a:t>by squeezing cheeks gently between your fingers then put two drops of the </a:t>
            </a:r>
          </a:p>
          <a:p>
            <a:r>
              <a:t>vaccine straight from the dropper into the child tongue. </a:t>
            </a:r>
          </a:p>
          <a:p>
            <a:r>
              <a:t>• Repeat the dose if the child spits out the drops.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101 </a:t>
            </a:r>
          </a:p>
          <a:p>
            <a:r>
              <a:t>• Lactation has no effect on the potency of the vaccine. </a:t>
            </a:r>
          </a:p>
          <a:p>
            <a:r>
              <a:t>• The vaccination may be not effective if the child has diarrhoea. So, after </a:t>
            </a:r>
          </a:p>
          <a:p>
            <a:r>
              <a:t>giving the vaccine it must be repeated. There is no harm in repeating the </a:t>
            </a:r>
          </a:p>
          <a:p>
            <a:r>
              <a:t>vaccination </a:t>
            </a:r>
          </a:p>
          <a:p>
            <a:r>
              <a:t>B: Salk vaccine (inactivated vaccine) </a:t>
            </a:r>
          </a:p>
          <a:p>
            <a:r>
              <a:t>• Effective in prevention of polio. </a:t>
            </a:r>
          </a:p>
          <a:p>
            <a:r>
              <a:t>• The vaccine has longer life span than Sabin.  </a:t>
            </a:r>
          </a:p>
          <a:p>
            <a:r>
              <a:t>It has to be injected so, it is difficult to be used in mass immunization </a:t>
            </a:r>
          </a:p>
          <a:p>
            <a:r>
              <a:t>DPT vaccine: side effects </a:t>
            </a:r>
          </a:p>
          <a:p>
            <a:r>
              <a:t>Side effects:  </a:t>
            </a:r>
          </a:p>
          <a:p>
            <a:r>
              <a:t>The side effects are due to the pertussis and include: </a:t>
            </a:r>
          </a:p>
          <a:p>
            <a:r>
              <a:t> Mild side effects: Local swelling and tenderness, slight fever but fever may </a:t>
            </a:r>
          </a:p>
          <a:p>
            <a:r>
              <a:t>reach to 40 oc and disappears in few days. </a:t>
            </a:r>
          </a:p>
          <a:p>
            <a:r>
              <a:t> Moderate side effects: shock  </a:t>
            </a:r>
          </a:p>
          <a:p>
            <a:r>
              <a:t> Severe side effects: Convulsions, encephalopathy, and brain         damage </a:t>
            </a:r>
          </a:p>
          <a:p>
            <a:r>
              <a:t>but are rare. </a:t>
            </a:r>
          </a:p>
          <a:p>
            <a:r>
              <a:t>NB: </a:t>
            </a:r>
          </a:p>
          <a:p>
            <a:r>
              <a:t>1 If one of severe complications occurred do not give the pertussis again, </a:t>
            </a:r>
          </a:p>
          <a:p>
            <a:r>
              <a:t>but we will give D.T vaccine only.  </a:t>
            </a:r>
          </a:p>
          <a:p>
            <a:r>
              <a:t>2 Pertussis vaccine is not given after 6 years of age for the fear of </a:t>
            </a:r>
          </a:p>
          <a:p>
            <a:r>
              <a:t>complications so D.T is given. </a:t>
            </a:r>
          </a:p>
          <a:p>
            <a:r>
              <a:t>Minor reactions are quite frequent in 20–50% of vaccines. Local reactions include: </a:t>
            </a:r>
          </a:p>
          <a:p>
            <a:r>
              <a:t>Inflammation, induration or a painless nodule at the site of injection. These are </a:t>
            </a:r>
          </a:p>
          <a:p>
            <a:r>
              <a:t>progressively more common after the first injection </a:t>
            </a:r>
          </a:p>
          <a:p>
            <a:r>
              <a:t>– Moderate reaction occur in 0.1% to 1.0% of children and include: </a:t>
            </a:r>
          </a:p>
          <a:p>
            <a:r>
              <a:t> ongoing crying (for three hours or more in the first 12 hours), </a:t>
            </a:r>
          </a:p>
          <a:p>
            <a:r>
              <a:t> a high fever (up to 40°C), and </a:t>
            </a:r>
          </a:p>
          <a:p>
            <a:r>
              <a:t> an unusual (screaming), high-pitched crying </a:t>
            </a:r>
          </a:p>
          <a:p>
            <a:r>
              <a:t>– Severe problems happen very rarely (1 in 140,000 doses of DPT). Include; </a:t>
            </a:r>
          </a:p>
          <a:p>
            <a:r>
              <a:t> a serious allergic reaction, </a:t>
            </a:r>
          </a:p>
          <a:p>
            <a:r>
              <a:t> prolonged seizures, </a:t>
            </a:r>
          </a:p>
          <a:p>
            <a:r>
              <a:t> encephalopathy, or even death </a:t>
            </a:r>
          </a:p>
          <a:p>
            <a:r>
              <a:t>MMR vaccine: side effects </a:t>
            </a:r>
          </a:p>
          <a:p>
            <a:r>
              <a:t>Because MMR is a live-attenuated vaccine, non–allergy-related side effects are </a:t>
            </a:r>
          </a:p>
          <a:p>
            <a:r>
              <a:t>noted 5 to 12 days following immunization.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101 </a:t>
            </a:r>
          </a:p>
          <a:p>
            <a:r>
              <a:t>• Lactation has no effect on the potency of the vaccine. </a:t>
            </a:r>
          </a:p>
          <a:p>
            <a:r>
              <a:t>• The vaccination may be not effective if the child has diarrhoea. So, after </a:t>
            </a:r>
          </a:p>
          <a:p>
            <a:r>
              <a:t>giving the vaccine it must be repeated. There is no harm in repeating the </a:t>
            </a:r>
          </a:p>
          <a:p>
            <a:r>
              <a:t>vaccination </a:t>
            </a:r>
          </a:p>
          <a:p>
            <a:r>
              <a:t>B: Salk vaccine (inactivated vaccine) </a:t>
            </a:r>
          </a:p>
          <a:p>
            <a:r>
              <a:t>• Effective in prevention of polio. </a:t>
            </a:r>
          </a:p>
          <a:p>
            <a:r>
              <a:t>• The vaccine has longer life span than Sabin.  </a:t>
            </a:r>
          </a:p>
          <a:p>
            <a:r>
              <a:t>It has to be injected so, it is difficult to be used in mass immunization </a:t>
            </a:r>
          </a:p>
          <a:p>
            <a:r>
              <a:t>DPT vaccine: side effects </a:t>
            </a:r>
          </a:p>
          <a:p>
            <a:r>
              <a:t>Side effects:  </a:t>
            </a:r>
          </a:p>
          <a:p>
            <a:r>
              <a:t>The side effects are due to the pertussis and include: </a:t>
            </a:r>
          </a:p>
          <a:p>
            <a:r>
              <a:t> Mild side effects: Local swelling and tenderness, slight fever but fever may </a:t>
            </a:r>
          </a:p>
          <a:p>
            <a:r>
              <a:t>reach to 40 oc and disappears in few days. </a:t>
            </a:r>
          </a:p>
          <a:p>
            <a:r>
              <a:t> Moderate side effects: shock  </a:t>
            </a:r>
          </a:p>
          <a:p>
            <a:r>
              <a:t> Severe side effects: Convulsions, encephalopathy, and brain         damage </a:t>
            </a:r>
          </a:p>
          <a:p>
            <a:r>
              <a:t>but are rare. </a:t>
            </a:r>
          </a:p>
          <a:p>
            <a:r>
              <a:t>NB: </a:t>
            </a:r>
          </a:p>
          <a:p>
            <a:r>
              <a:t>1 If one of severe complications occurred do not give the pertussis again, </a:t>
            </a:r>
          </a:p>
          <a:p>
            <a:r>
              <a:t>but we will give D.T vaccine only.  </a:t>
            </a:r>
          </a:p>
          <a:p>
            <a:r>
              <a:t>2 Pertussis vaccine is not given after 6 years of age for the fear of </a:t>
            </a:r>
          </a:p>
          <a:p>
            <a:r>
              <a:t>complications so D.T is given. </a:t>
            </a:r>
          </a:p>
          <a:p>
            <a:r>
              <a:t>Minor reactions are quite frequent in 20–50% of vaccines. Local reactions include: </a:t>
            </a:r>
          </a:p>
          <a:p>
            <a:r>
              <a:t>Inflammation, induration or a painless nodule at the site of injection. These are </a:t>
            </a:r>
          </a:p>
          <a:p>
            <a:r>
              <a:t>progressively more common after the first injection </a:t>
            </a:r>
          </a:p>
          <a:p>
            <a:r>
              <a:t>– Moderate reaction occur in 0.1% to 1.0% of children and include: </a:t>
            </a:r>
          </a:p>
          <a:p>
            <a:r>
              <a:t> ongoing crying (for three hours or more in the first 12 hours), </a:t>
            </a:r>
          </a:p>
          <a:p>
            <a:r>
              <a:t> a high fever (up to 40°C), and </a:t>
            </a:r>
          </a:p>
          <a:p>
            <a:r>
              <a:t> an unusual (screaming), high-pitched crying </a:t>
            </a:r>
          </a:p>
          <a:p>
            <a:r>
              <a:t>– Severe problems happen very rarely (1 in 140,000 doses of DPT). Include; </a:t>
            </a:r>
          </a:p>
          <a:p>
            <a:r>
              <a:t> a serious allergic reaction, </a:t>
            </a:r>
          </a:p>
          <a:p>
            <a:r>
              <a:t> prolonged seizures, </a:t>
            </a:r>
          </a:p>
          <a:p>
            <a:r>
              <a:t> encephalopathy, or even death </a:t>
            </a:r>
          </a:p>
          <a:p>
            <a:r>
              <a:t>MMR vaccine: side effects </a:t>
            </a:r>
          </a:p>
          <a:p>
            <a:r>
              <a:t>Because MMR is a live-attenuated vaccine, non–allergy-related side effects are </a:t>
            </a:r>
          </a:p>
          <a:p>
            <a:r>
              <a:t>noted 5 to 12 days following immunization.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101 </a:t>
            </a:r>
          </a:p>
          <a:p>
            <a:r>
              <a:t>• Lactation has no effect on the potency of the vaccine. </a:t>
            </a:r>
          </a:p>
          <a:p>
            <a:r>
              <a:t>• The vaccination may be not effective if the child has diarrhoea. So, after </a:t>
            </a:r>
          </a:p>
          <a:p>
            <a:r>
              <a:t>giving the vaccine it must be repeated. There is no harm in repeating the </a:t>
            </a:r>
          </a:p>
          <a:p>
            <a:r>
              <a:t>vaccination </a:t>
            </a:r>
          </a:p>
          <a:p>
            <a:r>
              <a:t>B: Salk vaccine (inactivated vaccine) </a:t>
            </a:r>
          </a:p>
          <a:p>
            <a:r>
              <a:t>• Effective in prevention of polio. </a:t>
            </a:r>
          </a:p>
          <a:p>
            <a:r>
              <a:t>• The vaccine has longer life span than Sabin.  </a:t>
            </a:r>
          </a:p>
          <a:p>
            <a:r>
              <a:t>It has to be injected so, it is difficult to be used in mass immunization </a:t>
            </a:r>
          </a:p>
          <a:p>
            <a:r>
              <a:t>DPT vaccine: side effects </a:t>
            </a:r>
          </a:p>
          <a:p>
            <a:r>
              <a:t>Side effects:  </a:t>
            </a:r>
          </a:p>
          <a:p>
            <a:r>
              <a:t>The side effects are due to the pertussis and include: </a:t>
            </a:r>
          </a:p>
          <a:p>
            <a:r>
              <a:t> Mild side effects: Local swelling and tenderness, slight fever but fever may </a:t>
            </a:r>
          </a:p>
          <a:p>
            <a:r>
              <a:t>reach to 40 oc and disappears in few days. </a:t>
            </a:r>
          </a:p>
          <a:p>
            <a:r>
              <a:t> Moderate side effects: shock  </a:t>
            </a:r>
          </a:p>
          <a:p>
            <a:r>
              <a:t> Severe side effects: Convulsions, encephalopathy, and brain         damage </a:t>
            </a:r>
          </a:p>
          <a:p>
            <a:r>
              <a:t>but are rare. </a:t>
            </a:r>
          </a:p>
          <a:p>
            <a:r>
              <a:t>NB: </a:t>
            </a:r>
          </a:p>
          <a:p>
            <a:r>
              <a:t>1 If one of severe complications occurred do not give the pertussis again, </a:t>
            </a:r>
          </a:p>
          <a:p>
            <a:r>
              <a:t>but we will give D.T vaccine only.  </a:t>
            </a:r>
          </a:p>
          <a:p>
            <a:r>
              <a:t>2 Pertussis vaccine is not given after 6 years of age for the fear of </a:t>
            </a:r>
          </a:p>
          <a:p>
            <a:r>
              <a:t>complications so D.T is given. </a:t>
            </a:r>
          </a:p>
          <a:p>
            <a:r>
              <a:t>Minor reactions are quite frequent in 20–50% of vaccines. Local reactions include: </a:t>
            </a:r>
          </a:p>
          <a:p>
            <a:r>
              <a:t>Inflammation, induration or a painless nodule at the site of injection. These are </a:t>
            </a:r>
          </a:p>
          <a:p>
            <a:r>
              <a:t>progressively more common after the first injection </a:t>
            </a:r>
          </a:p>
          <a:p>
            <a:r>
              <a:t>– Moderate reaction occur in 0.1% to 1.0% of children and include: </a:t>
            </a:r>
          </a:p>
          <a:p>
            <a:r>
              <a:t> ongoing crying (for three hours or more in the first 12 hours), </a:t>
            </a:r>
          </a:p>
          <a:p>
            <a:r>
              <a:t> a high fever (up to 40°C), and </a:t>
            </a:r>
          </a:p>
          <a:p>
            <a:r>
              <a:t> an unusual (screaming), high-pitched crying </a:t>
            </a:r>
          </a:p>
          <a:p>
            <a:r>
              <a:t>– Severe problems happen very rarely (1 in 140,000 doses of DPT). Include; </a:t>
            </a:r>
          </a:p>
          <a:p>
            <a:r>
              <a:t> a serious allergic reaction, </a:t>
            </a:r>
          </a:p>
          <a:p>
            <a:r>
              <a:t> prolonged seizures, </a:t>
            </a:r>
          </a:p>
          <a:p>
            <a:r>
              <a:t> encephalopathy, or even death </a:t>
            </a:r>
          </a:p>
          <a:p>
            <a:r>
              <a:t>MMR vaccine: side effects </a:t>
            </a:r>
          </a:p>
          <a:p>
            <a:r>
              <a:t>Because MMR is a live-attenuated vaccine, non–allergy-related side effects are </a:t>
            </a:r>
          </a:p>
          <a:p>
            <a:r>
              <a:t>noted 5 to 12 days following immunization.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102 </a:t>
            </a:r>
          </a:p>
          <a:p>
            <a:r>
              <a:t> Fever and rash are relatively common, experienced by 5% to 15% of </a:t>
            </a:r>
          </a:p>
          <a:p>
            <a:r>
              <a:t>recipients. </a:t>
            </a:r>
          </a:p>
          <a:p>
            <a:r>
              <a:t> Transient arthritis has been reported. </a:t>
            </a:r>
          </a:p>
          <a:p>
            <a:r>
              <a:t> Thrombocytopenia (rare) </a:t>
            </a:r>
          </a:p>
          <a:p>
            <a:r>
              <a:t> Encephalopathy (very rare) </a:t>
            </a:r>
          </a:p>
          <a:p>
            <a:r>
              <a:t> A general rule of thumb is the “rule of 10”—about 10% of children get a </a:t>
            </a:r>
          </a:p>
          <a:p>
            <a:r>
              <a:t>rash approximately 10 days after vaccine administration. </a:t>
            </a:r>
          </a:p>
          <a:p>
            <a:r>
              <a:t>     MMR: Contraindications  </a:t>
            </a:r>
          </a:p>
          <a:p>
            <a:r>
              <a:t> Severe allergic reaction to vaccine component or following prior dose </a:t>
            </a:r>
          </a:p>
          <a:p>
            <a:r>
              <a:t> Pregnancy </a:t>
            </a:r>
          </a:p>
          <a:p>
            <a:r>
              <a:t> Immunosuppression </a:t>
            </a:r>
          </a:p>
          <a:p>
            <a:r>
              <a:t> Moderate or severe acute illness </a:t>
            </a:r>
          </a:p>
          <a:p>
            <a:r>
              <a:t> Recent blood product </a:t>
            </a:r>
          </a:p>
          <a:p>
            <a:r>
              <a:t> </a:t>
            </a:r>
          </a:p>
          <a:p>
            <a:r>
              <a:t>Measles side effects: </a:t>
            </a:r>
          </a:p>
          <a:p>
            <a:r>
              <a:t>Side Effects </a:t>
            </a:r>
          </a:p>
          <a:p>
            <a:r>
              <a:t>•  Mild fever and rash develop after 8-12 days, and last for 1-3 days in about </a:t>
            </a:r>
          </a:p>
          <a:p>
            <a:r>
              <a:t>15% of vaccinated children.  </a:t>
            </a:r>
          </a:p>
          <a:p>
            <a:r>
              <a:t>•  The risk of encephalitis 1/106 but the risk of developing encephalitis as a </a:t>
            </a:r>
          </a:p>
          <a:p>
            <a:r>
              <a:t>complication of measles is 1/1000 so by vaccinating children, we have </a:t>
            </a:r>
          </a:p>
          <a:p>
            <a:r>
              <a:t>diluted the incidence of encephalitis by 1000 times.  </a:t>
            </a:r>
          </a:p>
          <a:p>
            <a:r>
              <a:t>•  Other complications of measles are diarrhoea, bronchitis, pneumonia, </a:t>
            </a:r>
          </a:p>
          <a:p>
            <a:r>
              <a:t>conjunctivitis and malnutrition. These are also prevented by vaccination. </a:t>
            </a:r>
          </a:p>
          <a:p>
            <a:r>
              <a:t>Hepatitis B vaccine side effects: </a:t>
            </a:r>
          </a:p>
          <a:p>
            <a:r>
              <a:t>Transient erythema and induration at the site of injection, fever malaise, flu-</a:t>
            </a:r>
          </a:p>
          <a:p>
            <a:r>
              <a:t>like illness, arthritis, myalgia and arthralgia. </a:t>
            </a:r>
          </a:p>
          <a:p>
            <a:r>
              <a:t>Rota virus vaccine: side effects </a:t>
            </a:r>
          </a:p>
          <a:p>
            <a:r>
              <a:t>diarrhea, vomiting, Nasopharyngitis, otitis media, and bronchospasm. </a:t>
            </a:r>
          </a:p>
          <a:p>
            <a:r>
              <a:t>Immuno-compromised children: </a:t>
            </a:r>
          </a:p>
          <a:p>
            <a:r>
              <a:t> In general, children who are immunological compromised should not </a:t>
            </a:r>
          </a:p>
          <a:p>
            <a:r>
              <a:t>receive live bacterial or viral vaccines. </a:t>
            </a:r>
          </a:p>
          <a:p>
            <a:r>
              <a:t> </a:t>
            </a:r>
          </a:p>
          <a:p>
            <a:r>
              <a:t>Immunodeficiency: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102 </a:t>
            </a:r>
          </a:p>
          <a:p>
            <a:r>
              <a:t> Fever and rash are relatively common, experienced by 5% to 15% of </a:t>
            </a:r>
          </a:p>
          <a:p>
            <a:r>
              <a:t>recipients. </a:t>
            </a:r>
          </a:p>
          <a:p>
            <a:r>
              <a:t> Transient arthritis has been reported. </a:t>
            </a:r>
          </a:p>
          <a:p>
            <a:r>
              <a:t> Thrombocytopenia (rare) </a:t>
            </a:r>
          </a:p>
          <a:p>
            <a:r>
              <a:t> Encephalopathy (very rare) </a:t>
            </a:r>
          </a:p>
          <a:p>
            <a:r>
              <a:t> A general rule of thumb is the “rule of 10”—about 10% of children get a </a:t>
            </a:r>
          </a:p>
          <a:p>
            <a:r>
              <a:t>rash approximately 10 days after vaccine administration. </a:t>
            </a:r>
          </a:p>
          <a:p>
            <a:r>
              <a:t>     MMR: Contraindications  </a:t>
            </a:r>
          </a:p>
          <a:p>
            <a:r>
              <a:t> Severe allergic reaction to vaccine component or following prior dose </a:t>
            </a:r>
          </a:p>
          <a:p>
            <a:r>
              <a:t> Pregnancy </a:t>
            </a:r>
          </a:p>
          <a:p>
            <a:r>
              <a:t> Immunosuppression </a:t>
            </a:r>
          </a:p>
          <a:p>
            <a:r>
              <a:t> Moderate or severe acute illness </a:t>
            </a:r>
          </a:p>
          <a:p>
            <a:r>
              <a:t> Recent blood product </a:t>
            </a:r>
          </a:p>
          <a:p>
            <a:r>
              <a:t> </a:t>
            </a:r>
          </a:p>
          <a:p>
            <a:r>
              <a:t>Measles side effects: </a:t>
            </a:r>
          </a:p>
          <a:p>
            <a:r>
              <a:t>Side Effects </a:t>
            </a:r>
          </a:p>
          <a:p>
            <a:r>
              <a:t>•  Mild fever and rash develop after 8-12 days, and last for 1-3 days in about </a:t>
            </a:r>
          </a:p>
          <a:p>
            <a:r>
              <a:t>15% of vaccinated children.  </a:t>
            </a:r>
          </a:p>
          <a:p>
            <a:r>
              <a:t>•  The risk of encephalitis 1/106 but the risk of developing encephalitis as a </a:t>
            </a:r>
          </a:p>
          <a:p>
            <a:r>
              <a:t>complication of measles is 1/1000 so by vaccinating children, we have </a:t>
            </a:r>
          </a:p>
          <a:p>
            <a:r>
              <a:t>diluted the incidence of encephalitis by 1000 times.  </a:t>
            </a:r>
          </a:p>
          <a:p>
            <a:r>
              <a:t>•  Other complications of measles are diarrhoea, bronchitis, pneumonia, </a:t>
            </a:r>
          </a:p>
          <a:p>
            <a:r>
              <a:t>conjunctivitis and malnutrition. These are also prevented by vaccination. </a:t>
            </a:r>
          </a:p>
          <a:p>
            <a:r>
              <a:t>Hepatitis B vaccine side effects: </a:t>
            </a:r>
          </a:p>
          <a:p>
            <a:r>
              <a:t>Transient erythema and induration at the site of injection, fever malaise, flu-</a:t>
            </a:r>
          </a:p>
          <a:p>
            <a:r>
              <a:t>like illness, arthritis, myalgia and arthralgia. </a:t>
            </a:r>
          </a:p>
          <a:p>
            <a:r>
              <a:t>Rota virus vaccine: side effects </a:t>
            </a:r>
          </a:p>
          <a:p>
            <a:r>
              <a:t>diarrhea, vomiting, Nasopharyngitis, otitis media, and bronchospasm. </a:t>
            </a:r>
          </a:p>
          <a:p>
            <a:r>
              <a:t>Immuno-compromised children: </a:t>
            </a:r>
          </a:p>
          <a:p>
            <a:r>
              <a:t> In general, children who are immunological compromised should not </a:t>
            </a:r>
          </a:p>
          <a:p>
            <a:r>
              <a:t>receive live bacterial or viral vaccines. </a:t>
            </a:r>
          </a:p>
          <a:p>
            <a:r>
              <a:t> </a:t>
            </a:r>
          </a:p>
          <a:p>
            <a:r>
              <a:t>Immunodeficiency: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102 </a:t>
            </a:r>
          </a:p>
          <a:p>
            <a:r>
              <a:t> Fever and rash are relatively common, experienced by 5% to 15% of </a:t>
            </a:r>
          </a:p>
          <a:p>
            <a:r>
              <a:t>recipients. </a:t>
            </a:r>
          </a:p>
          <a:p>
            <a:r>
              <a:t> Transient arthritis has been reported. </a:t>
            </a:r>
          </a:p>
          <a:p>
            <a:r>
              <a:t> Thrombocytopenia (rare) </a:t>
            </a:r>
          </a:p>
          <a:p>
            <a:r>
              <a:t> Encephalopathy (very rare) </a:t>
            </a:r>
          </a:p>
          <a:p>
            <a:r>
              <a:t> A general rule of thumb is the “rule of 10”—about 10% of children get a </a:t>
            </a:r>
          </a:p>
          <a:p>
            <a:r>
              <a:t>rash approximately 10 days after vaccine administration. </a:t>
            </a:r>
          </a:p>
          <a:p>
            <a:r>
              <a:t>     MMR: Contraindications  </a:t>
            </a:r>
          </a:p>
          <a:p>
            <a:r>
              <a:t> Severe allergic reaction to vaccine component or following prior dose </a:t>
            </a:r>
          </a:p>
          <a:p>
            <a:r>
              <a:t> Pregnancy </a:t>
            </a:r>
          </a:p>
          <a:p>
            <a:r>
              <a:t> Immunosuppression </a:t>
            </a:r>
          </a:p>
          <a:p>
            <a:r>
              <a:t> Moderate or severe acute illness </a:t>
            </a:r>
          </a:p>
          <a:p>
            <a:r>
              <a:t> Recent blood product </a:t>
            </a:r>
          </a:p>
          <a:p>
            <a:r>
              <a:t> </a:t>
            </a:r>
          </a:p>
          <a:p>
            <a:r>
              <a:t>Measles side effects: </a:t>
            </a:r>
          </a:p>
          <a:p>
            <a:r>
              <a:t>Side Effects </a:t>
            </a:r>
          </a:p>
          <a:p>
            <a:r>
              <a:t>•  Mild fever and rash develop after 8-12 days, and last for 1-3 days in about </a:t>
            </a:r>
          </a:p>
          <a:p>
            <a:r>
              <a:t>15% of vaccinated children.  </a:t>
            </a:r>
          </a:p>
          <a:p>
            <a:r>
              <a:t>•  The risk of encephalitis 1/106 but the risk of developing encephalitis as a </a:t>
            </a:r>
          </a:p>
          <a:p>
            <a:r>
              <a:t>complication of measles is 1/1000 so by vaccinating children, we have </a:t>
            </a:r>
          </a:p>
          <a:p>
            <a:r>
              <a:t>diluted the incidence of encephalitis by 1000 times.  </a:t>
            </a:r>
          </a:p>
          <a:p>
            <a:r>
              <a:t>•  Other complications of measles are diarrhoea, bronchitis, pneumonia, </a:t>
            </a:r>
          </a:p>
          <a:p>
            <a:r>
              <a:t>conjunctivitis and malnutrition. These are also prevented by vaccination. </a:t>
            </a:r>
          </a:p>
          <a:p>
            <a:r>
              <a:t>Hepatitis B vaccine side effects: </a:t>
            </a:r>
          </a:p>
          <a:p>
            <a:r>
              <a:t>Transient erythema and induration at the site of injection, fever malaise, flu-</a:t>
            </a:r>
          </a:p>
          <a:p>
            <a:r>
              <a:t>like illness, arthritis, myalgia and arthralgia. </a:t>
            </a:r>
          </a:p>
          <a:p>
            <a:r>
              <a:t>Rota virus vaccine: side effects </a:t>
            </a:r>
          </a:p>
          <a:p>
            <a:r>
              <a:t>diarrhea, vomiting, Nasopharyngitis, otitis media, and bronchospasm. </a:t>
            </a:r>
          </a:p>
          <a:p>
            <a:r>
              <a:t>Immuno-compromised children: </a:t>
            </a:r>
          </a:p>
          <a:p>
            <a:r>
              <a:t> In general, children who are immunological compromised should not </a:t>
            </a:r>
          </a:p>
          <a:p>
            <a:r>
              <a:t>receive live bacterial or viral vaccines. </a:t>
            </a:r>
          </a:p>
          <a:p>
            <a:r>
              <a:t> </a:t>
            </a:r>
          </a:p>
          <a:p>
            <a:r>
              <a:t>Immunodeficiency: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103 </a:t>
            </a:r>
          </a:p>
          <a:p>
            <a:r>
              <a:t>Live-bacteria (e.g., oral typhoid) and live-virus vaccines (e.g., MMR, </a:t>
            </a:r>
          </a:p>
          <a:p>
            <a:r>
              <a:t>varicella, and rotavirus) are contraindicated in most circumstances </a:t>
            </a:r>
          </a:p>
          <a:p>
            <a:r>
              <a:t>involving clinically significant immunosuppression </a:t>
            </a:r>
          </a:p>
          <a:p>
            <a:r>
              <a:t>Vaccines </a:t>
            </a:r>
          </a:p>
          <a:p>
            <a:r>
              <a:t>should </a:t>
            </a:r>
          </a:p>
          <a:p>
            <a:r>
              <a:t>be </a:t>
            </a:r>
          </a:p>
          <a:p>
            <a:r>
              <a:t>postponed </a:t>
            </a:r>
          </a:p>
          <a:p>
            <a:r>
              <a:t>until </a:t>
            </a:r>
          </a:p>
          <a:p>
            <a:r>
              <a:t>3 </a:t>
            </a:r>
          </a:p>
          <a:p>
            <a:r>
              <a:t>months </a:t>
            </a:r>
          </a:p>
          <a:p>
            <a:r>
              <a:t>after </a:t>
            </a:r>
          </a:p>
          <a:p>
            <a:r>
              <a:t>immunosuppression drugs have been stopped. </a:t>
            </a:r>
          </a:p>
          <a:p>
            <a:r>
              <a:t>Nursing actions before vaccine administration </a:t>
            </a:r>
          </a:p>
          <a:p>
            <a:r>
              <a:t>Be sure to ask these questions before giving the vaccines: </a:t>
            </a:r>
          </a:p>
          <a:p>
            <a:r>
              <a:t> Is your child sick today? (More than a common cold, earache, etc.) </a:t>
            </a:r>
          </a:p>
          <a:p>
            <a:r>
              <a:t> Does your child have any severe (life-threatening) allergies? </a:t>
            </a:r>
          </a:p>
          <a:p>
            <a:r>
              <a:t> Has your child ever had a severe reaction after a vaccination? </a:t>
            </a:r>
          </a:p>
          <a:p>
            <a:r>
              <a:t> Does your child have a weakened immune system (because of diseases such </a:t>
            </a:r>
          </a:p>
          <a:p>
            <a:r>
              <a:t>as cancer, or medications such as steroids)? </a:t>
            </a:r>
          </a:p>
          <a:p>
            <a:r>
              <a:t> Has your child gotten a transfusion, or any other blood product, recently? </a:t>
            </a:r>
          </a:p>
          <a:p>
            <a:r>
              <a:t> Has your child ever had convulsions or any kind of nervous system </a:t>
            </a:r>
          </a:p>
          <a:p>
            <a:r>
              <a:t>problem? </a:t>
            </a:r>
          </a:p>
          <a:p>
            <a:r>
              <a:t>7. Does your child not seem to be developing normally? </a:t>
            </a:r>
          </a:p>
          <a:p>
            <a:r>
              <a:t>Care minder </a:t>
            </a:r>
          </a:p>
          <a:p>
            <a:r>
              <a:t>High fevers and severe illness are reasons to delay immunization, but only </a:t>
            </a:r>
          </a:p>
          <a:p>
            <a:r>
              <a:t>until the child has recovered from the acute stage of the illness to avoid adding the </a:t>
            </a:r>
          </a:p>
          <a:p>
            <a:r>
              <a:t>risk of adverse side effects from the vaccine to a child who is already ill, or </a:t>
            </a:r>
          </a:p>
          <a:p>
            <a:r>
              <a:t>confusing symptoms of the illness with a side effect of the vaccine. Minor illnesses </a:t>
            </a:r>
          </a:p>
          <a:p>
            <a:r>
              <a:t>such as a cold, otitis media, or mild diarrhea without fever are not </a:t>
            </a:r>
          </a:p>
          <a:p>
            <a:r>
              <a:t>contraindications to immunization. </a:t>
            </a:r>
          </a:p>
          <a:p>
            <a:r>
              <a:t>Potential Reactions Associated with Immunization and intervention </a:t>
            </a:r>
          </a:p>
          <a:p>
            <a:r>
              <a:t>Potential reaction </a:t>
            </a:r>
          </a:p>
          <a:p>
            <a:r>
              <a:t>Nursing intervention </a:t>
            </a:r>
          </a:p>
          <a:p>
            <a:r>
              <a:t>Pain with injection </a:t>
            </a:r>
          </a:p>
          <a:p>
            <a:r>
              <a:t>Apply topical anesthetics at the injection sites, giving </a:t>
            </a:r>
          </a:p>
          <a:p>
            <a:r>
              <a:t>enough time for the anesthetic to have the desired effect. </a:t>
            </a:r>
          </a:p>
          <a:p>
            <a:r>
              <a:t>Administer oral sucrose for infants up to 3 months of </a:t>
            </a:r>
          </a:p>
          <a:p>
            <a:r>
              <a:t>age. Encourage parents to hold a young child during </a:t>
            </a:r>
          </a:p>
          <a:p>
            <a:r>
              <a:t>injection. Use distractions such as bubbles, blowing on </a:t>
            </a:r>
          </a:p>
          <a:p>
            <a:r>
              <a:t>pinwheels, and reading stories to reduce attention to </a:t>
            </a:r>
          </a:p>
          <a:p>
            <a:r>
              <a:t>pain and potentially relax the muscle. Encourage teens </a:t>
            </a:r>
          </a:p>
          <a:p>
            <a:r>
              <a:t>to use headsets to listen to music. </a:t>
            </a:r>
          </a:p>
          <a:p>
            <a:r>
              <a:t>Fever  </a:t>
            </a:r>
          </a:p>
          <a:p>
            <a:r>
              <a:t>Myalgia </a:t>
            </a:r>
          </a:p>
          <a:p>
            <a:r>
              <a:t>Acetaminophen as above </a:t>
            </a:r>
          </a:p>
          <a:p>
            <a:r>
              <a:t>Nurses should answer mother's questions regarding vaccination </a:t>
            </a:r>
          </a:p>
          <a:p>
            <a:r>
              <a:t>1. What are Immunizations? Vaccines act by stimulating the body to make </a:t>
            </a:r>
          </a:p>
          <a:p>
            <a:r>
              <a:t>defenses against the infection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103 </a:t>
            </a:r>
          </a:p>
          <a:p>
            <a:r>
              <a:t>Live-bacteria (e.g., oral typhoid) and live-virus vaccines (e.g., MMR, </a:t>
            </a:r>
          </a:p>
          <a:p>
            <a:r>
              <a:t>varicella, and rotavirus) are contraindicated in most circumstances </a:t>
            </a:r>
          </a:p>
          <a:p>
            <a:r>
              <a:t>involving clinically significant immunosuppression </a:t>
            </a:r>
          </a:p>
          <a:p>
            <a:r>
              <a:t>Vaccines </a:t>
            </a:r>
          </a:p>
          <a:p>
            <a:r>
              <a:t>should </a:t>
            </a:r>
          </a:p>
          <a:p>
            <a:r>
              <a:t>be </a:t>
            </a:r>
          </a:p>
          <a:p>
            <a:r>
              <a:t>postponed </a:t>
            </a:r>
          </a:p>
          <a:p>
            <a:r>
              <a:t>until </a:t>
            </a:r>
          </a:p>
          <a:p>
            <a:r>
              <a:t>3 </a:t>
            </a:r>
          </a:p>
          <a:p>
            <a:r>
              <a:t>months </a:t>
            </a:r>
          </a:p>
          <a:p>
            <a:r>
              <a:t>after </a:t>
            </a:r>
          </a:p>
          <a:p>
            <a:r>
              <a:t>immunosuppression drugs have been stopped. </a:t>
            </a:r>
          </a:p>
          <a:p>
            <a:r>
              <a:t>Nursing actions before vaccine administration </a:t>
            </a:r>
          </a:p>
          <a:p>
            <a:r>
              <a:t>Be sure to ask these questions before giving the vaccines: </a:t>
            </a:r>
          </a:p>
          <a:p>
            <a:r>
              <a:t> Is your child sick today? (More than a common cold, earache, etc.) </a:t>
            </a:r>
          </a:p>
          <a:p>
            <a:r>
              <a:t> Does your child have any severe (life-threatening) allergies? </a:t>
            </a:r>
          </a:p>
          <a:p>
            <a:r>
              <a:t> Has your child ever had a severe reaction after a vaccination? </a:t>
            </a:r>
          </a:p>
          <a:p>
            <a:r>
              <a:t> Does your child have a weakened immune system (because of diseases such </a:t>
            </a:r>
          </a:p>
          <a:p>
            <a:r>
              <a:t>as cancer, or medications such as steroids)? </a:t>
            </a:r>
          </a:p>
          <a:p>
            <a:r>
              <a:t> Has your child gotten a transfusion, or any other blood product, recently? </a:t>
            </a:r>
          </a:p>
          <a:p>
            <a:r>
              <a:t> Has your child ever had convulsions or any kind of nervous system </a:t>
            </a:r>
          </a:p>
          <a:p>
            <a:r>
              <a:t>problem? </a:t>
            </a:r>
          </a:p>
          <a:p>
            <a:r>
              <a:t>7. Does your child not seem to be developing normally? </a:t>
            </a:r>
          </a:p>
          <a:p>
            <a:r>
              <a:t>Care minder </a:t>
            </a:r>
          </a:p>
          <a:p>
            <a:r>
              <a:t>High fevers and severe illness are reasons to delay immunization, but only </a:t>
            </a:r>
          </a:p>
          <a:p>
            <a:r>
              <a:t>until the child has recovered from the acute stage of the illness to avoid adding the </a:t>
            </a:r>
          </a:p>
          <a:p>
            <a:r>
              <a:t>risk of adverse side effects from the vaccine to a child who is already ill, or </a:t>
            </a:r>
          </a:p>
          <a:p>
            <a:r>
              <a:t>confusing symptoms of the illness with a side effect of the vaccine. Minor illnesses </a:t>
            </a:r>
          </a:p>
          <a:p>
            <a:r>
              <a:t>such as a cold, otitis media, or mild diarrhea without fever are not </a:t>
            </a:r>
          </a:p>
          <a:p>
            <a:r>
              <a:t>contraindications to immunization. </a:t>
            </a:r>
          </a:p>
          <a:p>
            <a:r>
              <a:t>Potential Reactions Associated with Immunization and intervention </a:t>
            </a:r>
          </a:p>
          <a:p>
            <a:r>
              <a:t>Potential reaction </a:t>
            </a:r>
          </a:p>
          <a:p>
            <a:r>
              <a:t>Nursing intervention </a:t>
            </a:r>
          </a:p>
          <a:p>
            <a:r>
              <a:t>Pain with injection </a:t>
            </a:r>
          </a:p>
          <a:p>
            <a:r>
              <a:t>Apply topical anesthetics at the injection sites, giving </a:t>
            </a:r>
          </a:p>
          <a:p>
            <a:r>
              <a:t>enough time for the anesthetic to have the desired effect. </a:t>
            </a:r>
          </a:p>
          <a:p>
            <a:r>
              <a:t>Administer oral sucrose for infants up to 3 months of </a:t>
            </a:r>
          </a:p>
          <a:p>
            <a:r>
              <a:t>age. Encourage parents to hold a young child during </a:t>
            </a:r>
          </a:p>
          <a:p>
            <a:r>
              <a:t>injection. Use distractions such as bubbles, blowing on </a:t>
            </a:r>
          </a:p>
          <a:p>
            <a:r>
              <a:t>pinwheels, and reading stories to reduce attention to </a:t>
            </a:r>
          </a:p>
          <a:p>
            <a:r>
              <a:t>pain and potentially relax the muscle. Encourage teens </a:t>
            </a:r>
          </a:p>
          <a:p>
            <a:r>
              <a:t>to use headsets to listen to music. </a:t>
            </a:r>
          </a:p>
          <a:p>
            <a:r>
              <a:t>Fever  </a:t>
            </a:r>
          </a:p>
          <a:p>
            <a:r>
              <a:t>Myalgia </a:t>
            </a:r>
          </a:p>
          <a:p>
            <a:r>
              <a:t>Acetaminophen as above </a:t>
            </a:r>
          </a:p>
          <a:p>
            <a:r>
              <a:t>Nurses should answer mother's questions regarding vaccination </a:t>
            </a:r>
          </a:p>
          <a:p>
            <a:r>
              <a:t>1. What are Immunizations? Vaccines act by stimulating the body to make </a:t>
            </a:r>
          </a:p>
          <a:p>
            <a:r>
              <a:t>defenses against the infection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103 </a:t>
            </a:r>
          </a:p>
          <a:p>
            <a:r>
              <a:t>Live-bacteria (e.g., oral typhoid) and live-virus vaccines (e.g., MMR, </a:t>
            </a:r>
          </a:p>
          <a:p>
            <a:r>
              <a:t>varicella, and rotavirus) are contraindicated in most circumstances </a:t>
            </a:r>
          </a:p>
          <a:p>
            <a:r>
              <a:t>involving clinically significant immunosuppression </a:t>
            </a:r>
          </a:p>
          <a:p>
            <a:r>
              <a:t>Vaccines </a:t>
            </a:r>
          </a:p>
          <a:p>
            <a:r>
              <a:t>should </a:t>
            </a:r>
          </a:p>
          <a:p>
            <a:r>
              <a:t>be </a:t>
            </a:r>
          </a:p>
          <a:p>
            <a:r>
              <a:t>postponed </a:t>
            </a:r>
          </a:p>
          <a:p>
            <a:r>
              <a:t>until </a:t>
            </a:r>
          </a:p>
          <a:p>
            <a:r>
              <a:t>3 </a:t>
            </a:r>
          </a:p>
          <a:p>
            <a:r>
              <a:t>months </a:t>
            </a:r>
          </a:p>
          <a:p>
            <a:r>
              <a:t>after </a:t>
            </a:r>
          </a:p>
          <a:p>
            <a:r>
              <a:t>immunosuppression drugs have been stopped. </a:t>
            </a:r>
          </a:p>
          <a:p>
            <a:r>
              <a:t>Nursing actions before vaccine administration </a:t>
            </a:r>
          </a:p>
          <a:p>
            <a:r>
              <a:t>Be sure to ask these questions before giving the vaccines: </a:t>
            </a:r>
          </a:p>
          <a:p>
            <a:r>
              <a:t> Is your child sick today? (More than a common cold, earache, etc.) </a:t>
            </a:r>
          </a:p>
          <a:p>
            <a:r>
              <a:t> Does your child have any severe (life-threatening) allergies? </a:t>
            </a:r>
          </a:p>
          <a:p>
            <a:r>
              <a:t> Has your child ever had a severe reaction after a vaccination? </a:t>
            </a:r>
          </a:p>
          <a:p>
            <a:r>
              <a:t> Does your child have a weakened immune system (because of diseases such </a:t>
            </a:r>
          </a:p>
          <a:p>
            <a:r>
              <a:t>as cancer, or medications such as steroids)? </a:t>
            </a:r>
          </a:p>
          <a:p>
            <a:r>
              <a:t> Has your child gotten a transfusion, or any other blood product, recently? </a:t>
            </a:r>
          </a:p>
          <a:p>
            <a:r>
              <a:t> Has your child ever had convulsions or any kind of nervous system </a:t>
            </a:r>
          </a:p>
          <a:p>
            <a:r>
              <a:t>problem? </a:t>
            </a:r>
          </a:p>
          <a:p>
            <a:r>
              <a:t>7. Does your child not seem to be developing normally? </a:t>
            </a:r>
          </a:p>
          <a:p>
            <a:r>
              <a:t>Care minder </a:t>
            </a:r>
          </a:p>
          <a:p>
            <a:r>
              <a:t>High fevers and severe illness are reasons to delay immunization, but only </a:t>
            </a:r>
          </a:p>
          <a:p>
            <a:r>
              <a:t>until the child has recovered from the acute stage of the illness to avoid adding the </a:t>
            </a:r>
          </a:p>
          <a:p>
            <a:r>
              <a:t>risk of adverse side effects from the vaccine to a child who is already ill, or </a:t>
            </a:r>
          </a:p>
          <a:p>
            <a:r>
              <a:t>confusing symptoms of the illness with a side effect of the vaccine. Minor illnesses </a:t>
            </a:r>
          </a:p>
          <a:p>
            <a:r>
              <a:t>such as a cold, otitis media, or mild diarrhea without fever are not </a:t>
            </a:r>
          </a:p>
          <a:p>
            <a:r>
              <a:t>contraindications to immunization. </a:t>
            </a:r>
          </a:p>
          <a:p>
            <a:r>
              <a:t>Potential Reactions Associated with Immunization and intervention </a:t>
            </a:r>
          </a:p>
          <a:p>
            <a:r>
              <a:t>Potential reaction </a:t>
            </a:r>
          </a:p>
          <a:p>
            <a:r>
              <a:t>Nursing intervention </a:t>
            </a:r>
          </a:p>
          <a:p>
            <a:r>
              <a:t>Pain with injection </a:t>
            </a:r>
          </a:p>
          <a:p>
            <a:r>
              <a:t>Apply topical anesthetics at the injection sites, giving </a:t>
            </a:r>
          </a:p>
          <a:p>
            <a:r>
              <a:t>enough time for the anesthetic to have the desired effect. </a:t>
            </a:r>
          </a:p>
          <a:p>
            <a:r>
              <a:t>Administer oral sucrose for infants up to 3 months of </a:t>
            </a:r>
          </a:p>
          <a:p>
            <a:r>
              <a:t>age. Encourage parents to hold a young child during </a:t>
            </a:r>
          </a:p>
          <a:p>
            <a:r>
              <a:t>injection. Use distractions such as bubbles, blowing on </a:t>
            </a:r>
          </a:p>
          <a:p>
            <a:r>
              <a:t>pinwheels, and reading stories to reduce attention to </a:t>
            </a:r>
          </a:p>
          <a:p>
            <a:r>
              <a:t>pain and potentially relax the muscle. Encourage teens </a:t>
            </a:r>
          </a:p>
          <a:p>
            <a:r>
              <a:t>to use headsets to listen to music. </a:t>
            </a:r>
          </a:p>
          <a:p>
            <a:r>
              <a:t>Fever  </a:t>
            </a:r>
          </a:p>
          <a:p>
            <a:r>
              <a:t>Myalgia </a:t>
            </a:r>
          </a:p>
          <a:p>
            <a:r>
              <a:t>Acetaminophen as above </a:t>
            </a:r>
          </a:p>
          <a:p>
            <a:r>
              <a:t>Nurses should answer mother's questions regarding vaccination </a:t>
            </a:r>
          </a:p>
          <a:p>
            <a:r>
              <a:t>1. What are Immunizations? Vaccines act by stimulating the body to make </a:t>
            </a:r>
          </a:p>
          <a:p>
            <a:r>
              <a:t>defenses against the infection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104 </a:t>
            </a:r>
          </a:p>
          <a:p>
            <a:r>
              <a:t>2. Are childhood immunizations safe? In general, most babies and toddlers do </a:t>
            </a:r>
          </a:p>
          <a:p>
            <a:r>
              <a:t>not have reactions to immunizations. If they do, the reactions are usually mild and </a:t>
            </a:r>
          </a:p>
          <a:p>
            <a:r>
              <a:t>of no long-term significance. </a:t>
            </a:r>
          </a:p>
          <a:p>
            <a:r>
              <a:t>3. What is the point of immunizing my baby against diseases that are not </a:t>
            </a:r>
          </a:p>
          <a:p>
            <a:r>
              <a:t>common where I live? If the majority of people stop immunizing their children, </a:t>
            </a:r>
          </a:p>
          <a:p>
            <a:r>
              <a:t>we could be in a situation like Ethiopia where measles becomes a killer disease </a:t>
            </a:r>
          </a:p>
          <a:p>
            <a:r>
              <a:t>again. </a:t>
            </a:r>
          </a:p>
          <a:p>
            <a:r>
              <a:t>4. Can my child have immunizations if he is allergic to eggs? Children who are </a:t>
            </a:r>
          </a:p>
          <a:p>
            <a:r>
              <a:t>allergic to eggs can have all the usual childhood immunizations. The only </a:t>
            </a:r>
          </a:p>
          <a:p>
            <a:r>
              <a:t>immunization that should be avoided if your child is allergic to egg is influenza </a:t>
            </a:r>
          </a:p>
          <a:p>
            <a:r>
              <a:t>vaccine. </a:t>
            </a:r>
          </a:p>
          <a:p>
            <a:r>
              <a:t>5. Should I delay immunizing my child if he is unwell? If your child has a mild </a:t>
            </a:r>
          </a:p>
          <a:p>
            <a:r>
              <a:t>illness (say a runny nose) and doesn't have a fever, he can be immunized. Young </a:t>
            </a:r>
          </a:p>
          <a:p>
            <a:r>
              <a:t>children have so many viral infections (see Upper Respiratory Tract Infections), </a:t>
            </a:r>
          </a:p>
          <a:p>
            <a:r>
              <a:t>that to delay immunization for these would mean your child would not be </a:t>
            </a:r>
          </a:p>
          <a:p>
            <a:r>
              <a:t>protected from more serious infections. </a:t>
            </a:r>
          </a:p>
          <a:p>
            <a:r>
              <a:t>6. When should I start immunizations if my baby was born early? Even if your </a:t>
            </a:r>
          </a:p>
          <a:p>
            <a:r>
              <a:t>baby is premature, the infant immunizations start at the baby's chronological age, </a:t>
            </a:r>
          </a:p>
          <a:p>
            <a:r>
              <a:t>not their gestational age. </a:t>
            </a:r>
          </a:p>
          <a:p>
            <a:r>
              <a:t>Storage and transportation of vaccine:  </a:t>
            </a:r>
          </a:p>
          <a:p>
            <a:r>
              <a:t>The cold chain and vaccine supply and handling: </a:t>
            </a:r>
          </a:p>
          <a:p>
            <a:r>
              <a:t>WHO and UNICEF have adopted standards for the safe shipping of vaccines. </a:t>
            </a:r>
          </a:p>
          <a:p>
            <a:r>
              <a:t>These require that vaccines be properly insulated during international shipment </a:t>
            </a:r>
          </a:p>
          <a:p>
            <a:r>
              <a:t>advanced notice of shipment is sent to receiving authorities and a time/ </a:t>
            </a:r>
          </a:p>
          <a:p>
            <a:r>
              <a:t>temperature monitor (called a cold chain monitor) is included with each vaccines.  </a:t>
            </a:r>
          </a:p>
          <a:p>
            <a:r>
              <a:t>When the vaccine is exposed to a temperature above 100C, a blue color </a:t>
            </a:r>
          </a:p>
          <a:p>
            <a:r>
              <a:t>appears on the monitor, indicating a cold chain break. The monitor also provides </a:t>
            </a:r>
          </a:p>
          <a:p>
            <a:r>
              <a:t>an indication of the extent of the break and what to do. </a:t>
            </a:r>
          </a:p>
          <a:p>
            <a:r>
              <a:t>Ensuring that no breaks occur in the cold chain requires continuous </a:t>
            </a:r>
          </a:p>
          <a:p>
            <a:r>
              <a:t>monitoring of the transport and storage condition of vaccines.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104 </a:t>
            </a:r>
          </a:p>
          <a:p>
            <a:r>
              <a:t>2. Are childhood immunizations safe? In general, most babies and toddlers do </a:t>
            </a:r>
          </a:p>
          <a:p>
            <a:r>
              <a:t>not have reactions to immunizations. If they do, the reactions are usually mild and </a:t>
            </a:r>
          </a:p>
          <a:p>
            <a:r>
              <a:t>of no long-term significance. </a:t>
            </a:r>
          </a:p>
          <a:p>
            <a:r>
              <a:t>3. What is the point of immunizing my baby against diseases that are not </a:t>
            </a:r>
          </a:p>
          <a:p>
            <a:r>
              <a:t>common where I live? If the majority of people stop immunizing their children, </a:t>
            </a:r>
          </a:p>
          <a:p>
            <a:r>
              <a:t>we could be in a situation like Ethiopia where measles becomes a killer disease </a:t>
            </a:r>
          </a:p>
          <a:p>
            <a:r>
              <a:t>again. </a:t>
            </a:r>
          </a:p>
          <a:p>
            <a:r>
              <a:t>4. Can my child have immunizations if he is allergic to eggs? Children who are </a:t>
            </a:r>
          </a:p>
          <a:p>
            <a:r>
              <a:t>allergic to eggs can have all the usual childhood immunizations. The only </a:t>
            </a:r>
          </a:p>
          <a:p>
            <a:r>
              <a:t>immunization that should be avoided if your child is allergic to egg is influenza </a:t>
            </a:r>
          </a:p>
          <a:p>
            <a:r>
              <a:t>vaccine. </a:t>
            </a:r>
          </a:p>
          <a:p>
            <a:r>
              <a:t>5. Should I delay immunizing my child if he is unwell? If your child has a mild </a:t>
            </a:r>
          </a:p>
          <a:p>
            <a:r>
              <a:t>illness (say a runny nose) and doesn't have a fever, he can be immunized. Young </a:t>
            </a:r>
          </a:p>
          <a:p>
            <a:r>
              <a:t>children have so many viral infections (see Upper Respiratory Tract Infections), </a:t>
            </a:r>
          </a:p>
          <a:p>
            <a:r>
              <a:t>that to delay immunization for these would mean your child would not be </a:t>
            </a:r>
          </a:p>
          <a:p>
            <a:r>
              <a:t>protected from more serious infections. </a:t>
            </a:r>
          </a:p>
          <a:p>
            <a:r>
              <a:t>6. When should I start immunizations if my baby was born early? Even if your </a:t>
            </a:r>
          </a:p>
          <a:p>
            <a:r>
              <a:t>baby is premature, the infant immunizations start at the baby's chronological age, </a:t>
            </a:r>
          </a:p>
          <a:p>
            <a:r>
              <a:t>not their gestational age. </a:t>
            </a:r>
          </a:p>
          <a:p>
            <a:r>
              <a:t>Storage and transportation of vaccine:  </a:t>
            </a:r>
          </a:p>
          <a:p>
            <a:r>
              <a:t>The cold chain and vaccine supply and handling: </a:t>
            </a:r>
          </a:p>
          <a:p>
            <a:r>
              <a:t>WHO and UNICEF have adopted standards for the safe shipping of vaccines. </a:t>
            </a:r>
          </a:p>
          <a:p>
            <a:r>
              <a:t>These require that vaccines be properly insulated during international shipment </a:t>
            </a:r>
          </a:p>
          <a:p>
            <a:r>
              <a:t>advanced notice of shipment is sent to receiving authorities and a time/ </a:t>
            </a:r>
          </a:p>
          <a:p>
            <a:r>
              <a:t>temperature monitor (called a cold chain monitor) is included with each vaccines.  </a:t>
            </a:r>
          </a:p>
          <a:p>
            <a:r>
              <a:t>When the vaccine is exposed to a temperature above 100C, a blue color </a:t>
            </a:r>
          </a:p>
          <a:p>
            <a:r>
              <a:t>appears on the monitor, indicating a cold chain break. The monitor also provides </a:t>
            </a:r>
          </a:p>
          <a:p>
            <a:r>
              <a:t>an indication of the extent of the break and what to do. </a:t>
            </a:r>
          </a:p>
          <a:p>
            <a:r>
              <a:t>Ensuring that no breaks occur in the cold chain requires continuous </a:t>
            </a:r>
          </a:p>
          <a:p>
            <a:r>
              <a:t>monitoring of the transport and storage condition of vaccines.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Immunity and Immunization                                                    105 </a:t>
            </a:r>
          </a:p>
          <a:p>
            <a:r>
              <a:t>References: </a:t>
            </a:r>
          </a:p>
          <a:p>
            <a:r>
              <a:t> </a:t>
            </a:r>
          </a:p>
          <a:p>
            <a:r>
              <a:t>1-Hockenberry, M. J., Wilson, D.(2013). Wong’s essentials of pediatric nursing, </a:t>
            </a:r>
          </a:p>
          <a:p>
            <a:r>
              <a:t>9th edition. USA: Elsevier </a:t>
            </a:r>
          </a:p>
          <a:p>
            <a:r>
              <a:t>     2-Baiee , H.  2012. The Expanded Program on Immunization. Available from: </a:t>
            </a:r>
          </a:p>
          <a:p>
            <a:r>
              <a:t>http://www.uobabylon.edu.iq/uobColeges/lecture.aspx?fid=15&amp;depid=1&amp;lcid=2</a:t>
            </a:r>
          </a:p>
          <a:p>
            <a:r>
              <a:t>4463 </a:t>
            </a:r>
          </a:p>
          <a:p>
            <a:r>
              <a:t> </a:t>
            </a:r>
          </a:p>
          <a:p>
            <a:r>
              <a:t>3- World Health Organization(WHO), 2019. Available from: </a:t>
            </a:r>
          </a:p>
          <a:p>
            <a:r>
              <a:t>https://www.who.int/topics/immunization/en/ </a:t>
            </a:r>
          </a:p>
          <a:p>
            <a:r>
              <a:t> </a:t>
            </a:r>
          </a:p>
          <a:p>
            <a:r>
              <a:t>4-Website :https://wikieducator.org/Lesson_9:_Immunization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106 </a:t>
            </a:r>
          </a:p>
          <a:p>
            <a:r>
              <a:t> </a:t>
            </a:r>
          </a:p>
          <a:p>
            <a:r>
              <a:t>Nasogastric Intubation  </a:t>
            </a:r>
          </a:p>
          <a:p>
            <a:r>
              <a:t> </a:t>
            </a:r>
          </a:p>
          <a:p>
            <a:r>
              <a:t>Objectives: </a:t>
            </a:r>
          </a:p>
          <a:p>
            <a:r>
              <a:t>By the end of this procedure, the student will be able to: </a:t>
            </a:r>
          </a:p>
          <a:p>
            <a:r>
              <a:t>1- </a:t>
            </a:r>
          </a:p>
          <a:p>
            <a:r>
              <a:t>Define Gavage feeding. </a:t>
            </a:r>
          </a:p>
          <a:p>
            <a:r>
              <a:t>2- </a:t>
            </a:r>
          </a:p>
          <a:p>
            <a:r>
              <a:t>List indications of Gavage feeding. </a:t>
            </a:r>
          </a:p>
          <a:p>
            <a:r>
              <a:t>3- </a:t>
            </a:r>
          </a:p>
          <a:p>
            <a:r>
              <a:t>Enumerate purposes of Gavage feeding. </a:t>
            </a:r>
          </a:p>
          <a:p>
            <a:r>
              <a:t>4- </a:t>
            </a:r>
          </a:p>
          <a:p>
            <a:r>
              <a:t>Recognize criteria of tube selection. </a:t>
            </a:r>
          </a:p>
          <a:p>
            <a:r>
              <a:t>5- </a:t>
            </a:r>
          </a:p>
          <a:p>
            <a:r>
              <a:t>Identify equipment needed for Gavage feeding. </a:t>
            </a:r>
          </a:p>
          <a:p>
            <a:r>
              <a:t>6- </a:t>
            </a:r>
          </a:p>
          <a:p>
            <a:r>
              <a:t>Demonstrate steps of Gavage feeding. </a:t>
            </a:r>
          </a:p>
          <a:p>
            <a:r>
              <a:t>7- </a:t>
            </a:r>
          </a:p>
          <a:p>
            <a:r>
              <a:t>Recognize complications of Gavage feeding. </a:t>
            </a:r>
          </a:p>
          <a:p>
            <a:r>
              <a:t>8- </a:t>
            </a:r>
          </a:p>
          <a:p>
            <a:r>
              <a:t>List contraindication of Gavage feeding.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106 </a:t>
            </a:r>
          </a:p>
          <a:p>
            <a:r>
              <a:t> </a:t>
            </a:r>
          </a:p>
          <a:p>
            <a:r>
              <a:t>Nasogastric Intubation  </a:t>
            </a:r>
          </a:p>
          <a:p>
            <a:r>
              <a:t> </a:t>
            </a:r>
          </a:p>
          <a:p>
            <a:r>
              <a:t>Objectives: </a:t>
            </a:r>
          </a:p>
          <a:p>
            <a:r>
              <a:t>By the end of this procedure, the student will be able to: </a:t>
            </a:r>
          </a:p>
          <a:p>
            <a:r>
              <a:t>1- </a:t>
            </a:r>
          </a:p>
          <a:p>
            <a:r>
              <a:t>Define Gavage feeding. </a:t>
            </a:r>
          </a:p>
          <a:p>
            <a:r>
              <a:t>2- </a:t>
            </a:r>
          </a:p>
          <a:p>
            <a:r>
              <a:t>List indications of Gavage feeding. </a:t>
            </a:r>
          </a:p>
          <a:p>
            <a:r>
              <a:t>3- </a:t>
            </a:r>
          </a:p>
          <a:p>
            <a:r>
              <a:t>Enumerate purposes of Gavage feeding. </a:t>
            </a:r>
          </a:p>
          <a:p>
            <a:r>
              <a:t>4- </a:t>
            </a:r>
          </a:p>
          <a:p>
            <a:r>
              <a:t>Recognize criteria of tube selection. </a:t>
            </a:r>
          </a:p>
          <a:p>
            <a:r>
              <a:t>5- </a:t>
            </a:r>
          </a:p>
          <a:p>
            <a:r>
              <a:t>Identify equipment needed for Gavage feeding. </a:t>
            </a:r>
          </a:p>
          <a:p>
            <a:r>
              <a:t>6- </a:t>
            </a:r>
          </a:p>
          <a:p>
            <a:r>
              <a:t>Demonstrate steps of Gavage feeding. </a:t>
            </a:r>
          </a:p>
          <a:p>
            <a:r>
              <a:t>7- </a:t>
            </a:r>
          </a:p>
          <a:p>
            <a:r>
              <a:t>Recognize complications of Gavage feeding. </a:t>
            </a:r>
          </a:p>
          <a:p>
            <a:r>
              <a:t>8- </a:t>
            </a:r>
          </a:p>
          <a:p>
            <a:r>
              <a:t>List contraindication of Gavage feeding.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107 </a:t>
            </a:r>
          </a:p>
          <a:p>
            <a:r>
              <a:t>Definition of Gavage feeding: </a:t>
            </a:r>
          </a:p>
          <a:p>
            <a:r>
              <a:t>It is a type of enteral feeding which is given to the infant using a </a:t>
            </a:r>
          </a:p>
          <a:p>
            <a:r>
              <a:t>nasogastric tube which is a narrow bore tube passed into the stomach </a:t>
            </a:r>
          </a:p>
          <a:p>
            <a:r>
              <a:t>via the nose. </a:t>
            </a:r>
          </a:p>
          <a:p>
            <a:r>
              <a:t> </a:t>
            </a:r>
          </a:p>
          <a:p>
            <a:r>
              <a:t>Indications: </a:t>
            </a:r>
          </a:p>
          <a:p>
            <a:r>
              <a:t> </a:t>
            </a:r>
          </a:p>
          <a:p>
            <a:r>
              <a:t>1. It is used for short or medium term nutritional support. </a:t>
            </a:r>
          </a:p>
          <a:p>
            <a:r>
              <a:t>2. Aspiration of stomach contents, e.g. for decompression. </a:t>
            </a:r>
          </a:p>
          <a:p>
            <a:r>
              <a:t>3. Administration of drugs. </a:t>
            </a:r>
          </a:p>
          <a:p>
            <a:r>
              <a:t>4. Poor sucking and swallowing reflexes. </a:t>
            </a:r>
          </a:p>
          <a:p>
            <a:r>
              <a:t>5. To provide nutrition post operatively. </a:t>
            </a:r>
          </a:p>
          <a:p>
            <a:r>
              <a:t>6. Respiratory distress. </a:t>
            </a:r>
          </a:p>
          <a:p>
            <a:r>
              <a:t>7. Loss of consciousness. </a:t>
            </a:r>
          </a:p>
          <a:p>
            <a:r>
              <a:t>8. Cyanosis after feeding by bottle or medicine dropper. </a:t>
            </a:r>
          </a:p>
          <a:p>
            <a:r>
              <a:t>9. Congenital abnormalities, as cleft lip and cleft palate. </a:t>
            </a:r>
          </a:p>
          <a:p>
            <a:r>
              <a:t>10. Neurologic impairment. </a:t>
            </a:r>
          </a:p>
          <a:p>
            <a:r>
              <a:t>11. A gestational age of less than 34 w. </a:t>
            </a:r>
          </a:p>
          <a:p>
            <a:r>
              <a:t>12. A weight of less than 1500gms. </a:t>
            </a:r>
          </a:p>
          <a:p>
            <a:r>
              <a:t> </a:t>
            </a:r>
          </a:p>
          <a:p>
            <a:r>
              <a:t>Purpose of gavage feeding: </a:t>
            </a:r>
          </a:p>
          <a:p>
            <a:r>
              <a:t>1- To provide safe method of feeding or administrating medication </a:t>
            </a:r>
          </a:p>
          <a:p>
            <a:r>
              <a:t>where the infant is unable to suck or swallow. </a:t>
            </a:r>
          </a:p>
          <a:p>
            <a:r>
              <a:t>2- To provide a route that allows adequate caloric or fluid intake. </a:t>
            </a:r>
          </a:p>
          <a:p>
            <a:r>
              <a:t>3- To provide safe method of feeding in sick infant. </a:t>
            </a:r>
          </a:p>
          <a:p>
            <a:r>
              <a:t>4- To prevent fatigue or cyanosis which could occur from bottle </a:t>
            </a:r>
          </a:p>
          <a:p>
            <a:r>
              <a:t>feeding. </a:t>
            </a:r>
          </a:p>
          <a:p>
            <a:r>
              <a:t> </a:t>
            </a:r>
          </a:p>
          <a:p>
            <a:r>
              <a:t>Purpose of nasogastric tube insertion: </a:t>
            </a:r>
          </a:p>
          <a:p>
            <a:r>
              <a:t>A nasogastric tube may be used to decompress the stomach, instill </a:t>
            </a:r>
          </a:p>
          <a:p>
            <a:r>
              <a:t>medications or feedings or to assess gastrointestinal function. </a:t>
            </a:r>
          </a:p>
          <a:p>
            <a:r>
              <a:t>Guidelines of nasogastric tube selection: </a:t>
            </a:r>
          </a:p>
          <a:p>
            <a:r>
              <a:t>Factors influencing the selection of feeding tubes include: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107 </a:t>
            </a:r>
          </a:p>
          <a:p>
            <a:r>
              <a:t>Definition of Gavage feeding: </a:t>
            </a:r>
          </a:p>
          <a:p>
            <a:r>
              <a:t>It is a type of enteral feeding which is given to the infant using a </a:t>
            </a:r>
          </a:p>
          <a:p>
            <a:r>
              <a:t>nasogastric tube which is a narrow bore tube passed into the stomach </a:t>
            </a:r>
          </a:p>
          <a:p>
            <a:r>
              <a:t>via the nose. </a:t>
            </a:r>
          </a:p>
          <a:p>
            <a:r>
              <a:t> </a:t>
            </a:r>
          </a:p>
          <a:p>
            <a:r>
              <a:t>Indications: </a:t>
            </a:r>
          </a:p>
          <a:p>
            <a:r>
              <a:t> </a:t>
            </a:r>
          </a:p>
          <a:p>
            <a:r>
              <a:t>1. It is used for short or medium term nutritional support. </a:t>
            </a:r>
          </a:p>
          <a:p>
            <a:r>
              <a:t>2. Aspiration of stomach contents, e.g. for decompression. </a:t>
            </a:r>
          </a:p>
          <a:p>
            <a:r>
              <a:t>3. Administration of drugs. </a:t>
            </a:r>
          </a:p>
          <a:p>
            <a:r>
              <a:t>4. Poor sucking and swallowing reflexes. </a:t>
            </a:r>
          </a:p>
          <a:p>
            <a:r>
              <a:t>5. To provide nutrition post operatively. </a:t>
            </a:r>
          </a:p>
          <a:p>
            <a:r>
              <a:t>6. Respiratory distress. </a:t>
            </a:r>
          </a:p>
          <a:p>
            <a:r>
              <a:t>7. Loss of consciousness. </a:t>
            </a:r>
          </a:p>
          <a:p>
            <a:r>
              <a:t>8. Cyanosis after feeding by bottle or medicine dropper. </a:t>
            </a:r>
          </a:p>
          <a:p>
            <a:r>
              <a:t>9. Congenital abnormalities, as cleft lip and cleft palate. </a:t>
            </a:r>
          </a:p>
          <a:p>
            <a:r>
              <a:t>10. Neurologic impairment. </a:t>
            </a:r>
          </a:p>
          <a:p>
            <a:r>
              <a:t>11. A gestational age of less than 34 w. </a:t>
            </a:r>
          </a:p>
          <a:p>
            <a:r>
              <a:t>12. A weight of less than 1500gms. </a:t>
            </a:r>
          </a:p>
          <a:p>
            <a:r>
              <a:t> </a:t>
            </a:r>
          </a:p>
          <a:p>
            <a:r>
              <a:t>Purpose of gavage feeding: </a:t>
            </a:r>
          </a:p>
          <a:p>
            <a:r>
              <a:t>1- To provide safe method of feeding or administrating medication </a:t>
            </a:r>
          </a:p>
          <a:p>
            <a:r>
              <a:t>where the infant is unable to suck or swallow. </a:t>
            </a:r>
          </a:p>
          <a:p>
            <a:r>
              <a:t>2- To provide a route that allows adequate caloric or fluid intake. </a:t>
            </a:r>
          </a:p>
          <a:p>
            <a:r>
              <a:t>3- To provide safe method of feeding in sick infant. </a:t>
            </a:r>
          </a:p>
          <a:p>
            <a:r>
              <a:t>4- To prevent fatigue or cyanosis which could occur from bottle </a:t>
            </a:r>
          </a:p>
          <a:p>
            <a:r>
              <a:t>feeding. </a:t>
            </a:r>
          </a:p>
          <a:p>
            <a:r>
              <a:t> </a:t>
            </a:r>
          </a:p>
          <a:p>
            <a:r>
              <a:t>Purpose of nasogastric tube insertion: </a:t>
            </a:r>
          </a:p>
          <a:p>
            <a:r>
              <a:t>A nasogastric tube may be used to decompress the stomach, instill </a:t>
            </a:r>
          </a:p>
          <a:p>
            <a:r>
              <a:t>medications or feedings or to assess gastrointestinal function. </a:t>
            </a:r>
          </a:p>
          <a:p>
            <a:r>
              <a:t>Guidelines of nasogastric tube selection: </a:t>
            </a:r>
          </a:p>
          <a:p>
            <a:r>
              <a:t>Factors influencing the selection of feeding tubes include: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107 </a:t>
            </a:r>
          </a:p>
          <a:p>
            <a:r>
              <a:t>Definition of Gavage feeding: </a:t>
            </a:r>
          </a:p>
          <a:p>
            <a:r>
              <a:t>It is a type of enteral feeding which is given to the infant using a </a:t>
            </a:r>
          </a:p>
          <a:p>
            <a:r>
              <a:t>nasogastric tube which is a narrow bore tube passed into the stomach </a:t>
            </a:r>
          </a:p>
          <a:p>
            <a:r>
              <a:t>via the nose. </a:t>
            </a:r>
          </a:p>
          <a:p>
            <a:r>
              <a:t> </a:t>
            </a:r>
          </a:p>
          <a:p>
            <a:r>
              <a:t>Indications: </a:t>
            </a:r>
          </a:p>
          <a:p>
            <a:r>
              <a:t> </a:t>
            </a:r>
          </a:p>
          <a:p>
            <a:r>
              <a:t>1. It is used for short or medium term nutritional support. </a:t>
            </a:r>
          </a:p>
          <a:p>
            <a:r>
              <a:t>2. Aspiration of stomach contents, e.g. for decompression. </a:t>
            </a:r>
          </a:p>
          <a:p>
            <a:r>
              <a:t>3. Administration of drugs. </a:t>
            </a:r>
          </a:p>
          <a:p>
            <a:r>
              <a:t>4. Poor sucking and swallowing reflexes. </a:t>
            </a:r>
          </a:p>
          <a:p>
            <a:r>
              <a:t>5. To provide nutrition post operatively. </a:t>
            </a:r>
          </a:p>
          <a:p>
            <a:r>
              <a:t>6. Respiratory distress. </a:t>
            </a:r>
          </a:p>
          <a:p>
            <a:r>
              <a:t>7. Loss of consciousness. </a:t>
            </a:r>
          </a:p>
          <a:p>
            <a:r>
              <a:t>8. Cyanosis after feeding by bottle or medicine dropper. </a:t>
            </a:r>
          </a:p>
          <a:p>
            <a:r>
              <a:t>9. Congenital abnormalities, as cleft lip and cleft palate. </a:t>
            </a:r>
          </a:p>
          <a:p>
            <a:r>
              <a:t>10. Neurologic impairment. </a:t>
            </a:r>
          </a:p>
          <a:p>
            <a:r>
              <a:t>11. A gestational age of less than 34 w. </a:t>
            </a:r>
          </a:p>
          <a:p>
            <a:r>
              <a:t>12. A weight of less than 1500gms. </a:t>
            </a:r>
          </a:p>
          <a:p>
            <a:r>
              <a:t> </a:t>
            </a:r>
          </a:p>
          <a:p>
            <a:r>
              <a:t>Purpose of gavage feeding: </a:t>
            </a:r>
          </a:p>
          <a:p>
            <a:r>
              <a:t>1- To provide safe method of feeding or administrating medication </a:t>
            </a:r>
          </a:p>
          <a:p>
            <a:r>
              <a:t>where the infant is unable to suck or swallow. </a:t>
            </a:r>
          </a:p>
          <a:p>
            <a:r>
              <a:t>2- To provide a route that allows adequate caloric or fluid intake. </a:t>
            </a:r>
          </a:p>
          <a:p>
            <a:r>
              <a:t>3- To provide safe method of feeding in sick infant. </a:t>
            </a:r>
          </a:p>
          <a:p>
            <a:r>
              <a:t>4- To prevent fatigue or cyanosis which could occur from bottle </a:t>
            </a:r>
          </a:p>
          <a:p>
            <a:r>
              <a:t>feeding. </a:t>
            </a:r>
          </a:p>
          <a:p>
            <a:r>
              <a:t> </a:t>
            </a:r>
          </a:p>
          <a:p>
            <a:r>
              <a:t>Purpose of nasogastric tube insertion: </a:t>
            </a:r>
          </a:p>
          <a:p>
            <a:r>
              <a:t>A nasogastric tube may be used to decompress the stomach, instill </a:t>
            </a:r>
          </a:p>
          <a:p>
            <a:r>
              <a:t>medications or feedings or to assess gastrointestinal function. </a:t>
            </a:r>
          </a:p>
          <a:p>
            <a:r>
              <a:t>Guidelines of nasogastric tube selection: </a:t>
            </a:r>
          </a:p>
          <a:p>
            <a:r>
              <a:t>Factors influencing the selection of feeding tubes include: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108 </a:t>
            </a:r>
          </a:p>
          <a:p>
            <a:r>
              <a:t> Child's age and weight. </a:t>
            </a:r>
          </a:p>
          <a:p>
            <a:r>
              <a:t> The viscosity of the formula. </a:t>
            </a:r>
          </a:p>
          <a:p>
            <a:r>
              <a:t> The reason for the enteral feeding. </a:t>
            </a:r>
          </a:p>
          <a:p>
            <a:r>
              <a:t> Whether an infusion device will be used. </a:t>
            </a:r>
          </a:p>
          <a:p>
            <a:r>
              <a:t> A feeding tube (catheter) of size 5 to 10 French is used in infants and </a:t>
            </a:r>
          </a:p>
          <a:p>
            <a:r>
              <a:t>the size increases proportionality for the older children. </a:t>
            </a:r>
          </a:p>
          <a:p>
            <a:r>
              <a:t> Selecting the smallest bore tube for the infusion and a tube of soft </a:t>
            </a:r>
          </a:p>
          <a:p>
            <a:r>
              <a:t>material will decrease the child's discomfort. </a:t>
            </a:r>
          </a:p>
          <a:p>
            <a:r>
              <a:t>Type of tube: </a:t>
            </a:r>
          </a:p>
          <a:p>
            <a:r>
              <a:t> For gavage or lavage, use a single lumen tube. </a:t>
            </a:r>
          </a:p>
          <a:p>
            <a:r>
              <a:t> For intermittent gastric decompression, use a double lumen tube. </a:t>
            </a:r>
          </a:p>
          <a:p>
            <a:r>
              <a:t> For continuous long term feeding, use a silicone tube. </a:t>
            </a:r>
          </a:p>
          <a:p>
            <a:r>
              <a:t>Tube size: </a:t>
            </a:r>
          </a:p>
          <a:p>
            <a:r>
              <a:t>Infant / Child Tube size </a:t>
            </a:r>
          </a:p>
          <a:p>
            <a:r>
              <a:t>2 kg </a:t>
            </a:r>
          </a:p>
          <a:p>
            <a:r>
              <a:t>3-9 kg </a:t>
            </a:r>
          </a:p>
          <a:p>
            <a:r>
              <a:t>10-20 kg </a:t>
            </a:r>
          </a:p>
          <a:p>
            <a:r>
              <a:t>20-30 kg </a:t>
            </a:r>
          </a:p>
          <a:p>
            <a:r>
              <a:t>30-50 kg </a:t>
            </a:r>
          </a:p>
          <a:p>
            <a:r>
              <a:t>&gt; 50 kg </a:t>
            </a:r>
          </a:p>
          <a:p>
            <a:r>
              <a:t>6 French </a:t>
            </a:r>
          </a:p>
          <a:p>
            <a:r>
              <a:t>8 French </a:t>
            </a:r>
          </a:p>
          <a:p>
            <a:r>
              <a:t>10 French </a:t>
            </a:r>
          </a:p>
          <a:p>
            <a:r>
              <a:t>12 French </a:t>
            </a:r>
          </a:p>
          <a:p>
            <a:r>
              <a:t>14 French </a:t>
            </a:r>
          </a:p>
          <a:p>
            <a:r>
              <a:t>16 French </a:t>
            </a:r>
          </a:p>
          <a:p>
            <a:r>
              <a:t>Equipment: </a:t>
            </a:r>
          </a:p>
          <a:p>
            <a:r>
              <a:t> Sterile catheter. </a:t>
            </a:r>
          </a:p>
          <a:p>
            <a:r>
              <a:t>      Formula. </a:t>
            </a:r>
          </a:p>
          <a:p>
            <a:r>
              <a:t> Gauze if needed. </a:t>
            </a:r>
          </a:p>
          <a:p>
            <a:r>
              <a:t>      Water for lubrication or other lubricant. </a:t>
            </a:r>
          </a:p>
          <a:p>
            <a:r>
              <a:t> Stethoscope.  </a:t>
            </a:r>
          </a:p>
          <a:p>
            <a:r>
              <a:t>      Sterile syringe (5cc or 10cc). </a:t>
            </a:r>
          </a:p>
          <a:p>
            <a:r>
              <a:t> Water for rinsing if needed. </a:t>
            </a:r>
          </a:p>
          <a:p>
            <a:r>
              <a:t> Towel and bib. </a:t>
            </a:r>
          </a:p>
          <a:p>
            <a:r>
              <a:t> Clamp.  </a:t>
            </a:r>
          </a:p>
          <a:p>
            <a:r>
              <a:t>                    </a:t>
            </a:r>
          </a:p>
          <a:p>
            <a:r>
              <a:t> Kidney tray. </a:t>
            </a:r>
          </a:p>
          <a:p>
            <a:r>
              <a:t> Tape, type.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 Pacifier if necessary. </a:t>
            </a:r>
          </a:p>
          <a:p>
            <a:r>
              <a:t> Non sterile gloves. </a:t>
            </a:r>
          </a:p>
          <a:p>
            <a:r>
              <a:t>Performing Gavage Feeding Nursing Action Preparation </a:t>
            </a:r>
          </a:p>
          <a:p>
            <a:r>
              <a:t>■ When choosing the catheter size, consider the size of the infant, the area of </a:t>
            </a:r>
          </a:p>
          <a:p>
            <a:r>
              <a:t>insertion (oral or nasal), and the desired rate of flow. </a:t>
            </a:r>
          </a:p>
          <a:p>
            <a:r>
              <a:t>Rationale: The size of the catheter will influence the rate of flow.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108 </a:t>
            </a:r>
          </a:p>
          <a:p>
            <a:r>
              <a:t> Child's age and weight. </a:t>
            </a:r>
          </a:p>
          <a:p>
            <a:r>
              <a:t> The viscosity of the formula. </a:t>
            </a:r>
          </a:p>
          <a:p>
            <a:r>
              <a:t> The reason for the enteral feeding. </a:t>
            </a:r>
          </a:p>
          <a:p>
            <a:r>
              <a:t> Whether an infusion device will be used. </a:t>
            </a:r>
          </a:p>
          <a:p>
            <a:r>
              <a:t> A feeding tube (catheter) of size 5 to 10 French is used in infants and </a:t>
            </a:r>
          </a:p>
          <a:p>
            <a:r>
              <a:t>the size increases proportionality for the older children. </a:t>
            </a:r>
          </a:p>
          <a:p>
            <a:r>
              <a:t> Selecting the smallest bore tube for the infusion and a tube of soft </a:t>
            </a:r>
          </a:p>
          <a:p>
            <a:r>
              <a:t>material will decrease the child's discomfort. </a:t>
            </a:r>
          </a:p>
          <a:p>
            <a:r>
              <a:t>Type of tube: </a:t>
            </a:r>
          </a:p>
          <a:p>
            <a:r>
              <a:t> For gavage or lavage, use a single lumen tube. </a:t>
            </a:r>
          </a:p>
          <a:p>
            <a:r>
              <a:t> For intermittent gastric decompression, use a double lumen tube. </a:t>
            </a:r>
          </a:p>
          <a:p>
            <a:r>
              <a:t> For continuous long term feeding, use a silicone tube. </a:t>
            </a:r>
          </a:p>
          <a:p>
            <a:r>
              <a:t>Tube size: </a:t>
            </a:r>
          </a:p>
          <a:p>
            <a:r>
              <a:t>Infant / Child Tube size </a:t>
            </a:r>
          </a:p>
          <a:p>
            <a:r>
              <a:t>2 kg </a:t>
            </a:r>
          </a:p>
          <a:p>
            <a:r>
              <a:t>3-9 kg </a:t>
            </a:r>
          </a:p>
          <a:p>
            <a:r>
              <a:t>10-20 kg </a:t>
            </a:r>
          </a:p>
          <a:p>
            <a:r>
              <a:t>20-30 kg </a:t>
            </a:r>
          </a:p>
          <a:p>
            <a:r>
              <a:t>30-50 kg </a:t>
            </a:r>
          </a:p>
          <a:p>
            <a:r>
              <a:t>&gt; 50 kg </a:t>
            </a:r>
          </a:p>
          <a:p>
            <a:r>
              <a:t>6 French </a:t>
            </a:r>
          </a:p>
          <a:p>
            <a:r>
              <a:t>8 French </a:t>
            </a:r>
          </a:p>
          <a:p>
            <a:r>
              <a:t>10 French </a:t>
            </a:r>
          </a:p>
          <a:p>
            <a:r>
              <a:t>12 French </a:t>
            </a:r>
          </a:p>
          <a:p>
            <a:r>
              <a:t>14 French </a:t>
            </a:r>
          </a:p>
          <a:p>
            <a:r>
              <a:t>16 French </a:t>
            </a:r>
          </a:p>
          <a:p>
            <a:r>
              <a:t>Equipment: </a:t>
            </a:r>
          </a:p>
          <a:p>
            <a:r>
              <a:t> Sterile catheter. </a:t>
            </a:r>
          </a:p>
          <a:p>
            <a:r>
              <a:t>      Formula. </a:t>
            </a:r>
          </a:p>
          <a:p>
            <a:r>
              <a:t> Gauze if needed. </a:t>
            </a:r>
          </a:p>
          <a:p>
            <a:r>
              <a:t>      Water for lubrication or other lubricant. </a:t>
            </a:r>
          </a:p>
          <a:p>
            <a:r>
              <a:t> Stethoscope.  </a:t>
            </a:r>
          </a:p>
          <a:p>
            <a:r>
              <a:t>      Sterile syringe (5cc or 10cc). </a:t>
            </a:r>
          </a:p>
          <a:p>
            <a:r>
              <a:t> Water for rinsing if needed. </a:t>
            </a:r>
          </a:p>
          <a:p>
            <a:r>
              <a:t> Towel and bib. </a:t>
            </a:r>
          </a:p>
          <a:p>
            <a:r>
              <a:t> Clamp.  </a:t>
            </a:r>
          </a:p>
          <a:p>
            <a:r>
              <a:t>                    </a:t>
            </a:r>
          </a:p>
          <a:p>
            <a:r>
              <a:t> Kidney tray. </a:t>
            </a:r>
          </a:p>
          <a:p>
            <a:r>
              <a:t> Tape, type.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 Pacifier if necessary. </a:t>
            </a:r>
          </a:p>
          <a:p>
            <a:r>
              <a:t> Non sterile gloves. </a:t>
            </a:r>
          </a:p>
          <a:p>
            <a:r>
              <a:t>Performing Gavage Feeding Nursing Action Preparation </a:t>
            </a:r>
          </a:p>
          <a:p>
            <a:r>
              <a:t>■ When choosing the catheter size, consider the size of the infant, the area of </a:t>
            </a:r>
          </a:p>
          <a:p>
            <a:r>
              <a:t>insertion (oral or nasal), and the desired rate of flow. </a:t>
            </a:r>
          </a:p>
          <a:p>
            <a:r>
              <a:t>Rationale: The size of the catheter will influence the rate of flow.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109 </a:t>
            </a:r>
          </a:p>
          <a:p>
            <a:r>
              <a:t>■ Explain the procedure to the parents. </a:t>
            </a:r>
          </a:p>
          <a:p>
            <a:r>
              <a:t>■ Elevate the head of the bed and position the infant on the back or side to allow </a:t>
            </a:r>
          </a:p>
          <a:p>
            <a:r>
              <a:t>easy passage of the tube. </a:t>
            </a:r>
          </a:p>
          <a:p>
            <a:r>
              <a:t>■ Measure the distance from the tip of the ear to the nose to the xiphoid process, </a:t>
            </a:r>
          </a:p>
          <a:p>
            <a:r>
              <a:t>and mark the point with a small piece of paper tape (Figure 28–6) to ensure </a:t>
            </a:r>
          </a:p>
          <a:p>
            <a:r>
              <a:t>enough tubing to enter the stomach.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Procedure: </a:t>
            </a:r>
          </a:p>
          <a:p>
            <a:r>
              <a:t>Clean Gloves </a:t>
            </a:r>
          </a:p>
          <a:p>
            <a:r>
              <a:t>Inserting and </a:t>
            </a:r>
          </a:p>
          <a:p>
            <a:r>
              <a:t>Checking </a:t>
            </a:r>
          </a:p>
          <a:p>
            <a:r>
              <a:t>Placement of Tube </a:t>
            </a:r>
          </a:p>
          <a:p>
            <a:r>
              <a:t>1. If inserting the tube nasally, lubricate the tip in a cup of sterile water. Use water </a:t>
            </a:r>
          </a:p>
          <a:p>
            <a:r>
              <a:t>instead of an oil-based lubricant, in case the tube is inadvertently passed into a </a:t>
            </a:r>
          </a:p>
          <a:p>
            <a:r>
              <a:t>lung. Shake any excess drops to prevent aspiration. </a:t>
            </a:r>
          </a:p>
          <a:p>
            <a:r>
              <a:t>2. If inserting the tube orally, the oral secretions are enough to lubricate the tube </a:t>
            </a:r>
          </a:p>
          <a:p>
            <a:r>
              <a:t>adequately.  </a:t>
            </a:r>
          </a:p>
          <a:p>
            <a:r>
              <a:t>3. Stabilize the infant’s head with one hand and pass the tube via the mouth (or </a:t>
            </a:r>
          </a:p>
          <a:p>
            <a:r>
              <a:t>nose) into the stomach to the point previously marked. If the infant begins </a:t>
            </a:r>
          </a:p>
          <a:p>
            <a:r>
              <a:t>coughing or choking or becomes cyanotic or phonic, remove the tube </a:t>
            </a:r>
          </a:p>
          <a:p>
            <a:r>
              <a:t>immediately as the tube has probably entered the trachea. </a:t>
            </a:r>
          </a:p>
          <a:p>
            <a:r>
              <a:t>4. If respiratory distress is not apparent, lightly tape the tube in position, draw up </a:t>
            </a:r>
          </a:p>
          <a:p>
            <a:r>
              <a:t>0.5 to 1.0 ml of air in the syringe, and connect the syringe to the tubing. Place </a:t>
            </a:r>
          </a:p>
          <a:p>
            <a:r>
              <a:t>the stethoscope over the epigastrium and briskly inject the air (Figure 28–7).  </a:t>
            </a:r>
          </a:p>
          <a:p>
            <a:r>
              <a:t>You will hear a sudden rush as the air enters the stomach. </a:t>
            </a:r>
          </a:p>
          <a:p>
            <a:r>
              <a:t>5. Aspirate the stomach contents with the syringe, and note the amount, color, and </a:t>
            </a:r>
          </a:p>
          <a:p>
            <a:r>
              <a:t>consistency to evaluate the infant’s feeding tolerance. Return the residual to </a:t>
            </a:r>
          </a:p>
          <a:p>
            <a:r>
              <a:t>the stomach unless you are requested to discard it. It is usually not discarded </a:t>
            </a:r>
          </a:p>
          <a:p>
            <a:r>
              <a:t>because of the potential for electrolyte imbalance.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109 </a:t>
            </a:r>
          </a:p>
          <a:p>
            <a:r>
              <a:t>■ Explain the procedure to the parents. </a:t>
            </a:r>
          </a:p>
          <a:p>
            <a:r>
              <a:t>■ Elevate the head of the bed and position the infant on the back or side to allow </a:t>
            </a:r>
          </a:p>
          <a:p>
            <a:r>
              <a:t>easy passage of the tube. </a:t>
            </a:r>
          </a:p>
          <a:p>
            <a:r>
              <a:t>■ Measure the distance from the tip of the ear to the nose to the xiphoid process, </a:t>
            </a:r>
          </a:p>
          <a:p>
            <a:r>
              <a:t>and mark the point with a small piece of paper tape (Figure 28–6) to ensure </a:t>
            </a:r>
          </a:p>
          <a:p>
            <a:r>
              <a:t>enough tubing to enter the stomach.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Procedure: </a:t>
            </a:r>
          </a:p>
          <a:p>
            <a:r>
              <a:t>Clean Gloves </a:t>
            </a:r>
          </a:p>
          <a:p>
            <a:r>
              <a:t>Inserting and </a:t>
            </a:r>
          </a:p>
          <a:p>
            <a:r>
              <a:t>Checking </a:t>
            </a:r>
          </a:p>
          <a:p>
            <a:r>
              <a:t>Placement of Tube </a:t>
            </a:r>
          </a:p>
          <a:p>
            <a:r>
              <a:t>1. If inserting the tube nasally, lubricate the tip in a cup of sterile water. Use water </a:t>
            </a:r>
          </a:p>
          <a:p>
            <a:r>
              <a:t>instead of an oil-based lubricant, in case the tube is inadvertently passed into a </a:t>
            </a:r>
          </a:p>
          <a:p>
            <a:r>
              <a:t>lung. Shake any excess drops to prevent aspiration. </a:t>
            </a:r>
          </a:p>
          <a:p>
            <a:r>
              <a:t>2. If inserting the tube orally, the oral secretions are enough to lubricate the tube </a:t>
            </a:r>
          </a:p>
          <a:p>
            <a:r>
              <a:t>adequately.  </a:t>
            </a:r>
          </a:p>
          <a:p>
            <a:r>
              <a:t>3. Stabilize the infant’s head with one hand and pass the tube via the mouth (or </a:t>
            </a:r>
          </a:p>
          <a:p>
            <a:r>
              <a:t>nose) into the stomach to the point previously marked. If the infant begins </a:t>
            </a:r>
          </a:p>
          <a:p>
            <a:r>
              <a:t>coughing or choking or becomes cyanotic or phonic, remove the tube </a:t>
            </a:r>
          </a:p>
          <a:p>
            <a:r>
              <a:t>immediately as the tube has probably entered the trachea. </a:t>
            </a:r>
          </a:p>
          <a:p>
            <a:r>
              <a:t>4. If respiratory distress is not apparent, lightly tape the tube in position, draw up </a:t>
            </a:r>
          </a:p>
          <a:p>
            <a:r>
              <a:t>0.5 to 1.0 ml of air in the syringe, and connect the syringe to the tubing. Place </a:t>
            </a:r>
          </a:p>
          <a:p>
            <a:r>
              <a:t>the stethoscope over the epigastrium and briskly inject the air (Figure 28–7).  </a:t>
            </a:r>
          </a:p>
          <a:p>
            <a:r>
              <a:t>You will hear a sudden rush as the air enters the stomach. </a:t>
            </a:r>
          </a:p>
          <a:p>
            <a:r>
              <a:t>5. Aspirate the stomach contents with the syringe, and note the amount, color, and </a:t>
            </a:r>
          </a:p>
          <a:p>
            <a:r>
              <a:t>consistency to evaluate the infant’s feeding tolerance. Return the residual to </a:t>
            </a:r>
          </a:p>
          <a:p>
            <a:r>
              <a:t>the stomach unless you are requested to discard it. It is usually not discarded </a:t>
            </a:r>
          </a:p>
          <a:p>
            <a:r>
              <a:t>because of the potential for electrolyte imbalance.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109 </a:t>
            </a:r>
          </a:p>
          <a:p>
            <a:r>
              <a:t>■ Explain the procedure to the parents. </a:t>
            </a:r>
          </a:p>
          <a:p>
            <a:r>
              <a:t>■ Elevate the head of the bed and position the infant on the back or side to allow </a:t>
            </a:r>
          </a:p>
          <a:p>
            <a:r>
              <a:t>easy passage of the tube. </a:t>
            </a:r>
          </a:p>
          <a:p>
            <a:r>
              <a:t>■ Measure the distance from the tip of the ear to the nose to the xiphoid process, </a:t>
            </a:r>
          </a:p>
          <a:p>
            <a:r>
              <a:t>and mark the point with a small piece of paper tape (Figure 28–6) to ensure </a:t>
            </a:r>
          </a:p>
          <a:p>
            <a:r>
              <a:t>enough tubing to enter the stomach.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Procedure: </a:t>
            </a:r>
          </a:p>
          <a:p>
            <a:r>
              <a:t>Clean Gloves </a:t>
            </a:r>
          </a:p>
          <a:p>
            <a:r>
              <a:t>Inserting and </a:t>
            </a:r>
          </a:p>
          <a:p>
            <a:r>
              <a:t>Checking </a:t>
            </a:r>
          </a:p>
          <a:p>
            <a:r>
              <a:t>Placement of Tube </a:t>
            </a:r>
          </a:p>
          <a:p>
            <a:r>
              <a:t>1. If inserting the tube nasally, lubricate the tip in a cup of sterile water. Use water </a:t>
            </a:r>
          </a:p>
          <a:p>
            <a:r>
              <a:t>instead of an oil-based lubricant, in case the tube is inadvertently passed into a </a:t>
            </a:r>
          </a:p>
          <a:p>
            <a:r>
              <a:t>lung. Shake any excess drops to prevent aspiration. </a:t>
            </a:r>
          </a:p>
          <a:p>
            <a:r>
              <a:t>2. If inserting the tube orally, the oral secretions are enough to lubricate the tube </a:t>
            </a:r>
          </a:p>
          <a:p>
            <a:r>
              <a:t>adequately.  </a:t>
            </a:r>
          </a:p>
          <a:p>
            <a:r>
              <a:t>3. Stabilize the infant’s head with one hand and pass the tube via the mouth (or </a:t>
            </a:r>
          </a:p>
          <a:p>
            <a:r>
              <a:t>nose) into the stomach to the point previously marked. If the infant begins </a:t>
            </a:r>
          </a:p>
          <a:p>
            <a:r>
              <a:t>coughing or choking or becomes cyanotic or phonic, remove the tube </a:t>
            </a:r>
          </a:p>
          <a:p>
            <a:r>
              <a:t>immediately as the tube has probably entered the trachea. </a:t>
            </a:r>
          </a:p>
          <a:p>
            <a:r>
              <a:t>4. If respiratory distress is not apparent, lightly tape the tube in position, draw up </a:t>
            </a:r>
          </a:p>
          <a:p>
            <a:r>
              <a:t>0.5 to 1.0 ml of air in the syringe, and connect the syringe to the tubing. Place </a:t>
            </a:r>
          </a:p>
          <a:p>
            <a:r>
              <a:t>the stethoscope over the epigastrium and briskly inject the air (Figure 28–7).  </a:t>
            </a:r>
          </a:p>
          <a:p>
            <a:r>
              <a:t>You will hear a sudden rush as the air enters the stomach. </a:t>
            </a:r>
          </a:p>
          <a:p>
            <a:r>
              <a:t>5. Aspirate the stomach contents with the syringe, and note the amount, color, and </a:t>
            </a:r>
          </a:p>
          <a:p>
            <a:r>
              <a:t>consistency to evaluate the infant’s feeding tolerance. Return the residual to </a:t>
            </a:r>
          </a:p>
          <a:p>
            <a:r>
              <a:t>the stomach unless you are requested to discard it. It is usually not discarded </a:t>
            </a:r>
          </a:p>
          <a:p>
            <a:r>
              <a:t>because of the potential for electrolyte imbalance.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110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Administering the Feeding </a:t>
            </a:r>
          </a:p>
          <a:p>
            <a:r>
              <a:t>1. Hold the infant for feeding, or position the infant on the right side. </a:t>
            </a:r>
          </a:p>
          <a:p>
            <a:r>
              <a:t>Rationale: This position decreases the risk of aspiration in case of emesis during </a:t>
            </a:r>
          </a:p>
          <a:p>
            <a:r>
              <a:t>feeding. </a:t>
            </a:r>
          </a:p>
          <a:p>
            <a:r>
              <a:t>2. Separate the syringe from the tube, remove the plunger from the barrel, </a:t>
            </a:r>
          </a:p>
          <a:p>
            <a:r>
              <a:t>reconnect the barrel to the tube, and pour the formula into the syringe. </a:t>
            </a:r>
          </a:p>
          <a:p>
            <a:r>
              <a:t>3. Elevate the syringe 6 to 8 inches over the infant’s head, and allow the formula </a:t>
            </a:r>
          </a:p>
          <a:p>
            <a:r>
              <a:t>to flow by gravity at a slow, even rate. </a:t>
            </a:r>
          </a:p>
          <a:p>
            <a:r>
              <a:t>You may need to initiate the flow of formula by inserting the plunger of the </a:t>
            </a:r>
          </a:p>
          <a:p>
            <a:r>
              <a:t>syringe into the barrel just until you see formula enter the feeding tube. Do not </a:t>
            </a:r>
          </a:p>
          <a:p>
            <a:r>
              <a:t>use pressure. </a:t>
            </a:r>
          </a:p>
          <a:p>
            <a:r>
              <a:t>4. Regulate the rate to prevent sudden stomach distention leading to vomiting </a:t>
            </a:r>
          </a:p>
          <a:p>
            <a:r>
              <a:t>and aspiration. Continue adding formula to the syringe until the infant has </a:t>
            </a:r>
          </a:p>
          <a:p>
            <a:r>
              <a:t>absorbed the desired volume. </a:t>
            </a:r>
          </a:p>
          <a:p>
            <a:r>
              <a:t> </a:t>
            </a:r>
          </a:p>
          <a:p>
            <a:r>
              <a:t>Clearing and Removing the Tube </a:t>
            </a:r>
          </a:p>
          <a:p>
            <a:r>
              <a:t>1. Clear the tubing with 2 to 3 ml of air. Rationale: This ensures that the infant </a:t>
            </a:r>
          </a:p>
          <a:p>
            <a:r>
              <a:t>has received all of the formula. If the tube is going to be left in place, clearing it </a:t>
            </a:r>
          </a:p>
          <a:p>
            <a:r>
              <a:t>will decrease the risk of occlusion and bacterial growth in the tube. </a:t>
            </a:r>
          </a:p>
          <a:p>
            <a:r>
              <a:t>2. To remove the tube, loosen the tape, fold the tube over on itself, and quickly </a:t>
            </a:r>
          </a:p>
          <a:p>
            <a:r>
              <a:t>withdraw the tube in one smooth motion to minimize the potential for fluid </a:t>
            </a:r>
          </a:p>
          <a:p>
            <a:r>
              <a:t>aspiration as the tube passes the epiglottis. If the tube is to be left in, position it </a:t>
            </a:r>
          </a:p>
          <a:p>
            <a:r>
              <a:t>so that the infant is unable to remove it. Replace the tube per hospital policy. </a:t>
            </a:r>
          </a:p>
          <a:p>
            <a:r>
              <a:t>Maximize the Feeding Pleasure of the Infant </a:t>
            </a:r>
          </a:p>
          <a:p>
            <a:r>
              <a:t>1. Whenever possible, hold the infant during gavage feeding. If it is too awkward </a:t>
            </a:r>
          </a:p>
          <a:p>
            <a:r>
              <a:t>to hold the infant during feeding, be sure to take time for holding after the </a:t>
            </a:r>
          </a:p>
          <a:p>
            <a:r>
              <a:t>feeding.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110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Administering the Feeding </a:t>
            </a:r>
          </a:p>
          <a:p>
            <a:r>
              <a:t>1. Hold the infant for feeding, or position the infant on the right side. </a:t>
            </a:r>
          </a:p>
          <a:p>
            <a:r>
              <a:t>Rationale: This position decreases the risk of aspiration in case of emesis during </a:t>
            </a:r>
          </a:p>
          <a:p>
            <a:r>
              <a:t>feeding. </a:t>
            </a:r>
          </a:p>
          <a:p>
            <a:r>
              <a:t>2. Separate the syringe from the tube, remove the plunger from the barrel, </a:t>
            </a:r>
          </a:p>
          <a:p>
            <a:r>
              <a:t>reconnect the barrel to the tube, and pour the formula into the syringe. </a:t>
            </a:r>
          </a:p>
          <a:p>
            <a:r>
              <a:t>3. Elevate the syringe 6 to 8 inches over the infant’s head, and allow the formula </a:t>
            </a:r>
          </a:p>
          <a:p>
            <a:r>
              <a:t>to flow by gravity at a slow, even rate. </a:t>
            </a:r>
          </a:p>
          <a:p>
            <a:r>
              <a:t>You may need to initiate the flow of formula by inserting the plunger of the </a:t>
            </a:r>
          </a:p>
          <a:p>
            <a:r>
              <a:t>syringe into the barrel just until you see formula enter the feeding tube. Do not </a:t>
            </a:r>
          </a:p>
          <a:p>
            <a:r>
              <a:t>use pressure. </a:t>
            </a:r>
          </a:p>
          <a:p>
            <a:r>
              <a:t>4. Regulate the rate to prevent sudden stomach distention leading to vomiting </a:t>
            </a:r>
          </a:p>
          <a:p>
            <a:r>
              <a:t>and aspiration. Continue adding formula to the syringe until the infant has </a:t>
            </a:r>
          </a:p>
          <a:p>
            <a:r>
              <a:t>absorbed the desired volume. </a:t>
            </a:r>
          </a:p>
          <a:p>
            <a:r>
              <a:t> </a:t>
            </a:r>
          </a:p>
          <a:p>
            <a:r>
              <a:t>Clearing and Removing the Tube </a:t>
            </a:r>
          </a:p>
          <a:p>
            <a:r>
              <a:t>1. Clear the tubing with 2 to 3 ml of air. Rationale: This ensures that the infant </a:t>
            </a:r>
          </a:p>
          <a:p>
            <a:r>
              <a:t>has received all of the formula. If the tube is going to be left in place, clearing it </a:t>
            </a:r>
          </a:p>
          <a:p>
            <a:r>
              <a:t>will decrease the risk of occlusion and bacterial growth in the tube. </a:t>
            </a:r>
          </a:p>
          <a:p>
            <a:r>
              <a:t>2. To remove the tube, loosen the tape, fold the tube over on itself, and quickly </a:t>
            </a:r>
          </a:p>
          <a:p>
            <a:r>
              <a:t>withdraw the tube in one smooth motion to minimize the potential for fluid </a:t>
            </a:r>
          </a:p>
          <a:p>
            <a:r>
              <a:t>aspiration as the tube passes the epiglottis. If the tube is to be left in, position it </a:t>
            </a:r>
          </a:p>
          <a:p>
            <a:r>
              <a:t>so that the infant is unable to remove it. Replace the tube per hospital policy. </a:t>
            </a:r>
          </a:p>
          <a:p>
            <a:r>
              <a:t>Maximize the Feeding Pleasure of the Infant </a:t>
            </a:r>
          </a:p>
          <a:p>
            <a:r>
              <a:t>1. Whenever possible, hold the infant during gavage feeding. If it is too awkward </a:t>
            </a:r>
          </a:p>
          <a:p>
            <a:r>
              <a:t>to hold the infant during feeding, be sure to take time for holding after the </a:t>
            </a:r>
          </a:p>
          <a:p>
            <a:r>
              <a:t>feeding.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110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Administering the Feeding </a:t>
            </a:r>
          </a:p>
          <a:p>
            <a:r>
              <a:t>1. Hold the infant for feeding, or position the infant on the right side. </a:t>
            </a:r>
          </a:p>
          <a:p>
            <a:r>
              <a:t>Rationale: This position decreases the risk of aspiration in case of emesis during </a:t>
            </a:r>
          </a:p>
          <a:p>
            <a:r>
              <a:t>feeding. </a:t>
            </a:r>
          </a:p>
          <a:p>
            <a:r>
              <a:t>2. Separate the syringe from the tube, remove the plunger from the barrel, </a:t>
            </a:r>
          </a:p>
          <a:p>
            <a:r>
              <a:t>reconnect the barrel to the tube, and pour the formula into the syringe. </a:t>
            </a:r>
          </a:p>
          <a:p>
            <a:r>
              <a:t>3. Elevate the syringe 6 to 8 inches over the infant’s head, and allow the formula </a:t>
            </a:r>
          </a:p>
          <a:p>
            <a:r>
              <a:t>to flow by gravity at a slow, even rate. </a:t>
            </a:r>
          </a:p>
          <a:p>
            <a:r>
              <a:t>You may need to initiate the flow of formula by inserting the plunger of the </a:t>
            </a:r>
          </a:p>
          <a:p>
            <a:r>
              <a:t>syringe into the barrel just until you see formula enter the feeding tube. Do not </a:t>
            </a:r>
          </a:p>
          <a:p>
            <a:r>
              <a:t>use pressure. </a:t>
            </a:r>
          </a:p>
          <a:p>
            <a:r>
              <a:t>4. Regulate the rate to prevent sudden stomach distention leading to vomiting </a:t>
            </a:r>
          </a:p>
          <a:p>
            <a:r>
              <a:t>and aspiration. Continue adding formula to the syringe until the infant has </a:t>
            </a:r>
          </a:p>
          <a:p>
            <a:r>
              <a:t>absorbed the desired volume. </a:t>
            </a:r>
          </a:p>
          <a:p>
            <a:r>
              <a:t> </a:t>
            </a:r>
          </a:p>
          <a:p>
            <a:r>
              <a:t>Clearing and Removing the Tube </a:t>
            </a:r>
          </a:p>
          <a:p>
            <a:r>
              <a:t>1. Clear the tubing with 2 to 3 ml of air. Rationale: This ensures that the infant </a:t>
            </a:r>
          </a:p>
          <a:p>
            <a:r>
              <a:t>has received all of the formula. If the tube is going to be left in place, clearing it </a:t>
            </a:r>
          </a:p>
          <a:p>
            <a:r>
              <a:t>will decrease the risk of occlusion and bacterial growth in the tube. </a:t>
            </a:r>
          </a:p>
          <a:p>
            <a:r>
              <a:t>2. To remove the tube, loosen the tape, fold the tube over on itself, and quickly </a:t>
            </a:r>
          </a:p>
          <a:p>
            <a:r>
              <a:t>withdraw the tube in one smooth motion to minimize the potential for fluid </a:t>
            </a:r>
          </a:p>
          <a:p>
            <a:r>
              <a:t>aspiration as the tube passes the epiglottis. If the tube is to be left in, position it </a:t>
            </a:r>
          </a:p>
          <a:p>
            <a:r>
              <a:t>so that the infant is unable to remove it. Replace the tube per hospital policy. </a:t>
            </a:r>
          </a:p>
          <a:p>
            <a:r>
              <a:t>Maximize the Feeding Pleasure of the Infant </a:t>
            </a:r>
          </a:p>
          <a:p>
            <a:r>
              <a:t>1. Whenever possible, hold the infant during gavage feeding. If it is too awkward </a:t>
            </a:r>
          </a:p>
          <a:p>
            <a:r>
              <a:t>to hold the infant during feeding, be sure to take time for holding after the </a:t>
            </a:r>
          </a:p>
          <a:p>
            <a:r>
              <a:t>feeding.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111 </a:t>
            </a:r>
          </a:p>
          <a:p>
            <a:r>
              <a:t>Rationale: Feeding time is important to the infant’s tactile sensory input. </a:t>
            </a:r>
          </a:p>
          <a:p>
            <a:r>
              <a:t>2. Offer a pacifier to the infant during the feeding. </a:t>
            </a:r>
          </a:p>
          <a:p>
            <a:r>
              <a:t>Rationale: Sucking during feeding comforts and relaxes the infant, making the </a:t>
            </a:r>
          </a:p>
          <a:p>
            <a:r>
              <a:t>formula flow more easily. Infants can lose their sucking reflexes when fed by </a:t>
            </a:r>
          </a:p>
          <a:p>
            <a:r>
              <a:t>gavage for long periods. </a:t>
            </a:r>
          </a:p>
          <a:p>
            <a:r>
              <a:t>3. Document procedure, including untoward complications, in the baby’s bedside </a:t>
            </a:r>
          </a:p>
          <a:p>
            <a:r>
              <a:t>chart or computerized electronic chart. </a:t>
            </a:r>
          </a:p>
          <a:p>
            <a:r>
              <a:t> </a:t>
            </a:r>
          </a:p>
          <a:p>
            <a:r>
              <a:t>Documentation: </a:t>
            </a:r>
          </a:p>
          <a:p>
            <a:r>
              <a:t>After insertion of enteral tube, document the following: </a:t>
            </a:r>
          </a:p>
          <a:p>
            <a:r>
              <a:t> Date and time of insertion </a:t>
            </a:r>
          </a:p>
          <a:p>
            <a:r>
              <a:t> Type, size\ length tube that used </a:t>
            </a:r>
          </a:p>
          <a:p>
            <a:r>
              <a:t> Verification method </a:t>
            </a:r>
          </a:p>
          <a:p>
            <a:r>
              <a:t>Complications: </a:t>
            </a:r>
          </a:p>
          <a:p>
            <a:r>
              <a:t>1. Nose bleeding. </a:t>
            </a:r>
          </a:p>
          <a:p>
            <a:r>
              <a:t>2. Sinusitis. </a:t>
            </a:r>
          </a:p>
          <a:p>
            <a:r>
              <a:t>3. A sore throat. </a:t>
            </a:r>
          </a:p>
          <a:p>
            <a:r>
              <a:t>4. Erosion of the nose. </a:t>
            </a:r>
          </a:p>
          <a:p>
            <a:r>
              <a:t>5. Esophageal perforation. </a:t>
            </a:r>
          </a:p>
          <a:p>
            <a:r>
              <a:t>6. Pulmonary aspiration. </a:t>
            </a:r>
          </a:p>
          <a:p>
            <a:r>
              <a:t>7. A collapsed lung. </a:t>
            </a:r>
          </a:p>
          <a:p>
            <a:r>
              <a:t>8. Intracranial placement of the catheter. </a:t>
            </a:r>
          </a:p>
          <a:p>
            <a:r>
              <a:t>References: </a:t>
            </a:r>
          </a:p>
          <a:p>
            <a:r>
              <a:t>1-Tiedeman, M.E. and Mills, D. A., 2002. Pediatric nursing skills. Delmar , a </a:t>
            </a:r>
          </a:p>
          <a:p>
            <a:r>
              <a:t>division of Thomson learning, Inc. </a:t>
            </a:r>
          </a:p>
          <a:p>
            <a:r>
              <a:t>2- London, M.L. and Davidson, M.R., 2010. Contemporary maternal-newborn </a:t>
            </a:r>
          </a:p>
          <a:p>
            <a:r>
              <a:t>nursing care. Pearson. </a:t>
            </a:r>
          </a:p>
          <a:p>
            <a:r>
              <a:t>3-Bowden, V.R. and Greenberg, C.S., 2011. Pediatric nursing procedures. </a:t>
            </a:r>
          </a:p>
          <a:p>
            <a:r>
              <a:t>Lippincott Williams &amp; Wilkins.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111 </a:t>
            </a:r>
          </a:p>
          <a:p>
            <a:r>
              <a:t>Rationale: Feeding time is important to the infant’s tactile sensory input. </a:t>
            </a:r>
          </a:p>
          <a:p>
            <a:r>
              <a:t>2. Offer a pacifier to the infant during the feeding. </a:t>
            </a:r>
          </a:p>
          <a:p>
            <a:r>
              <a:t>Rationale: Sucking during feeding comforts and relaxes the infant, making the </a:t>
            </a:r>
          </a:p>
          <a:p>
            <a:r>
              <a:t>formula flow more easily. Infants can lose their sucking reflexes when fed by </a:t>
            </a:r>
          </a:p>
          <a:p>
            <a:r>
              <a:t>gavage for long periods. </a:t>
            </a:r>
          </a:p>
          <a:p>
            <a:r>
              <a:t>3. Document procedure, including untoward complications, in the baby’s bedside </a:t>
            </a:r>
          </a:p>
          <a:p>
            <a:r>
              <a:t>chart or computerized electronic chart. </a:t>
            </a:r>
          </a:p>
          <a:p>
            <a:r>
              <a:t> </a:t>
            </a:r>
          </a:p>
          <a:p>
            <a:r>
              <a:t>Documentation: </a:t>
            </a:r>
          </a:p>
          <a:p>
            <a:r>
              <a:t>After insertion of enteral tube, document the following: </a:t>
            </a:r>
          </a:p>
          <a:p>
            <a:r>
              <a:t> Date and time of insertion </a:t>
            </a:r>
          </a:p>
          <a:p>
            <a:r>
              <a:t> Type, size\ length tube that used </a:t>
            </a:r>
          </a:p>
          <a:p>
            <a:r>
              <a:t> Verification method </a:t>
            </a:r>
          </a:p>
          <a:p>
            <a:r>
              <a:t>Complications: </a:t>
            </a:r>
          </a:p>
          <a:p>
            <a:r>
              <a:t>1. Nose bleeding. </a:t>
            </a:r>
          </a:p>
          <a:p>
            <a:r>
              <a:t>2. Sinusitis. </a:t>
            </a:r>
          </a:p>
          <a:p>
            <a:r>
              <a:t>3. A sore throat. </a:t>
            </a:r>
          </a:p>
          <a:p>
            <a:r>
              <a:t>4. Erosion of the nose. </a:t>
            </a:r>
          </a:p>
          <a:p>
            <a:r>
              <a:t>5. Esophageal perforation. </a:t>
            </a:r>
          </a:p>
          <a:p>
            <a:r>
              <a:t>6. Pulmonary aspiration. </a:t>
            </a:r>
          </a:p>
          <a:p>
            <a:r>
              <a:t>7. A collapsed lung. </a:t>
            </a:r>
          </a:p>
          <a:p>
            <a:r>
              <a:t>8. Intracranial placement of the catheter. </a:t>
            </a:r>
          </a:p>
          <a:p>
            <a:r>
              <a:t>References: </a:t>
            </a:r>
          </a:p>
          <a:p>
            <a:r>
              <a:t>1-Tiedeman, M.E. and Mills, D. A., 2002. Pediatric nursing skills. Delmar , a </a:t>
            </a:r>
          </a:p>
          <a:p>
            <a:r>
              <a:t>division of Thomson learning, Inc. </a:t>
            </a:r>
          </a:p>
          <a:p>
            <a:r>
              <a:t>2- London, M.L. and Davidson, M.R., 2010. Contemporary maternal-newborn </a:t>
            </a:r>
          </a:p>
          <a:p>
            <a:r>
              <a:t>nursing care. Pearson. </a:t>
            </a:r>
          </a:p>
          <a:p>
            <a:r>
              <a:t>3-Bowden, V.R. and Greenberg, C.S., 2011. Pediatric nursing procedures. </a:t>
            </a:r>
          </a:p>
          <a:p>
            <a:r>
              <a:t>Lippincott Williams &amp; Wilkins.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111 </a:t>
            </a:r>
          </a:p>
          <a:p>
            <a:r>
              <a:t>Rationale: Feeding time is important to the infant’s tactile sensory input. </a:t>
            </a:r>
          </a:p>
          <a:p>
            <a:r>
              <a:t>2. Offer a pacifier to the infant during the feeding. </a:t>
            </a:r>
          </a:p>
          <a:p>
            <a:r>
              <a:t>Rationale: Sucking during feeding comforts and relaxes the infant, making the </a:t>
            </a:r>
          </a:p>
          <a:p>
            <a:r>
              <a:t>formula flow more easily. Infants can lose their sucking reflexes when fed by </a:t>
            </a:r>
          </a:p>
          <a:p>
            <a:r>
              <a:t>gavage for long periods. </a:t>
            </a:r>
          </a:p>
          <a:p>
            <a:r>
              <a:t>3. Document procedure, including untoward complications, in the baby’s bedside </a:t>
            </a:r>
          </a:p>
          <a:p>
            <a:r>
              <a:t>chart or computerized electronic chart. </a:t>
            </a:r>
          </a:p>
          <a:p>
            <a:r>
              <a:t> </a:t>
            </a:r>
          </a:p>
          <a:p>
            <a:r>
              <a:t>Documentation: </a:t>
            </a:r>
          </a:p>
          <a:p>
            <a:r>
              <a:t>After insertion of enteral tube, document the following: </a:t>
            </a:r>
          </a:p>
          <a:p>
            <a:r>
              <a:t> Date and time of insertion </a:t>
            </a:r>
          </a:p>
          <a:p>
            <a:r>
              <a:t> Type, size\ length tube that used </a:t>
            </a:r>
          </a:p>
          <a:p>
            <a:r>
              <a:t> Verification method </a:t>
            </a:r>
          </a:p>
          <a:p>
            <a:r>
              <a:t>Complications: </a:t>
            </a:r>
          </a:p>
          <a:p>
            <a:r>
              <a:t>1. Nose bleeding. </a:t>
            </a:r>
          </a:p>
          <a:p>
            <a:r>
              <a:t>2. Sinusitis. </a:t>
            </a:r>
          </a:p>
          <a:p>
            <a:r>
              <a:t>3. A sore throat. </a:t>
            </a:r>
          </a:p>
          <a:p>
            <a:r>
              <a:t>4. Erosion of the nose. </a:t>
            </a:r>
          </a:p>
          <a:p>
            <a:r>
              <a:t>5. Esophageal perforation. </a:t>
            </a:r>
          </a:p>
          <a:p>
            <a:r>
              <a:t>6. Pulmonary aspiration. </a:t>
            </a:r>
          </a:p>
          <a:p>
            <a:r>
              <a:t>7. A collapsed lung. </a:t>
            </a:r>
          </a:p>
          <a:p>
            <a:r>
              <a:t>8. Intracranial placement of the catheter. </a:t>
            </a:r>
          </a:p>
          <a:p>
            <a:r>
              <a:t>References: </a:t>
            </a:r>
          </a:p>
          <a:p>
            <a:r>
              <a:t>1-Tiedeman, M.E. and Mills, D. A., 2002. Pediatric nursing skills. Delmar , a </a:t>
            </a:r>
          </a:p>
          <a:p>
            <a:r>
              <a:t>division of Thomson learning, Inc. </a:t>
            </a:r>
          </a:p>
          <a:p>
            <a:r>
              <a:t>2- London, M.L. and Davidson, M.R., 2010. Contemporary maternal-newborn </a:t>
            </a:r>
          </a:p>
          <a:p>
            <a:r>
              <a:t>nursing care. Pearson. </a:t>
            </a:r>
          </a:p>
          <a:p>
            <a:r>
              <a:t>3-Bowden, V.R. and Greenberg, C.S., 2011. Pediatric nursing procedures. </a:t>
            </a:r>
          </a:p>
          <a:p>
            <a:r>
              <a:t>Lippincott Williams &amp; Wilkins.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112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Learning objectives </a:t>
            </a:r>
          </a:p>
          <a:p>
            <a:r>
              <a:t>On completion of this lecture students will be able to: </a:t>
            </a:r>
          </a:p>
          <a:p>
            <a:r>
              <a:t>1. Assess the choking child to give urgent intervention. </a:t>
            </a:r>
          </a:p>
          <a:p>
            <a:r>
              <a:t>2. Describe emergent procedures for the relief of foreign body </a:t>
            </a:r>
          </a:p>
          <a:p>
            <a:r>
              <a:t>obstruction in an infant or child. </a:t>
            </a:r>
          </a:p>
          <a:p>
            <a:r>
              <a:t>3. Assess the unconscious infant or child.  </a:t>
            </a:r>
          </a:p>
          <a:p>
            <a:r>
              <a:t>4. Learn how to perform cardiopulmonary resuscitation for infant and </a:t>
            </a:r>
          </a:p>
          <a:p>
            <a:r>
              <a:t>child.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First aid for the </a:t>
            </a:r>
          </a:p>
          <a:p>
            <a:r>
              <a:t>choking child or </a:t>
            </a:r>
          </a:p>
          <a:p>
            <a:r>
              <a:t>baby and CPR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113 </a:t>
            </a:r>
          </a:p>
          <a:p>
            <a:r>
              <a:t>First aid for the choking child or baby and CPR  </a:t>
            </a:r>
          </a:p>
          <a:p>
            <a:r>
              <a:t>Choking can be broken up into three sections  </a:t>
            </a:r>
          </a:p>
          <a:p>
            <a:r>
              <a:t>1- If they are unconscious, we go through DRSABCE </a:t>
            </a:r>
          </a:p>
          <a:p>
            <a:r>
              <a:t>2-If they have an effective cough, where they can breathe in and </a:t>
            </a:r>
          </a:p>
          <a:p>
            <a:r>
              <a:t>breath out, look in the baby mouth, If the object can be got up, do it </a:t>
            </a:r>
          </a:p>
          <a:p>
            <a:r>
              <a:t>but it is right to the back Do not use a blind finger-sweep to discover or </a:t>
            </a:r>
          </a:p>
          <a:p>
            <a:r>
              <a:t>remove an obstruction. In an infant, this maneuver may push the object back </a:t>
            </a:r>
          </a:p>
          <a:p>
            <a:r>
              <a:t>into the airway and cause further obstruction. Only place your fingers in the </a:t>
            </a:r>
          </a:p>
          <a:p>
            <a:r>
              <a:t>infant's mouth to remove an object you can see. We just need to encourage them </a:t>
            </a:r>
          </a:p>
          <a:p>
            <a:r>
              <a:t>to cough until the object is out.  </a:t>
            </a:r>
          </a:p>
          <a:p>
            <a:r>
              <a:t>3-If they have an in effective cough or silent we should intervene by:  </a:t>
            </a:r>
          </a:p>
          <a:p>
            <a:r>
              <a:t> *remove an airway obstruction, place the infant face down on your forearm, </a:t>
            </a:r>
          </a:p>
          <a:p>
            <a:r>
              <a:t>with his head lower than his trunk. Support your forearm on your thigh. </a:t>
            </a:r>
          </a:p>
          <a:p>
            <a:r>
              <a:t>• Use the heel of your free hand to deliver five blows between the infant's </a:t>
            </a:r>
          </a:p>
          <a:p>
            <a:r>
              <a:t>shoulder blades (as shown below). Back blows are safer than abdominal thrusts </a:t>
            </a:r>
          </a:p>
          <a:p>
            <a:r>
              <a:t>in infants because of the size of the infant's liver, the nearness of vital organs, </a:t>
            </a:r>
          </a:p>
          <a:p>
            <a:r>
              <a:t>and the poor abdominal muscle tone.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113 </a:t>
            </a:r>
          </a:p>
          <a:p>
            <a:r>
              <a:t>First aid for the choking child or baby and CPR  </a:t>
            </a:r>
          </a:p>
          <a:p>
            <a:r>
              <a:t>Choking can be broken up into three sections  </a:t>
            </a:r>
          </a:p>
          <a:p>
            <a:r>
              <a:t>1- If they are unconscious, we go through DRSABCE </a:t>
            </a:r>
          </a:p>
          <a:p>
            <a:r>
              <a:t>2-If they have an effective cough, where they can breathe in and </a:t>
            </a:r>
          </a:p>
          <a:p>
            <a:r>
              <a:t>breath out, look in the baby mouth, If the object can be got up, do it </a:t>
            </a:r>
          </a:p>
          <a:p>
            <a:r>
              <a:t>but it is right to the back Do not use a blind finger-sweep to discover or </a:t>
            </a:r>
          </a:p>
          <a:p>
            <a:r>
              <a:t>remove an obstruction. In an infant, this maneuver may push the object back </a:t>
            </a:r>
          </a:p>
          <a:p>
            <a:r>
              <a:t>into the airway and cause further obstruction. Only place your fingers in the </a:t>
            </a:r>
          </a:p>
          <a:p>
            <a:r>
              <a:t>infant's mouth to remove an object you can see. We just need to encourage them </a:t>
            </a:r>
          </a:p>
          <a:p>
            <a:r>
              <a:t>to cough until the object is out.  </a:t>
            </a:r>
          </a:p>
          <a:p>
            <a:r>
              <a:t>3-If they have an in effective cough or silent we should intervene by:  </a:t>
            </a:r>
          </a:p>
          <a:p>
            <a:r>
              <a:t> *remove an airway obstruction, place the infant face down on your forearm, </a:t>
            </a:r>
          </a:p>
          <a:p>
            <a:r>
              <a:t>with his head lower than his trunk. Support your forearm on your thigh. </a:t>
            </a:r>
          </a:p>
          <a:p>
            <a:r>
              <a:t>• Use the heel of your free hand to deliver five blows between the infant's </a:t>
            </a:r>
          </a:p>
          <a:p>
            <a:r>
              <a:t>shoulder blades (as shown below). Back blows are safer than abdominal thrusts </a:t>
            </a:r>
          </a:p>
          <a:p>
            <a:r>
              <a:t>in infants because of the size of the infant's liver, the nearness of vital organs, </a:t>
            </a:r>
          </a:p>
          <a:p>
            <a:r>
              <a:t>and the poor abdominal muscle tone.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114 </a:t>
            </a:r>
          </a:p>
          <a:p>
            <a:r>
              <a:t>• If the airway remains obstructed, sandwich the infant between your hands and </a:t>
            </a:r>
          </a:p>
          <a:p>
            <a:r>
              <a:t>forearms and flip him over onto his back (as shown above right). </a:t>
            </a:r>
          </a:p>
          <a:p>
            <a:r>
              <a:t>• Keeping the infant's head lower than his trunk, give five midsternal chest </a:t>
            </a:r>
          </a:p>
          <a:p>
            <a:r>
              <a:t>thrusts, using your middle and ring fingers only, to raise intrathoracic pressure </a:t>
            </a:r>
          </a:p>
          <a:p>
            <a:r>
              <a:t>enough to force a cough that will expel the obstruction. Remember to hold the </a:t>
            </a:r>
          </a:p>
          <a:p>
            <a:r>
              <a:t>infant's head firmly to avoid injury. </a:t>
            </a:r>
          </a:p>
          <a:p>
            <a:r>
              <a:t>• Repeat this sequence until the obstruction is dislodged or the infant loses </a:t>
            </a:r>
          </a:p>
          <a:p>
            <a:r>
              <a:t>consciousness. </a:t>
            </a:r>
          </a:p>
          <a:p>
            <a:r>
              <a:t>• When the foreign object is removed, assess respirations and pulse. Continue </a:t>
            </a:r>
          </a:p>
          <a:p>
            <a:r>
              <a:t>revival efforts if needed. </a:t>
            </a:r>
          </a:p>
          <a:p>
            <a:r>
              <a:t>Summary  </a:t>
            </a:r>
          </a:p>
          <a:p>
            <a:r>
              <a:t>If they are unconscious perform DRSABC and call for help </a:t>
            </a:r>
          </a:p>
          <a:p>
            <a:r>
              <a:t>If they have an effective cough encourage them to keep coughing  </a:t>
            </a:r>
          </a:p>
          <a:p>
            <a:r>
              <a:t>If they have an ineffective cough or are silent perform up to  5 back </a:t>
            </a:r>
          </a:p>
          <a:p>
            <a:r>
              <a:t>blows followed by 5 chest thrusts until they object comes out or they </a:t>
            </a:r>
          </a:p>
          <a:p>
            <a:r>
              <a:t>become unconscious  </a:t>
            </a:r>
          </a:p>
          <a:p>
            <a:r>
              <a:t>DRS ABC  </a:t>
            </a:r>
          </a:p>
          <a:p>
            <a:r>
              <a:t>  </a:t>
            </a:r>
          </a:p>
          <a:p>
            <a:r>
              <a:t> </a:t>
            </a:r>
          </a:p>
          <a:p>
            <a:r>
              <a:t>PERFORMING INFANT CPR </a:t>
            </a:r>
          </a:p>
          <a:p>
            <a:r>
              <a:t>Danger: check for danger and maintain your own safety  </a:t>
            </a:r>
          </a:p>
          <a:p>
            <a:r>
              <a:t>Response </a:t>
            </a:r>
          </a:p>
          <a:p>
            <a:r>
              <a:t>Gently shake the apparently unconscious child's shoulder and shout at her to </a:t>
            </a:r>
          </a:p>
          <a:p>
            <a:r>
              <a:t>elicit a response. If the child is conscious but has difficulty breathing, help her </a:t>
            </a:r>
          </a:p>
          <a:p>
            <a:r>
              <a:t>into a position that best eases her breathing—if she hasn't naturally assumed this </a:t>
            </a:r>
          </a:p>
          <a:p>
            <a:r>
              <a:t>position. </a:t>
            </a:r>
          </a:p>
          <a:p>
            <a:r>
              <a:t> </a:t>
            </a:r>
          </a:p>
          <a:p>
            <a:r>
              <a:t>Send for help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114 </a:t>
            </a:r>
          </a:p>
          <a:p>
            <a:r>
              <a:t>• If the airway remains obstructed, sandwich the infant between your hands and </a:t>
            </a:r>
          </a:p>
          <a:p>
            <a:r>
              <a:t>forearms and flip him over onto his back (as shown above right). </a:t>
            </a:r>
          </a:p>
          <a:p>
            <a:r>
              <a:t>• Keeping the infant's head lower than his trunk, give five midsternal chest </a:t>
            </a:r>
          </a:p>
          <a:p>
            <a:r>
              <a:t>thrusts, using your middle and ring fingers only, to raise intrathoracic pressure </a:t>
            </a:r>
          </a:p>
          <a:p>
            <a:r>
              <a:t>enough to force a cough that will expel the obstruction. Remember to hold the </a:t>
            </a:r>
          </a:p>
          <a:p>
            <a:r>
              <a:t>infant's head firmly to avoid injury. </a:t>
            </a:r>
          </a:p>
          <a:p>
            <a:r>
              <a:t>• Repeat this sequence until the obstruction is dislodged or the infant loses </a:t>
            </a:r>
          </a:p>
          <a:p>
            <a:r>
              <a:t>consciousness. </a:t>
            </a:r>
          </a:p>
          <a:p>
            <a:r>
              <a:t>• When the foreign object is removed, assess respirations and pulse. Continue </a:t>
            </a:r>
          </a:p>
          <a:p>
            <a:r>
              <a:t>revival efforts if needed. </a:t>
            </a:r>
          </a:p>
          <a:p>
            <a:r>
              <a:t>Summary  </a:t>
            </a:r>
          </a:p>
          <a:p>
            <a:r>
              <a:t>If they are unconscious perform DRSABC and call for help </a:t>
            </a:r>
          </a:p>
          <a:p>
            <a:r>
              <a:t>If they have an effective cough encourage them to keep coughing  </a:t>
            </a:r>
          </a:p>
          <a:p>
            <a:r>
              <a:t>If they have an ineffective cough or are silent perform up to  5 back </a:t>
            </a:r>
          </a:p>
          <a:p>
            <a:r>
              <a:t>blows followed by 5 chest thrusts until they object comes out or they </a:t>
            </a:r>
          </a:p>
          <a:p>
            <a:r>
              <a:t>become unconscious  </a:t>
            </a:r>
          </a:p>
          <a:p>
            <a:r>
              <a:t>DRS ABC  </a:t>
            </a:r>
          </a:p>
          <a:p>
            <a:r>
              <a:t>  </a:t>
            </a:r>
          </a:p>
          <a:p>
            <a:r>
              <a:t> </a:t>
            </a:r>
          </a:p>
          <a:p>
            <a:r>
              <a:t>PERFORMING INFANT CPR </a:t>
            </a:r>
          </a:p>
          <a:p>
            <a:r>
              <a:t>Danger: check for danger and maintain your own safety  </a:t>
            </a:r>
          </a:p>
          <a:p>
            <a:r>
              <a:t>Response </a:t>
            </a:r>
          </a:p>
          <a:p>
            <a:r>
              <a:t>Gently shake the apparently unconscious child's shoulder and shout at her to </a:t>
            </a:r>
          </a:p>
          <a:p>
            <a:r>
              <a:t>elicit a response. If the child is conscious but has difficulty breathing, help her </a:t>
            </a:r>
          </a:p>
          <a:p>
            <a:r>
              <a:t>into a position that best eases her breathing—if she hasn't naturally assumed this </a:t>
            </a:r>
          </a:p>
          <a:p>
            <a:r>
              <a:t>position. </a:t>
            </a:r>
          </a:p>
          <a:p>
            <a:r>
              <a:t> </a:t>
            </a:r>
          </a:p>
          <a:p>
            <a:r>
              <a:t>Send for help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115 </a:t>
            </a:r>
          </a:p>
          <a:p>
            <a:r>
              <a:t>Call for help to alert others and to enlist emergency assistance. If you're alone </a:t>
            </a:r>
          </a:p>
          <a:p>
            <a:r>
              <a:t>and the child isn't breathing, perform CPR for 1 minute before calling for help. </a:t>
            </a:r>
          </a:p>
          <a:p>
            <a:r>
              <a:t>• Position the child in a supine position on a firm, flat surface (usually the </a:t>
            </a:r>
          </a:p>
          <a:p>
            <a:r>
              <a:t>ground). The surface should provide the resistance needed for adequate chest </a:t>
            </a:r>
          </a:p>
          <a:p>
            <a:r>
              <a:t>compressions. If you must turn the child from a prone position, support her head </a:t>
            </a:r>
          </a:p>
          <a:p>
            <a:r>
              <a:t>and neck and turn her as a unit to avoid injuring her spine (as shown below).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Airway </a:t>
            </a:r>
          </a:p>
          <a:p>
            <a:r>
              <a:t>Kneel beside the child's shoulder. Place one hand on the child's forehead and </a:t>
            </a:r>
          </a:p>
          <a:p>
            <a:r>
              <a:t>gently lift her chin with your other hand to open her airway (as shown at top of </a:t>
            </a:r>
          </a:p>
          <a:p>
            <a:r>
              <a:t>next column). (In infants, this is called the sniffing position.) Avoid fingering the </a:t>
            </a:r>
          </a:p>
          <a:p>
            <a:r>
              <a:t>soft neck tissue to avoid obstructing the airway. Never let the child's mouth close </a:t>
            </a:r>
          </a:p>
          <a:p>
            <a:r>
              <a:t>completely. </a:t>
            </a:r>
          </a:p>
          <a:p>
            <a:r>
              <a:t> </a:t>
            </a:r>
          </a:p>
          <a:p>
            <a:r>
              <a:t>• If you suspect a neck injury, use the jaw-thrust maneuver to open the child's </a:t>
            </a:r>
          </a:p>
          <a:p>
            <a:r>
              <a:t>airway to keep from moving the child's neck. To do this, kneel beside the child's </a:t>
            </a:r>
          </a:p>
          <a:p>
            <a:r>
              <a:t>head. With your elbows on the ground, rest your thumbs at the corners of the </a:t>
            </a:r>
          </a:p>
          <a:p>
            <a:r>
              <a:t>child's mouth, and place two or three fingers of each hand under the lower jaw. </a:t>
            </a:r>
          </a:p>
          <a:p>
            <a:r>
              <a:t>Lift the jaw upward.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115 </a:t>
            </a:r>
          </a:p>
          <a:p>
            <a:r>
              <a:t>Call for help to alert others and to enlist emergency assistance. If you're alone </a:t>
            </a:r>
          </a:p>
          <a:p>
            <a:r>
              <a:t>and the child isn't breathing, perform CPR for 1 minute before calling for help. </a:t>
            </a:r>
          </a:p>
          <a:p>
            <a:r>
              <a:t>• Position the child in a supine position on a firm, flat surface (usually the </a:t>
            </a:r>
          </a:p>
          <a:p>
            <a:r>
              <a:t>ground). The surface should provide the resistance needed for adequate chest </a:t>
            </a:r>
          </a:p>
          <a:p>
            <a:r>
              <a:t>compressions. If you must turn the child from a prone position, support her head </a:t>
            </a:r>
          </a:p>
          <a:p>
            <a:r>
              <a:t>and neck and turn her as a unit to avoid injuring her spine (as shown below).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Airway </a:t>
            </a:r>
          </a:p>
          <a:p>
            <a:r>
              <a:t>Kneel beside the child's shoulder. Place one hand on the child's forehead and </a:t>
            </a:r>
          </a:p>
          <a:p>
            <a:r>
              <a:t>gently lift her chin with your other hand to open her airway (as shown at top of </a:t>
            </a:r>
          </a:p>
          <a:p>
            <a:r>
              <a:t>next column). (In infants, this is called the sniffing position.) Avoid fingering the </a:t>
            </a:r>
          </a:p>
          <a:p>
            <a:r>
              <a:t>soft neck tissue to avoid obstructing the airway. Never let the child's mouth close </a:t>
            </a:r>
          </a:p>
          <a:p>
            <a:r>
              <a:t>completely. </a:t>
            </a:r>
          </a:p>
          <a:p>
            <a:r>
              <a:t> </a:t>
            </a:r>
          </a:p>
          <a:p>
            <a:r>
              <a:t>• If you suspect a neck injury, use the jaw-thrust maneuver to open the child's </a:t>
            </a:r>
          </a:p>
          <a:p>
            <a:r>
              <a:t>airway to keep from moving the child's neck. To do this, kneel beside the child's </a:t>
            </a:r>
          </a:p>
          <a:p>
            <a:r>
              <a:t>head. With your elbows on the ground, rest your thumbs at the corners of the </a:t>
            </a:r>
          </a:p>
          <a:p>
            <a:r>
              <a:t>child's mouth, and place two or three fingers of each hand under the lower jaw. </a:t>
            </a:r>
          </a:p>
          <a:p>
            <a:r>
              <a:t>Lift the jaw upward.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115 </a:t>
            </a:r>
          </a:p>
          <a:p>
            <a:r>
              <a:t>Call for help to alert others and to enlist emergency assistance. If you're alone </a:t>
            </a:r>
          </a:p>
          <a:p>
            <a:r>
              <a:t>and the child isn't breathing, perform CPR for 1 minute before calling for help. </a:t>
            </a:r>
          </a:p>
          <a:p>
            <a:r>
              <a:t>• Position the child in a supine position on a firm, flat surface (usually the </a:t>
            </a:r>
          </a:p>
          <a:p>
            <a:r>
              <a:t>ground). The surface should provide the resistance needed for adequate chest </a:t>
            </a:r>
          </a:p>
          <a:p>
            <a:r>
              <a:t>compressions. If you must turn the child from a prone position, support her head </a:t>
            </a:r>
          </a:p>
          <a:p>
            <a:r>
              <a:t>and neck and turn her as a unit to avoid injuring her spine (as shown below).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Airway </a:t>
            </a:r>
          </a:p>
          <a:p>
            <a:r>
              <a:t>Kneel beside the child's shoulder. Place one hand on the child's forehead and </a:t>
            </a:r>
          </a:p>
          <a:p>
            <a:r>
              <a:t>gently lift her chin with your other hand to open her airway (as shown at top of </a:t>
            </a:r>
          </a:p>
          <a:p>
            <a:r>
              <a:t>next column). (In infants, this is called the sniffing position.) Avoid fingering the </a:t>
            </a:r>
          </a:p>
          <a:p>
            <a:r>
              <a:t>soft neck tissue to avoid obstructing the airway. Never let the child's mouth close </a:t>
            </a:r>
          </a:p>
          <a:p>
            <a:r>
              <a:t>completely. </a:t>
            </a:r>
          </a:p>
          <a:p>
            <a:r>
              <a:t> </a:t>
            </a:r>
          </a:p>
          <a:p>
            <a:r>
              <a:t>• If you suspect a neck injury, use the jaw-thrust maneuver to open the child's </a:t>
            </a:r>
          </a:p>
          <a:p>
            <a:r>
              <a:t>airway to keep from moving the child's neck. To do this, kneel beside the child's </a:t>
            </a:r>
          </a:p>
          <a:p>
            <a:r>
              <a:t>head. With your elbows on the ground, rest your thumbs at the corners of the </a:t>
            </a:r>
          </a:p>
          <a:p>
            <a:r>
              <a:t>child's mouth, and place two or three fingers of each hand under the lower jaw. </a:t>
            </a:r>
          </a:p>
          <a:p>
            <a:r>
              <a:t>Lift the jaw upward.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116 </a:t>
            </a:r>
          </a:p>
          <a:p>
            <a:r>
              <a:t>Breathing </a:t>
            </a:r>
          </a:p>
          <a:p>
            <a:r>
              <a:t>While maintaining an open airway, place your ear near the child's mouth and </a:t>
            </a:r>
          </a:p>
          <a:p>
            <a:r>
              <a:t>nose to evaluate her breathing status. Look for chest movement, listen for exhaled </a:t>
            </a:r>
          </a:p>
          <a:p>
            <a:r>
              <a:t>air, and feel for exhaled air on your cheek (as shown below). </a:t>
            </a:r>
          </a:p>
          <a:p>
            <a:r>
              <a:t> </a:t>
            </a:r>
          </a:p>
          <a:p>
            <a:r>
              <a:t>• If the child is breathing, maintain an open airway and monitor respirations. </a:t>
            </a:r>
          </a:p>
          <a:p>
            <a:r>
              <a:t>1-If they are breathing normally but they unconscious, the casualty should be </a:t>
            </a:r>
          </a:p>
          <a:p>
            <a:r>
              <a:t>rolled into the recovery position and send for help  </a:t>
            </a:r>
          </a:p>
          <a:p>
            <a:r>
              <a:t> </a:t>
            </a:r>
          </a:p>
          <a:p>
            <a:r>
              <a:t>2-If there is no breathing at all you should remove any obvious airway </a:t>
            </a:r>
          </a:p>
          <a:p>
            <a:r>
              <a:t>obstruction and give 5 initila rescues breaths, (deliver a gentle puff of air because </a:t>
            </a:r>
          </a:p>
          <a:p>
            <a:r>
              <a:t>an infant's lungs hold less air than an adult's. If the infant's chest rises and falls, </a:t>
            </a:r>
          </a:p>
          <a:p>
            <a:r>
              <a:t>the amount of air is probably adequate). After that check again for breathing if </a:t>
            </a:r>
          </a:p>
          <a:p>
            <a:r>
              <a:t>the casualty is unconscious and blue, compressions should be started.  </a:t>
            </a:r>
          </a:p>
          <a:p>
            <a:r>
              <a:t> </a:t>
            </a:r>
          </a:p>
          <a:p>
            <a:r>
              <a:t>Compressions </a:t>
            </a:r>
          </a:p>
          <a:p>
            <a:r>
              <a:t>• Assess circulation by palpating the carotid artery for a pulse in a child aged </a:t>
            </a:r>
          </a:p>
          <a:p>
            <a:r>
              <a:t>over 1 year.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116 </a:t>
            </a:r>
          </a:p>
          <a:p>
            <a:r>
              <a:t>Breathing </a:t>
            </a:r>
          </a:p>
          <a:p>
            <a:r>
              <a:t>While maintaining an open airway, place your ear near the child's mouth and </a:t>
            </a:r>
          </a:p>
          <a:p>
            <a:r>
              <a:t>nose to evaluate her breathing status. Look for chest movement, listen for exhaled </a:t>
            </a:r>
          </a:p>
          <a:p>
            <a:r>
              <a:t>air, and feel for exhaled air on your cheek (as shown below). </a:t>
            </a:r>
          </a:p>
          <a:p>
            <a:r>
              <a:t> </a:t>
            </a:r>
          </a:p>
          <a:p>
            <a:r>
              <a:t>• If the child is breathing, maintain an open airway and monitor respirations. </a:t>
            </a:r>
          </a:p>
          <a:p>
            <a:r>
              <a:t>1-If they are breathing normally but they unconscious, the casualty should be </a:t>
            </a:r>
          </a:p>
          <a:p>
            <a:r>
              <a:t>rolled into the recovery position and send for help  </a:t>
            </a:r>
          </a:p>
          <a:p>
            <a:r>
              <a:t> </a:t>
            </a:r>
          </a:p>
          <a:p>
            <a:r>
              <a:t>2-If there is no breathing at all you should remove any obvious airway </a:t>
            </a:r>
          </a:p>
          <a:p>
            <a:r>
              <a:t>obstruction and give 5 initila rescues breaths, (deliver a gentle puff of air because </a:t>
            </a:r>
          </a:p>
          <a:p>
            <a:r>
              <a:t>an infant's lungs hold less air than an adult's. If the infant's chest rises and falls, </a:t>
            </a:r>
          </a:p>
          <a:p>
            <a:r>
              <a:t>the amount of air is probably adequate). After that check again for breathing if </a:t>
            </a:r>
          </a:p>
          <a:p>
            <a:r>
              <a:t>the casualty is unconscious and blue, compressions should be started.  </a:t>
            </a:r>
          </a:p>
          <a:p>
            <a:r>
              <a:t> </a:t>
            </a:r>
          </a:p>
          <a:p>
            <a:r>
              <a:t>Compressions </a:t>
            </a:r>
          </a:p>
          <a:p>
            <a:r>
              <a:t>• Assess circulation by palpating the carotid artery for a pulse in a child aged </a:t>
            </a:r>
          </a:p>
          <a:p>
            <a:r>
              <a:t>over 1 year.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116 </a:t>
            </a:r>
          </a:p>
          <a:p>
            <a:r>
              <a:t>Breathing </a:t>
            </a:r>
          </a:p>
          <a:p>
            <a:r>
              <a:t>While maintaining an open airway, place your ear near the child's mouth and </a:t>
            </a:r>
          </a:p>
          <a:p>
            <a:r>
              <a:t>nose to evaluate her breathing status. Look for chest movement, listen for exhaled </a:t>
            </a:r>
          </a:p>
          <a:p>
            <a:r>
              <a:t>air, and feel for exhaled air on your cheek (as shown below). </a:t>
            </a:r>
          </a:p>
          <a:p>
            <a:r>
              <a:t> </a:t>
            </a:r>
          </a:p>
          <a:p>
            <a:r>
              <a:t>• If the child is breathing, maintain an open airway and monitor respirations. </a:t>
            </a:r>
          </a:p>
          <a:p>
            <a:r>
              <a:t>1-If they are breathing normally but they unconscious, the casualty should be </a:t>
            </a:r>
          </a:p>
          <a:p>
            <a:r>
              <a:t>rolled into the recovery position and send for help  </a:t>
            </a:r>
          </a:p>
          <a:p>
            <a:r>
              <a:t> </a:t>
            </a:r>
          </a:p>
          <a:p>
            <a:r>
              <a:t>2-If there is no breathing at all you should remove any obvious airway </a:t>
            </a:r>
          </a:p>
          <a:p>
            <a:r>
              <a:t>obstruction and give 5 initila rescues breaths, (deliver a gentle puff of air because </a:t>
            </a:r>
          </a:p>
          <a:p>
            <a:r>
              <a:t>an infant's lungs hold less air than an adult's. If the infant's chest rises and falls, </a:t>
            </a:r>
          </a:p>
          <a:p>
            <a:r>
              <a:t>the amount of air is probably adequate). After that check again for breathing if </a:t>
            </a:r>
          </a:p>
          <a:p>
            <a:r>
              <a:t>the casualty is unconscious and blue, compressions should be started.  </a:t>
            </a:r>
          </a:p>
          <a:p>
            <a:r>
              <a:t> </a:t>
            </a:r>
          </a:p>
          <a:p>
            <a:r>
              <a:t>Compressions </a:t>
            </a:r>
          </a:p>
          <a:p>
            <a:r>
              <a:t>• Assess circulation by palpating the carotid artery for a pulse in a child aged </a:t>
            </a:r>
          </a:p>
          <a:p>
            <a:r>
              <a:t>over 1 year.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117 </a:t>
            </a:r>
          </a:p>
          <a:p>
            <a:r>
              <a:t>•In an infant- feel for the brachial pulse or the inner aspect of the upper arm. If </a:t>
            </a:r>
          </a:p>
          <a:p>
            <a:r>
              <a:t>signs of life detected, rescuing of breathing should be continued until the child </a:t>
            </a:r>
          </a:p>
          <a:p>
            <a:r>
              <a:t>starts breathing effectively. If there are no signs of life start chest compressions  </a:t>
            </a:r>
          </a:p>
          <a:p>
            <a:r>
              <a:t>• Begin chest compressions if you find no pulse or if the pulse rate is less than 60 </a:t>
            </a:r>
          </a:p>
          <a:p>
            <a:r>
              <a:t>beats/minute with signs of poor perfusion. To locate the infant's heart, draw an </a:t>
            </a:r>
          </a:p>
          <a:p>
            <a:r>
              <a:t>imaginary line between the infant's nipples. Place three fingers directly below—</a:t>
            </a:r>
          </a:p>
          <a:p>
            <a:r>
              <a:t>and perpendicular to—the nipple line. </a:t>
            </a:r>
          </a:p>
          <a:p>
            <a:r>
              <a:t>Then lift up your index finger so that the middle and ring fingers lie one </a:t>
            </a:r>
          </a:p>
          <a:p>
            <a:r>
              <a:t>fingerbreadth below the nipple line (as shown below). Use these two fingers to </a:t>
            </a:r>
          </a:p>
          <a:p>
            <a:r>
              <a:t>depress the sternum here ½″ to 1″ (1.3 to 2.5 cm) at least 100 </a:t>
            </a:r>
          </a:p>
          <a:p>
            <a:r>
              <a:t>compressions/minute. An alternative method for providing chest compressions </a:t>
            </a:r>
          </a:p>
          <a:p>
            <a:r>
              <a:t>is to place your thumbs side by side over the lower portion of the sternum and </a:t>
            </a:r>
          </a:p>
          <a:p>
            <a:r>
              <a:t>encircling the infant's chest, using the fingers of both hands. </a:t>
            </a:r>
          </a:p>
          <a:p>
            <a:r>
              <a:t> </a:t>
            </a:r>
          </a:p>
          <a:p>
            <a:r>
              <a:t>• Supply one breath after every five compressions. Maintain this ratio whether </a:t>
            </a:r>
          </a:p>
          <a:p>
            <a:r>
              <a:t>you're the helper or the lone rescuer. This ratio allows for about 100 </a:t>
            </a:r>
          </a:p>
          <a:p>
            <a:r>
              <a:t>compressions and 20 breaths/minute for an infant. </a:t>
            </a:r>
          </a:p>
          <a:p>
            <a:r>
              <a:t>Note: If available, use a bag-valve mask over the infant's nose and mouth when </a:t>
            </a:r>
          </a:p>
          <a:p>
            <a:r>
              <a:t>performing ventilations. </a:t>
            </a:r>
          </a:p>
          <a:p>
            <a:r>
              <a:t>Unresponsive </a:t>
            </a:r>
          </a:p>
          <a:p>
            <a:r>
              <a:t> </a:t>
            </a:r>
          </a:p>
          <a:p>
            <a:r>
              <a:t>Shout for help </a:t>
            </a:r>
          </a:p>
          <a:p>
            <a:r>
              <a:t> </a:t>
            </a:r>
          </a:p>
          <a:p>
            <a:r>
              <a:t>Open airway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117 </a:t>
            </a:r>
          </a:p>
          <a:p>
            <a:r>
              <a:t>•In an infant- feel for the brachial pulse or the inner aspect of the upper arm. If </a:t>
            </a:r>
          </a:p>
          <a:p>
            <a:r>
              <a:t>signs of life detected, rescuing of breathing should be continued until the child </a:t>
            </a:r>
          </a:p>
          <a:p>
            <a:r>
              <a:t>starts breathing effectively. If there are no signs of life start chest compressions  </a:t>
            </a:r>
          </a:p>
          <a:p>
            <a:r>
              <a:t>• Begin chest compressions if you find no pulse or if the pulse rate is less than 60 </a:t>
            </a:r>
          </a:p>
          <a:p>
            <a:r>
              <a:t>beats/minute with signs of poor perfusion. To locate the infant's heart, draw an </a:t>
            </a:r>
          </a:p>
          <a:p>
            <a:r>
              <a:t>imaginary line between the infant's nipples. Place three fingers directly below—</a:t>
            </a:r>
          </a:p>
          <a:p>
            <a:r>
              <a:t>and perpendicular to—the nipple line. </a:t>
            </a:r>
          </a:p>
          <a:p>
            <a:r>
              <a:t>Then lift up your index finger so that the middle and ring fingers lie one </a:t>
            </a:r>
          </a:p>
          <a:p>
            <a:r>
              <a:t>fingerbreadth below the nipple line (as shown below). Use these two fingers to </a:t>
            </a:r>
          </a:p>
          <a:p>
            <a:r>
              <a:t>depress the sternum here ½″ to 1″ (1.3 to 2.5 cm) at least 100 </a:t>
            </a:r>
          </a:p>
          <a:p>
            <a:r>
              <a:t>compressions/minute. An alternative method for providing chest compressions </a:t>
            </a:r>
          </a:p>
          <a:p>
            <a:r>
              <a:t>is to place your thumbs side by side over the lower portion of the sternum and </a:t>
            </a:r>
          </a:p>
          <a:p>
            <a:r>
              <a:t>encircling the infant's chest, using the fingers of both hands. </a:t>
            </a:r>
          </a:p>
          <a:p>
            <a:r>
              <a:t> </a:t>
            </a:r>
          </a:p>
          <a:p>
            <a:r>
              <a:t>• Supply one breath after every five compressions. Maintain this ratio whether </a:t>
            </a:r>
          </a:p>
          <a:p>
            <a:r>
              <a:t>you're the helper or the lone rescuer. This ratio allows for about 100 </a:t>
            </a:r>
          </a:p>
          <a:p>
            <a:r>
              <a:t>compressions and 20 breaths/minute for an infant. </a:t>
            </a:r>
          </a:p>
          <a:p>
            <a:r>
              <a:t>Note: If available, use a bag-valve mask over the infant's nose and mouth when </a:t>
            </a:r>
          </a:p>
          <a:p>
            <a:r>
              <a:t>performing ventilations. </a:t>
            </a:r>
          </a:p>
          <a:p>
            <a:r>
              <a:t>Unresponsive </a:t>
            </a:r>
          </a:p>
          <a:p>
            <a:r>
              <a:t> </a:t>
            </a:r>
          </a:p>
          <a:p>
            <a:r>
              <a:t>Shout for help </a:t>
            </a:r>
          </a:p>
          <a:p>
            <a:r>
              <a:t> </a:t>
            </a:r>
          </a:p>
          <a:p>
            <a:r>
              <a:t>Open airway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CPR &amp; choking                                                                       118 </a:t>
            </a:r>
          </a:p>
          <a:p>
            <a:r>
              <a:t> </a:t>
            </a:r>
          </a:p>
          <a:p>
            <a:r>
              <a:t>Nor breathing normally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5 rescue breaths </a:t>
            </a:r>
          </a:p>
          <a:p>
            <a:r>
              <a:t> </a:t>
            </a:r>
          </a:p>
          <a:p>
            <a:r>
              <a:t>No signs of life </a:t>
            </a:r>
          </a:p>
          <a:p>
            <a:r>
              <a:t> </a:t>
            </a:r>
          </a:p>
          <a:p>
            <a:r>
              <a:t>15 chest compressions </a:t>
            </a:r>
          </a:p>
          <a:p>
            <a:r>
              <a:t> </a:t>
            </a:r>
          </a:p>
          <a:p>
            <a:r>
              <a:t>2 rescue breaths </a:t>
            </a:r>
          </a:p>
          <a:p>
            <a:r>
              <a:t> </a:t>
            </a:r>
          </a:p>
          <a:p>
            <a:r>
              <a:t>15 chest compressions </a:t>
            </a:r>
          </a:p>
          <a:p>
            <a:r>
              <a:t> </a:t>
            </a:r>
          </a:p>
          <a:p>
            <a:r>
              <a:t>Call resuscitation team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1 min of CPR first if alone.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Reference </a:t>
            </a:r>
          </a:p>
          <a:p>
            <a:r>
              <a:t>Hockenberry, M. J., Wilson, D.(2013). Wong’s essentials of pediatric nursing, 9th </a:t>
            </a:r>
          </a:p>
          <a:p>
            <a:r>
              <a:t>edition. USA: Elsevier, P.P 805, 806, 807,808,809,810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Appendix (A)                                                                          119 </a:t>
            </a:r>
          </a:p>
          <a:p>
            <a:r>
              <a:t>1. Order: Amoxil (amoxicillin) 70 mg PO q8h. </a:t>
            </a:r>
          </a:p>
          <a:p>
            <a:r>
              <a:t>Patient: Child weighs 22 lbs. </a:t>
            </a:r>
          </a:p>
          <a:p>
            <a:r>
              <a:t>Safe dose is 20–40 mg/kg/day in divided doses q8h. </a:t>
            </a:r>
          </a:p>
          <a:p>
            <a:r>
              <a:t>Available as: 125 mg/5 mL </a:t>
            </a:r>
          </a:p>
          <a:p>
            <a:r>
              <a:t>A. Is the dose safe? __________ </a:t>
            </a:r>
          </a:p>
          <a:p>
            <a:r>
              <a:t>B. If safe, how much liquid will you give the child per </a:t>
            </a:r>
          </a:p>
          <a:p>
            <a:r>
              <a:t>dose? _____________ </a:t>
            </a:r>
          </a:p>
          <a:p>
            <a:r>
              <a:t>C. If not safe, what is the range of safe doses for this </a:t>
            </a:r>
          </a:p>
          <a:p>
            <a:r>
              <a:t>child? _____________ </a:t>
            </a:r>
          </a:p>
          <a:p>
            <a:r>
              <a:t>2. Order: Phenobarbital 60 mg PO bid </a:t>
            </a:r>
          </a:p>
          <a:p>
            <a:r>
              <a:t>Patient: Infant weighs 12 lbs 8 oz. </a:t>
            </a:r>
          </a:p>
          <a:p>
            <a:r>
              <a:t>Safe dose is 4–8 mg/kg/day divided into two doses with </a:t>
            </a:r>
          </a:p>
          <a:p>
            <a:r>
              <a:t>Maximum dose of 300 mg/day. </a:t>
            </a:r>
          </a:p>
          <a:p>
            <a:r>
              <a:t>Available as: Oral phenobarbital suspension of 30 mg/5 mL </a:t>
            </a:r>
          </a:p>
          <a:p>
            <a:r>
              <a:t>A. Is the dose safe? __________ </a:t>
            </a:r>
          </a:p>
          <a:p>
            <a:r>
              <a:t>B. If safe, how much liquid will you give the child per </a:t>
            </a:r>
          </a:p>
          <a:p>
            <a:r>
              <a:t>dose? _____________ </a:t>
            </a:r>
          </a:p>
          <a:p>
            <a:r>
              <a:t>C. If not safe, what is the range of safe doses for this </a:t>
            </a:r>
          </a:p>
          <a:p>
            <a:r>
              <a:t>child? _____________ </a:t>
            </a:r>
          </a:p>
          <a:p>
            <a:r>
              <a:t>3. Order: Benadryl (diphenhydramine hydrochloride) </a:t>
            </a:r>
          </a:p>
          <a:p>
            <a:r>
              <a:t>25 mg IV q6h prn </a:t>
            </a:r>
          </a:p>
          <a:p>
            <a:r>
              <a:t>Patient: Child weighs 30 kg. </a:t>
            </a:r>
          </a:p>
          <a:p>
            <a:r>
              <a:t>Safe dose is 1.25–10.5 mg/kg but not to exceed </a:t>
            </a:r>
          </a:p>
          <a:p>
            <a:r>
              <a:t>200 mg/day. </a:t>
            </a:r>
          </a:p>
          <a:p>
            <a:r>
              <a:t>Available as: Injection labeled 60 mg/mL </a:t>
            </a:r>
          </a:p>
          <a:p>
            <a:r>
              <a:t>A. Is the dose safe? __________ </a:t>
            </a:r>
          </a:p>
          <a:p>
            <a:r>
              <a:t>B. If safe, how much will you draw up in the syringe </a:t>
            </a:r>
          </a:p>
          <a:p>
            <a:r>
              <a:t>for the child per dose? _____________ </a:t>
            </a:r>
          </a:p>
          <a:p>
            <a:r>
              <a:t>C. If not safe, what is the safe dose for this child? </a:t>
            </a:r>
          </a:p>
          <a:p>
            <a:r>
              <a:t>_____________ </a:t>
            </a:r>
          </a:p>
          <a:p>
            <a:r>
              <a:t>4. Order: Zithromax (azithromycin) 320 mg PO for one </a:t>
            </a:r>
          </a:p>
          <a:p>
            <a:r>
              <a:t>dose on first day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Appendix (A)                                                                          119 </a:t>
            </a:r>
          </a:p>
          <a:p>
            <a:r>
              <a:t>1. Order: Amoxil (amoxicillin) 70 mg PO q8h. </a:t>
            </a:r>
          </a:p>
          <a:p>
            <a:r>
              <a:t>Patient: Child weighs 22 lbs. </a:t>
            </a:r>
          </a:p>
          <a:p>
            <a:r>
              <a:t>Safe dose is 20–40 mg/kg/day in divided doses q8h. </a:t>
            </a:r>
          </a:p>
          <a:p>
            <a:r>
              <a:t>Available as: 125 mg/5 mL </a:t>
            </a:r>
          </a:p>
          <a:p>
            <a:r>
              <a:t>A. Is the dose safe? __________ </a:t>
            </a:r>
          </a:p>
          <a:p>
            <a:r>
              <a:t>B. If safe, how much liquid will you give the child per </a:t>
            </a:r>
          </a:p>
          <a:p>
            <a:r>
              <a:t>dose? _____________ </a:t>
            </a:r>
          </a:p>
          <a:p>
            <a:r>
              <a:t>C. If not safe, what is the range of safe doses for this </a:t>
            </a:r>
          </a:p>
          <a:p>
            <a:r>
              <a:t>child? _____________ </a:t>
            </a:r>
          </a:p>
          <a:p>
            <a:r>
              <a:t>2. Order: Phenobarbital 60 mg PO bid </a:t>
            </a:r>
          </a:p>
          <a:p>
            <a:r>
              <a:t>Patient: Infant weighs 12 lbs 8 oz. </a:t>
            </a:r>
          </a:p>
          <a:p>
            <a:r>
              <a:t>Safe dose is 4–8 mg/kg/day divided into two doses with </a:t>
            </a:r>
          </a:p>
          <a:p>
            <a:r>
              <a:t>Maximum dose of 300 mg/day. </a:t>
            </a:r>
          </a:p>
          <a:p>
            <a:r>
              <a:t>Available as: Oral phenobarbital suspension of 30 mg/5 mL </a:t>
            </a:r>
          </a:p>
          <a:p>
            <a:r>
              <a:t>A. Is the dose safe? __________ </a:t>
            </a:r>
          </a:p>
          <a:p>
            <a:r>
              <a:t>B. If safe, how much liquid will you give the child per </a:t>
            </a:r>
          </a:p>
          <a:p>
            <a:r>
              <a:t>dose? _____________ </a:t>
            </a:r>
          </a:p>
          <a:p>
            <a:r>
              <a:t>C. If not safe, what is the range of safe doses for this </a:t>
            </a:r>
          </a:p>
          <a:p>
            <a:r>
              <a:t>child? _____________ </a:t>
            </a:r>
          </a:p>
          <a:p>
            <a:r>
              <a:t>3. Order: Benadryl (diphenhydramine hydrochloride) </a:t>
            </a:r>
          </a:p>
          <a:p>
            <a:r>
              <a:t>25 mg IV q6h prn </a:t>
            </a:r>
          </a:p>
          <a:p>
            <a:r>
              <a:t>Patient: Child weighs 30 kg. </a:t>
            </a:r>
          </a:p>
          <a:p>
            <a:r>
              <a:t>Safe dose is 1.25–10.5 mg/kg but not to exceed </a:t>
            </a:r>
          </a:p>
          <a:p>
            <a:r>
              <a:t>200 mg/day. </a:t>
            </a:r>
          </a:p>
          <a:p>
            <a:r>
              <a:t>Available as: Injection labeled 60 mg/mL </a:t>
            </a:r>
          </a:p>
          <a:p>
            <a:r>
              <a:t>A. Is the dose safe? __________ </a:t>
            </a:r>
          </a:p>
          <a:p>
            <a:r>
              <a:t>B. If safe, how much will you draw up in the syringe </a:t>
            </a:r>
          </a:p>
          <a:p>
            <a:r>
              <a:t>for the child per dose? _____________ </a:t>
            </a:r>
          </a:p>
          <a:p>
            <a:r>
              <a:t>C. If not safe, what is the safe dose for this child? </a:t>
            </a:r>
          </a:p>
          <a:p>
            <a:r>
              <a:t>_____________ </a:t>
            </a:r>
          </a:p>
          <a:p>
            <a:r>
              <a:t>4. Order: Zithromax (azithromycin) 320 mg PO for one </a:t>
            </a:r>
          </a:p>
          <a:p>
            <a:r>
              <a:t>dose on first day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Appendix (A)                                                                          119 </a:t>
            </a:r>
          </a:p>
          <a:p>
            <a:r>
              <a:t>1. Order: Amoxil (amoxicillin) 70 mg PO q8h. </a:t>
            </a:r>
          </a:p>
          <a:p>
            <a:r>
              <a:t>Patient: Child weighs 22 lbs. </a:t>
            </a:r>
          </a:p>
          <a:p>
            <a:r>
              <a:t>Safe dose is 20–40 mg/kg/day in divided doses q8h. </a:t>
            </a:r>
          </a:p>
          <a:p>
            <a:r>
              <a:t>Available as: 125 mg/5 mL </a:t>
            </a:r>
          </a:p>
          <a:p>
            <a:r>
              <a:t>A. Is the dose safe? __________ </a:t>
            </a:r>
          </a:p>
          <a:p>
            <a:r>
              <a:t>B. If safe, how much liquid will you give the child per </a:t>
            </a:r>
          </a:p>
          <a:p>
            <a:r>
              <a:t>dose? _____________ </a:t>
            </a:r>
          </a:p>
          <a:p>
            <a:r>
              <a:t>C. If not safe, what is the range of safe doses for this </a:t>
            </a:r>
          </a:p>
          <a:p>
            <a:r>
              <a:t>child? _____________ </a:t>
            </a:r>
          </a:p>
          <a:p>
            <a:r>
              <a:t>2. Order: Phenobarbital 60 mg PO bid </a:t>
            </a:r>
          </a:p>
          <a:p>
            <a:r>
              <a:t>Patient: Infant weighs 12 lbs 8 oz. </a:t>
            </a:r>
          </a:p>
          <a:p>
            <a:r>
              <a:t>Safe dose is 4–8 mg/kg/day divided into two doses with </a:t>
            </a:r>
          </a:p>
          <a:p>
            <a:r>
              <a:t>Maximum dose of 300 mg/day. </a:t>
            </a:r>
          </a:p>
          <a:p>
            <a:r>
              <a:t>Available as: Oral phenobarbital suspension of 30 mg/5 mL </a:t>
            </a:r>
          </a:p>
          <a:p>
            <a:r>
              <a:t>A. Is the dose safe? __________ </a:t>
            </a:r>
          </a:p>
          <a:p>
            <a:r>
              <a:t>B. If safe, how much liquid will you give the child per </a:t>
            </a:r>
          </a:p>
          <a:p>
            <a:r>
              <a:t>dose? _____________ </a:t>
            </a:r>
          </a:p>
          <a:p>
            <a:r>
              <a:t>C. If not safe, what is the range of safe doses for this </a:t>
            </a:r>
          </a:p>
          <a:p>
            <a:r>
              <a:t>child? _____________ </a:t>
            </a:r>
          </a:p>
          <a:p>
            <a:r>
              <a:t>3. Order: Benadryl (diphenhydramine hydrochloride) </a:t>
            </a:r>
          </a:p>
          <a:p>
            <a:r>
              <a:t>25 mg IV q6h prn </a:t>
            </a:r>
          </a:p>
          <a:p>
            <a:r>
              <a:t>Patient: Child weighs 30 kg. </a:t>
            </a:r>
          </a:p>
          <a:p>
            <a:r>
              <a:t>Safe dose is 1.25–10.5 mg/kg but not to exceed </a:t>
            </a:r>
          </a:p>
          <a:p>
            <a:r>
              <a:t>200 mg/day. </a:t>
            </a:r>
          </a:p>
          <a:p>
            <a:r>
              <a:t>Available as: Injection labeled 60 mg/mL </a:t>
            </a:r>
          </a:p>
          <a:p>
            <a:r>
              <a:t>A. Is the dose safe? __________ </a:t>
            </a:r>
          </a:p>
          <a:p>
            <a:r>
              <a:t>B. If safe, how much will you draw up in the syringe </a:t>
            </a:r>
          </a:p>
          <a:p>
            <a:r>
              <a:t>for the child per dose? _____________ </a:t>
            </a:r>
          </a:p>
          <a:p>
            <a:r>
              <a:t>C. If not safe, what is the safe dose for this child? </a:t>
            </a:r>
          </a:p>
          <a:p>
            <a:r>
              <a:t>_____________ </a:t>
            </a:r>
          </a:p>
          <a:p>
            <a:r>
              <a:t>4. Order: Zithromax (azithromycin) 320 mg PO for one </a:t>
            </a:r>
          </a:p>
          <a:p>
            <a:r>
              <a:t>dose on first day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Appendix (A)                                                                          120 </a:t>
            </a:r>
          </a:p>
          <a:p>
            <a:r>
              <a:t>Patient: Child is 10 years old and weighs 32 kg. </a:t>
            </a:r>
          </a:p>
          <a:p>
            <a:r>
              <a:t>Safe dose for children 2–15 years is 10 mg/kg (but not </a:t>
            </a:r>
          </a:p>
          <a:p>
            <a:r>
              <a:t>more than 500 mg/dose) on day 1. </a:t>
            </a:r>
          </a:p>
          <a:p>
            <a:r>
              <a:t>Available as: Oral Zithromax suspension 100 mg/5 mL </a:t>
            </a:r>
          </a:p>
          <a:p>
            <a:r>
              <a:t>A. Is the dose safe? __________ </a:t>
            </a:r>
          </a:p>
          <a:p>
            <a:r>
              <a:t>B. If safe, how much liquid will you give the child per </a:t>
            </a:r>
          </a:p>
          <a:p>
            <a:r>
              <a:t>dose? _____________ </a:t>
            </a:r>
          </a:p>
          <a:p>
            <a:r>
              <a:t>C. If not safe, what is the safe dose for this child?_____________ </a:t>
            </a:r>
          </a:p>
          <a:p>
            <a:r>
              <a:t>5. Order: Augmentin (amoxicillin clavulanate) 175 mg PO q8h. </a:t>
            </a:r>
          </a:p>
          <a:p>
            <a:r>
              <a:t>Patient: Child weighs 29 lbs. </a:t>
            </a:r>
          </a:p>
          <a:p>
            <a:r>
              <a:t>Safe dose is 40 mg/kg/day in divided doses q8h. </a:t>
            </a:r>
          </a:p>
          <a:p>
            <a:r>
              <a:t>Available as: Oral suspension of 125 mg/5 mL </a:t>
            </a:r>
          </a:p>
          <a:p>
            <a:r>
              <a:t>A. Is the dose safe? ________________ </a:t>
            </a:r>
          </a:p>
          <a:p>
            <a:r>
              <a:t>B. If safe, how much liquid will you give the child per dose? </a:t>
            </a:r>
          </a:p>
          <a:p>
            <a:r>
              <a:t>_____________ </a:t>
            </a:r>
          </a:p>
          <a:p>
            <a:r>
              <a:t>C. If not safe, what is the safe dose for this child? _____________ </a:t>
            </a:r>
          </a:p>
          <a:p>
            <a:r>
              <a:t>6. Order: Lasix (furosemide) 15 mg PO bid </a:t>
            </a:r>
          </a:p>
          <a:p>
            <a:r>
              <a:t>Patient: The child weighs 16 lbs 8 oz. </a:t>
            </a:r>
          </a:p>
          <a:p>
            <a:r>
              <a:t>Safe dose for a child is 2 mg/kg/dose of furosemide as the initial dose. </a:t>
            </a:r>
          </a:p>
          <a:p>
            <a:r>
              <a:t>Available as: 10 mg/mL </a:t>
            </a:r>
          </a:p>
          <a:p>
            <a:r>
              <a:t>A. Is the dose safe?____________________ </a:t>
            </a:r>
          </a:p>
          <a:p>
            <a:r>
              <a:t>B. If safe, how much in mL will you administer? </a:t>
            </a:r>
          </a:p>
          <a:p>
            <a:r>
              <a:t>______________________ </a:t>
            </a:r>
          </a:p>
          <a:p>
            <a:r>
              <a:t>7. Order: Ampicillin 100 mg IV q 6 hrs </a:t>
            </a:r>
          </a:p>
          <a:p>
            <a:r>
              <a:t>Patient: Child is 4 months old and weighs 9 lbs 6 oz. </a:t>
            </a:r>
          </a:p>
          <a:p>
            <a:r>
              <a:t>Safe dose for this child’s age and weight is 75–200 mg/ </a:t>
            </a:r>
          </a:p>
          <a:p>
            <a:r>
              <a:t>kg/day. </a:t>
            </a:r>
          </a:p>
          <a:p>
            <a:r>
              <a:t>Available as: Vial of powder 500 mg/vial. </a:t>
            </a:r>
          </a:p>
          <a:p>
            <a:r>
              <a:t>Directions: Add 1.8 mL of sterile water; yields 250 mg/mL </a:t>
            </a:r>
          </a:p>
          <a:p>
            <a:r>
              <a:t>A. What are the safe ranges? low range ___________ </a:t>
            </a:r>
          </a:p>
          <a:p>
            <a:r>
              <a:t>high range_______________ </a:t>
            </a:r>
          </a:p>
          <a:p>
            <a:r>
              <a:t>B. What is the safe dose?_________________________ </a:t>
            </a:r>
          </a:p>
          <a:p>
            <a:r>
              <a:t>C. How much will you give? _____________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Appendix (A)                                                                          120 </a:t>
            </a:r>
          </a:p>
          <a:p>
            <a:r>
              <a:t>Patient: Child is 10 years old and weighs 32 kg. </a:t>
            </a:r>
          </a:p>
          <a:p>
            <a:r>
              <a:t>Safe dose for children 2–15 years is 10 mg/kg (but not </a:t>
            </a:r>
          </a:p>
          <a:p>
            <a:r>
              <a:t>more than 500 mg/dose) on day 1. </a:t>
            </a:r>
          </a:p>
          <a:p>
            <a:r>
              <a:t>Available as: Oral Zithromax suspension 100 mg/5 mL </a:t>
            </a:r>
          </a:p>
          <a:p>
            <a:r>
              <a:t>A. Is the dose safe? __________ </a:t>
            </a:r>
          </a:p>
          <a:p>
            <a:r>
              <a:t>B. If safe, how much liquid will you give the child per </a:t>
            </a:r>
          </a:p>
          <a:p>
            <a:r>
              <a:t>dose? _____________ </a:t>
            </a:r>
          </a:p>
          <a:p>
            <a:r>
              <a:t>C. If not safe, what is the safe dose for this child?_____________ </a:t>
            </a:r>
          </a:p>
          <a:p>
            <a:r>
              <a:t>5. Order: Augmentin (amoxicillin clavulanate) 175 mg PO q8h. </a:t>
            </a:r>
          </a:p>
          <a:p>
            <a:r>
              <a:t>Patient: Child weighs 29 lbs. </a:t>
            </a:r>
          </a:p>
          <a:p>
            <a:r>
              <a:t>Safe dose is 40 mg/kg/day in divided doses q8h. </a:t>
            </a:r>
          </a:p>
          <a:p>
            <a:r>
              <a:t>Available as: Oral suspension of 125 mg/5 mL </a:t>
            </a:r>
          </a:p>
          <a:p>
            <a:r>
              <a:t>A. Is the dose safe? ________________ </a:t>
            </a:r>
          </a:p>
          <a:p>
            <a:r>
              <a:t>B. If safe, how much liquid will you give the child per dose? </a:t>
            </a:r>
          </a:p>
          <a:p>
            <a:r>
              <a:t>_____________ </a:t>
            </a:r>
          </a:p>
          <a:p>
            <a:r>
              <a:t>C. If not safe, what is the safe dose for this child? _____________ </a:t>
            </a:r>
          </a:p>
          <a:p>
            <a:r>
              <a:t>6. Order: Lasix (furosemide) 15 mg PO bid </a:t>
            </a:r>
          </a:p>
          <a:p>
            <a:r>
              <a:t>Patient: The child weighs 16 lbs 8 oz. </a:t>
            </a:r>
          </a:p>
          <a:p>
            <a:r>
              <a:t>Safe dose for a child is 2 mg/kg/dose of furosemide as the initial dose. </a:t>
            </a:r>
          </a:p>
          <a:p>
            <a:r>
              <a:t>Available as: 10 mg/mL </a:t>
            </a:r>
          </a:p>
          <a:p>
            <a:r>
              <a:t>A. Is the dose safe?____________________ </a:t>
            </a:r>
          </a:p>
          <a:p>
            <a:r>
              <a:t>B. If safe, how much in mL will you administer? </a:t>
            </a:r>
          </a:p>
          <a:p>
            <a:r>
              <a:t>______________________ </a:t>
            </a:r>
          </a:p>
          <a:p>
            <a:r>
              <a:t>7. Order: Ampicillin 100 mg IV q 6 hrs </a:t>
            </a:r>
          </a:p>
          <a:p>
            <a:r>
              <a:t>Patient: Child is 4 months old and weighs 9 lbs 6 oz. </a:t>
            </a:r>
          </a:p>
          <a:p>
            <a:r>
              <a:t>Safe dose for this child’s age and weight is 75–200 mg/ </a:t>
            </a:r>
          </a:p>
          <a:p>
            <a:r>
              <a:t>kg/day. </a:t>
            </a:r>
          </a:p>
          <a:p>
            <a:r>
              <a:t>Available as: Vial of powder 500 mg/vial. </a:t>
            </a:r>
          </a:p>
          <a:p>
            <a:r>
              <a:t>Directions: Add 1.8 mL of sterile water; yields 250 mg/mL </a:t>
            </a:r>
          </a:p>
          <a:p>
            <a:r>
              <a:t>A. What are the safe ranges? low range ___________ </a:t>
            </a:r>
          </a:p>
          <a:p>
            <a:r>
              <a:t>high range_______________ </a:t>
            </a:r>
          </a:p>
          <a:p>
            <a:r>
              <a:t>B. What is the safe dose?_________________________ </a:t>
            </a:r>
          </a:p>
          <a:p>
            <a:r>
              <a:t>C. How much will you give? _____________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Appendix (A)                                                                          120 </a:t>
            </a:r>
          </a:p>
          <a:p>
            <a:r>
              <a:t>Patient: Child is 10 years old and weighs 32 kg. </a:t>
            </a:r>
          </a:p>
          <a:p>
            <a:r>
              <a:t>Safe dose for children 2–15 years is 10 mg/kg (but not </a:t>
            </a:r>
          </a:p>
          <a:p>
            <a:r>
              <a:t>more than 500 mg/dose) on day 1. </a:t>
            </a:r>
          </a:p>
          <a:p>
            <a:r>
              <a:t>Available as: Oral Zithromax suspension 100 mg/5 mL </a:t>
            </a:r>
          </a:p>
          <a:p>
            <a:r>
              <a:t>A. Is the dose safe? __________ </a:t>
            </a:r>
          </a:p>
          <a:p>
            <a:r>
              <a:t>B. If safe, how much liquid will you give the child per </a:t>
            </a:r>
          </a:p>
          <a:p>
            <a:r>
              <a:t>dose? _____________ </a:t>
            </a:r>
          </a:p>
          <a:p>
            <a:r>
              <a:t>C. If not safe, what is the safe dose for this child?_____________ </a:t>
            </a:r>
          </a:p>
          <a:p>
            <a:r>
              <a:t>5. Order: Augmentin (amoxicillin clavulanate) 175 mg PO q8h. </a:t>
            </a:r>
          </a:p>
          <a:p>
            <a:r>
              <a:t>Patient: Child weighs 29 lbs. </a:t>
            </a:r>
          </a:p>
          <a:p>
            <a:r>
              <a:t>Safe dose is 40 mg/kg/day in divided doses q8h. </a:t>
            </a:r>
          </a:p>
          <a:p>
            <a:r>
              <a:t>Available as: Oral suspension of 125 mg/5 mL </a:t>
            </a:r>
          </a:p>
          <a:p>
            <a:r>
              <a:t>A. Is the dose safe? ________________ </a:t>
            </a:r>
          </a:p>
          <a:p>
            <a:r>
              <a:t>B. If safe, how much liquid will you give the child per dose? </a:t>
            </a:r>
          </a:p>
          <a:p>
            <a:r>
              <a:t>_____________ </a:t>
            </a:r>
          </a:p>
          <a:p>
            <a:r>
              <a:t>C. If not safe, what is the safe dose for this child? _____________ </a:t>
            </a:r>
          </a:p>
          <a:p>
            <a:r>
              <a:t>6. Order: Lasix (furosemide) 15 mg PO bid </a:t>
            </a:r>
          </a:p>
          <a:p>
            <a:r>
              <a:t>Patient: The child weighs 16 lbs 8 oz. </a:t>
            </a:r>
          </a:p>
          <a:p>
            <a:r>
              <a:t>Safe dose for a child is 2 mg/kg/dose of furosemide as the initial dose. </a:t>
            </a:r>
          </a:p>
          <a:p>
            <a:r>
              <a:t>Available as: 10 mg/mL </a:t>
            </a:r>
          </a:p>
          <a:p>
            <a:r>
              <a:t>A. Is the dose safe?____________________ </a:t>
            </a:r>
          </a:p>
          <a:p>
            <a:r>
              <a:t>B. If safe, how much in mL will you administer? </a:t>
            </a:r>
          </a:p>
          <a:p>
            <a:r>
              <a:t>______________________ </a:t>
            </a:r>
          </a:p>
          <a:p>
            <a:r>
              <a:t>7. Order: Ampicillin 100 mg IV q 6 hrs </a:t>
            </a:r>
          </a:p>
          <a:p>
            <a:r>
              <a:t>Patient: Child is 4 months old and weighs 9 lbs 6 oz. </a:t>
            </a:r>
          </a:p>
          <a:p>
            <a:r>
              <a:t>Safe dose for this child’s age and weight is 75–200 mg/ </a:t>
            </a:r>
          </a:p>
          <a:p>
            <a:r>
              <a:t>kg/day. </a:t>
            </a:r>
          </a:p>
          <a:p>
            <a:r>
              <a:t>Available as: Vial of powder 500 mg/vial. </a:t>
            </a:r>
          </a:p>
          <a:p>
            <a:r>
              <a:t>Directions: Add 1.8 mL of sterile water; yields 250 mg/mL </a:t>
            </a:r>
          </a:p>
          <a:p>
            <a:r>
              <a:t>A. What are the safe ranges? low range ___________ </a:t>
            </a:r>
          </a:p>
          <a:p>
            <a:r>
              <a:t>high range_______________ </a:t>
            </a:r>
          </a:p>
          <a:p>
            <a:r>
              <a:t>B. What is the safe dose?_________________________ </a:t>
            </a:r>
          </a:p>
          <a:p>
            <a:r>
              <a:t>C. How much will you give? _____________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Appendix (A)                                                                          121 </a:t>
            </a:r>
          </a:p>
          <a:p>
            <a:r>
              <a:t>8. Order: Cefuroxime 185 mg IV q6h </a:t>
            </a:r>
          </a:p>
          <a:p>
            <a:r>
              <a:t>Patient: Infant is 6 months old and weighs 17 lbs 6 oz. </a:t>
            </a:r>
          </a:p>
          <a:p>
            <a:r>
              <a:t>Safe range is 50–100 mg/kg/day. </a:t>
            </a:r>
          </a:p>
          <a:p>
            <a:r>
              <a:t>Available as: Cefuroxime 90 mg/mL </a:t>
            </a:r>
          </a:p>
          <a:p>
            <a:r>
              <a:t>A. What are the safe ranges? low range ___________ </a:t>
            </a:r>
          </a:p>
          <a:p>
            <a:r>
              <a:t>high range_________________ </a:t>
            </a:r>
          </a:p>
          <a:p>
            <a:r>
              <a:t>B. Is the dose safe? ______________________________ </a:t>
            </a:r>
          </a:p>
          <a:p>
            <a:r>
              <a:t>C. If safe, how much will you draw up?___________________mL </a:t>
            </a:r>
          </a:p>
          <a:p>
            <a:r>
              <a:t>9. Order: Epinephrine 0.3 mg sublingual </a:t>
            </a:r>
          </a:p>
          <a:p>
            <a:r>
              <a:t>Patient: Child is 3 years old and weighs 66 lbs. </a:t>
            </a:r>
          </a:p>
          <a:p>
            <a:r>
              <a:t>Safe dosage range is 0.01 mg/kg not to exceed 0.3 mg </a:t>
            </a:r>
          </a:p>
          <a:p>
            <a:r>
              <a:t>for any single dose. </a:t>
            </a:r>
          </a:p>
          <a:p>
            <a:r>
              <a:t>Available: Epinephrine 1 mg/mL </a:t>
            </a:r>
          </a:p>
          <a:p>
            <a:r>
              <a:t>A. What are the safe ranges? low range __________ </a:t>
            </a:r>
          </a:p>
          <a:p>
            <a:r>
              <a:t>high range __________ </a:t>
            </a:r>
          </a:p>
          <a:p>
            <a:r>
              <a:t>B. Is the dose safe? __________________________ </a:t>
            </a:r>
          </a:p>
          <a:p>
            <a:r>
              <a:t>C. If safe, how many mL do you draw up for this </a:t>
            </a:r>
          </a:p>
          <a:p>
            <a:r>
              <a:t>dose?_____________________ </a:t>
            </a:r>
          </a:p>
          <a:p>
            <a:r>
              <a:t>10. Order: Piperacillin 3375 mg IV q8h </a:t>
            </a:r>
          </a:p>
          <a:p>
            <a:r>
              <a:t>Patient: Weighs 120 pounds. </a:t>
            </a:r>
          </a:p>
          <a:p>
            <a:r>
              <a:t>Safe dosage range for adults is 4–8 grams </a:t>
            </a:r>
          </a:p>
          <a:p>
            <a:r>
              <a:t>per day. </a:t>
            </a:r>
          </a:p>
          <a:p>
            <a:r>
              <a:t>Available: Piperacillin 3375 mg in 100 mL of normal </a:t>
            </a:r>
          </a:p>
          <a:p>
            <a:r>
              <a:t>saline to run over 30 minutes. You do not have a </a:t>
            </a:r>
          </a:p>
          <a:p>
            <a:r>
              <a:t>pump and need to run the medication by drop factor. </a:t>
            </a:r>
          </a:p>
          <a:p>
            <a:r>
              <a:t>You pick tubing that is 10 gtts/min. </a:t>
            </a:r>
          </a:p>
          <a:p>
            <a:r>
              <a:t>A. Is the dose safe? ___________________________ </a:t>
            </a:r>
          </a:p>
          <a:p>
            <a:r>
              <a:t>B. If safe, how many drops per minute will you regulate the tubing at </a:t>
            </a:r>
          </a:p>
          <a:p>
            <a:r>
              <a:t>___________/minute?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Appendix (A)                                                                          121 </a:t>
            </a:r>
          </a:p>
          <a:p>
            <a:r>
              <a:t>8. Order: Cefuroxime 185 mg IV q6h </a:t>
            </a:r>
          </a:p>
          <a:p>
            <a:r>
              <a:t>Patient: Infant is 6 months old and weighs 17 lbs 6 oz. </a:t>
            </a:r>
          </a:p>
          <a:p>
            <a:r>
              <a:t>Safe range is 50–100 mg/kg/day. </a:t>
            </a:r>
          </a:p>
          <a:p>
            <a:r>
              <a:t>Available as: Cefuroxime 90 mg/mL </a:t>
            </a:r>
          </a:p>
          <a:p>
            <a:r>
              <a:t>A. What are the safe ranges? low range ___________ </a:t>
            </a:r>
          </a:p>
          <a:p>
            <a:r>
              <a:t>high range_________________ </a:t>
            </a:r>
          </a:p>
          <a:p>
            <a:r>
              <a:t>B. Is the dose safe? ______________________________ </a:t>
            </a:r>
          </a:p>
          <a:p>
            <a:r>
              <a:t>C. If safe, how much will you draw up?___________________mL </a:t>
            </a:r>
          </a:p>
          <a:p>
            <a:r>
              <a:t>9. Order: Epinephrine 0.3 mg sublingual </a:t>
            </a:r>
          </a:p>
          <a:p>
            <a:r>
              <a:t>Patient: Child is 3 years old and weighs 66 lbs. </a:t>
            </a:r>
          </a:p>
          <a:p>
            <a:r>
              <a:t>Safe dosage range is 0.01 mg/kg not to exceed 0.3 mg </a:t>
            </a:r>
          </a:p>
          <a:p>
            <a:r>
              <a:t>for any single dose. </a:t>
            </a:r>
          </a:p>
          <a:p>
            <a:r>
              <a:t>Available: Epinephrine 1 mg/mL </a:t>
            </a:r>
          </a:p>
          <a:p>
            <a:r>
              <a:t>A. What are the safe ranges? low range __________ </a:t>
            </a:r>
          </a:p>
          <a:p>
            <a:r>
              <a:t>high range __________ </a:t>
            </a:r>
          </a:p>
          <a:p>
            <a:r>
              <a:t>B. Is the dose safe? __________________________ </a:t>
            </a:r>
          </a:p>
          <a:p>
            <a:r>
              <a:t>C. If safe, how many mL do you draw up for this </a:t>
            </a:r>
          </a:p>
          <a:p>
            <a:r>
              <a:t>dose?_____________________ </a:t>
            </a:r>
          </a:p>
          <a:p>
            <a:r>
              <a:t>10. Order: Piperacillin 3375 mg IV q8h </a:t>
            </a:r>
          </a:p>
          <a:p>
            <a:r>
              <a:t>Patient: Weighs 120 pounds. </a:t>
            </a:r>
          </a:p>
          <a:p>
            <a:r>
              <a:t>Safe dosage range for adults is 4–8 grams </a:t>
            </a:r>
          </a:p>
          <a:p>
            <a:r>
              <a:t>per day. </a:t>
            </a:r>
          </a:p>
          <a:p>
            <a:r>
              <a:t>Available: Piperacillin 3375 mg in 100 mL of normal </a:t>
            </a:r>
          </a:p>
          <a:p>
            <a:r>
              <a:t>saline to run over 30 minutes. You do not have a </a:t>
            </a:r>
          </a:p>
          <a:p>
            <a:r>
              <a:t>pump and need to run the medication by drop factor. </a:t>
            </a:r>
          </a:p>
          <a:p>
            <a:r>
              <a:t>You pick tubing that is 10 gtts/min. </a:t>
            </a:r>
          </a:p>
          <a:p>
            <a:r>
              <a:t>A. Is the dose safe? ___________________________ </a:t>
            </a:r>
          </a:p>
          <a:p>
            <a:r>
              <a:t>B. If safe, how many drops per minute will you regulate the tubing at </a:t>
            </a:r>
          </a:p>
          <a:p>
            <a:r>
              <a:t>___________/minute?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Appendix (A)                                                                          121 </a:t>
            </a:r>
          </a:p>
          <a:p>
            <a:r>
              <a:t>8. Order: Cefuroxime 185 mg IV q6h </a:t>
            </a:r>
          </a:p>
          <a:p>
            <a:r>
              <a:t>Patient: Infant is 6 months old and weighs 17 lbs 6 oz. </a:t>
            </a:r>
          </a:p>
          <a:p>
            <a:r>
              <a:t>Safe range is 50–100 mg/kg/day. </a:t>
            </a:r>
          </a:p>
          <a:p>
            <a:r>
              <a:t>Available as: Cefuroxime 90 mg/mL </a:t>
            </a:r>
          </a:p>
          <a:p>
            <a:r>
              <a:t>A. What are the safe ranges? low range ___________ </a:t>
            </a:r>
          </a:p>
          <a:p>
            <a:r>
              <a:t>high range_________________ </a:t>
            </a:r>
          </a:p>
          <a:p>
            <a:r>
              <a:t>B. Is the dose safe? ______________________________ </a:t>
            </a:r>
          </a:p>
          <a:p>
            <a:r>
              <a:t>C. If safe, how much will you draw up?___________________mL </a:t>
            </a:r>
          </a:p>
          <a:p>
            <a:r>
              <a:t>9. Order: Epinephrine 0.3 mg sublingual </a:t>
            </a:r>
          </a:p>
          <a:p>
            <a:r>
              <a:t>Patient: Child is 3 years old and weighs 66 lbs. </a:t>
            </a:r>
          </a:p>
          <a:p>
            <a:r>
              <a:t>Safe dosage range is 0.01 mg/kg not to exceed 0.3 mg </a:t>
            </a:r>
          </a:p>
          <a:p>
            <a:r>
              <a:t>for any single dose. </a:t>
            </a:r>
          </a:p>
          <a:p>
            <a:r>
              <a:t>Available: Epinephrine 1 mg/mL </a:t>
            </a:r>
          </a:p>
          <a:p>
            <a:r>
              <a:t>A. What are the safe ranges? low range __________ </a:t>
            </a:r>
          </a:p>
          <a:p>
            <a:r>
              <a:t>high range __________ </a:t>
            </a:r>
          </a:p>
          <a:p>
            <a:r>
              <a:t>B. Is the dose safe? __________________________ </a:t>
            </a:r>
          </a:p>
          <a:p>
            <a:r>
              <a:t>C. If safe, how many mL do you draw up for this </a:t>
            </a:r>
          </a:p>
          <a:p>
            <a:r>
              <a:t>dose?_____________________ </a:t>
            </a:r>
          </a:p>
          <a:p>
            <a:r>
              <a:t>10. Order: Piperacillin 3375 mg IV q8h </a:t>
            </a:r>
          </a:p>
          <a:p>
            <a:r>
              <a:t>Patient: Weighs 120 pounds. </a:t>
            </a:r>
          </a:p>
          <a:p>
            <a:r>
              <a:t>Safe dosage range for adults is 4–8 grams </a:t>
            </a:r>
          </a:p>
          <a:p>
            <a:r>
              <a:t>per day. </a:t>
            </a:r>
          </a:p>
          <a:p>
            <a:r>
              <a:t>Available: Piperacillin 3375 mg in 100 mL of normal </a:t>
            </a:r>
          </a:p>
          <a:p>
            <a:r>
              <a:t>saline to run over 30 minutes. You do not have a </a:t>
            </a:r>
          </a:p>
          <a:p>
            <a:r>
              <a:t>pump and need to run the medication by drop factor. </a:t>
            </a:r>
          </a:p>
          <a:p>
            <a:r>
              <a:t>You pick tubing that is 10 gtts/min. </a:t>
            </a:r>
          </a:p>
          <a:p>
            <a:r>
              <a:t>A. Is the dose safe? ___________________________ </a:t>
            </a:r>
          </a:p>
          <a:p>
            <a:r>
              <a:t>B. If safe, how many drops per minute will you regulate the tubing at </a:t>
            </a:r>
          </a:p>
          <a:p>
            <a:r>
              <a:t>___________/minute?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Appendix (A)                                                                          122 </a:t>
            </a:r>
          </a:p>
          <a:p>
            <a:r>
              <a:t>1. Dosage of Amoxil is safe at 210 mg/day or 70 mg per </a:t>
            </a:r>
          </a:p>
          <a:p>
            <a:r>
              <a:t>dose tid for a child weighing 22 lbs or 10 kg. Range is </a:t>
            </a:r>
          </a:p>
          <a:p>
            <a:r>
              <a:t>200–400 mg per 24 hours. For 70-mg dose, give 2.8 mL </a:t>
            </a:r>
          </a:p>
          <a:p>
            <a:r>
              <a:t>of medication. </a:t>
            </a:r>
          </a:p>
          <a:p>
            <a:r>
              <a:t>A. Safe—yes </a:t>
            </a:r>
          </a:p>
          <a:p>
            <a:r>
              <a:t>B. 2.8 mL of medication </a:t>
            </a:r>
          </a:p>
          <a:p>
            <a:r>
              <a:t>C. n/a </a:t>
            </a:r>
          </a:p>
          <a:p>
            <a:r>
              <a:t>2. Dosage of Phenobarbital is not safe at 30 mg PO bid </a:t>
            </a:r>
          </a:p>
          <a:p>
            <a:r>
              <a:t>for infant weighing 12 lbs 8 oz or 5.68 kg. Range of </a:t>
            </a:r>
          </a:p>
          <a:p>
            <a:r>
              <a:t>doses at 4–8 mg per kg day divided into two doses is </a:t>
            </a:r>
          </a:p>
          <a:p>
            <a:r>
              <a:t>22.72–45.44 mg per day or 11.36–22.72 mg per dose. </a:t>
            </a:r>
          </a:p>
          <a:p>
            <a:r>
              <a:t>You cannot give the medication. </a:t>
            </a:r>
          </a:p>
          <a:p>
            <a:r>
              <a:t>A. Not safe—30 mg is too high (11.36–22.72 mg is the </a:t>
            </a:r>
          </a:p>
          <a:p>
            <a:r>
              <a:t>safe dose range) </a:t>
            </a:r>
          </a:p>
          <a:p>
            <a:r>
              <a:t>B. No medication </a:t>
            </a:r>
          </a:p>
          <a:p>
            <a:r>
              <a:t>C. 22.72–45.44 mg per day in two divided doses of </a:t>
            </a:r>
          </a:p>
          <a:p>
            <a:r>
              <a:t>11.36–22.72 mg is safe range </a:t>
            </a:r>
          </a:p>
          <a:p>
            <a:r>
              <a:t>3. Dosage of Benadryl is safe at 25 mg IV q6h for a child </a:t>
            </a:r>
          </a:p>
          <a:p>
            <a:r>
              <a:t>weighing 30 kg based on dose of 1.25–10.5 mg/kg/day, </a:t>
            </a:r>
          </a:p>
          <a:p>
            <a:r>
              <a:t>not to exceed 200 mg per day. Daily dosage is 100 mg and </a:t>
            </a:r>
          </a:p>
          <a:p>
            <a:r>
              <a:t>does not exceed 300 mg per day. With 60 mg per mL, the </a:t>
            </a:r>
          </a:p>
          <a:p>
            <a:r>
              <a:t>dose is 0.42 mL of medication to be drawn into syringe. </a:t>
            </a:r>
          </a:p>
          <a:p>
            <a:r>
              <a:t>A. Safe—yes </a:t>
            </a:r>
          </a:p>
          <a:p>
            <a:r>
              <a:t>B. 0.42 mL of medication </a:t>
            </a:r>
          </a:p>
          <a:p>
            <a:r>
              <a:t>C. n/a </a:t>
            </a:r>
          </a:p>
          <a:p>
            <a:r>
              <a:t>4. Dosage of Zithromax is safe at 320 mg PO for one dose for a child </a:t>
            </a:r>
          </a:p>
          <a:p>
            <a:r>
              <a:t>weighing 32 kg. Safe dosage is based </a:t>
            </a:r>
          </a:p>
          <a:p>
            <a:r>
              <a:t>on 10 mg per kg per dose. This is not more than </a:t>
            </a:r>
          </a:p>
          <a:p>
            <a:r>
              <a:t>500 mg per day. With 100 mg per 5 mL of medication, </a:t>
            </a:r>
          </a:p>
          <a:p>
            <a:r>
              <a:t>you would give 16 mL of medication. </a:t>
            </a:r>
          </a:p>
          <a:p>
            <a:r>
              <a:t>A. Safe—yes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Appendix (A)                                                                          122 </a:t>
            </a:r>
          </a:p>
          <a:p>
            <a:r>
              <a:t>1. Dosage of Amoxil is safe at 210 mg/day or 70 mg per </a:t>
            </a:r>
          </a:p>
          <a:p>
            <a:r>
              <a:t>dose tid for a child weighing 22 lbs or 10 kg. Range is </a:t>
            </a:r>
          </a:p>
          <a:p>
            <a:r>
              <a:t>200–400 mg per 24 hours. For 70-mg dose, give 2.8 mL </a:t>
            </a:r>
          </a:p>
          <a:p>
            <a:r>
              <a:t>of medication. </a:t>
            </a:r>
          </a:p>
          <a:p>
            <a:r>
              <a:t>A. Safe—yes </a:t>
            </a:r>
          </a:p>
          <a:p>
            <a:r>
              <a:t>B. 2.8 mL of medication </a:t>
            </a:r>
          </a:p>
          <a:p>
            <a:r>
              <a:t>C. n/a </a:t>
            </a:r>
          </a:p>
          <a:p>
            <a:r>
              <a:t>2. Dosage of Phenobarbital is not safe at 30 mg PO bid </a:t>
            </a:r>
          </a:p>
          <a:p>
            <a:r>
              <a:t>for infant weighing 12 lbs 8 oz or 5.68 kg. Range of </a:t>
            </a:r>
          </a:p>
          <a:p>
            <a:r>
              <a:t>doses at 4–8 mg per kg day divided into two doses is </a:t>
            </a:r>
          </a:p>
          <a:p>
            <a:r>
              <a:t>22.72–45.44 mg per day or 11.36–22.72 mg per dose. </a:t>
            </a:r>
          </a:p>
          <a:p>
            <a:r>
              <a:t>You cannot give the medication. </a:t>
            </a:r>
          </a:p>
          <a:p>
            <a:r>
              <a:t>A. Not safe—30 mg is too high (11.36–22.72 mg is the </a:t>
            </a:r>
          </a:p>
          <a:p>
            <a:r>
              <a:t>safe dose range) </a:t>
            </a:r>
          </a:p>
          <a:p>
            <a:r>
              <a:t>B. No medication </a:t>
            </a:r>
          </a:p>
          <a:p>
            <a:r>
              <a:t>C. 22.72–45.44 mg per day in two divided doses of </a:t>
            </a:r>
          </a:p>
          <a:p>
            <a:r>
              <a:t>11.36–22.72 mg is safe range </a:t>
            </a:r>
          </a:p>
          <a:p>
            <a:r>
              <a:t>3. Dosage of Benadryl is safe at 25 mg IV q6h for a child </a:t>
            </a:r>
          </a:p>
          <a:p>
            <a:r>
              <a:t>weighing 30 kg based on dose of 1.25–10.5 mg/kg/day, </a:t>
            </a:r>
          </a:p>
          <a:p>
            <a:r>
              <a:t>not to exceed 200 mg per day. Daily dosage is 100 mg and </a:t>
            </a:r>
          </a:p>
          <a:p>
            <a:r>
              <a:t>does not exceed 300 mg per day. With 60 mg per mL, the </a:t>
            </a:r>
          </a:p>
          <a:p>
            <a:r>
              <a:t>dose is 0.42 mL of medication to be drawn into syringe. </a:t>
            </a:r>
          </a:p>
          <a:p>
            <a:r>
              <a:t>A. Safe—yes </a:t>
            </a:r>
          </a:p>
          <a:p>
            <a:r>
              <a:t>B. 0.42 mL of medication </a:t>
            </a:r>
          </a:p>
          <a:p>
            <a:r>
              <a:t>C. n/a </a:t>
            </a:r>
          </a:p>
          <a:p>
            <a:r>
              <a:t>4. Dosage of Zithromax is safe at 320 mg PO for one dose for a child </a:t>
            </a:r>
          </a:p>
          <a:p>
            <a:r>
              <a:t>weighing 32 kg. Safe dosage is based </a:t>
            </a:r>
          </a:p>
          <a:p>
            <a:r>
              <a:t>on 10 mg per kg per dose. This is not more than </a:t>
            </a:r>
          </a:p>
          <a:p>
            <a:r>
              <a:t>500 mg per day. With 100 mg per 5 mL of medication, </a:t>
            </a:r>
          </a:p>
          <a:p>
            <a:r>
              <a:t>you would give 16 mL of medication. </a:t>
            </a:r>
          </a:p>
          <a:p>
            <a:r>
              <a:t>A. Safe—yes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Appendix (A)                                                                          122 </a:t>
            </a:r>
          </a:p>
          <a:p>
            <a:r>
              <a:t>1. Dosage of Amoxil is safe at 210 mg/day or 70 mg per </a:t>
            </a:r>
          </a:p>
          <a:p>
            <a:r>
              <a:t>dose tid for a child weighing 22 lbs or 10 kg. Range is </a:t>
            </a:r>
          </a:p>
          <a:p>
            <a:r>
              <a:t>200–400 mg per 24 hours. For 70-mg dose, give 2.8 mL </a:t>
            </a:r>
          </a:p>
          <a:p>
            <a:r>
              <a:t>of medication. </a:t>
            </a:r>
          </a:p>
          <a:p>
            <a:r>
              <a:t>A. Safe—yes </a:t>
            </a:r>
          </a:p>
          <a:p>
            <a:r>
              <a:t>B. 2.8 mL of medication </a:t>
            </a:r>
          </a:p>
          <a:p>
            <a:r>
              <a:t>C. n/a </a:t>
            </a:r>
          </a:p>
          <a:p>
            <a:r>
              <a:t>2. Dosage of Phenobarbital is not safe at 30 mg PO bid </a:t>
            </a:r>
          </a:p>
          <a:p>
            <a:r>
              <a:t>for infant weighing 12 lbs 8 oz or 5.68 kg. Range of </a:t>
            </a:r>
          </a:p>
          <a:p>
            <a:r>
              <a:t>doses at 4–8 mg per kg day divided into two doses is </a:t>
            </a:r>
          </a:p>
          <a:p>
            <a:r>
              <a:t>22.72–45.44 mg per day or 11.36–22.72 mg per dose. </a:t>
            </a:r>
          </a:p>
          <a:p>
            <a:r>
              <a:t>You cannot give the medication. </a:t>
            </a:r>
          </a:p>
          <a:p>
            <a:r>
              <a:t>A. Not safe—30 mg is too high (11.36–22.72 mg is the </a:t>
            </a:r>
          </a:p>
          <a:p>
            <a:r>
              <a:t>safe dose range) </a:t>
            </a:r>
          </a:p>
          <a:p>
            <a:r>
              <a:t>B. No medication </a:t>
            </a:r>
          </a:p>
          <a:p>
            <a:r>
              <a:t>C. 22.72–45.44 mg per day in two divided doses of </a:t>
            </a:r>
          </a:p>
          <a:p>
            <a:r>
              <a:t>11.36–22.72 mg is safe range </a:t>
            </a:r>
          </a:p>
          <a:p>
            <a:r>
              <a:t>3. Dosage of Benadryl is safe at 25 mg IV q6h for a child </a:t>
            </a:r>
          </a:p>
          <a:p>
            <a:r>
              <a:t>weighing 30 kg based on dose of 1.25–10.5 mg/kg/day, </a:t>
            </a:r>
          </a:p>
          <a:p>
            <a:r>
              <a:t>not to exceed 200 mg per day. Daily dosage is 100 mg and </a:t>
            </a:r>
          </a:p>
          <a:p>
            <a:r>
              <a:t>does not exceed 300 mg per day. With 60 mg per mL, the </a:t>
            </a:r>
          </a:p>
          <a:p>
            <a:r>
              <a:t>dose is 0.42 mL of medication to be drawn into syringe. </a:t>
            </a:r>
          </a:p>
          <a:p>
            <a:r>
              <a:t>A. Safe—yes </a:t>
            </a:r>
          </a:p>
          <a:p>
            <a:r>
              <a:t>B. 0.42 mL of medication </a:t>
            </a:r>
          </a:p>
          <a:p>
            <a:r>
              <a:t>C. n/a </a:t>
            </a:r>
          </a:p>
          <a:p>
            <a:r>
              <a:t>4. Dosage of Zithromax is safe at 320 mg PO for one dose for a child </a:t>
            </a:r>
          </a:p>
          <a:p>
            <a:r>
              <a:t>weighing 32 kg. Safe dosage is based </a:t>
            </a:r>
          </a:p>
          <a:p>
            <a:r>
              <a:t>on 10 mg per kg per dose. This is not more than </a:t>
            </a:r>
          </a:p>
          <a:p>
            <a:r>
              <a:t>500 mg per day. With 100 mg per 5 mL of medication, </a:t>
            </a:r>
          </a:p>
          <a:p>
            <a:r>
              <a:t>you would give 16 mL of medication. </a:t>
            </a:r>
          </a:p>
          <a:p>
            <a:r>
              <a:t>A. Safe—yes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Appendix (A)                                                                          123 </a:t>
            </a:r>
          </a:p>
          <a:p>
            <a:r>
              <a:t>B. 16 mL of medication </a:t>
            </a:r>
          </a:p>
          <a:p>
            <a:r>
              <a:t>C. n/a </a:t>
            </a:r>
          </a:p>
          <a:p>
            <a:r>
              <a:t>5. Dosage is safe at 125 mg for a child who weighs </a:t>
            </a:r>
          </a:p>
          <a:p>
            <a:r>
              <a:t>29 pounds or 13.18 kg. Dosage is based on 40 mg per </a:t>
            </a:r>
          </a:p>
          <a:p>
            <a:r>
              <a:t>kg per day in 3 doses q8h. Weight of 13.18 kg times </a:t>
            </a:r>
          </a:p>
          <a:p>
            <a:r>
              <a:t>40 mg/kg is 527.27 mg per day with 3 doses of </a:t>
            </a:r>
          </a:p>
          <a:p>
            <a:r>
              <a:t>175 mg equals 525 mg per day. For 175-mg dose, </a:t>
            </a:r>
          </a:p>
          <a:p>
            <a:r>
              <a:t>give 7 mL of medication (125 mg per 5 mL). </a:t>
            </a:r>
          </a:p>
          <a:p>
            <a:r>
              <a:t>A. Safe—yes </a:t>
            </a:r>
          </a:p>
          <a:p>
            <a:r>
              <a:t>B. 7 mL of medication </a:t>
            </a:r>
          </a:p>
          <a:p>
            <a:r>
              <a:t>C. n/a </a:t>
            </a:r>
          </a:p>
          <a:p>
            <a:r>
              <a:t>6. Child weighs 7.5 kg; 15 mg/kg is safe dose. </a:t>
            </a:r>
          </a:p>
          <a:p>
            <a:r>
              <a:t>A. Safe—yes </a:t>
            </a:r>
          </a:p>
          <a:p>
            <a:r>
              <a:t>B. Divide 15 mg/10 mg × 1 mL = 1.5 mL </a:t>
            </a:r>
          </a:p>
          <a:p>
            <a:r>
              <a:t>7. Child weighs 4.3 kg. </a:t>
            </a:r>
          </a:p>
          <a:p>
            <a:r>
              <a:t>A. 75 × 4.3 kg = 322.5 mg/day </a:t>
            </a:r>
          </a:p>
          <a:p>
            <a:r>
              <a:t>200 × 4.3 kg = 860 mg/day </a:t>
            </a:r>
          </a:p>
          <a:p>
            <a:r>
              <a:t>B. 400 mg/day </a:t>
            </a:r>
          </a:p>
          <a:p>
            <a:r>
              <a:t>C. 100 mg/500 mg × 1.8 mL = 0.4 mL </a:t>
            </a:r>
          </a:p>
          <a:p>
            <a:r>
              <a:t>8. Child weighs 7.9 kg. </a:t>
            </a:r>
          </a:p>
          <a:p>
            <a:r>
              <a:t>A. 50 × 7.9 kg = 395 mg/day 100 × 7.9 kg = 790 mg/day </a:t>
            </a:r>
          </a:p>
          <a:p>
            <a:r>
              <a:t>B. Child is receiving 185 mg × 4 doses = 740 mg/day. </a:t>
            </a:r>
          </a:p>
          <a:p>
            <a:r>
              <a:t>C. Safe—yes </a:t>
            </a:r>
          </a:p>
          <a:p>
            <a:r>
              <a:t>D. 185 mg/90 mg × 1 mL = 2.1 mL </a:t>
            </a:r>
          </a:p>
          <a:p>
            <a:r>
              <a:t>9. Child weighs 30 kg. </a:t>
            </a:r>
          </a:p>
          <a:p>
            <a:r>
              <a:t>A. 0.01 mg × 30 kg = 0.3 mg/day </a:t>
            </a:r>
          </a:p>
          <a:p>
            <a:r>
              <a:t>0.3 mg × 30 kg = 9 mg/day </a:t>
            </a:r>
          </a:p>
          <a:p>
            <a:r>
              <a:t>B. Safe—yes </a:t>
            </a:r>
          </a:p>
          <a:p>
            <a:r>
              <a:t>C. 0.3 mg/1 mg = 0.3 mL </a:t>
            </a:r>
          </a:p>
          <a:p>
            <a:r>
              <a:t>10. Child weighs 54.5 kg. </a:t>
            </a:r>
          </a:p>
          <a:p>
            <a:r>
              <a:t>A. No, it is not safe </a:t>
            </a:r>
          </a:p>
          <a:p>
            <a:r>
              <a:t>B. None; I would not give.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Appendix (A)                                                                          123 </a:t>
            </a:r>
          </a:p>
          <a:p>
            <a:r>
              <a:t>B. 16 mL of medication </a:t>
            </a:r>
          </a:p>
          <a:p>
            <a:r>
              <a:t>C. n/a </a:t>
            </a:r>
          </a:p>
          <a:p>
            <a:r>
              <a:t>5. Dosage is safe at 125 mg for a child who weighs </a:t>
            </a:r>
          </a:p>
          <a:p>
            <a:r>
              <a:t>29 pounds or 13.18 kg. Dosage is based on 40 mg per </a:t>
            </a:r>
          </a:p>
          <a:p>
            <a:r>
              <a:t>kg per day in 3 doses q8h. Weight of 13.18 kg times </a:t>
            </a:r>
          </a:p>
          <a:p>
            <a:r>
              <a:t>40 mg/kg is 527.27 mg per day with 3 doses of </a:t>
            </a:r>
          </a:p>
          <a:p>
            <a:r>
              <a:t>175 mg equals 525 mg per day. For 175-mg dose, </a:t>
            </a:r>
          </a:p>
          <a:p>
            <a:r>
              <a:t>give 7 mL of medication (125 mg per 5 mL). </a:t>
            </a:r>
          </a:p>
          <a:p>
            <a:r>
              <a:t>A. Safe—yes </a:t>
            </a:r>
          </a:p>
          <a:p>
            <a:r>
              <a:t>B. 7 mL of medication </a:t>
            </a:r>
          </a:p>
          <a:p>
            <a:r>
              <a:t>C. n/a </a:t>
            </a:r>
          </a:p>
          <a:p>
            <a:r>
              <a:t>6. Child weighs 7.5 kg; 15 mg/kg is safe dose. </a:t>
            </a:r>
          </a:p>
          <a:p>
            <a:r>
              <a:t>A. Safe—yes </a:t>
            </a:r>
          </a:p>
          <a:p>
            <a:r>
              <a:t>B. Divide 15 mg/10 mg × 1 mL = 1.5 mL </a:t>
            </a:r>
          </a:p>
          <a:p>
            <a:r>
              <a:t>7. Child weighs 4.3 kg. </a:t>
            </a:r>
          </a:p>
          <a:p>
            <a:r>
              <a:t>A. 75 × 4.3 kg = 322.5 mg/day </a:t>
            </a:r>
          </a:p>
          <a:p>
            <a:r>
              <a:t>200 × 4.3 kg = 860 mg/day </a:t>
            </a:r>
          </a:p>
          <a:p>
            <a:r>
              <a:t>B. 400 mg/day </a:t>
            </a:r>
          </a:p>
          <a:p>
            <a:r>
              <a:t>C. 100 mg/500 mg × 1.8 mL = 0.4 mL </a:t>
            </a:r>
          </a:p>
          <a:p>
            <a:r>
              <a:t>8. Child weighs 7.9 kg. </a:t>
            </a:r>
          </a:p>
          <a:p>
            <a:r>
              <a:t>A. 50 × 7.9 kg = 395 mg/day 100 × 7.9 kg = 790 mg/day </a:t>
            </a:r>
          </a:p>
          <a:p>
            <a:r>
              <a:t>B. Child is receiving 185 mg × 4 doses = 740 mg/day. </a:t>
            </a:r>
          </a:p>
          <a:p>
            <a:r>
              <a:t>C. Safe—yes </a:t>
            </a:r>
          </a:p>
          <a:p>
            <a:r>
              <a:t>D. 185 mg/90 mg × 1 mL = 2.1 mL </a:t>
            </a:r>
          </a:p>
          <a:p>
            <a:r>
              <a:t>9. Child weighs 30 kg. </a:t>
            </a:r>
          </a:p>
          <a:p>
            <a:r>
              <a:t>A. 0.01 mg × 30 kg = 0.3 mg/day </a:t>
            </a:r>
          </a:p>
          <a:p>
            <a:r>
              <a:t>0.3 mg × 30 kg = 9 mg/day </a:t>
            </a:r>
          </a:p>
          <a:p>
            <a:r>
              <a:t>B. Safe—yes </a:t>
            </a:r>
          </a:p>
          <a:p>
            <a:r>
              <a:t>C. 0.3 mg/1 mg = 0.3 mL </a:t>
            </a:r>
          </a:p>
          <a:p>
            <a:r>
              <a:t>10. Child weighs 54.5 kg. </a:t>
            </a:r>
          </a:p>
          <a:p>
            <a:r>
              <a:t>A. No, it is not safe </a:t>
            </a:r>
          </a:p>
          <a:p>
            <a:r>
              <a:t>B. None; I would not give.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Appendix (A)                                                                          123 </a:t>
            </a:r>
          </a:p>
          <a:p>
            <a:r>
              <a:t>B. 16 mL of medication </a:t>
            </a:r>
          </a:p>
          <a:p>
            <a:r>
              <a:t>C. n/a </a:t>
            </a:r>
          </a:p>
          <a:p>
            <a:r>
              <a:t>5. Dosage is safe at 125 mg for a child who weighs </a:t>
            </a:r>
          </a:p>
          <a:p>
            <a:r>
              <a:t>29 pounds or 13.18 kg. Dosage is based on 40 mg per </a:t>
            </a:r>
          </a:p>
          <a:p>
            <a:r>
              <a:t>kg per day in 3 doses q8h. Weight of 13.18 kg times </a:t>
            </a:r>
          </a:p>
          <a:p>
            <a:r>
              <a:t>40 mg/kg is 527.27 mg per day with 3 doses of </a:t>
            </a:r>
          </a:p>
          <a:p>
            <a:r>
              <a:t>175 mg equals 525 mg per day. For 175-mg dose, </a:t>
            </a:r>
          </a:p>
          <a:p>
            <a:r>
              <a:t>give 7 mL of medication (125 mg per 5 mL). </a:t>
            </a:r>
          </a:p>
          <a:p>
            <a:r>
              <a:t>A. Safe—yes </a:t>
            </a:r>
          </a:p>
          <a:p>
            <a:r>
              <a:t>B. 7 mL of medication </a:t>
            </a:r>
          </a:p>
          <a:p>
            <a:r>
              <a:t>C. n/a </a:t>
            </a:r>
          </a:p>
          <a:p>
            <a:r>
              <a:t>6. Child weighs 7.5 kg; 15 mg/kg is safe dose. </a:t>
            </a:r>
          </a:p>
          <a:p>
            <a:r>
              <a:t>A. Safe—yes </a:t>
            </a:r>
          </a:p>
          <a:p>
            <a:r>
              <a:t>B. Divide 15 mg/10 mg × 1 mL = 1.5 mL </a:t>
            </a:r>
          </a:p>
          <a:p>
            <a:r>
              <a:t>7. Child weighs 4.3 kg. </a:t>
            </a:r>
          </a:p>
          <a:p>
            <a:r>
              <a:t>A. 75 × 4.3 kg = 322.5 mg/day </a:t>
            </a:r>
          </a:p>
          <a:p>
            <a:r>
              <a:t>200 × 4.3 kg = 860 mg/day </a:t>
            </a:r>
          </a:p>
          <a:p>
            <a:r>
              <a:t>B. 400 mg/day </a:t>
            </a:r>
          </a:p>
          <a:p>
            <a:r>
              <a:t>C. 100 mg/500 mg × 1.8 mL = 0.4 mL </a:t>
            </a:r>
          </a:p>
          <a:p>
            <a:r>
              <a:t>8. Child weighs 7.9 kg. </a:t>
            </a:r>
          </a:p>
          <a:p>
            <a:r>
              <a:t>A. 50 × 7.9 kg = 395 mg/day 100 × 7.9 kg = 790 mg/day </a:t>
            </a:r>
          </a:p>
          <a:p>
            <a:r>
              <a:t>B. Child is receiving 185 mg × 4 doses = 740 mg/day. </a:t>
            </a:r>
          </a:p>
          <a:p>
            <a:r>
              <a:t>C. Safe—yes </a:t>
            </a:r>
          </a:p>
          <a:p>
            <a:r>
              <a:t>D. 185 mg/90 mg × 1 mL = 2.1 mL </a:t>
            </a:r>
          </a:p>
          <a:p>
            <a:r>
              <a:t>9. Child weighs 30 kg. </a:t>
            </a:r>
          </a:p>
          <a:p>
            <a:r>
              <a:t>A. 0.01 mg × 30 kg = 0.3 mg/day </a:t>
            </a:r>
          </a:p>
          <a:p>
            <a:r>
              <a:t>0.3 mg × 30 kg = 9 mg/day </a:t>
            </a:r>
          </a:p>
          <a:p>
            <a:r>
              <a:t>B. Safe—yes </a:t>
            </a:r>
          </a:p>
          <a:p>
            <a:r>
              <a:t>C. 0.3 mg/1 mg = 0.3 mL </a:t>
            </a:r>
          </a:p>
          <a:p>
            <a:r>
              <a:t>10. Child weighs 54.5 kg. </a:t>
            </a:r>
          </a:p>
          <a:p>
            <a:r>
              <a:t>A. No, it is not safe </a:t>
            </a:r>
          </a:p>
          <a:p>
            <a:r>
              <a:t>B. None; I would not give.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Content reproduced verbatim from سلبص المختبر.pdf.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8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8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206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4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8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220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22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223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4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5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6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8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9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0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23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3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4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8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0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1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4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5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6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8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9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0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1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3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4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5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6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8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9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0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261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2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3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264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5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6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8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9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0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271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2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3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4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275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276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278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279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0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1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282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3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4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5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6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8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9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0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1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2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3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4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5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6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8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85455" y="4023360"/>
            <a:ext cx="4206240" cy="2834640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3200400" cy="310896"/>
          </a:xfrm>
          <a:prstGeom prst="rect">
            <a:avLst/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30759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4A4AA8"/>
                </a:solidFill>
                <a:latin typeface="Calibri"/>
              </a:rPr>
              <a:t>PEDIATRIC NURSING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996055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14171C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27248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7A8291"/>
                </a:solidFill>
                <a:latin typeface="Georgia"/>
              </a:rPr>
              <a:t>دليل المختبر العملي - تمريض الأطفال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03320"/>
            <a:ext cx="1463040" cy="32004"/>
          </a:xfrm>
          <a:prstGeom prst="rect">
            <a:avLst/>
          </a:prstGeom>
          <a:solidFill>
            <a:srgbClr val="4A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3931920"/>
            <a:ext cx="7863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3E4654"/>
                </a:solidFill>
                <a:latin typeface="Calibri"/>
              </a:rPr>
              <a:t>Pediatric Nursing  ·  Syllabus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Source document: سلبص المختبر.pdf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125 pages  ·  Nursing Lectures  ·  Level 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Learning Objectives — Anthropometric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Defining the term of anthropometric measurements.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Identify measures to assess child growth and development status, included weight, height, head circumference, chest circumference.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Determine the measured process of anthropometric measurements in children according to the child age.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Assess the progression of weight and height, head and chest circumference, body max index.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Learning Objectives — Physiologic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Defining the terms of physiologic measurements.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Identify key elements in evaluating the physical status of vital functions, include temperature, pulse, Respiration, and BP.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Demonstrate the temperature and pulse measurement sits for infants and children.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Recorded the type of thermometer.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Discuss the process of measuring the temperature, pulse, respiration, blood pressure in children according to the child 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Learning Objectives — Reflexes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Defining the importance of reflexes assessment in children.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Demonstrate how to assess reflexes in infants.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Discuss the type of reflexes( sucking, rooting, Babinski, startle and Moro reflexes …etc.).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Explain the child's response to each reflex according to the offered 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Learning Objectives — Administration of Medication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By the end of this chapter, the student nurse will be able to: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Define the meaning of medications.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Calculate a safe drug dosage needed for the individual child.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Identify the factors that influence medications action.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List the essential principles for the administration of medications.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Enumerate the different routes of medications administration.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Explain preliminary information essential for the administration of the different routes: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Discuss the steps of the different routes of administration of medications.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Describe the role of the nurse in each route.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Learning Objectives — Immunity and Immunization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To know the Iraqi immunization schedule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To understand the details of each vaccine (type, route, doses, side effects)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To recognize the differences between two types of polio vaccine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To understand what to check before giving vaccine and general instructions about vaccination Immunization Immunization is defined as the procedure by which the body is prepared to fight against a specific disease. It is used to induce the immune resistance of the body to a specific disease. Types of immunization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I- Passive immunization It is classified into: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Learning Objectives — CPR &amp; choking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On completion of this lecture students will be able to: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Assess the choking child to give urgent intervention.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Describe emergent procedures for the relief of foreign body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obstruction in an infant or child.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Assess the unconscious infant or child.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Learn how to perform cardiopulmonary resuscitation for infant and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child.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7</a:t>
            </a:r>
          </a:p>
        </p:txBody>
      </p:sp>
      <p:pic>
        <p:nvPicPr>
          <p:cNvPr id="10" name="Picture 9" descr="p0000_2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013" y="1408176"/>
            <a:ext cx="3723667" cy="278892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4306824"/>
          <a:ext cx="110578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Clinical Manual of Pediatric Nursing Prepared by: MSN. Mohammed Talib MSN. Ali Fadhil Obaid MSN. Maha Ahmed BSN. Marwah Shakir Supervised by head of pediatric nursing department: Assist. Prof. Dr. Nuhad Mohammed 3llli fadhil Edited By: Ali Fadhil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University of Babylon College of Nursing Pediatric nursing department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Prepared by: MSN. Mohammed Talib MSN. Ali Fadhil Obaid MSN. Maha Ahmed BSN. Marwah Shakir Supervised by head of pediatric nursing department: Assist. Prof. Dr. Nuhad Mohammed 3llli fadhil Edited By: Ali Fadhil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Contents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Communication ...........................................................................................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6768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What is communication? ......................................................................... 6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What are the types of Communication? ..................................................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86073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Verbal communication: .................................................................... 6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2-NONVERBAL COMMUNICATION ..............................................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54558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Pediatric Health History............................................................................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 Health History ................................................................................ 11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Types of Pediatric Health Histories .......................................................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2656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Initial (comprehensive) health history...........................................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719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Interval (well-child) health history ...............................................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02783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Focused (episodic) health history ..................................................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72846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Follow-up health history ...............................................................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429097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Emergency health history ..............................................................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DATA COLLECTION ..........................................................................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Subjective data. .............................................................................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0944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Objective data.. .......................................................................... …12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51007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Methods of Data Collection ................................................................... 12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How to Conduct a Pediatric History Interview .....................................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728464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Infants and Young Children ............................................................... 13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School-Aged Children and Adolescents .............................................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Age-specific interview and assessment tips. .........................................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2680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Infant ................................................................................................... 13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Toddler ................................................................................................ 14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Preschool child ................................................................................... 14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School-age child ................................................................................. 15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Adolescent ..........................................................................................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880457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Review of systems: ................................................................................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581091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Physical examination ................................................................................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There are two types of physical examination: .......................................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B.Focused physical examination ........................................................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1624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EXAMINATION TECHNIQUES ......................................................... 22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PREPARATION OF THE CHILD........................................................ 23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Preparation of the Environment ............................................................. 23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Sequence of Pediatric Physical Examination According to Age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Developmental Level ............................................................................. 24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PHYSICAL ASSESSMENT OF THE NEWBORN .............................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66207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Anthropometric measurements .................................................................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15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Anthropometry ....................................................................................... 31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Weight measured: ................................................................................... 31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Weight progression (1-12 month).......................................................... 31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Height or Length .................................................................................... 31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Head circumference: .............................................................................. 33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Chest circumference: ............................................................................. 34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Body Mass Index ................................................................................... 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215331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Physiologic measurements ........................................................................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Temperature ........................................................................................... 37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Respiration ............................................................................................. 40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Blood Pressure ....................................................................................... 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4431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Reflexes ..................................................................................................... 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844950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Primitive reflexes ................................................................................ 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57867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1.Rooting reflex:… ............................................................................. 43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2.Sucking reflex:… ............................................................................. 43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3.Startle reflexes:… ............................................................................ 43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4.The tonic neck reflex. .................................................... …….……43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5.The Moro reflex:.. ............................................................................ 43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6.The grasping reflex. ......................................................................... 43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7.The Babinski reflex: ........................................................................ 43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8.Dancing (or stepping) reflex:........................................................... 43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9.Palmar grasp:… ............................................................................... 43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10.Plantar grasp:.. ............................................................................... 43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11.Protective reflexes: ........................................................................ 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Fluid Calculation and Calories Requirement ............................................ 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Body fluid composition ......................................................................... 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0944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1.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Intracellular .............................................................. 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5100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2.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Extracellular ............................................................. 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21071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Calculating Pediatric Fluid Needs ......................................................... 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91134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Fluid needs based on weight............................................................... 85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385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 hourly maintenance requirement can be calculated from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following formula: ................................................................................. 86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Types of I.V. solutions .......................................................................... 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88544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Energy / Calories requirement .................................................................. 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86073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There are three type of milk each cup (200ml) contain: ....................... 88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Calculating a Formula’s Adequacy ....................................................... 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54558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Oxygen Therapy........................................................................................ 90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1979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Introduction: .......................................................................................... 90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Definition: .............................................................................................. 91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Purpose: ................................................................................................. 91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Indication: .............................................................................................. 91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Types:..................................................................................................... 91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Methods: ................................................................................................ 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697577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Simple face mask ........................................................................... 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398211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Nasal Cannula ................................................................................ 92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Head box (hood) ............................................................................. 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Mist tent .......................................................................................... 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0944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Incubator ......................................................................................... 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51007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Equipment: ............................................................................................. 94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Humidification ....................................................................................... 94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Procedures of nasal cannula, mask or hood........................................... 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246217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Immunization and vaccination .................................................................. 97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Immunization ......................................................................................... 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Nasogastric Intubation ............................................................................ 106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0944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Definition of Gavage feeding: ............................................................. 107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1979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Indications: .......................................................................................... 107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Purpose of gavage feeding: .................................................................. 107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Guidelines of nasogastric tube selection: ............................................ 107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Type of tube: ........................................................................................ 108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Tube size: ............................................................................................. 108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Maximize the Feeding Pleasure of the Infant ...................................... 110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385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Learning objectives: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Upon completion of this class, the student will be able to: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1-Explain what communication is and its importance in developing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positive relationships with children and their families.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2-Identify communication strategies for interviewing parents.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88544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Formulate guidelines for communicating with child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What are the types of Communication?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385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What is communication?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Communication is defined as the exchange of meanings between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among individuals through a shared system of symbols. The sender,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message, channel, receiver, and feedback are major components of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communication process Communication is both talking and listening.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What are the types of Communication?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6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Verbal communication: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Verbal communication refers to messages that are communicated through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words and language (Estes, 2010). It is most effective if it is brief, clear,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effectively toned, paced appropriately, relevant, and well timed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Important points should be repeated and medical jargon avoided, especially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when talking to children and their caregivers and families.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*Messages also need appropriate pacing; they should not be too slow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fast, and there should be few pauses and periods of silence, for example,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teaching will not be effective if delivered when children are in pain or have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visitors, or when caregivers are preoccupied with personal thoughts. When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interacting with families, it is also essential to convey interest and warmth;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to avoid distractions, yes or no questions, and personal bias; and not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monopolize the conversation.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2-NONVERBAL COMMUNICATION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Nonverbal communication conveys feelings, attitudes, and intentions.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fact, most communication is nonverbal, and most verbal communication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contradicts nonverbal messages. Listeners will believe the nonverbal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message rather than the verbal message if they contradict each other.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Therefore, it is critical to always consider nonverbal communication in any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interaction since it contributes to what others “hear.” The nurse should use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language consistent with the child’s developmental level and deliver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message so the language is consistent with the nonverbal cues.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example, never smile or laugh when giving care that may be frightening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painful. Avoid words that have violent or scary connotations, such as stick,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shot, and sting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903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Nonverbal communication includes: spatial relationships (the distance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between participants); appearance (clothing, grooming, hair style); eye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contact; body posture (slouching, standing erect with the head leaning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receiver); gestures (which sometimes add emphasis to words); facial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expressions (which need to agree with the message); timing (hesitation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may imply untruthfulness or diminish the effect of the message); and, with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children especially, touch.</a:t>
            </a:r>
          </a:p>
        </p:txBody>
      </p:sp>
      <p:pic>
        <p:nvPicPr>
          <p:cNvPr id="11" name="Picture 10" descr="p0007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164" y="3403193"/>
            <a:ext cx="5757366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DEVELOPMENTAL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Infants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4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" y="3035808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Infants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Allow the infant time to warm up to strangers.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736441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Respond to the infant’s cries in a timely manner.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Use motherese, and a soothing and calm voice.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Talk to the infant directly.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Toddlers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Pre-schoolers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School-age children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7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" y="3749039"/>
            <a:ext cx="10948111" cy="21624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Toddlers Approach the toddler carefully; the child may 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fearful.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Integrate the toddler’s words for familiar objects or activities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into care.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Prepare for procedures right before they are to be carried out.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Integrate dolls, storytelling, and picture books into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conversations.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Stand at eye level.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Use play, storytelling, puppets, and third parties.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Speak honestly, use simple language, and be concise.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Prepare for procedures 1 hour or less before they are to 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experienced.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2656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School-age children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Use books, diagrams, and videos in preparing for procedures.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719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Prepare for procedures several days in advance.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Allow for honest expression of feelings and adequate time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questions to be answered.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30</a:t>
            </a:r>
          </a:p>
        </p:txBody>
      </p:sp>
      <p:pic>
        <p:nvPicPr>
          <p:cNvPr id="10" name="Picture 9" descr="p0009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701" y="1408176"/>
            <a:ext cx="3608292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Adolescents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Prepare for up to 1 week prior to experiences.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007457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Respect the adolescent’s need for privacy.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Use appropriate medical terminology.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Use creative methods to explain experiences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procedures.Respect the adolescent’s right to refuse treatment.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421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Reference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Hockenberry, M. J., Wilson, D.(2013) Wong’s Essentials  of Pediatric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Nursing, 8th edition. USA: Elsevier, PP 101, 102, 103,104,105.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Potts, N. L. and Mandleco, B. L., (2012) Pediatric Nursing Caring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Children and Their Families. 3th edition. USA: DELMAR CENGAGE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Learning, pp. 410,  411,412,413.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Ricci, S. S., Kyle, T. and Carman, S.(2013) Maternity and Pediatric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Nursing. 2nd edition. China: Wolters Kluwer Health | Lippincott Williams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&amp; Wilkins pp. 61,62.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Health History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Define health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Numerate and describe types of Pediatric Health Histories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9168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Differentiate between objective and subjective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3344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Describe Methods of Data Collection.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7520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Identify How to Conduct a Pediatric History Interview.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Types of Pediatric Health Histories (Chiocca, 2015)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Health History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 health history is a collection of subjective data that provides a detailed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profile of the patient’s health status. Nurses use therapeutic communication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skills and interviewing techniques during the health history to establish an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effective nurse–patient relationship and to gather data to identify actual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potential health problems.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4431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Initial (comprehensive) health history: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86073"/>
            <a:ext cx="10948111" cy="1903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 initial health care visit requires a comprehensive health history,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which creates a database of information for the child who is new to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provider’s practice. The data collected in this history focus not just 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past or current illnesses, but also on wellness, health patterns, health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knowledge, and activities of daily living (ADL). The content of this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history creates a baseline against which all future changes in the child’s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health status are measured.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581091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Interval (well-child) health history: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Types of Pediatric Health Histories (Chiocca, 2015)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Subsequent well-child visits require an interval history; that is,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history that updates the patient’s health status since the last office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visit.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6768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Focused (episodic) health history: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09443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This history is problem-centered, focusing on the present illness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problem. A focused health history is all that is necessary when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child presents with an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acute problem or the exacerbation of a chronic condition.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02783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Follow-up health history: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469587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When the child returns to the office after an illness or injury, a follow-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up history is taken to assess whether the problem is the same, better,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or worse.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429097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Emergency health history: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Types of Pediatric Health Histories (Chiocca, 2015)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 emergency health history involves the quick collection of data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 acute situation. While this history resembles a focused history, it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needs to be obtained rapidly, usually simultaneously with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DATA COLLECTION (Taylor, Lillis, LeMone, &amp; Lynn, 2011) Two Types Of Data: Subjective and Objective.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13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interventions, such as the administration of medications or respiratory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treatments.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1385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Subjective data are information perceived only by the affected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person; these data cannot be perceived or verified by another person.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Examples of subjective data are feeling nervous, nauseated, or chilly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and experiencing pain. Subjective data also are called symptoms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covert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86073"/>
            <a:ext cx="10948111" cy="1903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Objective data are observable and measurable data that can be seen,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heard, or felt by someone other than the person experiencing them.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Objective data observed by one person can be verified by another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person observing the same patient.  Examples of objective data 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 elevated temperature reading (e.g., 101F), skin that is moist,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refusal to look at or eat food. Objective data also are called signs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overt data.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DATA COLLECTION (Taylor, Lillis, LeMone, &amp; Lynn, 2011) Two Types Of Data: Subjective and Objective.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680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Methods of Data Collection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1-Observation is the conscious and deliberate use of the five senses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gather data (objective data).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2-Patient interview the nurse obtains a nursing history by interviewing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patient. (An interview is a planned communication)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3-Physical assessment (or physical examination) produces primarily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objective data and makes use of the techniques of inspection (visual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examination), palpation (touch), percussion (tapping a body surface),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direct auscultation (listening with the unaided ear), and indirect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auscultation (listening with a stethoscope).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179824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How to Conduct a Pediatric History Interview (Chiocca, 2015)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643374"/>
            <a:ext cx="10948111" cy="1385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Obtaining an accurate and complete pediatric health history is essential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when providing health care to children. The pediatric health care provider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must possess excellent communication skills when working with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children and families in order to elicit the most accurate and complete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health history while maintaining provider– patient trust.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Infants and Young Children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14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15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For infants and preverbal children, the primary source of historical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information is the parent or primary caregiver.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For older infants and toddlers, it is important that the parent remain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within eyesight of the child to minimize stranger anxiety. Parents can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then concentrate on answering questions rather than tending to a crying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child.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Some preschoolers can answer questions during the history, depending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on their language abilities, developmental level, and temperament. These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questions may involve play, toys, likes, dislikes, friends, and school.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Young children who are very shy should not be forced to participate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interview, and children should not be overwhelmed with too many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questions. The health care provider should remember to use simple terms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and avoid medical jargon.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School-Aged Children and Adolescents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Infants and Young Children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680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Children who are school-aged and older can provide their own health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history with verification from the parent or caregiver as needed.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Beginning the encounter with the parent in the room is important to make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child feel comfortable and secure.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Older school-aged children and adolescents have a heightened need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privacy. For this reason, the parent should be asked to leave the room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certain portions of the history, such as questions that deal with drug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alcohol use, sexual activity, depression, and risk-taking behaviors.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preteen or adolescent is more likely to give accurate answers without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parent present.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17982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Age-specific interview and assessment tips. (Lippincott, 2012)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Infant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880457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Before performing a procedure, talk to and touch the infant.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322214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Use a gentle touch.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763971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Speak softly.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Infants and Young Children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Allow the infant to hold a favorite toy during the assessment.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15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Let an older infant hold a small block in each hand.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Remember that an older infant may be wary of strangers.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9168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Be alert to infant cues, such as crying, kicking, or waving arms.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3344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Perform traumatic procedures last when the infant is crying.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7520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Use distractions, such as bright objects, rattles, and talking.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61695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Enlist the parent’s aid when examining the ears and mouth.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05871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Avoid abrupt, jerky movements.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50047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When the child is quiet, auscultate the heart, lungs, and abdomen.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Toddler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201107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Encourage the parents to be with you during the interview.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642864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Allow the toddler to be close to his parents.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Provide simple explanations and use simple language.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Use play as a communication tool.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9168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Tell the toddler that it’s okay to cry.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3344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Watch for separation anxiety.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7520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Use the toddler’s favorite toy as a tool during the interview. Encourage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 toddler to use the toy for communication.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87583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Use play (count fingers or tickle toes) to assess body parts.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317593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Use parent assistance during the examination. For example, ask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parents to remove the toddler’s outer clothing and help restrain the child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during eye and ear examination.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27710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Use encouraging words during the examination.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Preschool child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Ask simple questions.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Allow the child to ask questions.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9168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Provide simple explanations.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3344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Avoid using words that sound threatening or have double meanings.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7520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Avoid slang words.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61695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Validate the child’s perception.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05871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Use toys for expression.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50047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Use simple visual aids.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94223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Enlist the child’s help during the examination, such as by allowing him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to give you the stethoscope.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642864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Allow the child to touch and operate the diagnostic equipment.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16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Explain what the child is going to feel before it happens. For example,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explain that the stethoscope will be cold before using it on the child.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Utilize the child’s imagination through puppets and play.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5056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Give the child choices when possible.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School-age child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5120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Provide explanations for procedures.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69295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Explain the purpose of equipment, such as an ophthalmoscope to see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inside the eye.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39359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Avoid abstract explanations.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835347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Help the child vocalize his needs.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277104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Allow the child to engage in the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71886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Perform demonstration.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Allow the child to undress himself.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Respect the child’s need for privacy.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Adolescent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5056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Give the adolescent control whenever possible.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99232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Facilitate trust and stress confidentiality.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43408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Encourage honest and open communication.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87583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Be nonjudgmental.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31759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Use clear explanations.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75935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Ask open-ended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201107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Anticipate that the adolescent may be angry or upset.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642864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Ask if you can speak to the adolescent without the parent present.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Ask the adolescent about parental involvement before initiating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Give your undivided attention to the adolescent.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9168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Respect the adolescent’s views, feeling, and differences.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3344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Allow the adolescent to undress in private, and provide the child with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gown.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43408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Expose only the area to be examined.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87583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Explain findings during the examination.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31759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Emphasize the normalcy of adolescent’s development.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75935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Examine genitalia last but examine them as you would examine any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other body part.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17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939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Review of systems: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General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Overall state of health; recent weight loss or gain (compare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growth charts); obesity; delays in physical, psychosocial,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language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development;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fatigue;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weakness;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malaise;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difficulty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performing activities of daily living; or chronic pain.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18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3754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Integument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General skin texture, birthmarks, or pigmentation; skin color changes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(jaundice, cyanosis, mottling, pallor, bruising, or petechiae); rashes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lesions (location and description); excessive skin dryness; pruritus; hives;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atopic dermatitis; contact dermatitis; seborrhea; acne; changes in moles;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changes in body hair (excessive hair growth or loss or hair color change);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nail disorders; or pediculosis.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Head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Head size and shape (including fontanels), microcephaly, macrocephaly,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head injuries, headaches, or dizziness.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……………………………………………………………….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Eyes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Visual problems (blurred vision, double vision, bumping into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objects, sitting very close to the television or computer screen,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inability to see blackboard, holding book very close to face,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squinting, rubbing eyes, photophobia, use of glasses or contact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lenses), date of last eye exam and results, strabismus, dizziness,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eye drainage or infections, excessive tearing, or eyelid edema.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Ears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Ear infections (e.g., otitis media, otitis externa), ear pain, ear drainage,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surgery (e.g., myringotomy with tympanostomy tubes), delayed speech,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evidence of hearing loss, date of last hearing exam and result, or tinnitus.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Nose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Frequent rhinorrhea, upper respiratory infections, sinusitis, allergic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rhinitis, stuffy nose, nasal congestion, allergies, mouth breathing, snoring,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obstructive sleep apnea, epistaxis, allergic salute, allergic crease, dark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circles under eyes, or altered sense of smell.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Mouth/throat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Pattern of tooth eruption or loss, number of teeth, teething (infants), dental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care, use of ﬂuoride, dental caries, age of first dental visit, date of last visit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to dentist, frequency of dental visits, tooth pain, history of dental trauma,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sores in mouth or tongue, history of oral candida infections, gum bleeding,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19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70811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mouth breathing, tonsillar enlargement or infections, history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tonsillectomy, postnasal drip, cleft lip or palate, sore throats, streptococcal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infections, difficulty chewing or swallowing, hoarseness, or voice and cry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irregularity.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Chest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Pain, newborn breast enlargement, male gynecomastia, breast lesions,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discharge, or enlarged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Neck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Limitation of movement, pain, stiffness, torticollis, thyroid enlargement,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or lymphadenopathy axillary nodes.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Lymphatics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Frequent infections, fevers, pain, and swelling, tenderness of any lymph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nodes, hepatosplenomegaly, chills, night sweats, or pallor.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Respiratory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Frequent respiratory infections, dyspnea (shortness of breath), apnea,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stridor, croup, pneumonia, cystic fibrosis, asthma, wheezing, chronic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cough, sputum production, reduced exercise tolerance, dyspnea at rest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on exertion, cyanosis, or tuberculosis; date of last chest radiograph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skin reaction from tuberculosis skin testing; or history of smoking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secondhand smoke exposure.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Cardiovascular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Murmurs, congenital heart defects, poor infant feeding, slow or decreased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weight gain, chest pain, cyanosis, tachypnea, tachycardia, hypertension,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edema, cold extremities, dizziness, palpitations, fainting spells, exercise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intolerance, dyspnea on exertion, fatigue, diaphoresis, rheumatic fever,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anemia, or recent blood transfusion.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Gastrointestinal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20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116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Appetite, food intolerances, dietary history, abdominal pain, ulcers,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nausea, vomiting, reﬂux, recent changes in bowel patterns,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gastrointestinal infections, diarrhea, belching, ﬂatulence, constipation,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type and frequency of stools, use of laxatives, blood in stools, jaundice,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anal itching, fissures, or pinworms.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Genitourinary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Dysuria, frequency, urgency, burning, hesitancy, enuresis, urinary tract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infections, discharge, polyuria, oliguria, hematuria, character of stream,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or ﬂank pain; history of epispadias or hypospadias and date of surgery;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history of cryptorchidism (include age of child and if orchiopexy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performed, include date of surgery); hernia, hydrocele, swelling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scrotum when crying, performance of testicular self-exam in adolescent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males, sexually transmitted infections, or sexual activity.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Gynecologic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Age of menarche, date of last menstrual period, length of menses,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frequency of cycle, dysmenorrhea, history of heavy menstrual bleeding,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vaginal discharge, abnormal vaginal bleeding, sexual activity, type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contraception, date of last Pap smear, or obstetric history, if applicable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Musculoskeletal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Usual activity level, history of weakness, clumsiness, ataxia, lack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coordination, unusual movements, joint or muscle pain, cramps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inﬂammation; swelling, sprains, fractures, mobility problems, back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joint stiffness, abnormal gait, limps, or spinal curvatures.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Neurologic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General affect and mood, ataxia, tremors, tics, dizziness, syncope,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tingling, sensory changes, paresthesia, unusual movements, seizures, loss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of consciousness, memory loss, headaches, aphasia or other speech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problems, fears, nightmares, or unusual habits.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Endocrine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Disturbances in growth, polyuria, polyphagia, polydipsia, thyroid disease,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obesity, type 1 or 2 diabetes, excessive sweating, salty taste to skin,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21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939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intolerance to temperature changes, signs of early or delayed puberty,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abnormal hair distribution.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Hematologic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Anemia, pallor, lymphadenopathy, bleeding disorders, bruising,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petechiae, bleeding gums, blood transfusions, toxic drug exposure,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radiation, or chemotherapy.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Psychosocial development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Developmental delays, behavior changes, tantrums, breath-holding spells,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bedwetting, school failure, social withdrawal, irritability, sleep pattern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disturbances, depression, substance abuse, eating disorders, or psychiatric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disorders. (Hockenberry &amp; Wilson, 2015)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438700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90225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Chiocca, E. M. (2015). Advanced Pediatric Assessment (second edi).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344007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Springer Publishing Company, LLC.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785764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Hockenberry, M. J., &amp; Wilson, D. (2015). Wong’s nursing care of infants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21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and children (10th ed.). St. Louis, Missouri: Mosby, an imprint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Elsevier Inc.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Taylor, C. R., Lillis, C., LeMone, P., &amp; Lynn, P. (2011). Fundamentals 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5056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Nursing THE ART AND SCIENCE OF NURSING CARE (Seventh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Ed). Wolters Kluwer Health | Lippincott Williams &amp; Wilkins.P.p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(228-233)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Physical examination Objectives: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22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Define physical examination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Illustrate type of physical examination.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91689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Explain the Preparation of the Environment (examination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room).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99232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Identify the Sequence of Pediatrics' Physical Examination.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EXAMINATION TECHNIQUES Physical assessment involves four major assessment skills: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23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680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physical examination is an essential part of the pediatric health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assessment. The health care provider must possess strong physical assessment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skills and a knowledge base specific to the developing bodies and minds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children. These assessment skills include inspection, palpation, percussion,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and auscultation.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pediatric physical examination differs from the adult examination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that the approach to the patient and the sequence of the examination differ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according to age and developmental level. (Chiocca, 2015)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There are two types of physical examination: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Complete (head-to-toe) and focused physical examination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179824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A. Children who are new to the provider’s practice or who are being seen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for their annual health maintenance visits, school physicals, or sports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physicals require a full head-to-toe physical examination.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B. Focused physical examination complements the focused history 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398211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simply concentrates on the area of the chief complaint. This type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physical examination is done when a child presents to the emergency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room or clinic with an illness, injury, or other specific complaint.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EXAMINATION TECHNIQUES Physical assessment involves four major assessment skills: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Inspection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Palpation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9168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Percussion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3344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And auscultation.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75203"/>
            <a:ext cx="10948111" cy="21624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These skills are normally performed in this order. However, when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assessing the abdomen, the sequence is altered: inspection, auscultation,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palpation, and then percussion.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When examining a child, providers use their senses to gather objective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data. For example, sight is used to assess color, respiratory effort, posture,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and gait. Smell assesses hygiene and can help diagnose infections. Touch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can help providers find masses or detect skin changes. Hearing allows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provider to assess body sounds.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24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939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PREPARATION OF THE CHILD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Before examining the pediatric patients, the provider should first consider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child’s age and developmental level. Before beginning the examination, he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she should take time to get acquainted with the child in an age-appropriate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manner so that the child is as comfortable as possible. This may involve using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play techniques with infants and young children or talking with a school-aged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child or adolescent about his or her interests. When appropriate, toddlers,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preschoolers, and school-aged children should be allowed to handle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equipment before the examination begins to demonstrate to the child that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equipment will not be painful; for example, allowing the child to listen to heart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sounds of the parents or provider (Figure 8.1).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57</a:t>
            </a:r>
          </a:p>
        </p:txBody>
      </p:sp>
      <p:pic>
        <p:nvPicPr>
          <p:cNvPr id="10" name="Picture 9" descr="p0023_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442" y="1408176"/>
            <a:ext cx="295281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58</a:t>
            </a:r>
          </a:p>
        </p:txBody>
      </p:sp>
      <p:pic>
        <p:nvPicPr>
          <p:cNvPr id="10" name="Picture 9" descr="p0023_1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471" y="1408176"/>
            <a:ext cx="2968752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1624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Preparation of the Environment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examination room should have a comfortable temperature and be well lit.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room should be in a nonthreatening area and decorated in an age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appropriate manner. All instruments should be kept out of the child’s view until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use, and the examination room should be childproofed. Age-appropriate toys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and reading material should also be nearby as a distraction and as a means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assessing development. Privacy should be maintained at all times for children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of all ages.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25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Sequence of Pediatric Physical Examination According to Age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and Developmental Level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Age group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Preparation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development Considerations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44316"/>
            <a:ext cx="10948111" cy="535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Position: Place supine 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exam 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770985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Lack of head control until 4–6 months.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754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Perform least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distressing aspects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of exam first (i.e.,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if quiet, auscultate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heart and lungs;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proceed head to-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toe, then examine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ears, nose,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throat last while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the child is crying.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Elicit Moro reflex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last.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253788"/>
            <a:ext cx="10948111" cy="1200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Infants respond well to smiling faces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soft voices. May respond well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noisemakers or toys to see or touch.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Abrupt, rough movements should 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avoided.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422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Offer breast /bottle/ pacifier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to quiet newborn for exam.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Examine while dressed in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diaper only; remove while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examining genitourinary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area.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922422"/>
            <a:ext cx="10948111" cy="979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Newborns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young infants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(0–6 months)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992880"/>
            <a:ext cx="10948111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When examining neonates,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use radiant heat warmer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conserve body heat.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41443"/>
            <a:ext cx="10948111" cy="1200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Position: May need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examine in parent’s lap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because of stranger anxiety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if no distress, place on exam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table with parent in view.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200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Infants prefer smiling faces and soft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voices.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May respond well to noisemakers or toys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to see or hold. Often cry when cold; this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may interfere with exam.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700528"/>
            <a:ext cx="10948111" cy="2310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Perform least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distressing aspects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of exam first (i.e.,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if quiet, auscultate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heart and lungs;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proceed head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toe, then examine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ears, nose,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throat last while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child is crying).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200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Keep primary caregiver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security object within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eyesight of infant. Ensure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that exam room is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comfortable temperature.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700528"/>
            <a:ext cx="10948111" cy="2310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Abrupt, rough movements should 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avoided. Stranger anxiety begins at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approximately 7–8 months of age. Gather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as much objective data as possible by just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observing and not touching (infant will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often begin crying vigorously when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touched by a stranger.) Increased motor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abilities cause need for safety measures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exam room; this continues with older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pediatric patients, as well.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102352"/>
            <a:ext cx="10948111" cy="535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Older infants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(6–12 months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422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Offer breast/bottle/ pacifier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to quiet crying infant.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Examine while child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dressed in a diaper only;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remove while examining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genitourinary area.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922422"/>
            <a:ext cx="10948111" cy="979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Position: Examine child 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parent’s lap or exam table,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depending on where child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most cooperative.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992880"/>
            <a:ext cx="10948111" cy="1866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Stranger anxiety decreases by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approximately 18 months of age;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separation anxiety by approximately 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years. Toddlers are negativistic; often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respond “no” when they mean “yes”.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Dislike body boundary intrusion and often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dislike having clothes removed; therefore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have parent remove clothes. Offer simple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866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Perform least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distressing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least intrusive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aspects of exam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first (i.e,.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auscultate heart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and lungs;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examine ears,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366211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Toddlers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770985"/>
            <a:ext cx="10948111" cy="535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Gain toddler’s confidence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before beginning exam; let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26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79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toddler see and touch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examination instruments;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keep parent and security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object nearby.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78633"/>
            <a:ext cx="10948111" cy="1422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choices but provider should not give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toddler a choice where none exists (e.g.,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“May I look in your ears.)”? Toddlers 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often uncooperative with exam; complete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exam as quickly but as thoroughly as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possible.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992880"/>
            <a:ext cx="10948111" cy="1422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nose, and throat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last).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Auscultate,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palpate,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percuss whenever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quiet.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79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May need to enlist parents’ help in gently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restraining child during exam. Use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distraction techniques (play, puppets,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toys). Praise toddler for cooperation.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78633"/>
            <a:ext cx="10948111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Praise toddler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cooperating with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exam.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7196"/>
            <a:ext cx="10948111" cy="1866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They like to “help” and are concrete,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literal thinkers, and protect their modesty.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Magical thinking causes many fears.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Provider should take care regarding choice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of words (e.g ,.take” your blood pressure.)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Preschooler may think she or he is ill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because of bad behavior (magical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thinking(.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285232"/>
            <a:ext cx="10948111" cy="535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Position: Exam table with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parent nearby.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866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Head to toe if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cooperative.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Otherwise use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approach as with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toddler. Should 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able to examine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older preschoolers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head to toe.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366211"/>
            <a:ext cx="10948111" cy="1422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To allay fears, may use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dolls, stuffed animals,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parent to “examine” first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before child. Allow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preschooler to see and touch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equipment.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880457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Preschooler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285232"/>
            <a:ext cx="10948111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Preschoolers need feedback during exam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Your lungs sound just like they 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supposed to.”)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Give preschooler gown; ask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child to remove all clothing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but underwear.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56739"/>
            <a:ext cx="10948111" cy="979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Games, dolls, or toys sometimes helpful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when conducting physical exam to gain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child’s cooperation. Preschoolers should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be given choices when possible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7196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Position: Exam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31971"/>
            <a:ext cx="10948111" cy="1422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Can now address questions more directly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to child. Answer child's questions honestly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and concretely; diagram and teaching dolls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are helpful during explanations. Child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often sees physical exam as "fun”; likes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learn about body. Protect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246217"/>
            <a:ext cx="10948111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Give child gown and ask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child to undress except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underpants.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535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Preform head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toe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034844"/>
            <a:ext cx="10948111" cy="535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School-aged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children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61513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privacy and modesty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066288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Explain purpose of all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equipment. Young school-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aged child often prefers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parent to be present; older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school aged child may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prefer parent to leave room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during exam.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802428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with genitalia last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Age group Preparation development Considerations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27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535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Adolescents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Position: Exam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034844"/>
            <a:ext cx="10948111" cy="1200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Elicit active participation from teen when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obtaining health history. Confidentiality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and privacy are important. Protect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modesty. Address teen directly during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exam.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7196"/>
            <a:ext cx="10948111" cy="1866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Provider should explain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confidentiality parameters.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Offer option for parent to 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present or to leave the room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during physical exam. Give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teen a gown; allow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undress in private; may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leave undergarments 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285232"/>
            <a:ext cx="10948111" cy="535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Preform head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toe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Age group Preparation development Considerations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27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79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Private Discuss issues of sexuality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body development; emphasize normalcy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whenever possible. Include health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teaching.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78633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with genitalia last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83408"/>
            <a:ext cx="10948111" cy="535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PHYSICAL ASSESSMENT OF THE NEWBORN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Usual Findings (Hockenberry &amp; Wilson, 2009)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510076"/>
            <a:ext cx="10948111" cy="1866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•  General measurements.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a. Head circumference—33-35 cm (13-14 inches); about 2-3 cm (1 inch) larger than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chest circumference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b. Chest circumference—30.5-33 cm (12-13 inches)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c. Crown-to-rump length—31-35 cm (12.5-14 inches); approximately equal to head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circumference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d. Head-to-heel length—48-53 cm (19-21 inches)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e. Birth weight—2700-4000 g (6-9 pounds)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Age group Preparation development Considerations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27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088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•  Vital signs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a. Temperature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b. Axillary—36.5°-37° C (97.9°-98.6° F)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c. Heart rate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d. Apical—110-160 beats/min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e. Respirations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f. 30-60 breaths/min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g. Blood pressure (BP)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h. Oscillometric—65/41 mm Hg (average) in arm and calf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588105"/>
            <a:ext cx="10948111" cy="535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•  General appearance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a. Posture—Flexion of head and extremities, which rest on chest and abdomen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214774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•  Skin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a. At birth, puffy, smooth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b. Second to third day, pink, flaky, dry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c. Vernix caseosa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d. Lanugo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e. Edema around eyes, face, legs, dorsa of hands, feet, and scrotum or labia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f. Acrocyanosis—Cyanosis of hands and feet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Age group Preparation development Considerations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27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535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•  Head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a. Anterior fontanel—Diamond-shaped, 2.5-4 cm (1-1.75 inches)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28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b. Posterior fontanel—Triangular, 0.5-1 cm (0.2-0.4 inch)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c. Fontanels should be flat and firm.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d. Widest part of fontanel measured from bone to bone, not suture to suture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56739"/>
            <a:ext cx="10948111" cy="1866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•  Eyes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a. Lids usually edematous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b. Iris color—slate gray, dark blue, brown; absence of tears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c. Presence of red reflex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d. Corneal reflex in response to touch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e. Pupillary reflex in response to light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f. Blink reflex in response to light or touch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g. Rudimentary fixation on objects and ability to follow to midline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214774"/>
            <a:ext cx="10948111" cy="979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•  Ears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a. Position—Top of pinna on horizontal line with outer canthus of eye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b. Startle reflex elicited by a loud, sudden noise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c. Pinna flexible, cartilage present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28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200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•  Nose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a. Nasal patency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b. Nasal discharge—Thin, white mucus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c. Sneezing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d. Milia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700528"/>
            <a:ext cx="10948111" cy="25322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•  Mouth and throat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a. Intact, high-arched palate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b. Uvula in midline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c. Frenulum of tongue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d. Frenulum of upper lip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e. Sucking reflex—Strong and coordinated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f. Rooting reflex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g. Gag reflex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h. Extrusion reflex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i. Absent or minimal salivation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j. Vigorous cry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324246"/>
            <a:ext cx="10948111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•  Neck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a. Short, thick, usually surrounded by skin folds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b. Tonic neck reflex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28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200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•  Chest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a. Anteroposterior and lateral diameters equal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b. Slight sternal retractions evident during inspiration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c. Xiphoid process evident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d. Breast enlargement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700528"/>
            <a:ext cx="10948111" cy="979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•  Back and rectum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a. Spine intact; no openings, masses, or prominent curves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b. Trunk incurvation reflex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c. Anal reflex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29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535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d. Patent anal opening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e. Passage of meconium within 48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034844"/>
            <a:ext cx="10948111" cy="2088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•  Extremities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a. Ten fingers and ten toes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b. Full range of motion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c. Nail beds pink, with transient cyanosis immediately after birth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d. Creases on anterior two thirds of sole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e. Sole usually flat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f. Symmetry of extremities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g. Equal muscle tone bilaterally, especially resistance to opposing flexion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h. Equal bilateral brachial and femoral pulses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214774"/>
            <a:ext cx="10948111" cy="1422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•  Neuromuscular system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a. Extremities usually maintain some degree of flexion.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b. Extension of an extremity followed by previous position of flexion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c. Head lag while sitting, but momentary ability to hold head erect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d. Able to turn head from side to side when prone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e. Able to hold head in horizontal line with back when held prone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Equipment of physical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30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Chiocca, E. M. (2015). Advanced Pediatric Assessment (second edi). Springer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54707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Publishing Company, LLC.(p.p 159-161)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659481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Hockenberry, M. J., &amp; Wilson, D. (2009). Clinical companion for Wong’s essentials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064256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of pediatric nursing (8th ed). Mosby, Inc., an affiliate of Elsevier Inc.(p.p 8-12)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469030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Lippincott, W. (2012). Pediatric Facts made Incredibly Quick! TM. Lippincott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873804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Williams &amp; Wilkins.(p.p 34-35)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Anthropometric measurements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31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Defining the term of anthropometric measurements.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91689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Identify measures to assess child growth and development status,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included weight, height, head circumference, chest circumference.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99232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Determine the measured process of anthropometric measurements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 children according to the child 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69295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Assess the progression of weight and height, head and chest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circumference, body max index.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Anthropometric measurements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32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903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Anthropometry: an essential parameter of nutritional status,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measurement of height or length, weight, head circumference,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chest circumference proportions, skinfold thickness, and arm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circumference in young children. Height and head circumference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reflect past nutrition, whereas weight, skinfold thickness, and arm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circumference reflect present nutritional status, especially of protein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and fat reserves.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40319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Weight measured: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84495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1-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At birth, weight  2700 to 4000 kg  (6–9 pounds).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54558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2-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First, balance the 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246217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3-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Remove the infant’s diaper and clothing.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Anthropometric measurements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4-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Depending on age, put the child is either supine or sitting.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5-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Protect the infant from an accidental fall by placing a hand over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infant without direct contact.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68320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6-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At birth, weight is more variable than height and is, to a greater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extent, a reflection of the intrauterine environment.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027830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7-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Normally, neonates lose about 10% of their birth weight by 3 to 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days of age because of loss of extracellular fluid and meconium, as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well as limited food intake, especially in breastfed infants.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246217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8-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 general, the birth weight doubles by 4 to 7 months of age, triples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by the end of the first year. Quadruples by the age of 2 to 2.5 years.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Anthropometric measurements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Weight progression (1-12 month)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1385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First 4 month = 750 gm / month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2nd 4 months = 500 gm  /month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3rd 4 months = 250 gm/month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Progression in year: Weight (kg/years) = (age + 4) ×2.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Thus an average 2-year-old will weigh: (2 + 4) ×2 = 12kg.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4899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Height or Length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9074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1-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term length refers to measurements taken when children 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supine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750257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2-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Length in infants are measured by lying in supine position on tray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board.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4- The term height (or stature) refers to the measurement taken when a child is standing upright. Height: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33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3-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Hold the infant’s head in midline and extend the hips and knees flat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on a paper-covered table, then  Points are marked at the top of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head and the heels of the feet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2656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Birth – 6 months: Monthly gain—2.5 cm (1 inch)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6-12 month: Monthly gain—1. 5 cm (0.5 inch)</a:t>
            </a:r>
          </a:p>
        </p:txBody>
      </p:sp>
      <p:pic>
        <p:nvPicPr>
          <p:cNvPr id="12" name="Picture 11" descr="p0032_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743" y="3327196"/>
            <a:ext cx="6728209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4- The term height (or stature) refers to the measurement taken when a child is standing upright. Height: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A. Measuring a newborn’s length                   B. Weighing the newborn</a:t>
            </a:r>
          </a:p>
        </p:txBody>
      </p:sp>
      <p:pic>
        <p:nvPicPr>
          <p:cNvPr id="11" name="Picture 10" descr="p0032_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076" y="1849932"/>
            <a:ext cx="2225542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4- The term height (or stature) refers to the measurement taken when a child is standing upright. Height: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87</a:t>
            </a:r>
          </a:p>
        </p:txBody>
      </p:sp>
      <p:pic>
        <p:nvPicPr>
          <p:cNvPr id="10" name="Picture 9" descr="p0032_3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36" y="1408176"/>
            <a:ext cx="2333423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Head circumference: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34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Head circumference is a critical indicator of brain growth in infants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and toddlers.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Full-term infants, average head circumference is between 33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35.5 cm (13 and 14 inches).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0944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Measure head circumference in children up to 36 months of 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51200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The rate of increase in head circumference slows somewhat by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end of infancy, and head circumference is usually equal to chest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circumference by 1 to 2 years of 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210710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The usual total increase in head circumference during the second year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is 2.5 cm (1 inch). Then the rate of increase slows until at age 5 years,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increase is less than 1.25 cm (0.5 inch) per year.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170220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The head’s largest circumference is measured by placing the tape over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lower forehead, above the pinna of the ears, and over the occipital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prominence.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Head circumference: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Head circumference is usually about 2 to 3 cm (≈1 inch) greater than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chest circumference.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1903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Because of the molding of the head during delivery, these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measurements may initially appear equal. However, if the head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significantly smaller than the chest, microcephaly or premature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closure of the sutures (craniosynostosis) is a possibility. The head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more than 4 cm (1.6 inches) larger than the chest and this remains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constant or increases over several days, then hydrocephalus must 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considered.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103827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During the first 6 months, head circumference increases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approximately 1.5 cm (0.6 inch) per month, but the rate of growth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declines to only 0.5 cm (0.2 inch) monthly during the second 6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months.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322214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Closure of the cranial sutures occurs, with the posterior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fontanel fusing by 6 to 8 weeks of age and the anterior fontanel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closing by 12 to 18 months of age (average, 14 months).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Chest circumference: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35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90</a:t>
            </a:r>
          </a:p>
        </p:txBody>
      </p:sp>
      <p:pic>
        <p:nvPicPr>
          <p:cNvPr id="10" name="Picture 9" descr="p0034_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091" y="1408176"/>
            <a:ext cx="3463512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*H.C (6-12 month): Monthly gain—0. 25 cm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Chest circumference: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At birth, the chest circumference is about 30 to 33 cm or 12 to 13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inches. During year 2, the chest circumference continues to increase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and eventually exceeds head circumference. the chest circumference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exceeds the abdominal measurement after the second year, in addition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to the growth of the lower extremities, makes the child appear taller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and leaner.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4431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Chest circumference continues to increase in size and exceeds head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circumference during the toddler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84495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The chest’s shape also changes as the transverse, or lateral, diameter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exceeds the anteroposterior diameter.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54558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Toddlers retain a squat, “potbellied” appearance because of their less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developed abdominal musculature and short legs.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246217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The rate of physical growth slows and stabilizes during the preschool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years.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Chest circumference: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Continues to increase in size and exceeds head circumference during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 toddler years.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(Measurement of head, chest, abdominal circumference)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36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93</a:t>
            </a:r>
          </a:p>
        </p:txBody>
      </p:sp>
      <p:pic>
        <p:nvPicPr>
          <p:cNvPr id="10" name="Picture 9" descr="p0035_1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642" y="1408176"/>
            <a:ext cx="5680409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Body Mass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770374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BMI is also a part of assessing growth and can be tracked over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212130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BMI is the number calculated from the child’s weight and height that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correlates to the percentage of body fat. The higher the child’s BMI,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higher the percentage of body fat.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(Measurement of head, chest, abdominal circumference)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(BMI [weight in kilograms divided by height in meters squared])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Parameters: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Underweight: BMI of less than 18.5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5056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Normal weight: BMI of 18.5 to 24.9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99232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Overweight: BMI of 25 to 29.9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43408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Obesity: BMI of 30 or greater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BODY MASS INDEX FORMULA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134713"/>
            <a:ext cx="10948111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3E4654"/>
                </a:solidFill>
                <a:latin typeface="Calibri"/>
              </a:rPr>
              <a:t>BMI= Weight in kilograms÷ (Height in meters)2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Physiologic measurements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37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Defining the terms of physiologic measurements.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91689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Identify key elements in evaluating the physical status of vital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functions, include temperature, pulse, Respiration, and BP.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99232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Demonstrate the temperature and pulse measurement sits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infants and children.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69295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Recorded the type of thermometer.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13471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Discuss the process of measuring the temperature, pulse,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respiration, blood pressure in children according to the child age.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Temperature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38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PHYSIOLOGIC MEASUREMENTS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Physiologic measurements: Its key elements in evaluating physical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status of vital functions, include temperature, pulse, Respiration,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and BP.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26563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 The core temperature most closely reflects the temperature of the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31337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blood flow through the carotid arteries to the hypothalamus.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473094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 When a child’s temperature is altered, receptors in the skin, spinal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877868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cord, and brain respond in an attempt to achieve normothermia,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normal temperature state.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578502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 For neonates, a core body temperature between 36.5° and 37.6°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9832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(97.7° and 99.7° F).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425033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 One of the most important influences on the accuracy of temperature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829808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is improper temperature-taking technique.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Temperature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38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 Because children generally dislike rectal temperature measurement,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12950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tympanic thermometers may be used for infants who are more than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3 months old, and oral thermometers may be used for children more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than 4 to 5 years 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72460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 The axial route is preferred, but if a rectal temperature is required,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177235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carefully insert a well-lubricated thermometer no further than 1/2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1 inch to avoid rectal perforation.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Fahrenheit to Centigrade Temperature Conversion Formulas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Temperature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38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1979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°F = (°C × 9/5) + 32, or (°C × 1.8) + 32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°C = (°F - 32) × 5/9, or (°F - 32) × 0.55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Temperature measurement locations for infants and children: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Included: oral, rectal, axillary, ear canal, tympanic membrane,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temporal artery, or skin route.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Oral site: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 Place tip under tongue in right or left posterior sublingual pocket, not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 front of tongue. Have child keep mouth closed without biting 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thermometer.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 Pacifier thermometers measure intraoral or supralingual temperature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and are available but lack support in the literature.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  Several factors affect mouth temperature: eating and mastication, 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697577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or cold beverages, open-mouth breathing, ambient temperature.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39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903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Axillary site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 Place tip under arm in center of axilla and keep close to skin, not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clothing. Hold child’s arm firmly against side.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 Temperature may be affected by poor peripheral perfusion (results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lower value), clothing or swaddling, use of radiant warmer, or amount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of brown fat in cold-stressed neonate (results in higher value).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 Advantage—Avoids intrusive procedure and eliminates risk of rectal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40319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perforation.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39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100</a:t>
            </a:r>
          </a:p>
        </p:txBody>
      </p:sp>
      <p:pic>
        <p:nvPicPr>
          <p:cNvPr id="10" name="Picture 9" descr="p0038_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356" y="1408176"/>
            <a:ext cx="2556981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39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101</a:t>
            </a:r>
          </a:p>
        </p:txBody>
      </p:sp>
      <p:pic>
        <p:nvPicPr>
          <p:cNvPr id="10" name="Picture 9" descr="p0038_2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674" y="1408176"/>
            <a:ext cx="3072346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39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4492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Ear Based (Aural) site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 Insert small infrared probe deeply into canal to allow sensor to obtain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measurement. Size of probe (most are 8 mm) may influence accuracy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of result. In young children, this may be a problem because of small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diameter of canal. Proper placement of ear is controversial related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whether the pinna should be pulled in manner similar to that used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during otoscopy.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Rectal site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 Place well-lubricated tip at maximum 2.5 cm (1 inch) into rectum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children and 1.5 cm (0.6 inch) for infants; securely hold thermometer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close to anus.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 Child may be placed in side-lying, supine, or prone position (i.e.,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supine with knees flexed toward abdomen); cover penis because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procedure may stimulate urination. A small child may be placed prone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across parent’s lap.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Temporal Artery site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 An infrared sensor probe scans across forehead, capturing heat from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39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arterial blood flow.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40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 Temporal artery is only artery close enough to skin’s surface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provide access for accurate temperature measurement.</a:t>
            </a:r>
          </a:p>
        </p:txBody>
      </p:sp>
      <p:pic>
        <p:nvPicPr>
          <p:cNvPr id="12" name="Picture 11" descr="p0039_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786" y="2291689"/>
            <a:ext cx="3520121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40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105</a:t>
            </a:r>
          </a:p>
        </p:txBody>
      </p:sp>
      <p:pic>
        <p:nvPicPr>
          <p:cNvPr id="10" name="Picture 9" descr="p0039_3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372" y="1408176"/>
            <a:ext cx="3668950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c. Ear Based (Aural) site                D. Temporal Artery site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Type of thermometer: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 mercury glass thermometers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 Digital Thermometer / Electronic Thermometer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 Infrared Thermometer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 Ear-Based Temperature Sensor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40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Advantages of digital thermometers in neonatal care include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relatively easy readability by parents and caretakers in the home,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Infrared axillary and digital thermometers are used in many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neonatal units because they give rapid readings and are easy to clean.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09443"/>
            <a:ext cx="10948111" cy="34568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In newborn temperature, the glass mercury thermometer is the gold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standard against which other methods are compared.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Pulse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 A satisfactory pulse can be taken radially in children older than 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years of age. However, in infants and young children, the apical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impulse (heard through a stethoscope held to the chest at the apex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 heart) is more reliable.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 Count the pulse for 1 full minute in infants and young children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because of possible irregularities in rhythm.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 Compare radial and femoral pulses at least once during infancy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detect the presence of circulatory impairment, such as coarctation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 aorta.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 At birth, the range of pulse 120 to 140 beats/min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slow heart rates (bradycardia), and irregular rhythms Locations of pulse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41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4233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 Auscultate the apical pulse by using the diaphragm of the stethoscope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over the point of maximal intensity (PMI), The PMI is located just left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of the midclavicular line at the fourth intercostal space in children less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than 7 years old and at the fifth intercostal space in older children.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 An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apical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pulse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(listening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heart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apex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through a stethoscope) is taken in children younger than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1 year because their radial (wrist) pulse is too faint to be palpated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accurately.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 Heart rate and rhythm—Listen for fast heart rates (tachycardia),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slow heart rates (bradycardia), and irregular rhythms Locations of pulse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41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108</a:t>
            </a:r>
          </a:p>
        </p:txBody>
      </p:sp>
      <p:pic>
        <p:nvPicPr>
          <p:cNvPr id="10" name="Picture 9" descr="p0040_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3" y="1408176"/>
            <a:ext cx="2553927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Respiration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77037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 At birth, respiratory rate average 30 to 60 breaths/min.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 Respirations also should be measured before an infant is disturbed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471007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because the respiratory rate increases with crying.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Blood Pressure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42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 Take this while a child is sitting in a parent’s lap or lying quietly in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crib before lowering the side rail if possible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 Infants tend to breathe with their abdominal muscles; therefore,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6768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as accurate to take respirations by counting movements of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abdomen as it is to count chest movements.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Count respirations for 1 full minute.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719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 Blood pressure is included in the routine physical assessment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of all children older than 3 years of age.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 Blood pressure is difficult to measure in infants because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mechanical problems.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 For healthy term infants, blood pressure average 70-65/45 mm Hg.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 Because measurement of blood pressure in a newborn is somewhat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063337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inaccurate, it is not routinely measured unless a cardiac anomaly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suspected, renal disorder such as, nephrotic syndrome and nephritis.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Blood Pressure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110</a:t>
            </a:r>
          </a:p>
        </p:txBody>
      </p:sp>
      <p:pic>
        <p:nvPicPr>
          <p:cNvPr id="10" name="Picture 9" descr="p0041_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124" y="1408176"/>
            <a:ext cx="5119446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Blood Pressure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680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A. Determination of proper cuff size.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Cuff bladder width should be approximately 40%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circumference of arm.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C. Blood pressure should be measured with the cubital fossa at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 heart level.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 arm should be supported. The stethoscope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bell is placed over the brachial artery pulse proximal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medial to the cubital fossa and below the bottom edge of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cuff.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Reflexes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43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Defining the importance of reflexes assessment in children.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9168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Demonstrate how to assess reflexes in infants.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3344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Discuss the type of reflexes( sucking, rooting, Babinski, startle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Moro reflexes …etc.).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43408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Explain the child's response to each reflex according to the offered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type.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Reflexes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44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Testing reflexes is an important part of the neurologic examination.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Reflexes   should be tested at the end of the examination because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they may disturb the infant and interfere with auscultation.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5056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Reflexes  are present at birth  and disappear by 9 months of 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992323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Primitive reflexes originate in the central nervous system and 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45587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exhibited in normal infants.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897630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Rooting reflex: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infant turns his head toward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mother’s breast and begins to suck when his lower lip or cheek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is stroked.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116017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Sucking reflex: The infant moves his lips, mouth, and tongue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and shows interest to feed.  Present at birth; disappears at 10–12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months.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Reflexes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Startle reflexes: Make a loud sound near the neonate.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The tonic neck reflex (or fencing posture): The infant turns his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head to one side, and the arm on that side straightens while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opposite arm bends in a fencing position.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0944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The Moro reflex: Jar the crib or hold the baby in a semi-sitting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position and let the head slightly drop back.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5100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The grasping reflex: An object is placed in the infant’s hand,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infant’s fingers close to grasp the object.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210710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The Babinski reflex: The sole of the foot is stroked, and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infant responds by turning the foot inward while his toes flare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outward or flexion.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170220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Dancing (or stepping) reflex: The soles of the infant’s feet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touch a flat surface, and he attempts to walk by placing one foot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 front of the other.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Reflexes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Palmar grasp: The examiner places a finger in the palm of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neonate’s hand, he neonate grasps the finger tightly; if the neonate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grasps the examiner’s finger with both hands, the neonate can 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pulled to a sitting position.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2656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Plantar grasp: Place a thumb firmly against the ball of the infant’s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foot, Toes flex tightly down in a grasping motion.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719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Protective reflexes: Gag, cough, and sneeze reflexes also are present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 newborns to maintain a clear airway.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A, Moro reflex. B, Tonic neck reflex. C, Dance reflex. D, Crawl reflex.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45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116</a:t>
            </a:r>
          </a:p>
        </p:txBody>
      </p:sp>
      <p:pic>
        <p:nvPicPr>
          <p:cNvPr id="10" name="Picture 9" descr="p0044_1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134" y="1408176"/>
            <a:ext cx="2763427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E. Moro reflex                                  F. Grasp reflex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References: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46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117</a:t>
            </a:r>
          </a:p>
        </p:txBody>
      </p:sp>
      <p:pic>
        <p:nvPicPr>
          <p:cNvPr id="10" name="Picture 9" descr="p0045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125" y="1408176"/>
            <a:ext cx="2611443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G. Babinski reflex                      H. Direction (1. Direction of stroke.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2, Dorsiflexion of big toe. 3, fanning of toes)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007457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Hockenberry, M. J., Wilson, D.(2015). Wong’s nursing care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infants and children, 10th edition. Canada: Elsevier, P.P 113-124.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References: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Hockenberry, M. J., Wilson, D.(2013). Wong’s essentials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pediatric nursing, 9th edition. USA: Elsevier, P.P 200, 102, 109-119.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Pillitteri, A. (2010). Maternal and child health nursing: care of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childbearing and childrearing family, 6th edition. Philadelphia: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Lippincott Williams &amp; Wilkins, p p 450-453.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68320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Rudd, K., Kocisko, D. (2014). Pediatric Nursing: the critical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components of nursing care, 1st edition. Philadelphia, USA: F.A, P.P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374, 143-148.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DRUG ADMINISTRATION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47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Drug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Objectives: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313482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By the end of this chapter, the student nurse will be able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77032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Define the meaning of medications.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240582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Calculate a safe drug dosage needed for the individual child.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704132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Identify the factors that influence medications 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167682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List the essential principles for the administration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911902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Enumerate the different routes of medications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administration.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DRUG ADMINISTRATION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47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Explain preliminary information essential for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administration of the different routes: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239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Discuss the steps of the different routes of administration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9661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Describe the role of the nurse in each route.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48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5704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Introduction: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Because a child responds to drugs more rapidly and unpredictably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than an adult does, pediatric drug administration requires special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care. Such factors as age, weight, body surface area, and drug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form and route may dramatically affect a child's response to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drug. For example, because of his thin epithelium, a neonate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an infant absorbs topical medications much faster than an older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child does.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Usual drug administration techniques may need adjustment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account for the child's age, size, and developmental level. A tablet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for   young child, for example, may be crushed and mixed with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liquid for oral administration. In addition, the injection site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needle size will vary depending on the child's age and physical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development.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Usual drug administration techniques may need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adjustment to account for the child's age, size, and developmental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level. A tablet for a young child, for example, may be crushed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mixed with a liquid for oral administration. In addition,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injection site and needle size will vary depending on the child's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age and physical development.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General steps for administer medication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49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 Assess the child's condition to determine the need for the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medication and the effectiveness of previous therapy.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3352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 Carefully observe the child for a rash, pruritus, cough, 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9882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other signs of an adverse reaction to a previously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administered drug.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54304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 Identify the child by comparing the name on his wristband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00659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with that on the medication card. If the child can talk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respond, ask him his 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75081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 Explain the procedure to the child and his parents.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21436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terms the child can understand.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67791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 Provide privacy, especially for an older child.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General steps for administer medication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49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Administering Oral Medications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ESSENTIAL STEPS for oral medication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239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Administering Oral Medications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1594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Check the physician’s order for the prescribed drug 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07949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dosage.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54304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Compare the order with the drug label, check the drug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00659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expiration date, and review the child’s chart for any drug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allergies.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75081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Carefully calculate the dosage. Double-check dosages with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21436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another nurse for potentially hazardous or lethal drugs, such as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insulin, heparin, digoxin, epinephrine, and opioids. Check your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50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facility’s policy to learn which drugs must be calculated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checked by two nurses.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239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Confirm the child’s identity using two patient identifiers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15946"/>
            <a:ext cx="10948111" cy="149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according to facility policy.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Purpose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To safely administer oral medications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Equipment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For oral medications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202176"/>
            <a:ext cx="10948111" cy="1775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Prescribed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Plastic disposable syringe, plastic medicine dropper,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spoon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Medication cup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Water, syrup, or jelly (for tablets)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Optional: fruit juice.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50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125</a:t>
            </a:r>
          </a:p>
        </p:txBody>
      </p:sp>
      <p:pic>
        <p:nvPicPr>
          <p:cNvPr id="10" name="Picture 9" descr="p0049_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647" y="1408176"/>
            <a:ext cx="3974400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Verify medication orders and assemble supplies.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770374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Place the infant’s legs between your knees to maintain control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of them.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50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Place one of the infant’s arms behind your back and restrain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the other arm by “hugging” the child (this helps to prevent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child from tipping the medication cup).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 Measure a drug ordered in teaspoons in milliliters; the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51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Give the medication slowly by cup or syringe to allow the child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time to swallow. An older child may be given the choice to self-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administer the medication by cup or syringe.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3306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Provide “chasers” of water, fruit juice, or frozen ice-pops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help lessen the residual taste of the medicine. The patient’s age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and diet prescription are considered when choosing a chaser.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45795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Remove gloves and perform hand hygiene.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92150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Document in the medication administration record (MAR)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medication, route, time, and dose given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66572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established standard is 5 ml/tsp.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Notices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40994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administration of medication by mouth is preferred in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 Measure a drug ordered in teaspoons in milliliters; the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51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children but is not always possible because of vomiting,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malabsorption, or refusal.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239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Only scored tablets should be divided. Extended-release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1594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tablets should not be chewed or crushed. Gel tablets should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not be cut or dissolved. Suspensions must be fully shaken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before 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64083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Medications should not be diluted in formula or water,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10438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because medications should be given in the smallest amount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possible to assure the complete dose is consumed.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84860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use of important sources of nutrients, foods, or liquids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31215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(e.g., orange juice) for disguising the taste of the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is discouraged because the child may develop a distaste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these foods.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52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Medication is administered slowly, especially if the child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149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crying. The child’s head and shoulders are elevated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prevent aspiration. Toddlers may attempt to push away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medicine cup. In anticipation of this response, the nurse holds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child in a “hug” position in the nurse’s lap in a semi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sitting 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45795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If a nasogastric tube is in place, the nurse tests for proper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92150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placement of the tube before pouring medication into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funnel. A small amount of water is administered afterward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flush (cleanse) the tube.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94639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An oral syringe is an excellent device for measuring small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quantities. It is easily transported, and medication can 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provided directly from the syringe. The syringe is placed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midway back at the side of the mouth.</a:t>
            </a:r>
          </a:p>
        </p:txBody>
      </p:sp>
      <p:pic>
        <p:nvPicPr>
          <p:cNvPr id="11" name="Picture 10" descr="p0051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187" y="2433066"/>
            <a:ext cx="300932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131</a:t>
            </a:r>
          </a:p>
        </p:txBody>
      </p:sp>
      <p:pic>
        <p:nvPicPr>
          <p:cNvPr id="10" name="Picture 9" descr="p0051_3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604" y="1408176"/>
            <a:ext cx="2212486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Use a plastic syringe without a needle or a drug-specific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770374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medicine dropper to measure the dose. If the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comes in tablet form, first crush the tablet (if appropriate)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53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and mix it with water or syrup. Then draw the mixture into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syringe or dropper.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Pick up the infant, raising his head and shoulders or turning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33066"/>
            <a:ext cx="10948111" cy="1775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his head to one side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R:to prevent aspiration.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 Hold the infant close to your body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R: To help restrain him.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 Using your thumb, press down on the infant's chin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R: to open his mouth.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29996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Slide the syringe or medicine dropper into the infant's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76351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mouth alongside his tongue. Release the medication slowly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R:to let the infant swallow and to prevent choking. If appropriate,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allow him to suck on the syringe as you expel the medication.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If not contraindicated, give fruit juice after giving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Then place a particularly small or inactive infant on his 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3306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or back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R:to decrease the risk of sudden infant death syndrome, as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recommended by the American Academy of Pediatrics.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45795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Allow an active infant to assume a position that's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921506"/>
            <a:ext cx="10948111" cy="1214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comfortable for him; avoid forcing him into a side lying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position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R:to prevent agitation.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Giving oral medication to a toddler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22706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Use a plastic, disposable syringe or dropper to measure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214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liquid medication. Then transfer the fluid to a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cup.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 Elevate the toddler's head and shoulders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R: to prevent aspiration.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71373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If possible, ask him to help hold the cup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54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2308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R:to enlist his cooperation. Otherwise, hold the cup to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toddler's lips, or use a syringe or a spoon to administer the liquid.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Make sure the toddler ingests all of the medication.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 If the medication is in tablet form, first crush the tablet,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if appropriate, and mix it with water, syrup, or jelly. Use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spoon, syringe, or dropper to administer the medication.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Giving oral medication to an older child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 If possible, let the child choose the liquid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mixer and a beverage to drink after taking the medication.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 If appropriate, allow him to choose where he'll take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medication, for example, sitting in bed or sitting on a parent's lap.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 If the medication comes in tablet or capsule form, and if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the child is old enough (between ages 4 and 6), teach him how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swallow solid medication. (If he knows how to do this, review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procedure with him for safety's sake.) Tell him to place the pill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on the back of his tongue and to swallow it immediately by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drinking water or juice. Focus most of your explanation on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water or juice.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R:to draw the child's attention away from the pill. Make sure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child drinks enough water or juice to keep the pill from lodging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in his esophagus. Afterward, look inside the child's mouth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R: to confirm that he swallowed the pill.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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If the child can't swallow the pill whole, crush it (if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appropriate) and mix it with water, syrup, or jelly. Alternatively,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after checking with the child's physician, order the medication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liquid form.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Guidelines for administering oral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 Do not say, “Can you drink this for me?” If an adult seems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unsure whether children can do a task, children can develop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55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grave doubts themselves or they may just not want to and say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“No.”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239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Do not say, “Will you drink this for me?” This leaves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1594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child the opportunity to say no and creates the awkward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position of having to admit the child really does not have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choice in the matter; the child must take the medicine.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64083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State firmly, “It’s time for you to drink your medicine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104386"/>
            <a:ext cx="10948111" cy="149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now.” Give the child a secondary choice to allow a sense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control: “It’s time to drink your medicine now; do you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want milk or water to swallow after it?” is a suitable choice,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assuming both milk and water are compatible with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69061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Never refer to medicine as candy. If they think it is candy,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children may help themselves to fatal amounts of medicine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when everyone’s back is turned.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239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Do not use reward systems to persuade children to 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15946"/>
            <a:ext cx="10948111" cy="149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medicine. Bribing may work for one dose, but when a second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dose is due, the child will ask for a bigger bribe; for a third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dose, an even bigger one. At some point (generally reached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quickly), it is impossible to supply such large bribes,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therefore, it is impossible to gain the child’s cooperation.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202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Do not threaten. Statements such as “Take this quickly or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66572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’ll ask the doctor to make it into a shot” are not appropriate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or therapeutic.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56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Children expect honesty from adults; therefore, do not lie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1214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about the taste of medicine. If in doubt about the taste, taste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it (with the obvious exception of drugs such as digoxin).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Most children’s medicines are artificially flavored with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raspberry, orange, or cherry syrup, so they do not taste bad.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17728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If a medicine tastes bitter, mix it with a spoonful of strained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640836"/>
            <a:ext cx="10948111" cy="23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applesauce or a teaspoonful of flavored syrup. Do not mix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medicine with a full jar of baby food or put it into a bottle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milk or juice because the child will then have to eat the entire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jar of food or drink the entire bottle to get all of the medicine.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As a rule, encourage children to take liquid medicine straight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and then follow it with a pleasant-tasting drink to take away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any bitter taste. You could offer the choice of taking it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syringe or a medicine cup to provide some control.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If a medicine is supplied in tablet form, you could crush 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2056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dissolve it in with syrup or applesauce for a better taste if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appropriate. Be certain before removing the particles from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capsule that the medicine will work properly when not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capsule form: Some are encapsulated to keep them from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dissolving in the stomach and to bring them into the intestine,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where they have a therapeutic effect. The same precaution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must be followed when giving enteric coated tablets.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01929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Never leave medicine by a child’s bed or chair for the child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48284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to take “in a minute” or “after your shower.” The child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may become involved with another activity “in a minute”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Administering parenteral medications Nose Drops, Ear Drops, and Eye Drops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57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and will not take it or a smaller child could find the medicine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appealing and swallow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2396"/>
            <a:ext cx="10948111" cy="3178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Except for a few differences, the principles for administering nose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drops, ear drops, and eye drops to children are essentially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same as for adults. Infants and small children may need to 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restrained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mummy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restraint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NURSING TIP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To reduce unpleasant sensations when administering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medications: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Administering parenteral medications Nose Drops, Ear Drops, and Eye Drops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57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214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Eye—Apply finger pressure to the lacrimal punctum at the inner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aspect of  the eyelid for 1 minute to prevent drainage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medication to the nasopharynx and the unpleasant “tasting” of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drug.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71373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Ear—Allow medications stored in the refrigerator to warm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room temperature before instillation.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45795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Nose—Position the child with the head hyperextended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prevent strangling sensations caused by medication trickling into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the throat rather than up into the nasal passages.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48284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procedure for administering nose drops to a small child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Purpose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To administer medication by nasal route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58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Immobilize the infant with a mummy restraint.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Wipe excess mucus from nose with a tissue.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3352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Place the infant on his or her back, with the head over the side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of the mattress or the neck extended over a pillow.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07949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Encircle the infant’s cheeks and chin with the left arm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hand to steady.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82371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Instill drops with the right hand.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28726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Keep infant in this position for 30 seconds to 1 minute to allow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drops to reach the proper area.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03148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Remove restraints. Make the infant comfortable.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49503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Remove gloves and perform hand hygiene.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58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In the patient’s chart, record: time, name of nose drops,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strength, and number of drops instilled, how the patient tolerated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procedure, and untoward reactions.</a:t>
            </a:r>
          </a:p>
        </p:txBody>
      </p:sp>
      <p:pic>
        <p:nvPicPr>
          <p:cNvPr id="11" name="Picture 10" descr="p0057_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404" y="2433066"/>
            <a:ext cx="4810887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58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49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health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provider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may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Purpose To administer medications into the ear canal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59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prescribe a drug to be instilled into the ear to relieve pain. If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drops were refrigerated, they are allowed to warm to room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temperature before administration.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3306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Place child in supine position with unaffected ear down.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96616"/>
            <a:ext cx="10948111" cy="2056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Instill the ordered number of drops: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a. In children less than 3 years of age, pull the pinna (earlobe)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affected ear down and back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straighten the canal.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b. In older children, pull the upper pinna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(auricle) up and back to straighten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canal.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Purpose To administer medications into the ear canal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59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147</a:t>
            </a:r>
          </a:p>
        </p:txBody>
      </p:sp>
      <p:pic>
        <p:nvPicPr>
          <p:cNvPr id="10" name="Picture 9" descr="p0058_3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225" y="1408176"/>
            <a:ext cx="3145243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Gently massage the area in front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ear to facilitate entry of the drops.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051044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Keep the patient in a supine position for a few minutes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permit the fluid to be absorbed.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795264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Remove gloves and perform hand hygiene.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Purpose To administer medications into the ear canal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59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Document the time, name of drug, number of drops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administered, area (right or left ear), untoward reactions,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whether or not the patient obtained relief.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Ointment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60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775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Purpose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To protect against ophthalmia neonatorum and chlamydia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infections (all newborns have this prophylactic treatment before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leaving the delivery room)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Steps: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 Ophthalmic medication is administered to a child in the same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750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manner as for the adult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738625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The child is informed of the need for the medication.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The patient is identified, and the orders and the label on the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Ointment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60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150</a:t>
            </a:r>
          </a:p>
        </p:txBody>
      </p:sp>
      <p:pic>
        <p:nvPicPr>
          <p:cNvPr id="10" name="Picture 9" descr="p0059_4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104" y="1408176"/>
            <a:ext cx="3881486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bottle are checked for correct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and concentration.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051044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The nurse ascertains which eye requires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514594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treatment.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Ointment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60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Hand hygiene is performed before and 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procedure, and clean gloves are worn. With the thumb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and index finger, gentle pressure is applied in opposite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directions to open the eye.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9661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The older child is instructed to “look up.” The nurse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36016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supports his or her hand on the patient’s forehead,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instills the medication into the center of the lower lid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(conjunctival sac)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38505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The child is instructed to close the eye but not to squeeze it,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84860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because this could expel some of the solution.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61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Ointment is applied to the same conjunctival sac as eye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drops.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3352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The mummy restraint is applied when only one nurse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9882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available and the patient is an infant.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2623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Occasionally children refuse to open their eyes.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The nurse must use ingenuity to coax reluctant children.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00659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may help to involve the parents.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470146"/>
            <a:ext cx="10948111" cy="1214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If both eye ointment and drops are ordered, give drops first, wait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3 minutes, and then apply the ointment to allow each drug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work. When possible, administer eye ointments before bedtime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or naptime because the child’s vision will be blurred temporarily.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61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178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To administer oral, nasal, or optic medication when only one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person is available to hold the child, use the following procedure: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Place child supine on a flat surface (e.g., bed, couch, floor).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Sit facing child so child’s head is between operator’s thighs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and child’s arms are under operator’s legs.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Place lower legs over child’s legs to restrain lower body, if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necessary.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To administer oral medication, place a small pillow under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child’s head to reduce risk of aspiration.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To administer nasal medication, place a small pillow under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child’s shoulders to aid flow of liquid through nasal passages.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62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4020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Introduction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Administering inhaled medication to children through a nebulizer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has the advantage of delivering a medication directly to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needed site of action. Advantages of administering inhaled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medication with appropriate technique show an improvement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the onset of action, and a decrease in the dose needed.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Equipment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 pressurized canister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 plastic holder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 cap.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Often a spacer or special tube that attaches to the inhaler is used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to increase the amount of medication delivered to the lungs per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spray. A spacer has either a mouthpiece or a mask for ease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administration and is specific to the child’s developmental need.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520436"/>
            <a:ext cx="10948111" cy="300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64" b="1" i="0">
                <a:solidFill>
                  <a:srgbClr val="4A4AA8"/>
                </a:solidFill>
                <a:latin typeface="Calibri"/>
              </a:rPr>
              <a:t>INHALED MEDICATION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Prepare to give inhaled medication by removing the cap from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inhaler and spacer as needed. Prime the inhaler by squirting a puff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of medication into the air if the canister is new or has not been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63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used in the last 48 hours. If a spacer is used, insert the inhaler’s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mouthpiece into the rubber end of the spacer. Shake the inhaler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immediately before each puff.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33066"/>
            <a:ext cx="10948111" cy="289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 Placing the mouthpiece fully into the mouth between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teeth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 Hold the inhaler in the upright position and close the lips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around the mouthpiece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 Press down on the canister to dispense the medication into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spacer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 Instruct the patient to breathe deeply for 3–5 seconds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through the mouth, and then hold the breath for 10 seconds.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 Remove the spacer from the mouth and breathe out slowly.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 Patient should rinse the mouth out with water after each use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of inhaled steroids to help prevent oral infections, and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spacer should routinely be washed with warm soapy water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and air dried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430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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Teach families to consistently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use proper technique with their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children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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Often young children resist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mask when it is first introduced;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however, with consistent practice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eventually they will cooperate when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they realize the parent is serious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about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giving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their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medications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effectively.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159</a:t>
            </a:r>
          </a:p>
        </p:txBody>
      </p:sp>
      <p:pic>
        <p:nvPicPr>
          <p:cNvPr id="10" name="Picture 9" descr="p0062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397" y="1408176"/>
            <a:ext cx="341490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Purpose: To place medication into the muscle without injury. Equipment: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64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160</a:t>
            </a:r>
          </a:p>
        </p:txBody>
      </p:sp>
      <p:pic>
        <p:nvPicPr>
          <p:cNvPr id="10" name="Picture 9" descr="p0063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681" y="1408176"/>
            <a:ext cx="5078331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Administering Intramuscular Injections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Purpose: To place medication into the muscle without injury. Equipment: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3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 Prescribed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 Appropriately sized syringe and needle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 Alcohol pads or povidone-iodine solution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 Gloves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 Gauze pads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 Cold compresses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 Adhesive bandage.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I.M. INJECTION SITES IN CHILDREN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65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430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When selecting the best site for a child's I.M. injection,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consider: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child's age, weight, and muscular development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amount of subcutaneous fat over the injection site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type of drug you're administering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drug's absorption rate.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Vastus lateralis and rectus femoris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For a child under age 3, you'll typically use the vastus lateralis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rectus femoris muscle for an I.M. injection. Constituting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largest muscle mass in this age-group, the vastus lateralis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rectus femoris have fewer major blood vessels and nerves.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163</a:t>
            </a:r>
          </a:p>
        </p:txBody>
      </p:sp>
      <p:pic>
        <p:nvPicPr>
          <p:cNvPr id="10" name="Picture 9" descr="p0064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649" y="1408176"/>
            <a:ext cx="5468396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66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164</a:t>
            </a:r>
          </a:p>
        </p:txBody>
      </p:sp>
      <p:pic>
        <p:nvPicPr>
          <p:cNvPr id="10" name="Picture 9" descr="p0065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280" y="1408176"/>
            <a:ext cx="3279133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056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Ventrogluteal and dorsogluteal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For a child who can walk and is over age 3, use the ventrogluteal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and dorsogluteal muscles. Like the vastus lateralis,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ventrogluteal site is relatively free from major blood vessels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nerves. Before you select either site, make sure that the child has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been walking for at least 1 year to ensure sufficient muscle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development.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67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166</a:t>
            </a:r>
          </a:p>
        </p:txBody>
      </p:sp>
      <p:pic>
        <p:nvPicPr>
          <p:cNvPr id="10" name="Picture 9" descr="p0066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027" y="1408176"/>
            <a:ext cx="541764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67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3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Deltoid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For a child older than 18 months who needs rapid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results, consider using the deltoid muscle for the injection.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Because blood flows faster in the deltoid muscle than in other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muscles, drug absorption should be faster. However, be careful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when using this site because the deltoid doesn't develop fully until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adolescence. In a younger child, it's small and close to the radial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nerve, which may be injured during needle insertion.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67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168</a:t>
            </a:r>
          </a:p>
        </p:txBody>
      </p:sp>
      <p:pic>
        <p:nvPicPr>
          <p:cNvPr id="10" name="Picture 9" descr="p0066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583" y="1408176"/>
            <a:ext cx="7028528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68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Administration of Medication                                                   67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69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49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Procedure steps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1.Wash the infant's thigh if the bath has not yet been given. Blood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from the mother is present on the infant’s skin.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R: Washing prevents that blood from being carried into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infant’s tissues during the needle insertion.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994406"/>
            <a:ext cx="10948111" cy="2056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Prepare medication for injection. Use a 1mL syringe and in,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25gauge needle. If the medication is in a glass ampule, use a filter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needle to draw it up. Remove the filter needle, and place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25gauge needle on the syringe to give the injection.  Use of a filter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needle prevents particles of glass from being drawn into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syringe. A small need/e reaches the newborn’s muscle but avoids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bone.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1419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Put on gloves.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R: Gloves protect the nurse from contamination by blood.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69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89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Locate the correct site. The best site for newborn intramuscular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injections is the vastus lateralis muscle. Divide the area between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greater trochanter of the femur and the knee into thirds. Give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injection in the middle third of the muscle, lateral to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midline of the anterior thigh. The large vastus lateralis is located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away from the sciatic nerve and the femoral artery and vein.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rectus femoris muscle is nearer to these structures and poses more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of a danger. (Note: The gluteal muscles are not used until a child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has been walking for at least a year. These muscles are poorly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developed and dangerous/y near the sciatic nerve.)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70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172</a:t>
            </a:r>
          </a:p>
        </p:txBody>
      </p:sp>
      <p:pic>
        <p:nvPicPr>
          <p:cNvPr id="10" name="Picture 9" descr="p0069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606" y="1408176"/>
            <a:ext cx="5154482" cy="27889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3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Cleanse the area with an alcohol wipe.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R: Cleansing removes organisms and prevents infection.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051043"/>
            <a:ext cx="10948111" cy="1214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Stabilize the leg firmly while grasping the thigh between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thumb and fingers.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R: Holding the leg prevents sudden movement by the infant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possible injury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70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Insert the needle at a 90—degree angle. Inject the medication.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R: This places the medication into the muscle rather than into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subcutaneous tissue.</a:t>
            </a:r>
          </a:p>
        </p:txBody>
      </p:sp>
      <p:pic>
        <p:nvPicPr>
          <p:cNvPr id="11" name="Picture 10" descr="p0069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075" y="2433066"/>
            <a:ext cx="5071543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71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Withdraw the needle and apply gentle pressure to the site with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small gauze pad. R: Massaging promotes absorption of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33066"/>
            <a:ext cx="10948111" cy="1214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Discard the needle and syringe in the appropriate place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comfort the infant. R: The needle and syringe should be placed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in the proper container to prevent injury or contamination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others. Infants should be comforted after painful procedures.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73862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Choose an injection site that's appropriate for the child's age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and muscle mass.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482846"/>
            <a:ext cx="10948111" cy="149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Position the patient appropriately for the site chosen,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locate key landmarks, for example, the posterior superior iliac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spine and the greater trochanter. Have someone help you restrain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an infant; seek an older child's cooperation before enlisting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assistance.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71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Put on gloves. Clean the injection site with an alcohol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povidone-iodine pad. Wipe outward from the center with a spiral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motion to avoid contaminating the clean area.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3306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Grasp the tissue surrounding the site between your index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finger and thumb to immobilize the site and to create a muscle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mass for the injection.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45795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Insert the needle quickly, using a darting motion. If you're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using the ventrogluteal site, insert the needle at a 45-degree angle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toward the knee.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Giving a subcutaneous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72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Aspirate the plunger to ensure that the needle isn't in a blood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vessel. If no blood appears, inject the medication slowly so that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muscle can distend to accommodate the volume.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3306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Withdraw the needle and gently massage the area with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gauze pad to stimulate circulation and enhance absorption.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16-Provide comfort and praise.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45795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Giving a subcutaneous injection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Procedure: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202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injection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Giving a subcutaneous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4582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Select from these possible sites: the middle third of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upper outer arm, the middle third of the upper outer thigh, or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abdomen. You may apply a cold compress to the injection site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minimize pain.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Put on gloves, and prepare the injection site with alcohol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or povidone-iodine solution according to the patient's needs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hospital policy.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Pinch the tissue surrounding the site between your index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finger and thumb to ensure injection into the subcutaneous tissue.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Holding the needle at a 45- to 90-degree angle, quickly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insert it into the tissue.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Release your grasp on the tissue, and slowly inject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Remove the needle quickly to decrease discomfort.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 Unless contraindicated, gently massage the area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facilitate the drug's absorption.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Giving an intradermal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73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7669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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Procedure: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 Put on gloves and pull the patient's skin taut (the site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choice is the inner aspect of the forearm).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 Insert the needle, bevel up, at a 10- to 15-degree angle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just beneath the outer skin layer.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 Slowly inject the medication, and watch for a bleb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appear. Quickly remove the needle, being careful to maintain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the injection angle. If appropriate—for example, if the injection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is related to allergy testing—draw a circle around the bleb,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avoid massaging the area to avoid interfering with test results.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Special considerations when drug administration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 Don't hesitate to consult the parents for tips 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successfully giving medication to their child. If possible, have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parent administer a prescribed oral drug while you supervise.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However, avoid asking a parent to help with injections because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the child may perceive the parent as a cause of pain.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 Aim for a trusting relationship with the child and his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parents so that you can offer support and promote cooperation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even when a medication causes discomfort. If the child will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receive one injection, allow him to choose from the appropriate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sites. However, if he'll receive numerous injections, remember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that site rotation must follow a set pattern. Allow the child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play with a medication cup or syringe and to pretend to give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medication to a doll.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 When giving medication to an older child, be honest.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Reassure him that distaste or discomfort will be brief.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Administration of safe medication: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74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7388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Emphasize that he must remain still to promote safety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minimize discomfort. Explain to the child and his parents that an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assistant will help the child remain still if necessary. Keep your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explanations brief and simple.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To divert the child's attention, have him start counting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just before the injection, and challenge him to try to reach 10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before you finish the injection. If the child cries, don't scold him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or allow the parents to scold him. Have one of the parents hold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younger child and praise him for allowing you to give him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injection. You can also apply an adhesive bandage to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injection site as a form of reward or badge.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If the prescribed medication comes only in tablet form,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consult the pharmacist (or an appropriate drug reference book)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to make sure crushing the tablet won't invalidate its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effectiveness. Avoid adding medication to a large amount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liquid such as the child's milk or formula because the child may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not drink the entire amount, resulting in an inaccurate dose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Because infants and toddlers can't tell you what effects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they're experiencing from a medication, you must be alert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signs of an adverse reaction. Compile a list of appropriate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emergency drugs, calculating the dosages to the patient's weight.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Post the list near the patient's bed for reference in an emergency.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If you have any doubt about proper medication dosage,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always consult the physician who ordered the drug. Double-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check information in a reliable drug reference.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Administration of safe medication: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To administer medications safely, the following actions 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necessary: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239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Accurately interpret the doctor's order.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75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Accurately calculate the amount of drug to be given for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prescribed dose.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239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Using the five rights for drug administration such as: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Right medication, Right dose, Right patient, Right time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Right route of administration.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177286"/>
            <a:ext cx="10948111" cy="2056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Document medication administration according to agency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policy.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Six right for administer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1-Right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2-Right Patient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3-Right Dosage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To calculate a fractional drug dose use the formula: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182</a:t>
            </a:r>
          </a:p>
        </p:txBody>
      </p:sp>
      <p:pic>
        <p:nvPicPr>
          <p:cNvPr id="10" name="Picture 9" descr="p0074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408176"/>
            <a:ext cx="10692079" cy="16012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3119133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For example, you have a prescription for 90 mg acetaminophen.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Acetaminophen is supplied as 125 mg drug in 5 ml liquid. Using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formula: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183</a:t>
            </a:r>
          </a:p>
        </p:txBody>
      </p:sp>
      <p:pic>
        <p:nvPicPr>
          <p:cNvPr id="10" name="Picture 9" descr="p0074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408176"/>
            <a:ext cx="10692079" cy="22725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3790484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Cross multiply: 125 QD = 450 (5 × 90)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Dose ordered = 90 mg divided by what you have on hand (how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medication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available) 125 mg times quantity (5 ml)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184</a:t>
            </a:r>
          </a:p>
        </p:txBody>
      </p:sp>
      <p:pic>
        <p:nvPicPr>
          <p:cNvPr id="10" name="Picture 9" descr="p0074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43" y="1408176"/>
            <a:ext cx="9479007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Right 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770374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Right Time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6-Documentation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Calculating Safe Dosages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76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Calculating Safe Dosages for Children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STEPS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Dosage based on weight in kilograms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3306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for Children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9661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If necessary, convert child’s weight in pounds to kilograms.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360166"/>
            <a:ext cx="10948111" cy="149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Child weighs 22 pounds.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Conversion: 1 kilogram (kg) = 2.2 lb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22 lb/2.2 = 10 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94639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Review medication reference to determine recommended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40994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range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Milligrams/kilogram (mg/kg).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Calculating Safe Dosages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Reference text states recommended dosage range is 30 to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mg/kg/day in 4 divided doses.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3352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Multiply child’s weight by the lower and upper limits of the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9882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dosage range. • 10 kg × 30 = 300 mg/day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10 kg × 50 = 500 mg/day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82371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Child’s recommended range = 300 to 500 mg/day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Compare physician’s order with dosage range to determine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56793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whether medication dosage is safe.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03148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Order reads: Give 500 mg q6h.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500 mg given q6h = 500 × 4 = 2000 mg/day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Calculating Safe Dosages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Conclusion: Dosage exceeds recommended range.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Dosages outside recommended range should be verified 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2396"/>
            <a:ext cx="10948111" cy="1214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physician. “Dr. Jones, I’ve just reviewed the new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order for Sam Lee. According to my calculations, the dosage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exceeds that  recommended for his weight according to both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formulary and pharmacist.”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per 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77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3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Other examples (Appendix 1).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purpose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The rectal route for administration is less reliable but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sometimes used when the oral route is difficult or contraindicated.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It is also used when oral preparations are unsuitable to control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Vomiting.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Procedure: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Remove the wrapping on the suppository and lubricate the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per 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77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178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ild you are caring for has an order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The 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Example: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Amoxicillin 400 mg PO BID. Begin by checking the dose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against the pediatric drug dosing handbook. The child’s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weight is 10 kg. You note that the appropriate dose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Amoxicillin is 80 mg/kg/ day divided BID. Set up the equation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by multiplying the recommended dose by the child’s weight.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Divide the dose calculated (80 x 10 = 800) by the number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doses recommended (800 / 2 = 400). So, an appropriate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dose for a 10 kg child would be 400 mg per dose, two times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678426"/>
            <a:ext cx="10948111" cy="300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64" b="1" i="0">
                <a:solidFill>
                  <a:srgbClr val="4A4AA8"/>
                </a:solidFill>
                <a:latin typeface="Calibri"/>
              </a:rPr>
              <a:t>RECTAL ADMINISTRATION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070157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suppository with warm water (water-soluble jelly may affect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medication absorption).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I.V. Therapy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78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459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 Reverse contractions or the pressure gradient of the anal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canal may help the suppository slip higher into the canal.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 Using a glove or finger cot, quickly but gently insert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suppository into the rectum beyond both of the rectal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sphincters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 Then hold the buttocks together firmly to relieve pressure 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anal sphincter until the urge to expel the suppository has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passed, which occurs within 5 to 10 minutes.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 If medication is administered via a retention enema, the same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procedure is used. Drugs given by enema are diluted in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smallest amount of solution possible to minimize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likelihood of being evacuated.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I.V. Therapy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78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459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Introduction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In children, I.V. therapy may be prescribed to administer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medications or to correct a fluid deficit, improve serum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electrolyte balance, or provide nourishment. Primary nursing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concerns related to pediatric I.V. therapy include correlating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I.V. site and equipment with the reason for therapy and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patient's age, size, and activity level. For example, a foot or scalp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vein I.V. site may be used for infants, whereas a peripheral hand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or wrist vein may be more suitable for ambulatory older children.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During I.V. therapy, the nurse must continually assess the patient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and the infusion to prevent fluid overload and other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complications.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Equipment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79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4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Prescribed I.V. fluid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volume-control set with micro drip tubing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infusion pump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I.V. pole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normal saline solution or sterile dextrose 5% in water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(D5W) for injection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povidone-iodine solution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alcohol pads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3-ml syringe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child-size butterfly needle or I.V. catheter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tourniquet • ½″ or 1″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sterile tape gloves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 optional: arm board, insulated foam or medicine cup, luer-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Equipment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79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48628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lock cap, air eliminator I.V. filter.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Whenever possible, use a catheter instead of a needle. A flexible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catheter is less likely to perforate the vein wall. To promote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compliance and reduce the discomfort associated with catheter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insertion, consider using a transdermal anesthetic cream.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Preparation of equipment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 Gather the I.V equipment and take it to the patient's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bedside. Check the expiration date on the I.V. fluid and inspect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I.V. container (an I.V. bag for leakage, a bottle for cracks).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Examine the I.V. tubing for defects or cracks. Make sure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packaging surrounding the I.V. catheter or needle remains intact.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 Open the wrappings on the I.V. solution and the volume-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control tubing set. Close all clamps on the tubing set; then insert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tip of the tubing set into the entry port of the I.V. bag or bottle.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(If you're using an I.V. bag, be sure to hold the bag upright when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attaching the tubing. This will keep the sterile air inside the bag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from escaping and making the fluid level difficult to read.)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80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89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 Hang the bottle or bag from the I.V. pole. Open the clamp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between the bag and the volume-control set and allow 30 to 50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ml of solution to flow into the calibrated chamber. Close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clamp.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 Squeeze the drip chamber located below the calibrated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chamber or volume-control set to create a vacuum. Release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drip chamber and allow it to fill halfway with solution. Then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release the clamp below the drip chamber so that fluid flows into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remaining tubing, removing any air. After the tubing fills,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close the clamp.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80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195</a:t>
            </a:r>
          </a:p>
        </p:txBody>
      </p:sp>
      <p:pic>
        <p:nvPicPr>
          <p:cNvPr id="10" name="Picture 9" descr="p0079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693" y="1408176"/>
            <a:ext cx="4548308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1214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Common pediatric I.V. sites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Below are the most common sites for I.V. therapy in infants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children. Peripheral hand, wrist, or foot veins are typically used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with older children, whereas scalp veins are used with an infant.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81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196</a:t>
            </a:r>
          </a:p>
        </p:txBody>
      </p:sp>
      <p:pic>
        <p:nvPicPr>
          <p:cNvPr id="10" name="Picture 9" descr="p0080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254" y="1408176"/>
            <a:ext cx="2799185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81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5424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Procedure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Match the name on the patient's wristband with the name 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the physician's order (or on the medication card). Ask the patient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(or his parents) whether he's allergic to povidone-iodine solution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or to any type of tape.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Explain the reason for the I.V. therapy. Reassure the parents,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and enlist their assistance in explaining the procedure to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patient in terms he can understand.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Be sure to have a staff member available to assist you. Inform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the parents that the staff member will help the patient remain still,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if necessary, during the procedure.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Wash your hands and put on gloves.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Select the insertion site for the butterfly needle or catheter.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(See Common pediatric I.V. sites .) Aim for the most distal site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possible, and avoid placing the I.V. line in the patient's dominant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arm or in areas of flexion if possible. Avoid previously used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sclerotic veins.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To locate an appropriate scalp vein, carefully palpate the site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for arterial pulsations. If you feel these pulsations, select another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82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07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site. Then, before inserting the I.V. line, prepare the selected site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as ordered.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To find an appropriate peripheral site, apply a tourniquet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the patient's arm or leg and palpate a suitable vein.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If you're inserting a butterfly needle, flush the tubing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connected to the butterfly with D5W or normal saline solution.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Clean the insertion site. Unless contraindicated, use a pad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containing povidone-iodine solution. Wipe with a circular motion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from the insertion site's center to the outer rim. Let the solution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dry.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Insert the I.V. needle into the vein. Watch for blood to flow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backward through the catheter or butterfly tubing, which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confirms that the needle is in the vein.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Loosen the tourniquet, and attach the I.V. tubing to the hub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of the needle or catheter. Begin the infusion.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Secure the device by applying a piece of ½″ tape over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hub. Next, place a piece of tape, adhesive side up, underneath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perpendicular to the device. Lift the ends of the tape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crisscross them over the device. Further secure and protect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I.V. line as needed.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NURSING ALERT Remember to use only sterile tape under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the transparent dressing.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Adjust the infusion flow, as ordered, by using the clamp 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the I.V. volume-control tubing or by setting the infusion rate 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the infusion pump.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Add solution hourly (or as needed) from the I.V. bag to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volume-control set.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Assess the I.V. site frequently for signs of infiltration,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check the I.V. bottle or bag for the amount of solution infused.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Change the I.V. dressing every 24 hours, according to your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facility's policy, or as needed to prevent infection. Change the I.V.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tubing every 48 to 72 hours and the I.V. solution bottle or bag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83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48628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every 24 hours. Label the I.V. bottle or bag, tubing, and volume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control set with the time and date of change.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Change the I.V. insertion site every 72 hours, if possible,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minimize the risk of infection. If you inserted the I.V. line without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proper skin preparation (during an emergency, for example),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change the site sooner.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Complications of I.V therapy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Infection, fluid overload, electrolyte imbalance, infiltration,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circulatory impairment are complications of I.V. therapy.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Documentation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Record the date and time of the I.V. infusion, the insertion site,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and the type and size of I.V. needle or catheter. Note the patient's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tolerance of the procedure. Describe patient- and parent-teaching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activities. Document the condition of the I.V. site according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hospital policy. If infiltration affects the I.V. site, document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condition of the site at every shift change until the condition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resolves.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84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178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References: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Ball, J.W.B., Cowen, R.C. and KAY, J., 2013. CHILD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HEALTH NURSING: Partnering with Children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Families. Pearson Education limited.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Ball, J.W., Bindler, R.C., Cowen, K. and Shaw, M.R., 2017.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Principles of pediatric nursing: Caring for children.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Pearson.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Hockenberry , M and Wilson, D. Wong’s nursing care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infants and children.10th edition (2015)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 Terri Kyle, Susan Carman, Essentials of pediatric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nursing.2nd ed, Printed in China. Copyright © (2013)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Fluid Calculation and Calories Requirement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85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Explaining compartments of body fluid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3352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Calculating Pediatric Fluid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9882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Describe Types of I.V.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2623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Identify calories required for child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72592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Calculating a Formula’s Adequacy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Body fluid composition Body fluids are separated into two main compartments: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86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Intracellular (ICF 40%)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4568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Extracellular (ECF) (divide into intravascular 5% and interstitial fluid 25%)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The proportion of body weight that is water falls from about 78% in a term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newborn to 60% in adults.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Water balance depends on intake, output and usage for metabolism. Water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is normally lost from skin, lung, intestine and kidney.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Cell membranes are relatively permeable to water, potassium and chloride,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and relatively impermeable to sodium, phosphate and protein. Sodium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actively transported out of cells by energy-dependent sodium pumps.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There is equilibrium in tonicity, hydrostatic and colloid osmotic pressure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between plasma and interstitial fluid. Water leaves the arterial end of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capillary under hydrostatic pressure and is drawn into the venous end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capillary beds by plasma oncotic pressure.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The plasma osmolality almost constant between 285 and 300mOsmol per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398211"/>
            <a:ext cx="10948111" cy="339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4A4AA8"/>
                </a:solidFill>
                <a:latin typeface="Calibri"/>
              </a:rPr>
              <a:t>H2O.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Body fluid composition Body fluids are separated into two main compartments: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903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Calculating Pediatric Fluid Needs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Maintenance requirements involve replacement of normal losses from urine,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sweat, lungs and feces, and assume that any fluid deficit (dehydration) has been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replaced.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Fluid needs based on weight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usual daily maintenance requirement can be calculated from the following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formula: (South &amp; Isaacs, 2012)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40319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Children weighing under 10 kg require 100 ml of fluid per kilogram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body weight per day: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103827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Weight in kg ×100 ml/kg/day = fluid needs in ml/day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545584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e.g. child weight 7Kg =&gt; 7 × 100 ml = 700ml/day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98734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Children weighing 10 to 20 kg require 1,000 ml of fluid per day for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first 10 kg plus 50 ml for every kilogram over 10: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The hourly maintenance requirement can be calculated from the following formula: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87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204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11–20kg: 1000mL + 50mL/kg for every kilogram above 10kg= fluid needs in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ml/day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" y="20848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e.g. child weight 15Kg =&gt; 1000ml +50𝑚𝑙× 5kg = 1250ml/day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26588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Children weighing more than 20 kg require 1,500 ml of fluid for the first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20 kg plus 20 ml for each additional kilogram: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2722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Above 20 kg: 1500mL + 20 mL/kg for every kilogram above 20 kg= fluid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66897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ml/day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11073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e.g. child weight 24Kg =&gt; 1500ml +20𝑚𝑙× 4kg = 1580 ml/day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55249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First 10 kg body weight: 4mL/kg per 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994249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11–20 kg: (4 mL/kg for the first 10kg = 40 mL) + 2mL/kg for every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kilogram above 10kg.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The hourly maintenance requirement can be calculated from the following formula: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87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Above 20 kg: (4 mL/kg for the first 10kg = 40mL) + (2mL/kg for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second 10kg = 20 mL) + 1mL/kg for every kilogram above 20kg.</a:t>
            </a:r>
          </a:p>
        </p:txBody>
      </p:sp>
      <p:pic>
        <p:nvPicPr>
          <p:cNvPr id="11" name="Picture 10" descr="p0086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508" y="2108809"/>
            <a:ext cx="6906678" cy="2788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" y="5007457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volume of fluid deficit may then be calculated using the following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formula: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708091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Calculated fluid deficit (mL) = %dehydration ×weight (kg) × 10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The hourly maintenance requirement can be calculated from the following formula: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87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(e.g. 7% dehydration in a 12 kg child = 7 × 12 × 10 = 840 mL deficit).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Types of I.V. solutions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Solutions used for I.V. fluid replacement fall into the broad categories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crystalloids (which may be isotonic, hypotonic, or hypertonic) and colloids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(which are always hypertonic) (Lippincott, 2012).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A. Crystalloids are solutions with small molecules that flow easily from the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88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bloodstream into cells and tissues.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4568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Crystalloids I.V. solutions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Isotonic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Isotonic solutions expand the intravascular compartment. Isotonic solutions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include: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(D5W, 0.9% NaCl, Ringer’s solution and lactated Ringer’s solution).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Hypertonic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Hypertonic solutions greatly expand the intravascular compartment and draw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fluid from intravascular areas. Hypertonic solutions include: (D10W, 3% NaCl,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5% NaCl, D5 0.45% NaCl and  D5 0.9% NaCl).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Hypotonic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Hypotonic solutions cause a fluid shift from the intravascular compartment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into the cells. Hypotonic solutions include: (D2.5W, 0.45% NaCl and 0.33%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NaCl)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398211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B. Colloids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A. Crystalloids are solutions with small molecules that flow easily from the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88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 use of colloids over crystalloids is controversial. Still, the doctor may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prescribe a colloid—or plasma expander—if your patient's blood volume doesn't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improve with crystalloids. Examples of colloids that may be given include: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6768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albumin (available in 5% solutions, which are osmotically equal to plasma,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25% solutions, which draw about four times their volume in interstitial fluid into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 circulation within 15 minutes of administration)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719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Plasma protein fraction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6895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Dextran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21071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Energy / Calories requirement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Food is metabolized and provides energy required by the body for growth 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91134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synthesis of new tissue, for metabolic processes, and for physiological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functions and activity.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There are three type of milk each cup (200ml) contain: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89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Fat, carbohydrate and protein provide energy, which is measured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kilocalories. Fat contributes 50% of the total energy in breast milk or standard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infant formula. The average diet of older children provides 30–40% of total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energy from fat, 45–55% from carbohydrate and about 15% from protein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(South &amp; Isaacs, 2012).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On average, carbohydrates and protein contain 4 calories per gram, fats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4431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contain 9 calories per gram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 infant (birth-6 months) of age requires 110 to 120 calories per kg /day.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There are three type of milk each cup (200ml) contain: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89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939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After 6 months of age, this amount gradually declines until the requirement at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1 year is 100 kcal/kg per day. In contrast, the adult requirement is 42 kcal/kg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per day.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Adolescents have an increased caloric need due to rapid growth. For most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adolescent boys, 2,800 calories per day &amp; girls, 2,200 kcal/kg/day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recommended (AAP, 2011)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Caloric Requirements (Approximate)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Preterm Infants 120 Kcal/kg/day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Infants 100 Kcal/kg/day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Young Child 80 Kcal/kg/day (1-10year)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Older Child 60 Kcal/kg/day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43870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Whole fat milk ( 8gm fat , 12gm carbohydrate and 8gm protein)= 150kcal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880457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Low fat milk    ( 5gm fat , 12gm carbohydrate and 8gm protein)= 120kcal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There are three type of milk each cup (200ml) contain: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89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939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Free fat milk (skimmed) (1gm fat , 12gm carbohydrate and 8gm protein)=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90kcal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skim milk and low-fat milk must not be used for infant because they 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deficient in caloric concentration, significantly increase the renal solute load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and water demands, and deprive the body of essential fatty acids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(Hockenberry &amp; Wilson, 2015).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Low-fat (2%) cow's milk can be given to children over 2 years of age. Skim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milk (no fat) is not recommended unless there is a specific medical condition,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such as hypercholesterolemia.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Whole Cow's milk is appropriate to be introduced to infants over 12 months.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Cow's milk has lower iron content and higher levels of protein, sodium,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43870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potassium, phosphorus and calcium than human milk or formula therefore it's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not recommended for less than 1 year child.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90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Calculating a Formula’s Adequacy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A quick rule of thumb to estimate how much an infant will drink at a feeding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is to add 2 or 3 to the infant’s age in months. After initially taking 0.5 to 1 oz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for the first 2 days, a newborn (0 age) will take 2 to 3 oz each feeding; a 3-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month-old child, 5 to 6 oz (Pillitteri, 2010).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68320"/>
            <a:ext cx="10948111" cy="1903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Both commercial formulas and breast milk contain 20 calories/oz.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*The total fluid ingested for the infant: 75 to 90 mL (2.5 to 3 oz) / lb per day.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*1 kg = 2.2 lb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e.g. infant (10kg=22 lb) take 55-66 oz =&gt;  (55-66 oz/day × 20kcal = 1100-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1320kcal/day)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References: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Hockenberry, M. J., &amp; Wilson, D. (2015). Wong’s nursing care of infants 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063337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children (10th ed.). St. Louis, Missouri: Mosby, an imprint of Elsevier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Inc.p.p(283)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763971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Lippincott, W. (2012). Pediatric Facts made Incredibly Quick! TM. Lippincott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90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Williams &amp; Wilkins.p.p( 79)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Pillitteri, A. (2010). Maternal &amp; Child Health Nursing: Care of the Childbearing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9168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&amp; Childrearing Family (6th edition).p.p(786)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3344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South, M., &amp; Isaacs, D. (2012). Practical Paediatrics (Seventh Ed). Churchill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7520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livingstone elsevier.p.p(62,222,227)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Oxygen Therapy Objective: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91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By the end of this chapter, the student nurse will be able 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Define oxygen therapy.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9168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List the purposes of oxygen therapy.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3344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Identify indications of oxygen therapy.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7520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List different methods of oxygen therapy.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61695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List the equipment required for oxygen therapy.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05871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Perform an appropriate technique for each method.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Introduction: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Oxygen is an essential body requirement for any energy consumption,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activity or function. Hypoxemia resulting from apnea or inadequate ventilation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and it occurs more rapidly in children than in adults because of children's higher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metabolic rate and increase oxygen consumption.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Definition: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92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It is a type of treatment given to patient with acute or chronic respiratory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diseases or ventilation failure as a lifesaving.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Purpose: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6768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To prevent hypoxemia by adequate transport of oxygen in blood in patients with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pulmonary diseases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6832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Provide adequate tissue oxygenation for problems associated with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5100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Reduced oxygen carrying capacity of blood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95183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Decreased cardiac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39359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Hypoventilation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835347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Increased metabolism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277104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Indication: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Definition: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Decrease environmental oxygen: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Inhalation of non-physical gas mixture.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Impaired alveolar ventilation: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Severe airway obstruction (upper or lower).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Severe lung pathology (pneumonia, pulmonary edema).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Severe respiratory weakness (C.N.S depression, respiratory muscles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719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paralysis).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68953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Abnormal pulmonary blood flow: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Persistant fetal circulation.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Acute pulmonary hypertension.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728464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Decreased oxygen carrying capacity (low hemoglobin):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Acute haemolytic anemia.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Acute blood loss.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Definition: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Poor tissue perfusion: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Shock state.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Acute brain insult: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Convulsion – coma – increase intracranial pressure.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Types: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6832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High flow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5100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Low flow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95183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13-15L/min.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39359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1-13L/min.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835347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60-80%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277104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40-60%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Methods: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93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Simple face mask.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Nasal cannula.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9168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Hood (head box).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3344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Mist 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7520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Incubator.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61695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Ambo bag.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05871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Venturi mask (T. tube).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Methods: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219</a:t>
            </a:r>
          </a:p>
        </p:txBody>
      </p:sp>
      <p:pic>
        <p:nvPicPr>
          <p:cNvPr id="10" name="Picture 9" descr="p0092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242" y="1408176"/>
            <a:ext cx="6757209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Simple face mask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Advantages: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Methods: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220</a:t>
            </a:r>
          </a:p>
        </p:txBody>
      </p:sp>
      <p:pic>
        <p:nvPicPr>
          <p:cNvPr id="10" name="Picture 9" descr="p0092_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798" y="1408176"/>
            <a:ext cx="2268097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Available in wide variety of size.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Suitable for all ages.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Maximum flow rate 5-10L/m.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Ability to provide predictable concentration of oxygen whether child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525211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breathes through nose or mouth.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Disadvantage: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Methods: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Child may not tolerate the mask.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Not suitable for long term therapy.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The O2 concentration is depend on the security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Eating talking disrupts oxygen delivery.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26563"/>
            <a:ext cx="10948111" cy="294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32" b="1" i="0">
                <a:solidFill>
                  <a:srgbClr val="3E4654"/>
                </a:solidFill>
                <a:latin typeface="Calibri"/>
              </a:rPr>
              <a:t>O2 per face mask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1284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Nasal Cannula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Advantages: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Methods: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222</a:t>
            </a:r>
          </a:p>
        </p:txBody>
      </p:sp>
      <p:pic>
        <p:nvPicPr>
          <p:cNvPr id="10" name="Picture 9" descr="p0092_3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601" y="1408176"/>
            <a:ext cx="2260493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Suitable for all ages.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Prongs allow considerable mobility.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Doesn't distort child visual field.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Flow rate 1-5L/m.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94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Provision of constant O2 flow even while child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eats or talks.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Disadvantages: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Young children often resist cannula.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May irritate nasal mucosa.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Restrain may be needed.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Difficulty of controlling O2 concentration if child breaths through mouth.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86073"/>
            <a:ext cx="10948111" cy="2421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Head box (hood)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Advantages: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Available at any size.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Maximum flow rate (10L/m).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Facial movement isn't restricted.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Disadvantages: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Limit access to the head.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High humidity environment.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Need to remove box during feeding and providing care to patient.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421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Mist tent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Advantages: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Tent allows older children considerable mobility.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Maximum flow rate (10L/m).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Disadvantages: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Steady O2 concentration difficult to maintain.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Child feel isolated.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Cool and wet tent environment.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Poor access to patient.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920947"/>
            <a:ext cx="10948111" cy="1903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Incubator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Advantages: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Only suitable for neonate and young infant.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Mobility isn't restricted.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Infant is easily observed for assessment.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Infant is easily accessible for intervention.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Disadvantages: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85%. Equipment: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95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An O2 hood must be placed inside it to achieve concentration higher than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97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O2 source (cylinder or central piping system).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Delivery equipment.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Oxygen flowmeter.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Oxygen tubing.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Humidification attachment.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No smoking sign.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Disposable gloves.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Water soluble lubricant (for catheter insertion).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Humidification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As oxygen and other compressed gases are dry (contains no water vapor)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humidity is added before inhalation of the gas. Humidifiers are devices that add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water vapor to inspired gas to decrease drying effect of the gas. Bubbling the O2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through water should humidify oxygen administration. The water may be at room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temperature.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Advantages of Humidification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85%. Equipment: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Prevents drying and irritation of respiratory mucous membranes.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Prevents drying and thickening of respiratory tract secretions.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Loosens secretions.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6768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Procedures of nasal cannula, mask or hood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Steps: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11190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Perform hand hygiene.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R. Reduces transmission of microorganism.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81254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Select proper size of cannula or mask.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R. improper size can lead to nasal obstruction.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51317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Remove all friction toys form the area and display no smoking signs.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954930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Connect the flow meter to either oxygen source wall unit or freestanding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tank.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R. Allow for the oxygen to flow from at the prescribed rate.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85%. Equipment: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Connect the humidifier to oxygen setup.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R. Provides for moisture in system.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7- Attach tubing o oxygen source. R. Allow oxygen to flow from source to child.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96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Humidified air is less drying to nares and lungs, prevent dehydration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mucous membrane and liquefaction of thick mucus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Following instruction for particular oxygen setup and fill reservoir with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sterile water.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R. Use sterile water decreases the incidence of bacterial growth.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6832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Connect the distal of oxygen tubing to delivery device (cannula, mask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hood).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68953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Turn on flowmeter to the prescribed amount.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R. To ensure that child receive amount of oxygen physician deemed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necessary.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728464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Feel oxygen flowing through the system.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17022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Place child in supine semi fowler's position.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R. Raising the head of the bed protect the airway if the child should vomit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7- Attach tubing o oxygen source. R. Allow oxygen to flow from source to child.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during air way placement.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N.B: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For nasal cannula: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6768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Place nasal prong inside external meatus of the nares.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09443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Instruct child to breathe through his or her nose.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R. Provides the prescribed oxygen.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For mask: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6895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Place the oxygen mask over the mouth and nose.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210710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Tighten the straps attached to the mask until you can easily fit one finger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between the strap and the face of the child.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R.  A properly secured mask allow the prescribed amount oxygen to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17022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into respiratory system.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For oxygen hood: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7- Attach tubing o oxygen source. R. Allow oxygen to flow from source to child.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230</a:t>
            </a:r>
          </a:p>
        </p:txBody>
      </p:sp>
      <p:pic>
        <p:nvPicPr>
          <p:cNvPr id="10" name="Picture 9" descr="p0095_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098" y="1408176"/>
            <a:ext cx="3433498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Connect the unit to oxygen source.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74858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Place the hood on the crib or bed so the child's head is inside the unit.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R. Prevents obstruction of the airway.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7- Attach tubing o oxygen source. R. Allow oxygen to flow from source to child.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The hood should not rest on child's neck and the child should be able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turn or her head side to side easily.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R. An improperly sized hood can result in irritation to the child's skin.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6768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Encourage family and other staff to limit amount of time the child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outside of hood.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R. To maximize the quality of oxygen therapy.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7196"/>
            <a:ext cx="10948111" cy="294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32" b="1" i="0">
                <a:solidFill>
                  <a:srgbClr val="3E4654"/>
                </a:solidFill>
                <a:latin typeface="Calibri"/>
              </a:rPr>
              <a:t>O per oxygen hood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Evaluation of response: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97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O2 saturation (SaO2) by pulse oximeter.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PaO2 by A.B.Gs.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If there is good response: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6768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SaO2 will be above 90% or PaO2 will be above 90 mmHg.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If there is poor response: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68320"/>
            <a:ext cx="10948111" cy="2939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SaO2 will be under 85% or PaO2 will be under 60 mmHg.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Complications: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most important complications are: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Retinopathy of prematurity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Hypoventilation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Absorption atelectasis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Bronchopulmonary dysplasia.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References: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1-Langley,C.,2004. Nursing procedure. Lippincott Williams &amp; Wilkins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2-Khilnani, P.,2009. Practical Approach to Pediatric Intensive Care. Jaypee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Brothers Medical Publishers (P) Ltd.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Immunization and vaccination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98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Learning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To know the Iraqi immunization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31348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To understand the details of each vaccine (type, route, doses, side effects)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5523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To recognize the differences between two types of polio vaccine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9699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To understand what to check before giving vaccine and general instructions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about vaccination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Immunization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Immunization is defined as the procedure by which the body is prepared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fight against a specific disease. It is used to induce the immune resistance of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body to a specific disease. Types of immunization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933137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I- Passive immunization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It is classified into: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5633770"/>
          <a:ext cx="11057839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A. Natural Passive Immunization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B. Artificial Passive immunization: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Types of vaccine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99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234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 It includes passage of maternal antibodies to the fetus through the placenta.  These antibodies disappear from the infant circulation at about the fourth month of age. (e.g., antibodies against measles, poliomyelitis, diphtheria, scarlet fever and mumps).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 It is an administration of immunoglobulin (Gamma globulins) which contains antibodies it may be antiviral, antibacterial, or antitoxins either alone or combined.  It has short duration.  it is used in emergency cases and for contacts.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" y="1847088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II- Active immunization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It is an entrance of antigens, which stimulates formation of antibodies by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immune system. It is classified into: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2806598"/>
          <a:ext cx="1105783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A. Natural Active immunization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B. Acquired Active immunization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 By acquiring the infections either sub - clinically or clinically.  It is life long in measles, German measles, chicken pox and mumps.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 By vaccines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Types of vaccine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99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1979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Antibody: a protein that is produced in response to a particular pathogen.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Antigen: the substance that induces the production of antibodies.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Vaccine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It is a suspension of live or killed microorganisms are antigenic portion these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agents presented to potential host to induce immunity to specific disease cause by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that organism.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Toxoid: A modified bacterial toxin that is made nontoxic but is still able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induce an active immune response against the toxin. and toxoids (tetanus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diphtheria)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term immunity refers to all the processes used by the body to protect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against foreign material from environmental sources, including microorganisms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or their toxins, foods, chemicals, pollen, dander, or drugs.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697577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Live attenuated (Sabin (polio)- Measles–Mumps– BCG)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Inactivated or killed (Salk(polio)– Influenza- Rabies).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Cellular fraction (Pnumoccocal Pneumonia – Meningococcal).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100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385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Recombined vaccine (hepatitis B)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Toxoids (Tetanus, Diphtheria).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Immunoglobulin (Hepatoglobulin)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Antitoxin (Tetaglobulin)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new recommended schedule of immunization in Iraq (2018)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885440"/>
          <a:ext cx="110578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Vaccine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Dose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At birth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HVB1+ BCG+ OPV(0)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IM+ ID+ oral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0.5ml, 0.05ml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2 Months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Hexa(1)+POLIO(1)+Rota(1) +PCV1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IM+ORAL+ORAL +IM or SC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0.5ml, 2ml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6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Hexa(3)+POLIO(3) +PCV3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IM+ORAL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0.5cc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9 Months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MEASLES+VIT A(100000IU)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SC+ORAL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0.5cc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15Months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M.M.R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0.5cc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18-24 Months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FIRST.B00STER POLIO+ Penta + 200000IU VIT. A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ORAL+IM+ORAL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0.5cc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4-6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2nd..B00STER POLIO+ Tetra+ MMR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ORAL+IM+SC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0.5cc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100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1979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Abbreviations with meaning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Hexa:(DTaP, Hib, HBV and IPV)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Penta (DTaP, Hib and IPV)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Tetra (DTaP and IPV)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ROV=Rota virus vaccine = severe diarrhea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DTP=diphtheria, tetanus, pertussis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IPV= inactive or injection polio vaccine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OPV= oral polio vaccine= poliomyelitis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Hib=Haemophilus influenza type B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MMR= measles, rubella, mumps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PCV = pneumococcal conjugate vaccine, streptococcal pneumonia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BCG=Bacille Calmette-Guerin, Tuberculosis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697577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If the infant develops a severe reaction to a prior dose, give DT not DPT,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because the pertussis component is responsible for this severe reaction.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Poliomyelitis Vaccines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101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421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BCG: contraindication with side effects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dose is 0.05ml intradermal in the deltoid region, successful vaccine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produces a small indurated area (2-4mm) after 3-4weeks. The lesion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progresses to a papule or shallow ulcer of approximately 10 mm diameter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and heals within 12 weeks to form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small, flat scar.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If given subcutaneously (instead of the usual intra-dermal route) it will lead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to abscess formation &amp; regional lymphadenopathy.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If the child is Tuberculin positive, it will lead to a severe reaction.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920947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Efficacy 50%for pulmonary TB, 50-80%for disseminated &amp; meningeal TB.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B.C.G Side effects: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621580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Regional Lymphadenitis.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Abscess.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Osteomyelitis.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Disseminated B.C.G infection (if immune deficient)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Poliomyelitis Vaccines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101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Polio Vaccine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There are two types of polio vaccine Sabin and Salk vaccine.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A: sabin (oral) vaccine: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6768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It is preferred agent for prophylaxis.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0944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It eases of administration.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5120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It is a vaccine containing live attenuated viruses.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69295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The vaccine is clear pink liquid and is kept at 00C to +80C at the Health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Center on the top shelf of the refrigerator.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39359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Keeps the vaccine in a cup containing ice during the vaccination session.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835347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This immunization protects not only the individual but also gives mass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immunization to the community because the immune person is less likely carry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 wild virus in his intestine and acts as a vector to the others due to the gained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gastrointestinal immunity.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Poliomyelitis Vaccines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101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Throw away the vaccine that remains in the vial after every vaccination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session even if this vial was opened for a single child, and do not keep it in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refrigerator.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6768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Let the mother hold the infant lying on his back and open the infant mouth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by squeezing cheeks gently between your fingers then put two drops of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vaccine straight from the dropper into the child tongue.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719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Repeat the dose if the child spits out the drops.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• Lactation has no effect on the potency of the vaccine.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102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The vaccination may be not effective if the child has diarrhoea. So, after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giving the vaccine it must be repeated. There is no harm in repeating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vaccination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B: Salk vaccine (inactivated vaccine)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2656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Effective in prevention of polio.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68320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The vaccine has longer life span than Sabin.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It has to be injected so, it is difficult to be used in mass immunization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DPT vaccine: side effects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02783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Side effects: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469587"/>
            <a:ext cx="10948111" cy="1385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side effects are due to the pertussis and include: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Mild side effects: Local swelling and tenderness, slight fever but fever may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reach to 40 oc and disappears in few days.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Moderate side effects: shock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 Severe side effects: Convulsions, encephalopathy, and brain         damage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• Lactation has no effect on the potency of the vaccine.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but are rare.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2421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NB: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1 If one of severe complications occurred do not give the pertussis again,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but we will give D.T vaccine only.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2 Pertussis vaccine is not given after 6 years of age for the fear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complications so D.T is given.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Minor reactions are quite frequent in 20–50% of vaccines. Local reactions include: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Inflammation, induration or a painless nodule at the site of injection. These 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progressively more common after the first injection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– Moderate reaction occur in 0.1% to 1.0% of children and include: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36270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ongoing crying (for three hours or more in the first 12 hours),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 high fever (up to 40°C), 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063337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 unusual (screaming), high-pitched crying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– Severe problems happen very rarely (1 in 140,000 doses of DPT). Include;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• Lactation has no effect on the potency of the vaccine.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 serious allergic reaction,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prolonged seizures,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encephalopathy, or even death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MMR vaccine: side effects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Because MMR is a live-attenuated vaccine, non–allergy-related side effects 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noted 5 to 12 days following immunization.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rash approximately 10 days after vaccine administration. MMR: Contraindications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103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Fever and rash are relatively common, experienced by 5% to 15%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recipients.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91689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Transient arthritis has been reported.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Thrombocytopenia (rare)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Encephalopathy (very rare)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 general rule of thumb is the “rule of 10”—about 10% of children get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51007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Severe allergic reaction to vaccine component or following prior dose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Pregnancy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Immunosuppression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Moderate or severe acute illness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728464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Recent blood product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Measles side effects: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Side Effects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rash approximately 10 days after vaccine administration. MMR: Contraindications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Mild fever and rash develop after 8-12 days, and last for 1-3 days in about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15% of vaccinated children.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The risk of encephalitis 1/106 but the risk of developing encephalitis as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complication of measles is 1/1000 so by vaccinating children, we have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diluted the incidence of encephalitis by 1000 times.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68320"/>
            <a:ext cx="10948111" cy="1903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Other complications of measles are diarrhoea, bronchitis, pneumonia,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conjunctivitis and malnutrition. These are also prevented by vaccination.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Hepatitis B vaccine side effects: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Transient erythema and induration at the site of injection, fever malaise, flu-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like illness, arthritis, myalgia and arthralgia.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Rota virus vaccine: side effects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diarrhea, vomiting, Nasopharyngitis, otitis media, and bronchospasm.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063337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Immuno-compromised children: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505094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In general, children who are immunological compromised should not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rash approximately 10 days after vaccine administration. MMR: Contraindications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receive live bacterial or viral vaccines.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Immunodeficiency: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Nurses should answer mother's questions regarding vaccination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104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Live-bacteria (e.g., oral typhoid) and live-virus vaccines (e.g., MMR,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varicella, and rotavirus) are contraindicated in most circumstances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involving clinically significant immunosuppression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67686"/>
            <a:ext cx="10948111" cy="3142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80" b="1" i="0">
                <a:solidFill>
                  <a:srgbClr val="3E4654"/>
                </a:solidFill>
                <a:latin typeface="Calibri"/>
              </a:rPr>
              <a:t>Vaccines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80" b="1" i="0">
                <a:solidFill>
                  <a:srgbClr val="3E4654"/>
                </a:solidFill>
                <a:latin typeface="Calibri"/>
              </a:rPr>
              <a:t>should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80" b="1" i="0">
                <a:solidFill>
                  <a:srgbClr val="3E4654"/>
                </a:solidFill>
                <a:latin typeface="Calibri"/>
              </a:rPr>
              <a:t>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80" b="1" i="0">
                <a:solidFill>
                  <a:srgbClr val="3E4654"/>
                </a:solidFill>
                <a:latin typeface="Calibri"/>
              </a:rPr>
              <a:t>postponed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80" b="1" i="0">
                <a:solidFill>
                  <a:srgbClr val="3E4654"/>
                </a:solidFill>
                <a:latin typeface="Calibri"/>
              </a:rPr>
              <a:t>until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80" b="1" i="0">
                <a:solidFill>
                  <a:srgbClr val="3E4654"/>
                </a:solidFill>
                <a:latin typeface="Calibri"/>
              </a:rPr>
              <a:t>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80" b="1" i="0">
                <a:solidFill>
                  <a:srgbClr val="3E4654"/>
                </a:solidFill>
                <a:latin typeface="Calibri"/>
              </a:rPr>
              <a:t>months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80" b="1" i="0">
                <a:solidFill>
                  <a:srgbClr val="3E4654"/>
                </a:solidFill>
                <a:latin typeface="Calibri"/>
              </a:rPr>
              <a:t>after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80" b="1" i="0">
                <a:solidFill>
                  <a:srgbClr val="3E4654"/>
                </a:solidFill>
                <a:latin typeface="Calibri"/>
              </a:rPr>
              <a:t>immunosuppression drugs have been stopped.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80" b="1" i="0">
                <a:solidFill>
                  <a:srgbClr val="3E4654"/>
                </a:solidFill>
                <a:latin typeface="Calibri"/>
              </a:rPr>
              <a:t>Nursing actions before vaccine administration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80" b="1" i="0">
                <a:solidFill>
                  <a:srgbClr val="3E4654"/>
                </a:solidFill>
                <a:latin typeface="Calibri"/>
              </a:rPr>
              <a:t>Be sure to ask these questions before giving the vaccines: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Nurses should answer mother's questions regarding vaccination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903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 Is your child sick today? (More than a common cold, earache, etc.)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 Does your child have any severe (life-threatening) allergies?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 Has your child ever had a severe reaction after a vaccination?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 Does your child have a weakened immune system (because of diseases such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as cancer, or medications such as steroids)?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 Has your child gotten a transfusion, or any other blood product, recently?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 Has your child ever had convulsions or any kind of nervous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40319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problem?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844950"/>
            <a:ext cx="10948111" cy="2421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Does your child not seem to be developing normally?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Care minder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High fevers and severe illness are reasons to delay immunization, but only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until the child has recovered from the acute stage of the illness to avoid adding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risk of adverse side effects from the vaccine to a child who is already ill,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confusing symptoms of the illness with a side effect of the vaccine. Minor illnesses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such as a cold, otitis media, or mild diarrhea without fever are not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contraindications to immunization.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Nurses should answer mother's questions regarding vaccination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249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Potential reaction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Nursing intervention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Pain with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Apply topical anesthetics at the injection sites, giving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enough time for the anesthetic to have the desired effect.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Administer oral sucrose for infants up to 3 months 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age. Encourage parents to hold a young child during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injection. Use distractions such as bubbles, blowing 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pinwheels, and reading stories to reduce attention to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pain and potentially relax the muscle. Encourage teens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to use headsets to listen to music.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Fever Myalgia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>Acetaminophen as above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" y="398678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What are Immunizations? Vaccines act by stimulating the body to make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defenses against the infection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105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Are childhood immunizations safe? In general, most babies and toddlers do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not have reactions to immunizations. If they do, the reactions are usually mild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of no long-term significance.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6768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What is the point of immunizing my baby against diseases that are not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common where I live? If the majority of people stop immunizing their children,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we could be in a situation like Ethiopia where measles becomes a killer disease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again.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86073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Can my child have immunizations if he is allergic to eggs? Children who 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allergic to eggs can have all the usual childhood immunizations. The only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immunization that should be avoided if your child is allergic to egg is influenza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vaccine.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04460"/>
            <a:ext cx="10948111" cy="1385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Should I delay immunizing my child if he is unwell? If your child has a mild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illness (say a runny nose) and doesn't have a fever, he can be immunized. Young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children have so many viral infections (see Upper Respiratory Tract Infections),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that to delay immunization for these would mean your child would not 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protected from more serious infections.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15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When should I start immunizations if my baby was born early? Even if your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baby is premature, the infant immunizations start at the baby's chronological age,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not their gestational age.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Storage and transportation of vaccine: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cold chain and vaccine supply and handling: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WHO and UNICEF have adopted standards for the safe shipping of vaccines.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These require that vaccines be properly insulated during international shipment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advanced notice of shipment is sent to receiving authorities and a time/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temperature monitor (called a cold chain monitor) is included with each vaccines.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When the vaccine is exposed to a temperature above 100C, a blue color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appears on the monitor, indicating a cold chain break. The monitor also provides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 indication of the extent of the break and what to do.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Ensuring that no breaks occur in the cold chain requires continuous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monitoring of the transport and storage condition of vaccines.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106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References: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1-Hockenberry, M. J., Wilson, D.(2013). Wong’s essentials of pediatric nursing,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9th edition. USA: Elsevier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2-Baiee , H.  2012. The Expanded Program on Immunization. Available from: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http://www.uobabylon.edu.iq/uobColeges/lecture.aspx?fid=15&amp;depid=1&amp;lcid=2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4463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4431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World Health Organization(WHO), 2019. Available from: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https://www.who.int/topics/immunization/en/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4-Website :https://wikieducator.org/Lesson_9:_Immunization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Nasogastric Intubation Objectives: By the end of this procedure, the student will be able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107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1-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Define Gavage feeding.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239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2-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List indications of Gavage feeding.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9661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3-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Enumerate purposes of Gavage feeding.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64083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4-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Recognize criteria of tube selection.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38505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5-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Identify equipment needed for Gavage feeding.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1292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6-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Demonstrate steps of Gavage feeding.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Nasogastric Intubation Objectives: By the end of this procedure, the student will be able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107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7-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Recognize complications of Gavage feeding.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239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8-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List contraindication of Gavage feeding.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1. It is used for short or medium term nutritional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108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49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Definition of Gavage feeding: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It is a type of enteral feeding which is given to the infant using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nasogastric tube which is a narrow bore tube passed into the stomach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via the nose.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Indications: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99440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Aspiration of stomach contents, e.g. for decompression.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45795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Administration of drugs.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92150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Poor sucking and swallowing reflexes.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38505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To provide nutrition post operatively.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84860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Respiratory distress.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31215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Loss of consciousness.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77570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Cyanosis after feeding by bottle or medicine dropper.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1. It is used for short or medium term nutritional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108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Congenital abnormalities, as cleft lip and cleft palate.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Neurologic impairment.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3352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A gestational age of less than 34 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9882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A weight of less than 1500gms.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Purpose of gavage feeding: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54304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To provide safe method of feeding or administrating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where the infant is unable to suck or swallow.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28726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To provide a route that allows adequate caloric or fluid intake.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75081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To provide safe method of feeding in sick infant.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1. It is used for short or medium term nutritional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108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056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To prevent fatigue or cyanosis which could occur from bottle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feeding.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Purpose of nasogastric tube insertion: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 nasogastric tube may be used to decompress the stomach, instill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medications or feedings or to assess gastrointestinal function.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Guidelines of nasogastric tube selection: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Factors influencing the selection of feeding tubes include: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109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4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 Child's age and weight.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 The viscosity of the formula.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 The reason for the enteral feeding.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 Whether an infusion device will be used.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 A feeding tube (catheter) of size 5 to 10 French is used in infants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the size increases proportionality for the older children.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 Selecting the smallest bore tube for the infusion and a tube of soft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material will decrease the child's discomfort.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Type of tube: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 For gavage or lavage, use a single lumen tube.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 For intermittent gastric decompression, use a double lumen tube.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 For continuous long term feeding, use a silicone tube.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Tube size: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5239766"/>
          <a:ext cx="1105783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Infant / Child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Tube size</a:t>
                      </a:r>
                    </a:p>
                  </a:txBody>
                  <a:tcPr>
                    <a:solidFill>
                      <a:srgbClr val="4A4AA8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2 kg 3-9 kg 10-20 kg 20-30 kg 30-50 kg &gt; 50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6 French 8 French 10 French 12 French 14 French 16 French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109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7108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6 French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8 French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10 French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12 French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14 French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16 French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Equipment: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 Sterile catheter.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 Formula.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 Gauze if needed.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 Water for lubrication or other lubricant.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 Stethoscope.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 Sterile syringe (5cc or 10cc).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 Water for rinsing if needed.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 Towel and bib.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 Clamp.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 Kidney tray.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 Tape, type.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 Pacifier if necessary.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 Non sterile gloves.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Performing Gavage Feeding Nursing Action Preparation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■ When choosing the catheter size, consider the size of the infant, the area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insertion (oral or nasal), and the desired rate of flow.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Rationale: The size of the catheter will influence the rate of flow.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Procedure: Clean Gloves Inserting and Checking Placement of Tube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110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■ Explain the procedure to the parents.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■ Elevate the head of the bed and position the infant on the back or side to allow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easy passage of the tube.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■ Measure the distance from the tip of the ear to the nose to the xiphoid process,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and mark the point with a small piece of paper tape (Figure 28–6) to ensure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enough tubing to enter the stomach.</a:t>
            </a:r>
          </a:p>
        </p:txBody>
      </p:sp>
      <p:pic>
        <p:nvPicPr>
          <p:cNvPr id="11" name="Picture 10" descr="p0109_1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029" y="3144316"/>
            <a:ext cx="5775635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Procedure: Clean Gloves Inserting and Checking Placement of Tube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110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If inserting the tube nasally, lubricate the tip in a cup of sterile water. Use water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instead of an oil-based lubricant, in case the tube is inadvertently passed into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lung. Shake any excess drops to prevent aspiration.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26563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If inserting the tube orally, the oral secretions are enough to lubricate the tube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adequately.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86073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Stabilize the infant’s head with one hand and pass the tube via the mouth (or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nose) into the stomach to the point previously marked. If the infant begins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coughing or choking or becomes cyanotic or phonic, remove the tube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immediately as the tube has probably entered the trachea.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04460"/>
            <a:ext cx="10948111" cy="1385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If respiratory distress is not apparent, lightly tape the tube in position, draw up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0.5 to 1.0 ml of air in the syringe, and connect the syringe to the tubing. Place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stethoscope over the epigastrium and briskly inject the air (Figure 28–7).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You will hear a sudden rush as the air enters the stomach.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Procedure: Clean Gloves Inserting and Checking Placement of Tube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110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Aspirate the stomach contents with the syringe, and note the amount, color,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consistency to evaluate the infant’s feeding tolerance. Return the residual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the stomach unless you are requested to discard it. It is usually not discarded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because of the potential for electrolyte imbalance.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Administering the Feeding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111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263</a:t>
            </a:r>
          </a:p>
        </p:txBody>
      </p:sp>
      <p:pic>
        <p:nvPicPr>
          <p:cNvPr id="10" name="Picture 9" descr="p0110_1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913" y="1408176"/>
            <a:ext cx="5105868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Hold the infant for feeding, or position the infant on the right side.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Rationale: This position decreases the risk of aspiration in case of emesis during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feeding.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266334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Separate the syringe from the tube, remove the plunger from the barrel,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reconnect the barrel to the tube, and pour the formula into the syringe.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Administering the Feeding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111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385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Elevate the syringe 6 to 8 inches over the infant’s head, and allow the formula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to flow by gravity at a slow, even rate.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You may need to initiate the flow of formula by inserting the plunger of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syringe into the barrel just until you see formula enter the feeding tube. Do not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use pressure.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885440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Regulate the rate to prevent sudden stomach distention leading to vomiting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and aspiration. Continue adding formula to the syringe until the infant has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absorbed the desired volume.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Clearing and Removing the Tube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103827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Clear the tubing with 2 to 3 ml of air. Rationale: This ensures that the infant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has received all of the formula. If the tube is going to be left in place, clearing it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will decrease the risk of occlusion and bacterial growth in the tube.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Administering the Feeding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111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To remove the tube, loosen the tape, fold the tube over on itself, and quickly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withdraw the tube in one smooth motion to minimize the potential for fluid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aspiration as the tube passes the epiglottis. If the tube is to be left in, position it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so that the infant is unable to remove it. Replace the tube per hospital policy.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Maximize the Feeding Pleasure of the Infant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4431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Whenever possible, hold the infant during gavage feeding. If it is too awkward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to hold the infant during feeding, be sure to take time for holding after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feeding.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Rationale: Feeding time is important to the infant’s tactile sensory input.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112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Offer a pacifier to the infant during the feeding.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Rationale: Sucking during feeding comforts and relaxes the infant, making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formula flow more easily. Infants can lose their sucking reflexes when fed by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gavage for long periods.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2656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•  Document procedure, including untoward complications, in the baby’s bedside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chart or computerized electronic chart.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719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Documentation: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9074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After insertion of enteral tube, document the following: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232503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Date and time of insertion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Type, size\ length tube that used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 Verification 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192014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Complications: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655564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Nose bleeding.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Rationale: Feeding time is important to the infant’s tactile sensory input.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Sinusitis.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932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 sore throat.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9168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Erosion of the nose.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3344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Esophageal perforation.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7520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Pulmonary aspiration.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616959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 collapsed lung.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05871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Intracranial placement of the catheter.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500473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References: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964023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1-Tiedeman, M.E. and Mills, D. A., 2002. Pediatric nursing skills. Delmar ,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division of Thomson learning, Inc.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Rationale: Feeding time is important to the infant’s tactile sensory input.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London, M.L. and Davidson, M.R., 2010. Contemporary maternal-newborn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nursing care. Pearson.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3-Bowden, V.R. and Greenberg, C.S., 2011. Pediatric nursing procedures.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Lippincott Williams &amp; Wilkins.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First aid for the choking child or baby and CPR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113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Learning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On completion of this lecture students will be able to: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313482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Assess the choking child to give urgent intervention.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77032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Describe emergent procedures for the relief of foreign 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240582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obstruction in an infant or child.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704132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Assess the unconscious infant or child.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167682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Learn how to perform cardiopulmonary resuscitation for infant 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631232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child.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114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First aid for the choking child or baby and CPR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Choking can be broken up into three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239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•  If they are unconscious, we go through DRSABCE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2-If they have an effective cough, where they can breathe in and</a:t>
            </a:r>
          </a:p>
        </p:txBody>
      </p:sp>
      <p:pic>
        <p:nvPicPr>
          <p:cNvPr id="12" name="Picture 11" descr="p0113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694" y="2896616"/>
            <a:ext cx="5468305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5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breath out, look in the baby mouth, If the object can be got up, do it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3E4654"/>
                </a:solidFill>
                <a:latin typeface="Calibri"/>
              </a:rPr>
              <a:t>but it is right to the back Do not use a blind finger-sweep to discover 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2396"/>
            <a:ext cx="10948111" cy="1903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remove an obstruction. In an infant, this maneuver may push the object back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into the airway and cause further obstruction. Only place your fingers in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infant's mouth to remove an object you can see. We just need to encourage them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to cough until the object is out.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3-If they have an in effective cough or silent we should intervene by: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*remove an airway obstruction, place the infant face down on your forearm,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with his head lower than his trunk. Support your forearm on your thigh.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147413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Use the heel of your free hand to deliver five blows between the infant's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shoulder blades (as shown below). Back blows are safer than abdominal thrusts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 infants because of the size of the infant's liver, the nearness of vital organs,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and the poor abdominal muscle tone.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115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If the airway remains obstructed, sandwich the infant between your hands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forearms and flip him over onto his back (as shown above right).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Keeping the infant's head lower than his trunk, give five midsternal chest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thrusts, using your middle and ring fingers only, to raise intrathoracic pressure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enough to force a cough that will expel the obstruction. Remember to hold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infant's head firmly to avoid injury.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719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Repeat this sequence until the obstruction is dislodged or the infant loses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consciousness.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02783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When the foreign object is removed, assess respirations and pulse. Continue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revival efforts if needed.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115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056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Summary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If they are unconscious perform DRSABC and call for help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If they have an effective cough encourage them to keep coughing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If they have an ineffective cough or are silent perform up to  5 back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blows followed by 5 chest thrusts until they object comes out or they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become unconscious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DRS ABC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555746"/>
            <a:ext cx="10948111" cy="1903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PERFORMING INFANT CPR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Danger: check for danger and maintain your own safety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Response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Gently shake the apparently unconscious child's shoulder and shout at her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elicit a response. If the child is conscious but has difficulty breathing, help her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into a position that best eases her breathing—if she hasn't naturally assumed this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position.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55076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Send for help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116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Call for help to alert others and to enlist emergency assistance. If you're alone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and the child isn't breathing, perform CPR for 1 minute before calling for help.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Position the child in a supine position on a firm, flat surface (usually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ground). The surface should provide the resistance needed for adequate chest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compressions. If you must turn the child from a prone position, support her head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and neck and turn her as a unit to avoid injuring her spine (as shown below).</a:t>
            </a:r>
          </a:p>
        </p:txBody>
      </p:sp>
      <p:pic>
        <p:nvPicPr>
          <p:cNvPr id="12" name="Picture 11" descr="p0115_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105" y="3327196"/>
            <a:ext cx="7735484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903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Airway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Kneel beside the child's shoulder. Place one hand on the child's forehead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gently lift her chin with your other hand to open her airway (as shown at top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next column). (In infants, this is called the sniffing position.) Avoid fingering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soft neck tissue to avoid obstructing the airway. Never let the child's mouth close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completely.</a:t>
            </a:r>
          </a:p>
        </p:txBody>
      </p:sp>
      <p:pic>
        <p:nvPicPr>
          <p:cNvPr id="11" name="Picture 10" descr="p0115_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328" y="3403193"/>
            <a:ext cx="5839037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116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385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If you suspect a neck injury, use the jaw-thrust maneuver to open the child's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airway to keep from moving the child's neck. To do this, kneel beside the child's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head. With your elbows on the ground, rest your thumbs at the corners of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child's mouth, and place two or three fingers of each hand under the lower jaw.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Lift the jaw upward.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117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126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Breathing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While maintaining an open airway, place your ear near the child's mouth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nose to evaluate her breathing status. Look for chest movement, listen for exhaled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air, and feel for exhaled air on your cheek (as shown below).</a:t>
            </a:r>
          </a:p>
        </p:txBody>
      </p:sp>
      <p:pic>
        <p:nvPicPr>
          <p:cNvPr id="11" name="Picture 10" descr="p0116_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218" y="2626563"/>
            <a:ext cx="6659257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117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If the child is breathing, maintain an open airway and monitor respirations.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1-If they are breathing normally but they unconscious, the casualty should 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rolled into the recovery position and send for help</a:t>
            </a:r>
          </a:p>
        </p:txBody>
      </p:sp>
      <p:pic>
        <p:nvPicPr>
          <p:cNvPr id="11" name="Picture 10" descr="p0116_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128" y="2367686"/>
            <a:ext cx="7709438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117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903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2-If there is no breathing at all you should remove any obvious airway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obstruction and give 5 initila rescues breaths, (deliver a gentle puff of air because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 infant's lungs hold less air than an adult's. If the infant's chest rises and falls,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 amount of air is probably adequate). After that check again for breathing if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 casualty is unconscious and blue, compressions should be started.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40319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Compressions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844950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Assess circulation by palpating the carotid artery for a pulse in a child aged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over 1 year.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Unresponsive Shout for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118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•In an infant- feel for the brachial pulse or the inner aspect of the upper arm. If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signs of life detected, rescuing of breathing should be continued until the child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starts breathing effectively. If there are no signs of life start chest compressions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67686"/>
            <a:ext cx="10948111" cy="2680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Begin chest compressions if you find no pulse or if the pulse rate is less than 60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beats/minute with signs of poor perfusion. To locate the infant's heart, draw an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imaginary line between the infant's nipples. Place three fingers directly below—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and perpendicular to—the nipple line.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Then lift up your index finger so that the middle and ring fingers lie one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fingerbreadth below the nipple line (as shown below). Use these two fingers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depress the sternum here ½″ to 1″ (1.3 to 2.5 cm) at least 100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compressions/minute. An alternative method for providing chest compressions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is to place your thumbs side by side over the lower portion of the sternum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encircling the infant's chest, using the fingers of both hands.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Unresponsive Shout for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118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281</a:t>
            </a:r>
          </a:p>
        </p:txBody>
      </p:sp>
      <p:pic>
        <p:nvPicPr>
          <p:cNvPr id="10" name="Picture 9" descr="p0117_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927" y="1408176"/>
            <a:ext cx="3959840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1385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•  Supply one breath after every five compressions. Maintain this ratio whether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you're the helper or the lone rescuer. This ratio allows for about 100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compressions and 20 breaths/minute for an infant.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Note: If available, use a bag-valve mask over the infant's nose and mouth when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performing ventilations.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784088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Open airway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Nor breathing normally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119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5 rescue breaths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No signs of life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8809"/>
            <a:ext cx="10948111" cy="609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15 chest compressions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2 rescue breaths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09443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15 chest compressions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51200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Call resuscitation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692956"/>
            <a:ext cx="10948111" cy="350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1" i="0">
                <a:solidFill>
                  <a:srgbClr val="3E4654"/>
                </a:solidFill>
                <a:latin typeface="Calibri"/>
              </a:rPr>
              <a:t>1 min of CPR first if alone.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134713"/>
            <a:ext cx="10948111" cy="868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Reference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Hockenberry, M. J., Wilson, D.(2013). Wong’s essentials of pediatric nursing, 9th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68" b="0" i="0">
                <a:solidFill>
                  <a:srgbClr val="3E4654"/>
                </a:solidFill>
                <a:latin typeface="Calibri"/>
              </a:rPr>
              <a:t>edition. USA: Elsevier, P.P 805, 806, 807,808,809,810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4. Order: Zithromax (azithromycin) 320 mg PO for one dose on first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120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617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Order: Amoxil (amoxicillin) 70 mg PO q8h.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Patient: Child weighs 22 lbs.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Safe dose is 20–40 mg/kg/day in divided doses q8h.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Available as: 125 mg/5 mL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Is the dose safe? 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If safe, how much liquid will you give the child per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dose? _____________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C. If not safe, what is the range of safe doses for this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child? _____________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4. Order: Zithromax (azithromycin) 320 mg PO for one dose on first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120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89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Order: Phenobarbital 60 mg PO bid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Patient: Infant weighs 12 lbs 8 oz.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Safe dose is 4–8 mg/kg/day divided into two doses with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Maximum dose of 300 mg/day.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Available as: Oral phenobarbital suspension of 30 mg/5 mL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Is the dose safe? 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If safe, how much liquid will you give the child per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dose? _____________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C. If not safe, what is the range of safe doses for this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child? _____________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4. Order: Zithromax (azithromycin) 320 mg PO for one dose on first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120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178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Order: Benadryl (diphenhydramine hydrochloride)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25 mg IV q6h prn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Patient: Child weighs 30 kg.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Safe dose is 1.25–10.5 mg/kg but not to exceed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200 mg/day.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Available as: Injection labeled 60 mg/mL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Is the dose safe? 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If safe, how much will you draw up in the syringe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for the child per dose? _____________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C. If not safe, what is the safe dose for this child?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_____________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121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3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Patient: Child is 10 years old and weighs 32 kg.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Safe dose for children 2–15 years is 10 mg/kg (but not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more than 500 mg/dose) on day 1.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Available as: Oral Zithromax suspension 100 mg/5 mL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Is the dose safe? 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If safe, how much liquid will you give the child per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dose? _____________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C. If not safe, what is the safe dose for this child?_____________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836416"/>
            <a:ext cx="10948111" cy="23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Order: Augmentin (amoxicillin clavulanate) 175 mg PO q8h.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Patient: Child weighs 29 lbs.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Safe dose is 40 mg/kg/day in divided doses q8h.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Available as: Oral suspension of 125 mg/5 mL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Is the dose safe? ________________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If safe, how much liquid will you give the child per dose?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_____________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C. If not safe, what is the safe dose for this child? _____________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121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056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Order: Lasix (furosemide) 15 mg PO bid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Patient: The child weighs 16 lbs 8 oz.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Safe dose for a child is 2 mg/kg/dose of furosemide as the initial dose.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Available as: 10 mg/mL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Is the dose safe?____________________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If safe, how much in mL will you administer?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______________________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121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89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Order: Ampicillin 100 mg IV q 6 hrs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Patient: Child is 4 months old and weighs 9 lbs 6 oz.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Safe dose for this child’s age and weight is 75–200 mg/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kg/day.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Available as: Vial of powder 500 mg/vial.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Directions: Add 1.8 mL of sterile water; yields 250 mg/mL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What are the safe ranges? low range ___________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high range_______________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What is the safe dose?_________________________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C. How much will you give? _____________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122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3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Order: Cefuroxime 185 mg IV q6h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Patient: Infant is 6 months old and weighs 17 lbs 6 oz.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Safe range is 50–100 mg/kg/day.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Available as: Cefuroxime 90 mg/mL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What are the safe ranges? low range ___________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high range_________________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Is the dose safe? ______________________________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C. If safe, how much will you draw up?___________________mL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89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Order: Epinephrine 0.3 mg sublingual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Patient: Child is 3 years old and weighs 66 lbs.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Safe dosage range is 0.01 mg/kg not to exceed 0.3 mg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for any single dose.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Available: Epinephrine 1 mg/mL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What are the safe ranges? low range 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high range 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Is the dose safe? __________________________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C. If safe, how many mL do you draw up for this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dose?_____________________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122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178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Order: Piperacillin 3375 mg IV q8h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Patient: Weighs 120 pounds.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Safe dosage range for adults is 4–8 grams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per day.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Available: Piperacillin 3375 mg in 100 mL of normal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saline to run over 30 minutes. You do not have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pump and need to run the medication by drop factor.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You pick tubing that is 10 gtts/min.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Is the dose safe? ___________________________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If safe, how many drops per minute will you regulate the tubing at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___________/minute?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123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056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Dosage of Amoxil is safe at 210 mg/day or 70 mg per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dose tid for a child weighing 22 lbs or 10 kg. Range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200–400 mg per 24 hours. For 70-mg dose, give 2.8 mL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of medication.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Safe—yes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2.8 mL of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C. n/a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89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Dosage of Phenobarbital is not safe at 30 mg PO bid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for infant weighing 12 lbs 8 oz or 5.68 kg. Range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doses at 4–8 mg per kg day divided into two doses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22.72–45.44 mg per day or 11.36–22.72 mg per dose.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You cannot give the medication.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Not safe—30 mg is too high (11.36–22.72 mg is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safe dose range)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No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C. 22.72–45.44 mg per day in two divided doses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11.36–22.72 mg is safe range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Pediatric Nursing Lab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123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33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Dosage of Benadryl is safe at 25 mg IV q6h for a child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weighing 30 kg based on dose of 1.25–10.5 mg/kg/day,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not to exceed 200 mg per day. Daily dosage is 100 mg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does not exceed 300 mg per day. With 60 mg per mL,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dose is 0.42 mL of medication to be drawn into syringe.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Safe—yes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0.42 mL of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C. n/a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836416"/>
            <a:ext cx="10948111" cy="1775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Dosage of Zithromax is safe at 320 mg PO for one dose for a child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weighing 32 kg. Safe dosage is based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on 10 mg per kg per dose. This is not more than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500 mg per day. With 100 mg per 5 mL of medication,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you would give 16 mL of medication.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Safe—yes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B. 16 mL of medication C. n/a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124 of 125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617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Dosage is safe at 125 mg for a child who weighs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29 pounds or 13.18 kg. Dosage is based on 40 mg per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kg per day in 3 doses q8h. Weight of 13.18 kg times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40 mg/kg is 527.27 mg per day with 3 doses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175 mg equals 525 mg per day. For 175-mg dose,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give 7 mL of medication (125 mg per 5 mL).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Safe—yes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7 mL of medication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C. n/a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11708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Child weighs 7.5 kg; 15 mg/kg is safe dose.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Safe—yes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Divide 15 mg/10 mg × 1 mL = 1.5 mL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B. 16 mL of medication C. n/a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49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Child weighs 4.3 kg.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75 × 4.3 kg = 322.5 mg/day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200 × 4.3 kg = 860 mg/day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400 mg/day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C. 100 mg/500 mg × 1.8 mL = 0.4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994406"/>
            <a:ext cx="10948111" cy="149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Child weighs 7.9 kg.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50 × 7.9 kg = 395 mg/day 100 × 7.9 kg = 790 mg/day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Child is receiving 185 mg × 4 doses = 740 mg/day.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C. Safe—yes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D. 185 mg/90 mg × 1 mL = 2.1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80636"/>
            <a:ext cx="10948111" cy="149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Child weighs 30 kg.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0.01 mg × 30 kg = 0.3 mg/day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0.3 mg × 30 kg = 9 mg/day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Safe—yes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C. 0.3 mg/1 mg = 0.3 mL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B. 16 mL of medication C. n/a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124 of 125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Pediatric Nursing Lab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297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33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•  Child weighs 54.5 kg.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A. No, it is not safe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B. None; I would not give.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01434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 i="0">
                <a:solidFill>
                  <a:srgbClr val="14171C"/>
                </a:solidFill>
                <a:latin typeface="Georgia"/>
              </a:rPr>
              <a:t>Document Information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3E4654"/>
                </a:solidFill>
                <a:latin typeface="Calibri"/>
              </a:rPr>
              <a:t>Pediatric Nursing Lab Syllabus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7A8291"/>
                </a:solidFill>
                <a:latin typeface="Calibri"/>
              </a:rPr>
              <a:t>دليل المختبر العملي - تمريض الأطفال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Source file: سلبص المختبر.pdf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Pages in source: 125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Slides in this deck: 299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Course: Pediatric Nursing — Syllabus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7007" y="41605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EAF6F1"/>
                </a:solidFill>
                <a:latin typeface="Calibri"/>
              </a:rPr>
              <a:t>Full readable text and the original file are available on the lecture platform: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https://moustafaali-prog.github.io/pediatric-nursing-lectures/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